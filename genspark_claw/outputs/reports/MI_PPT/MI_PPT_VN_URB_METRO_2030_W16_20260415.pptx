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9144000" cy="91440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27432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93C5FD"/>
                </a:solidFill>
              </a:rPr>
              <a:t>VIETNAM INFRASTRUCTURE INTELLIGENCE HUB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0" y="91440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0">
                <a:solidFill>
                  <a:srgbClr val="DC2626"/>
                </a:solidFill>
              </a:rPr>
              <a:t>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DC2626"/>
                </a:solidFill>
              </a:rPr>
              <a:t>도시철도·메트로 개발계획 2030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CBD5E1"/>
                </a:solidFill>
              </a:rPr>
              <a:t/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3520440"/>
            <a:ext cx="6400800" cy="27432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94A3B8"/>
                </a:solidFill>
              </a:rPr>
              <a:t>W16 / 2026년 04월 15일  ·  CONFIDENTIAL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5989320"/>
            <a:ext cx="8595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0F172A"/>
                </a:solidFill>
              </a:rPr>
              <a:t>Plan ID: VN-URB-METRO-2030  ·  생성: 2026-04-15 21:23 UTC  ·  경영진 보고용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📊  핵심 KPI 대시보드  —  도시철도·메트로 개발계획 2030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하노이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616km/15개 노선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14599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호치민 목표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599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220km/8개 노선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61772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현재 운영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25km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75120" y="1188720"/>
            <a:ext cx="2011679" cy="17373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720840" y="1234440"/>
            <a:ext cx="19202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CC"/>
                </a:solidFill>
              </a:rPr>
              <a:t>투자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20840" y="1554480"/>
            <a:ext cx="1920239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$60B+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108960"/>
            <a:ext cx="1828800" cy="8229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3154680"/>
            <a:ext cx="16459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</a:rPr>
              <a:t>관련 기사
16건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377440" y="3108960"/>
            <a:ext cx="64922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하노이 Line 2A·3 운영, Line 1·5·6 건설 예정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호치민 Line 1 완공 임박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현대로템 차량 공급 기회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1E40AF"/>
                </a:solidFill>
              </a:rPr>
              <a:t>▶  EDCF Line 5 ODA 협의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▶  역사 상업화 → 한국 리테일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🚧  주요 프로젝트 진행현황 추적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7160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18872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Metro Line 2 - Wikipedia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호치민 메트로 2호선은 1군과 12군을 연결하는 베트남의 주요 스마트 시티 교통 인프라 프로젝트입니다. 1단계 공사는 2024년 2월에 시작되었으며, 약 20.4   📅 2026-04-15  |  📰 en.wikipedia.org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19456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83464" y="237744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9456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How Ho Chi Minh City's $20B metro network is planned until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57860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Apart from the Ben Thanh - Suoi Tien, Ho Chi Minh City aims to build five additional    📅 2026-03-28  |  📰 e.vnexpress.net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" y="320040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3464" y="338328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20040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HCMC accelerates Ben Thanh – Can Gio metro line, Can Gio Bridge projects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58444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[EN] On March 26, a working delegation of the Standing Committee of the Ho Chi Minh City P   📅 2026-03-28  |  📰 en.sggp.org.vn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420624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83464" y="438912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20624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Gỡ vướng thủ tục, mặt bằng cho tuyến Metro Suối Tiên-Sân bay Long Thành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459028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2026-03-25  |  📰 vietnamplus.vn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5212080"/>
            <a:ext cx="3200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83464" y="5394960"/>
            <a:ext cx="3017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</a:rP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212080"/>
            <a:ext cx="8138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TP Hồ Chí Minh: Giao thông công cộng tăng sức hút trước biến động giá nhiên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5596128"/>
            <a:ext cx="8138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   📅 2026-03-24  |  📰 vietnamplus.vn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📰  최신 뉴스 하이라이트 (2026년)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85953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6B7280"/>
                </a:solidFill>
              </a:rPr>
              <a:t>  2025:   1건  </a:t>
            </a:r>
            <a:r>
              <a:rPr sz="900">
                <a:solidFill>
                  <a:srgbClr val="6B7280"/>
                </a:solidFill>
              </a:rPr>
              <a:t>  2026:  15건  ▐▐▐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" y="1600200"/>
            <a:ext cx="2743200" cy="210312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1752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</a:rPr>
              <a:t>HCMC Metro Line 2 - Wikipedia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</a:rPr>
              <a:t>호치민 메트로 2호선은 1군과 12군을 연결하는 베트남의 주요 스마트 시티 교통 인프라 프로젝트입니다. 1단계 공사는 2024년 2월에 시작되었으며, 약 20.4억 달러의 예산으로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1752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CC"/>
                </a:solidFill>
              </a:rPr>
              <a:t>📅 2026-04-15</a:t>
            </a:r>
          </a:p>
        </p:txBody>
      </p:sp>
      <p:sp>
        <p:nvSpPr>
          <p:cNvPr id="9" name="Rectangle 8"/>
          <p:cNvSpPr/>
          <p:nvPr/>
        </p:nvSpPr>
        <p:spPr>
          <a:xfrm>
            <a:off x="3172968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How Ho Chi Minh City's $20B metro network is planned until 2030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Apart from the Ben Thanh - Suoi Tien, Ho Chi Minh City aims to build five additional metro line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117336" y="160020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90488" y="1645920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HCMC accelerates Ben Thanh – Can Gio metro line, Can Gio Bridge 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90488" y="246888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On March 26, a working delegation of the Standing Committee of the Ho Chi Minh City Party Commi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90488" y="342900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2026-03-28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28600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01752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Gỡ vướng thủ tục, mặt bằng cho tuyến Metro Suối Tiên-Sân bay Long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01752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01752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172968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46120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TP Hồ Chí Minh: Giao thông công cộng tăng sức hút trước biến động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46120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46120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2026-03-24</a:t>
            </a:r>
          </a:p>
        </p:txBody>
      </p:sp>
      <p:sp>
        <p:nvSpPr>
          <p:cNvPr id="25" name="Rectangle 24"/>
          <p:cNvSpPr/>
          <p:nvPr/>
        </p:nvSpPr>
        <p:spPr>
          <a:xfrm>
            <a:off x="6117336" y="3931920"/>
            <a:ext cx="2743200" cy="210312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190488" y="3977639"/>
            <a:ext cx="2606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0F172A"/>
                </a:solidFill>
              </a:rPr>
              <a:t>Free metro, bus services proposed for passengers on election day,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90488" y="4800600"/>
            <a:ext cx="260604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B7280"/>
                </a:solidFill>
              </a:rPr>
              <a:t>[EN] The Ho Chi Minh City Department of Construction has proposed to support the fare for passengers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90488" y="5760720"/>
            <a:ext cx="2606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6B7280"/>
                </a:solidFill>
              </a:rPr>
              <a:t>📅 2026-02-27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🗺️  지역별 활동 현황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4114800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92608" y="1261872"/>
            <a:ext cx="4023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Ho Chi Minh City (11건)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810512"/>
            <a:ext cx="1122218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2608" y="1883664"/>
            <a:ext cx="103077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Hanoi (3건)</a:t>
            </a:r>
          </a:p>
        </p:txBody>
      </p:sp>
      <p:sp>
        <p:nvSpPr>
          <p:cNvPr id="8" name="Rectangle 7"/>
          <p:cNvSpPr/>
          <p:nvPr/>
        </p:nvSpPr>
        <p:spPr>
          <a:xfrm>
            <a:off x="274320" y="2432304"/>
            <a:ext cx="748145" cy="41148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92608" y="2505456"/>
            <a:ext cx="656705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FFFFFF"/>
                </a:solidFill>
              </a:rPr>
              <a:t>🇻🇳 전국 (2건)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1887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</a:rPr>
              <a:t>연도별 기사 트렌드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1600200"/>
            <a:ext cx="429768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2025:   1건  </a:t>
            </a:r>
          </a:p>
          <a:p>
            <a:pPr>
              <a:spcBef>
                <a:spcPts val="300"/>
              </a:spcBef>
            </a:pPr>
            <a:r>
              <a:rPr sz="1100">
                <a:solidFill>
                  <a:srgbClr val="0F172A"/>
                </a:solidFill>
              </a:rPr>
              <a:t>2026:  15건  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🇰🇷  한국 기업 기회 분석</a:t>
            </a:r>
          </a:p>
        </p:txBody>
      </p:sp>
      <p:sp>
        <p:nvSpPr>
          <p:cNvPr id="4" name="Rectangle 3"/>
          <p:cNvSpPr/>
          <p:nvPr/>
        </p:nvSpPr>
        <p:spPr>
          <a:xfrm>
            <a:off x="274320" y="1143000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83464" y="1325880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6" name="Rectangle 5"/>
          <p:cNvSpPr/>
          <p:nvPr/>
        </p:nvSpPr>
        <p:spPr>
          <a:xfrm>
            <a:off x="1371600" y="1143000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417320" y="1280160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차량 제작·납품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216152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현대로템 — 하노이 Line 1·3·5·6, 호치민 Line 2·3·4 입찰 기회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" y="2221991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83464" y="2404872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371600" y="2221991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17320" y="2359151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신호·전장 시스템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2295144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LS Electric·현대엘리베이터 — 변전소·전기시스템 일괄 공급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" y="3300984"/>
            <a:ext cx="1005840" cy="82296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3464" y="3483864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HIGH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3300984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17320" y="3438144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건설 EPC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108960" y="3374136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현대건설·DL이앤씨·SK에코플랜트 — 지하구간 EPC 패키지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74320" y="4379976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83464" y="4562856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371600" y="4379976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417320" y="4517136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운영·유지관리 시스템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4453128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SR(수서고속철도) 운영 노하우 + 한국 유지관리 솔루션 수출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5458968"/>
            <a:ext cx="1005840" cy="822960"/>
          </a:xfrm>
          <a:prstGeom prst="rect">
            <a:avLst/>
          </a:prstGeom>
          <a:solidFill>
            <a:srgbClr val="EA58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3464" y="5641848"/>
            <a:ext cx="987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</a:rPr>
              <a:t>MEDIUM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371600" y="5458968"/>
            <a:ext cx="1645920" cy="8229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17320" y="5596128"/>
            <a:ext cx="15544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F172A"/>
                </a:solidFill>
              </a:rPr>
              <a:t>역사 디자인·상업화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108960" y="5532120"/>
            <a:ext cx="5760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F172A"/>
                </a:solidFill>
              </a:rPr>
              <a:t>롯데건설 역사 개발 + 한국 리테일 브랜드 입점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DC262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8595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✅  결론 및 다음 단계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8412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</a:rPr>
              <a:t>📌  이번 주 핵심 메시지 — 도시철도·메트로 개발계획 2030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841248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하노이 Line 2A·3 운영, Line 1·5·6 건설 예정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호치민 Line 1 완공 임박</a:t>
            </a:r>
          </a:p>
          <a:p>
            <a:pPr>
              <a:spcBef>
                <a:spcPts val="500"/>
              </a:spcBef>
            </a:pPr>
            <a:r>
              <a:rPr sz="1200">
                <a:solidFill>
                  <a:srgbClr val="0F172A"/>
                </a:solidFill>
              </a:rPr>
              <a:t>▶  현대로템 차량 공급 기회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840480"/>
            <a:ext cx="8412480" cy="365760"/>
          </a:xfrm>
          <a:prstGeom prst="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88620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E40AF"/>
                </a:solidFill>
              </a:rPr>
              <a:t>📋  다음 단계  (Next Actions)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4251960"/>
            <a:ext cx="841248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1.  다음 주 수집 기사와 진행현황 비교 — 주간 트래킹 지속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2.  관련 기사 총 16건 — Excel DB 및 Word 보고서 상세 참조</a:t>
            </a:r>
          </a:p>
          <a:p>
            <a:pPr>
              <a:spcBef>
                <a:spcPts val="400"/>
              </a:spcBef>
            </a:pPr>
            <a:r>
              <a:rPr sz="1100">
                <a:solidFill>
                  <a:srgbClr val="0F172A"/>
                </a:solidFill>
              </a:rPr>
              <a:t>  3.  한국 기업 접촉: KOTRA 하노이 + 대한상의 베트남 활용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492240"/>
            <a:ext cx="9144000" cy="36576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74320" y="6528816"/>
            <a:ext cx="85953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94A3B8"/>
                </a:solidFill>
              </a:rPr>
              <a:t>Plan ID: VN-URB-METRO-2030  |  W16  |  Vietnam Infrastructure Intelligence Hub  |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