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0EA5E9"/>
                </a:solidFill>
              </a:rPr>
              <a:t>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EA5E9"/>
                </a:solidFill>
              </a:rPr>
              <a:t>베트남 수자원·상수도 통합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3개 마스터플랜 통합 추적 보고서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WATER-INTEGRATED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베트남 수자원·상수도 통합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도시 상수도 보급률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95~100% (2030)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1622/QD-TTg (2022.12.27)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농촌 보급률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90% (2030)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99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1978/QD-TTg (2021.11.29)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NRW 손실 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≤15~20%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2502/QD-TTg (2016)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투자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$15B+ (2021-30)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ADB Water Sector Assessment 2023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100건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3개 계획: 수자원관리(MONRE) + 도시상수도(MOC) + 농촌급수(MARD) [출처: Decision 1622, 2502, 1978]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2020 기준 폐수처리율 15% → 2030년 70% 목표 [출처: Decision 1393/QD-TTg]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6,200만 농촌인구 안전한 식수 접근 보장 [출처: NTP Rural Water Supply 2021-25]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한국 K-water NRW 저감 기술 수출 기회 [출처: KOICA Feasibility 2024]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EDCF ODA 패키지 $500M+ 활용 가능 [출처: MOF-EDCF Pipeline 2024-28]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Hà Nội gấp rút triển khai 10 công trình thoát nước-chống ngập trước mùa mưa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2026-03-24  |  📰 vietnamplus.vn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HCMC prioritizes easing traffic congestion, flood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The Standing Committee of the Vietnam Fatherland Front of Cho Quan Ward, Ho Chi Minh    📅 2026-03-06  |  📰 en.sggp.org.vn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2022:  15건  ▐▐▐</a:t>
            </a:r>
            <a:r>
              <a:rPr sz="900">
                <a:solidFill>
                  <a:srgbClr val="6B7280"/>
                </a:solidFill>
              </a:rPr>
              <a:t>  2023:  27건  ▐▐▐▐▐</a:t>
            </a:r>
            <a:r>
              <a:rPr sz="900">
                <a:solidFill>
                  <a:srgbClr val="6B7280"/>
                </a:solidFill>
              </a:rPr>
              <a:t>  2024:  24건  ▐▐▐▐</a:t>
            </a:r>
            <a:r>
              <a:rPr sz="900">
                <a:solidFill>
                  <a:srgbClr val="6B7280"/>
                </a:solidFill>
              </a:rPr>
              <a:t>  2025:   1건  </a:t>
            </a:r>
            <a:r>
              <a:rPr sz="900">
                <a:solidFill>
                  <a:srgbClr val="6B7280"/>
                </a:solidFill>
              </a:rPr>
              <a:t>  2026:   2건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Hà Nội gấp rút triển khai 10 công trình thoát nước-chống ngập trư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HCMC prioritizes easing traffic congestion, flood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The Standing Committee of the Vietnam Fatherland Front of Cho Quan Ward, Ho Chi Minh City yeste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(38건)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2273968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2182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(21건)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974557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88311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(9건)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649705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55826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Da Nang (6건)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433136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341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Long An (4건)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324852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2334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Tien Giang (3건)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324852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2334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Dong Nai (3건)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216568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125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Binh Duong (2건)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2022:  15건  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27건  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24건  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 2건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전략적 진입 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2026년 대규모 착공 시작 — 지금이 최적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ODA 패키지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EDCF(수출입은행) + KOICA 복합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기술이전 파트너십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기술 → 현지 생산 JV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베트남 수자원·상수도 통합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3개 계획: 수자원관리(MONRE) + 도시상수도(MOC) + 농촌급수(MARD) [출처: Decision 1622, 2502, 1978]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2020 기준 폐수처리율 15% → 2030년 70% 목표 [출처: Decision 1393/QD-TTg]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6,200만 농촌인구 안전한 식수 접근 보장 [출처: NTP Rural Water Supply 2021-25]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100건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86400"/>
            <a:ext cx="8412480" cy="320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📎  출처 (Sources)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280"/>
                </a:solidFill>
              </a:rPr>
              <a:t>  •  Decision 1622/QD-TTg (2022.12.27) — National Water Resources Master Plan</a:t>
            </a:r>
          </a:p>
          <a:p>
            <a:r>
              <a:rPr sz="700">
                <a:solidFill>
                  <a:srgbClr val="6B7280"/>
                </a:solidFill>
              </a:rPr>
              <a:t>  •  Decision 2502/QD-TTg (2016) — Urban Water Supply Orientation</a:t>
            </a:r>
          </a:p>
          <a:p>
            <a:r>
              <a:rPr sz="700">
                <a:solidFill>
                  <a:srgbClr val="6B7280"/>
                </a:solidFill>
              </a:rPr>
              <a:t>  •  Decision 1978/QD-TTg (2021.11.29) — Rural Clean Water Program</a:t>
            </a:r>
          </a:p>
          <a:p>
            <a:r>
              <a:rPr sz="700">
                <a:solidFill>
                  <a:srgbClr val="6B7280"/>
                </a:solidFill>
              </a:rPr>
              <a:t>  •  Decision 1393/QD-TTg — National Wastewater Treatment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WATER-INTEGRATED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