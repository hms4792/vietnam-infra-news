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28600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VIETNAM INFRASTRUCTURE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320040" y="960120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INTELLIGENCE REPORT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1627632"/>
            <a:ext cx="5029200" cy="0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783080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AD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 인프라 시장 동향 주간 보고서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0040" y="2377440"/>
            <a:ext cx="210312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2414016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발행일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20040" y="2633472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2026년 06년 27일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496312" y="2377440"/>
            <a:ext cx="210312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96312" y="2414016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분석 기준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496312" y="2633472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2.4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672584" y="2377440"/>
            <a:ext cx="210312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72584" y="2414016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마스터플랜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672584" y="2633472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21개 플랜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848856" y="2377440"/>
            <a:ext cx="210312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48856" y="2414016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분석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848856" y="2633472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Haiku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20040" y="32461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Coverage by Area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3566160"/>
            <a:ext cx="2697480" cy="5943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3621024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환경 인프라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20040" y="3895344"/>
            <a:ext cx="2697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Plans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090672" y="3566160"/>
            <a:ext cx="2697480" cy="5943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090672" y="3621024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에너지·전력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090672" y="3895344"/>
            <a:ext cx="2697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Plans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861304" y="3566160"/>
            <a:ext cx="2697480" cy="5943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861304" y="3621024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도시·교통·산업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861304" y="3895344"/>
            <a:ext cx="2697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Plans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20040" y="4846320"/>
            <a:ext cx="8503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7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hms4792.github.io/vietnam-infra-news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54864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전체 마스터플랜 KPI 목표 현황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0" y="914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D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21개 마스터플랜 · KPI 12개 · 2030 목표 기준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164592" y="566928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37744" y="612648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총 발전설비 (2030)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37744" y="768096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150,489 MW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37744" y="1097280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808683" y="768096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08683" y="768096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80,555 MW (2024)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808683" y="1097280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072384" y="566928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45536" y="612648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재생에너지 비중 (2030)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145536" y="768096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30~39%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145536" y="1097280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716475" y="768096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16475" y="768096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13.7% (2024)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16475" y="1097280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980176" y="566928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53328" y="612648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해상풍력 (2030)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053328" y="768096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17,032 MW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053328" y="1097280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7624267" y="768096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624267" y="768096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MW (계획 중)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624267" y="1097280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164592" y="1463040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37744" y="1508760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석탄발전 단계적 폐지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37744" y="1664208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2050년 0%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237744" y="1993392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1808683" y="1664208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808683" y="1664208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34% (2024)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808683" y="1993392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3072384" y="1463040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145536" y="1508760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해상풍력(2030)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145536" y="1664208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17,032 MW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3145536" y="1993392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716475" y="1664208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16475" y="1664208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6,000MW → 3배 상향 확정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716475" y="1993392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5980176" y="1463040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053328" y="1508760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육상풍력(2030)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053328" y="1664208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38,029 MW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6053328" y="1993392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7624267" y="1664208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624267" y="1664208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21,880MW (PDP8 원안) 대폭 상향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7624267" y="1993392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164592" y="2359152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37744" y="2404872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태양광(2030)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237744" y="2560320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 GW</a:t>
            </a:r>
            <a:endParaRPr lang="en-US" sz="1800" dirty="0"/>
          </a:p>
        </p:txBody>
      </p:sp>
      <p:sp>
        <p:nvSpPr>
          <p:cNvPr id="50" name="Text 48"/>
          <p:cNvSpPr/>
          <p:nvPr/>
        </p:nvSpPr>
        <p:spPr>
          <a:xfrm>
            <a:off x="237744" y="2889504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1808683" y="2560320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808683" y="2560320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26,046MW → 대폭 상향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1808683" y="2889504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3072384" y="2359152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145536" y="2404872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BESS 배터리(2030)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3145536" y="2560320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10,000 MW</a:t>
            </a:r>
            <a:endParaRPr lang="en-US" sz="1800" dirty="0"/>
          </a:p>
        </p:txBody>
      </p:sp>
      <p:sp>
        <p:nvSpPr>
          <p:cNvPr id="57" name="Text 55"/>
          <p:cNvSpPr/>
          <p:nvPr/>
        </p:nvSpPr>
        <p:spPr>
          <a:xfrm>
            <a:off x="3145536" y="2889504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4716475" y="2560320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716475" y="2560320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300MW → 33배 상향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4716475" y="2889504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5980176" y="2359152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053328" y="2404872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LNG 수입 터미널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6053328" y="2560320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8개소</a:t>
            </a:r>
            <a:endParaRPr lang="en-US" sz="1800" dirty="0"/>
          </a:p>
        </p:txBody>
      </p:sp>
      <p:sp>
        <p:nvSpPr>
          <p:cNvPr id="64" name="Text 62"/>
          <p:cNvSpPr/>
          <p:nvPr/>
        </p:nvSpPr>
        <p:spPr>
          <a:xfrm>
            <a:off x="6053328" y="2889504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7624267" y="2560320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624267" y="2560320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2개소 운영 중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7624267" y="2889504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164592" y="3255264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37744" y="3300984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LNG 발전 용량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237744" y="3456432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23,900 MW</a:t>
            </a:r>
            <a:endParaRPr lang="en-US" sz="1800" dirty="0"/>
          </a:p>
        </p:txBody>
      </p:sp>
      <p:sp>
        <p:nvSpPr>
          <p:cNvPr id="71" name="Text 69"/>
          <p:cNvSpPr/>
          <p:nvPr/>
        </p:nvSpPr>
        <p:spPr>
          <a:xfrm>
            <a:off x="237744" y="3785616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1808683" y="3456432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1808683" y="3456432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약 3,000 MW</a:t>
            </a:r>
            <a:endParaRPr lang="en-US" sz="1100" dirty="0"/>
          </a:p>
        </p:txBody>
      </p:sp>
      <p:sp>
        <p:nvSpPr>
          <p:cNvPr id="74" name="Text 72"/>
          <p:cNvSpPr/>
          <p:nvPr/>
        </p:nvSpPr>
        <p:spPr>
          <a:xfrm>
            <a:off x="1808683" y="3785616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3072384" y="3255264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3145536" y="3300984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연간 LNG 수입량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3145536" y="3456432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14백만 톤</a:t>
            </a:r>
            <a:endParaRPr lang="en-US" sz="1800" dirty="0"/>
          </a:p>
        </p:txBody>
      </p:sp>
      <p:sp>
        <p:nvSpPr>
          <p:cNvPr id="78" name="Text 76"/>
          <p:cNvSpPr/>
          <p:nvPr/>
        </p:nvSpPr>
        <p:spPr>
          <a:xfrm>
            <a:off x="3145536" y="3785616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4716475" y="3456432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4716475" y="3456432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2백만 톤</a:t>
            </a:r>
            <a:endParaRPr lang="en-US" sz="1100" dirty="0"/>
          </a:p>
        </p:txBody>
      </p:sp>
      <p:sp>
        <p:nvSpPr>
          <p:cNvPr id="81" name="Text 79"/>
          <p:cNvSpPr/>
          <p:nvPr/>
        </p:nvSpPr>
        <p:spPr>
          <a:xfrm>
            <a:off x="4716475" y="3785616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82" name="Shape 80"/>
          <p:cNvSpPr/>
          <p:nvPr/>
        </p:nvSpPr>
        <p:spPr>
          <a:xfrm>
            <a:off x="5980176" y="3255264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053328" y="3300984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신규 송전선 구축</a:t>
            </a:r>
            <a:endParaRPr lang="en-US" sz="900" dirty="0"/>
          </a:p>
        </p:txBody>
      </p:sp>
      <p:sp>
        <p:nvSpPr>
          <p:cNvPr id="84" name="Text 82"/>
          <p:cNvSpPr/>
          <p:nvPr/>
        </p:nvSpPr>
        <p:spPr>
          <a:xfrm>
            <a:off x="6053328" y="3456432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22,000km</a:t>
            </a:r>
            <a:endParaRPr lang="en-US" sz="1800" dirty="0"/>
          </a:p>
        </p:txBody>
      </p:sp>
      <p:sp>
        <p:nvSpPr>
          <p:cNvPr id="85" name="Text 83"/>
          <p:cNvSpPr/>
          <p:nvPr/>
        </p:nvSpPr>
        <p:spPr>
          <a:xfrm>
            <a:off x="6053328" y="3785616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86" name="Shape 84"/>
          <p:cNvSpPr/>
          <p:nvPr/>
        </p:nvSpPr>
        <p:spPr>
          <a:xfrm>
            <a:off x="7624267" y="3456432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7624267" y="3456432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진행 중</a:t>
            </a:r>
            <a:endParaRPr lang="en-US" sz="1100" dirty="0"/>
          </a:p>
        </p:txBody>
      </p:sp>
      <p:sp>
        <p:nvSpPr>
          <p:cNvPr id="88" name="Text 86"/>
          <p:cNvSpPr/>
          <p:nvPr/>
        </p:nvSpPr>
        <p:spPr>
          <a:xfrm>
            <a:off x="7624267" y="3785616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달성률 현황 비교 (2025년 기준)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82880" y="59436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총 발전설비 (2030)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194560" y="667512"/>
            <a:ext cx="658368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194560" y="667512"/>
            <a:ext cx="3489350" cy="2377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0" y="59436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53% / 100%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82880" y="106984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재생에너지 비중 (2030)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194560" y="1143000"/>
            <a:ext cx="658368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94560" y="1143000"/>
            <a:ext cx="2962656" cy="23774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69680" y="106984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45% / 100%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82880" y="1545336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해상풍력 (2030)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194560" y="1618488"/>
            <a:ext cx="658368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869680" y="154533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 / 100%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82880" y="2020824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석탄발전 단계적 폐지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194560" y="2093976"/>
            <a:ext cx="658368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194560" y="2093976"/>
            <a:ext cx="65837" cy="23774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869680" y="2020824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 / 100%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82880" y="2496312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해상풍력(2030)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194560" y="2569464"/>
            <a:ext cx="658368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194560" y="2569464"/>
            <a:ext cx="2304288" cy="23774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869680" y="2496312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35% / 100%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82880" y="297180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육상풍력(2030)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194560" y="3044952"/>
            <a:ext cx="658368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194560" y="3044952"/>
            <a:ext cx="3621024" cy="2377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869680" y="297180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55% / 100%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82880" y="344728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태양광(2030)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194560" y="3520440"/>
            <a:ext cx="658368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194560" y="3520440"/>
            <a:ext cx="2304288" cy="23774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869680" y="344728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35% / 100%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82880" y="3922776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BESS 배터리(2030)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194560" y="3995928"/>
            <a:ext cx="658368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194560" y="3995928"/>
            <a:ext cx="6583680" cy="23774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869680" y="392277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/ 100%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C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환경 인프라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 Infrastructure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2423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포함 마스터플랜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2743200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779776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VN-WW-2030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286000" y="2779776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VN-WW-2030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3218688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255264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VN-WAT-RESOURCES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286000" y="3255264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VN-WAT-RESOURCES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694176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730752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VN-WAT-URBAN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286000" y="3730752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VN-WAT-URBAN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4169664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20624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VN-SWM-NATIONAL-2030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286000" y="4206240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VN-SWM-NATIONAL-2030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4645152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468172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VN-ENV-IND-1894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286000" y="4681728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VN-ENV-IND-1894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VN-WW-2030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VN-WW-2030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1085/QĐ-TTg (2016) + QCVN 14:2008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국가 폐수처리 마스터플랜(2021~2030)은 도시 폐수처리율을 2025년 50%, 2030년 85%로 끌어올리는 것을 목표로 한다. 하노이·호치민·다낭 등 주요 도시 권역별 WWTP 신규·확장이 핵심이다. JICA, ADB, KfW 등 다자금융기관 ODA가 투자의 80% 이상을 차지하며, 민관협력(PPP) 확대가 정책 방향이다. 2024년 기준 하노이 폐수처리율은 약 29%로 목표(50%, 2025년)에 크게 못 미치나, 옌짜 WWTP 준공(2025.8)으로 처리 용량이 2배 이상 증가할 전망이...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도시 폐수처리율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~29% → 50% (하노이 옌짜 준공)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신규 WWTP 용량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2,900,000 m³/일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약 800,000 m³/일 운영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ODA 연계 투자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$2.5B+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JICA $690M (옌짜 준공 확정)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옌짜 (Yen Xa)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(Thanh Tri) | 270,000 m³/일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440680" y="1467041"/>
            <a:ext cx="3566160" cy="488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513832" y="1494473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빈흥 (Binh Hung)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513832" y="1704785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(Binh Chanh) | 141,000→512,000 m³/일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440680" y="1992249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513832" y="2019681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투득시 (Thu Duc)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513832" y="2229993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(Thu Duc) | 1,100,000 m³/일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440680" y="2517458"/>
            <a:ext cx="3566160" cy="488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513832" y="2544889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탐르엉 (Tham Luong)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513832" y="2755201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(Go Vap) | 131,000→310,000 m³/일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440680" y="3042666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13832" y="3070098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응우옌루 (Nhieu Loc)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513832" y="328041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| 480,000 m³/일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440680" y="3567874"/>
            <a:ext cx="3566160" cy="488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513832" y="3595306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박탕롱-반찌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513832" y="380561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| 42,000→116,000 m³/일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5440680" y="4093083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513832" y="4120515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손짜 (Son Tra)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513832" y="4330827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다낭 | 60,000 m³/일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440680" y="4887468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+ 2개 추가 프로젝트 (상세 보고서 참조)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Waste Water  |  Decision 1085/QĐ-TTg (2016) + QCVN 14:2008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45720"/>
            <a:ext cx="8778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VN-WW-2030 — 프로젝트 전체 목록 (10개)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91440" y="457200"/>
            <a:ext cx="320040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572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프로젝트명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91840" y="457200"/>
            <a:ext cx="137160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37560" y="45720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위치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663440" y="457200"/>
            <a:ext cx="182880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09160" y="4572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규모/용량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92240" y="457200"/>
            <a:ext cx="256032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4572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비고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1440" y="731520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7160" y="731520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옌짜 (Yen Xa)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91840" y="731520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37560" y="73152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(Thanh Tri)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63440" y="731520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9160" y="731520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270,000 m³/일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492240" y="731520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37960" y="73152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2025.8.19 준공, 북부 최대 시설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91440" y="1078992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7160" y="1078992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빈흥 (Binh Hung)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91840" y="1078992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37560" y="107899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(Binh Chanh)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663440" y="1078992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9160" y="1078992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141,000→512,000 m³/일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492240" y="1078992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37960" y="107899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2030년까지 단계적 확장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91440" y="1426464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37160" y="1426464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투득시 (Thu Duc)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291840" y="1426464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37560" y="1426464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(Thu Duc)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663440" y="1426464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09160" y="1426464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1,100,000 m³/일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492240" y="1426464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37960" y="1426464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동남아 최대, MBBR 기술 적용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91440" y="1773936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37160" y="1773936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탐르엉 (Tham Luong)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291840" y="1773936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337560" y="1773936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(Go Vap)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663440" y="1773936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09160" y="1773936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131,000→310,000 m³/일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492240" y="1773936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37960" y="1773936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2030년 최종 확장 목표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91440" y="2121408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37160" y="2121408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응우옌루 (Nhieu Loc)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291840" y="2121408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337560" y="2121408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663440" y="2121408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09160" y="2121408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480,000 m³/일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492240" y="2121408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537960" y="2121408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2026년 완공 예정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91440" y="2468880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37160" y="2468880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박탕롱-반찌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3291840" y="2468880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337560" y="246888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663440" y="2468880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709160" y="2468880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42,000→116,000 m³/일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6492240" y="2468880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537960" y="246888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2030년까지 용량 증설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91440" y="2816352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37160" y="2816352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손짜 (Son Tra)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3291840" y="2816352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337560" y="281635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다낭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4663440" y="2816352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709160" y="2816352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60,000 m³/일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6492240" y="2816352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537960" y="281635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WB 지원, 2020년 이후 확장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91440" y="3163824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37160" y="3163824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화쑤언 (Hoa Xuan)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3291840" y="3163824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337560" y="3163824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다낭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4663440" y="3163824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709160" y="3163824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100,000 m³/일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6492240" y="3163824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537960" y="3163824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2030년 2단계 완공 목표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91440" y="3511296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37160" y="3511296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년짝 (Nhon Trach)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3291840" y="3511296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337560" y="3511296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동나이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4663440" y="3511296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709160" y="3511296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30,000 m³/일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6492240" y="3511296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537960" y="3511296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산업단지 연계 하수처리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91440" y="3858768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137160" y="3858768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푸록 (Phu Loc)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3291840" y="3858768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3337560" y="3858768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다낭</a:t>
            </a:r>
            <a:endParaRPr lang="en-US" sz="900" dirty="0"/>
          </a:p>
        </p:txBody>
      </p:sp>
      <p:sp>
        <p:nvSpPr>
          <p:cNvPr id="88" name="Shape 86"/>
          <p:cNvSpPr/>
          <p:nvPr/>
        </p:nvSpPr>
        <p:spPr>
          <a:xfrm>
            <a:off x="4663440" y="3858768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4709160" y="3858768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65,000 m³/일</a:t>
            </a:r>
            <a:endParaRPr lang="en-US" sz="900" dirty="0"/>
          </a:p>
        </p:txBody>
      </p:sp>
      <p:sp>
        <p:nvSpPr>
          <p:cNvPr id="90" name="Shape 88"/>
          <p:cNvSpPr/>
          <p:nvPr/>
        </p:nvSpPr>
        <p:spPr>
          <a:xfrm>
            <a:off x="6492240" y="3858768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6537960" y="3858768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바이오필터(Biofilter) 공법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VN-WAT-RESOURCES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VN-WAT-RESOURCES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1622/QĐ-TTg (2017)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베트남은 기후변화로 메콩델타 해수 침투, 홍강 유역 가뭄·홍수 교차, 지하수 과잉 채굴 등 복합 수자원 위기에 직면해 있다. 2023년 수자원법 전면 개정으로 유역통합관리(IWRM), 지하수 이용 허가제, 오염자부담 원칙이 강화됐다. ADB·세계은행 지원 하에 메콩델타 수자원 인프라 현대화가 가속 중이다.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지하수 관리 대수층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27개 완전 관리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12개 관리 중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중복 댐·저수지 안전진단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완료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65% 완료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홍수 피해 GDP 비중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0.5% 미만으로 감소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연평균 1.2%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메콩델타 수자원 현대화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메콩델타 | 대규모 인프라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ADB·세계은행 지원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홍강 유역 홍수 관리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홍강 유역 | 유역통합관리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환경부 주관, IWRM 적용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440680" y="2258568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13832" y="228600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메콩강 MRC 모니터링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513832" y="249631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메콩강 | 예측 시스템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513832" y="26426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홍수·가뭄 조기 경보 체계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 Supply/Drainage  |  Decision 1622/QĐ-TTg (2017)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VN-WAT-URBAN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VN-WAT-URBAN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국가 상수도 개발전략은 2030년 도시 지역 100% 안전 수돗물 보급을 목표로 한다. ADB가 빈증성 바우방(Bau Bang) 정수장 확장($200M+), KfW가 중부 지역 상수도 현대화를 지원 중이다. 민영화(PPP·BOT) 확대로 TDM 수자원(빈증), BWS(호치민) 등 민간 사업자의 역할이 증가하고 있다.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도시 안전 상수 보급률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 수준 (2025)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1인당 공급량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 L/일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 L/일 (2025 목표)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누수율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 이하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 이하 (2025 목표)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송다 (Song Da)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화빈 | 600,000 m³/일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440680" y="1467041"/>
            <a:ext cx="3566160" cy="488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513832" y="1494473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투득 (Thu Duc)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513832" y="1704785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| 500,000 m³/일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440680" y="1992249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513832" y="2019681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꺼우도 (Cau Do)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513832" y="2229993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다낭 | 250,000 m³/일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440680" y="2517458"/>
            <a:ext cx="3566160" cy="488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513832" y="2544889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동아인 (Dong Anh)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513832" y="2755201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| 150,000 m³/일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440680" y="3042666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13832" y="3070098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동나이 (Dong Nai)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513832" y="328041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동나이 | 200,000 m³/일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440680" y="3567874"/>
            <a:ext cx="3566160" cy="488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513832" y="3595306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 (Ninh Thuan)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513832" y="380561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 | 80,000 m³/일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5440680" y="4093083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513832" y="4120515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껀터 2 (Can Tho 2)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513832" y="4330827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껀터 | 120,000 m³/일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440680" y="4887468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+ 12개 추가 프로젝트 (상세 보고서 참조)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Waste Water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45720"/>
            <a:ext cx="8778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VN-WAT-URBAN — 프로젝트 전체 목록 (20개)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91440" y="457200"/>
            <a:ext cx="320040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572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프로젝트명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91840" y="457200"/>
            <a:ext cx="137160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37560" y="45720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위치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663440" y="457200"/>
            <a:ext cx="182880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09160" y="4572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규모/용량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92240" y="457200"/>
            <a:ext cx="256032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4572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비고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1440" y="731520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7160" y="731520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송다 (Song Da)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91840" y="731520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37560" y="73152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화빈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63440" y="731520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9160" y="731520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600,000 m³/일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492240" y="731520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37960" y="73152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및 인근 성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91440" y="1078992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7160" y="1078992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투득 (Thu Duc)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91840" y="1078992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37560" y="107899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663440" y="1078992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9160" y="1078992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500,000 m³/일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492240" y="1078992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37960" y="107899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중심부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91440" y="1426464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37160" y="1426464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꺼우도 (Cau Do)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291840" y="1426464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37560" y="1426464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다낭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663440" y="1426464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09160" y="1426464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250,000 m³/일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492240" y="1426464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37960" y="1426464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다낭시 전역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91440" y="1773936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37160" y="1773936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동아인 (Dong Anh)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291840" y="1773936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337560" y="1773936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663440" y="1773936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09160" y="1773936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150,000 m³/일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492240" y="1773936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37960" y="1773936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북부 신도시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91440" y="2121408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37160" y="2121408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동나이 (Dong Nai)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291840" y="2121408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337560" y="2121408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동나이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663440" y="2121408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09160" y="2121408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200,000 m³/일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492240" y="2121408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537960" y="2121408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비엔화 및 호치민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91440" y="2468880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37160" y="2468880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 (Ninh Thuan)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3291840" y="2468880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337560" y="246888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663440" y="2468880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709160" y="2468880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80,000 m³/일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6492240" y="2468880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537960" y="246888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판랑-탑짬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91440" y="2816352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37160" y="2816352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껀터 2 (Can Tho 2)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3291840" y="2816352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337560" y="281635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껀터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4663440" y="2816352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709160" y="2816352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120,000 m³/일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6492240" y="2816352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537960" y="281635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껀터시 중심권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91440" y="3163824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37160" y="3163824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타이닌 (Tay Ninh)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3291840" y="3163824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337560" y="3163824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타이닌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4663440" y="3163824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709160" y="3163824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90,000 m³/일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6492240" y="3163824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537960" y="3163824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타이닌성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91440" y="3511296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37160" y="3511296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붕따우 (Vung Tau)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3291840" y="3511296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337560" y="3511296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바리아붕따우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4663440" y="3511296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709160" y="3511296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100,000 m³/일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6492240" y="3511296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537960" y="3511296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붕따우시 전역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91440" y="3858768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137160" y="3858768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동탑 (Dong Thap)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3291840" y="3858768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3337560" y="3858768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동탑</a:t>
            </a:r>
            <a:endParaRPr lang="en-US" sz="900" dirty="0"/>
          </a:p>
        </p:txBody>
      </p:sp>
      <p:sp>
        <p:nvSpPr>
          <p:cNvPr id="88" name="Shape 86"/>
          <p:cNvSpPr/>
          <p:nvPr/>
        </p:nvSpPr>
        <p:spPr>
          <a:xfrm>
            <a:off x="4663440" y="3858768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4709160" y="3858768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70,000 m³/일</a:t>
            </a:r>
            <a:endParaRPr lang="en-US" sz="900" dirty="0"/>
          </a:p>
        </p:txBody>
      </p:sp>
      <p:sp>
        <p:nvSpPr>
          <p:cNvPr id="90" name="Shape 88"/>
          <p:cNvSpPr/>
          <p:nvPr/>
        </p:nvSpPr>
        <p:spPr>
          <a:xfrm>
            <a:off x="6492240" y="3858768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6537960" y="3858768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까오라인</a:t>
            </a:r>
            <a:endParaRPr lang="en-US" sz="900" dirty="0"/>
          </a:p>
        </p:txBody>
      </p:sp>
      <p:sp>
        <p:nvSpPr>
          <p:cNvPr id="92" name="Shape 90"/>
          <p:cNvSpPr/>
          <p:nvPr/>
        </p:nvSpPr>
        <p:spPr>
          <a:xfrm>
            <a:off x="91440" y="4206240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137160" y="4206240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꽝찌 (Quang Tri)</a:t>
            </a:r>
            <a:endParaRPr lang="en-US" sz="900" dirty="0"/>
          </a:p>
        </p:txBody>
      </p:sp>
      <p:sp>
        <p:nvSpPr>
          <p:cNvPr id="94" name="Shape 92"/>
          <p:cNvSpPr/>
          <p:nvPr/>
        </p:nvSpPr>
        <p:spPr>
          <a:xfrm>
            <a:off x="3291840" y="4206240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3337560" y="420624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꽝찌</a:t>
            </a:r>
            <a:endParaRPr lang="en-US" sz="900" dirty="0"/>
          </a:p>
        </p:txBody>
      </p:sp>
      <p:sp>
        <p:nvSpPr>
          <p:cNvPr id="96" name="Shape 94"/>
          <p:cNvSpPr/>
          <p:nvPr/>
        </p:nvSpPr>
        <p:spPr>
          <a:xfrm>
            <a:off x="4663440" y="4206240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4709160" y="4206240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75,000 m³/일</a:t>
            </a:r>
            <a:endParaRPr lang="en-US" sz="900" dirty="0"/>
          </a:p>
        </p:txBody>
      </p:sp>
      <p:sp>
        <p:nvSpPr>
          <p:cNvPr id="98" name="Shape 96"/>
          <p:cNvSpPr/>
          <p:nvPr/>
        </p:nvSpPr>
        <p:spPr>
          <a:xfrm>
            <a:off x="6492240" y="4206240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6537960" y="420624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동하</a:t>
            </a:r>
            <a:endParaRPr lang="en-US" sz="900" dirty="0"/>
          </a:p>
        </p:txBody>
      </p:sp>
      <p:sp>
        <p:nvSpPr>
          <p:cNvPr id="100" name="Shape 98"/>
          <p:cNvSpPr/>
          <p:nvPr/>
        </p:nvSpPr>
        <p:spPr>
          <a:xfrm>
            <a:off x="91440" y="4553712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137160" y="4553712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끼엔장 (Kien Giang)</a:t>
            </a:r>
            <a:endParaRPr lang="en-US" sz="900" dirty="0"/>
          </a:p>
        </p:txBody>
      </p:sp>
      <p:sp>
        <p:nvSpPr>
          <p:cNvPr id="102" name="Shape 100"/>
          <p:cNvSpPr/>
          <p:nvPr/>
        </p:nvSpPr>
        <p:spPr>
          <a:xfrm>
            <a:off x="3291840" y="4553712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3337560" y="455371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끼엔장</a:t>
            </a:r>
            <a:endParaRPr lang="en-US" sz="900" dirty="0"/>
          </a:p>
        </p:txBody>
      </p:sp>
      <p:sp>
        <p:nvSpPr>
          <p:cNvPr id="104" name="Shape 102"/>
          <p:cNvSpPr/>
          <p:nvPr/>
        </p:nvSpPr>
        <p:spPr>
          <a:xfrm>
            <a:off x="4663440" y="4553712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4709160" y="4553712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85,000 m³/일</a:t>
            </a:r>
            <a:endParaRPr lang="en-US" sz="900" dirty="0"/>
          </a:p>
        </p:txBody>
      </p:sp>
      <p:sp>
        <p:nvSpPr>
          <p:cNvPr id="106" name="Shape 104"/>
          <p:cNvSpPr/>
          <p:nvPr/>
        </p:nvSpPr>
        <p:spPr>
          <a:xfrm>
            <a:off x="6492240" y="4553712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6537960" y="455371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락지아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VN-SWM-NATIONAL-2030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VN-SWM-NATIONAL-2030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491/QĐ-TTg (2018)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고형폐기물 관리 전략은 2030년까지 WtE(폐기물 에너지화) 비율을 50%로 높이고 매립 의존도를 획기적으로 낮추는 것이 핵심이다. 하노이 속선(Soc Son) WtE 발전소 준공(2025.10, 90MW)이 베트남 WtE 전략의 이정표다. EPR(생산자책임재활용) 규정 시행, 재활용 기반 강화가 중기 정책 방향이다.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도시 폐기물 수거율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 (2025 목표 수준)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WtE 소각 비율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 목표 (2025), 속선 WtE 가동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매립 의존율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 이하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속선 WtE 가동으로 현저히 감소 중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속선 (Soc Son) WtE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| 4,000~5,000 톤/일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440680" y="1467041"/>
            <a:ext cx="3566160" cy="488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513832" y="1494473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다프억 (Da Phuoc)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513832" y="1704785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| 10,000 톤/일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440680" y="1992249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513832" y="2019681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남선 (Nam Son) WtE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513832" y="2229993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| 4,000 톤/일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440680" y="2517458"/>
            <a:ext cx="3566160" cy="488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513832" y="2544889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빈즈엉 처리장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513832" y="2755201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빈즈엉 | 1,500 톤/일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440680" y="3042666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13832" y="3070098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푸손 (Phu Son)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513832" y="328041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트어티엔후에 | 600 톤/일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440680" y="3567874"/>
            <a:ext cx="3566160" cy="488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513832" y="3595306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타일라이 (Thoi Lai)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513832" y="380561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껀터 | 400 톤/일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5440680" y="4093083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513832" y="4120515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박닌 WtE (VSIP)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513832" y="4330827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박닌 | 1,000 톤/일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440680" y="4887468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+ 2개 추가 프로젝트 (상세 보고서 참조)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Solid Waste  |  Decision 491/QĐ-TTg (2018)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45720"/>
            <a:ext cx="8778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VN-SWM-NATIONAL-2030 — 프로젝트 전체 목록 (10개)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91440" y="457200"/>
            <a:ext cx="320040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572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프로젝트명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91840" y="457200"/>
            <a:ext cx="137160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37560" y="45720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위치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663440" y="457200"/>
            <a:ext cx="182880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09160" y="4572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규모/용량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92240" y="457200"/>
            <a:ext cx="256032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4572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비고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1440" y="731520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7160" y="731520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속선 (Soc Son) WtE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91840" y="731520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37560" y="73152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63440" y="731520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9160" y="731520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4,000~5,000 톤/일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492240" y="731520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37960" y="73152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WtE 90MW, 세계 2위 규모, 2025.10 준공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91440" y="1078992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7160" y="1078992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다프억 (Da Phuoc)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91840" y="1078992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37560" y="107899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663440" y="1078992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9160" y="1078992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10,000 톤/일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492240" y="1078992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37960" y="107899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위생 매립 및 WtE 전환 중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91440" y="1426464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37160" y="1426464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남선 (Nam Son) WtE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291840" y="1426464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37560" y="1426464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663440" y="1426464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09160" y="1426464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4,000 톤/일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492240" y="1426464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37960" y="1426464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2025년 완공, 대규모 소각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91440" y="1773936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37160" y="1773936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빈즈엉 처리장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291840" y="1773936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337560" y="1773936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빈즈엉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663440" y="1773936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09160" y="1773936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1,500 톤/일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492240" y="1773936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37960" y="1773936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재활용 및 WtE 병행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91440" y="2121408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37160" y="2121408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푸손 (Phu Son)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291840" y="2121408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337560" y="2121408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트어티엔후에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663440" y="2121408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09160" y="2121408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600 톤/일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492240" y="2121408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537960" y="2121408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2025.11 가동, 도시폐기물 80% 처리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91440" y="2468880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37160" y="2468880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타일라이 (Thoi Lai)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3291840" y="2468880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337560" y="246888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껀터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663440" y="2468880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709160" y="2468880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 톤/일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6492240" y="2468880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537960" y="246888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2024년 준공, 메콩델타 핵심 WtE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91440" y="2816352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37160" y="2816352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박닌 WtE (VSIP)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3291840" y="2816352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337560" y="281635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박닌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4663440" y="2816352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709160" y="2816352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1,000 톤/일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6492240" y="2816352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537960" y="281635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2028년 에너지 회수 최적화 목표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91440" y="3163824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37160" y="3163824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쿠찌 (Cu Chi) WtE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3291840" y="3163824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337560" y="3163824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4663440" y="3163824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709160" y="3163824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2,000 톤/일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6492240" y="3163824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537960" y="3163824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WtE 및 퇴비화 복합 공정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91440" y="3511296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37160" y="3511296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푸꾸옥 (Phu Quoc)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3291840" y="3511296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337560" y="3511296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끼엔장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4663440" y="3511296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709160" y="3511296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 톤/일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6492240" y="3511296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537960" y="3511296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도서 지역 특화 소각 및 재활용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91440" y="3858768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137160" y="3858768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탄호아-롱안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3291840" y="3858768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3337560" y="3858768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롱안</a:t>
            </a:r>
            <a:endParaRPr lang="en-US" sz="900" dirty="0"/>
          </a:p>
        </p:txBody>
      </p:sp>
      <p:sp>
        <p:nvSpPr>
          <p:cNvPr id="88" name="Shape 86"/>
          <p:cNvSpPr/>
          <p:nvPr/>
        </p:nvSpPr>
        <p:spPr>
          <a:xfrm>
            <a:off x="4663440" y="3858768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4709160" y="3858768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300→500 톤/일</a:t>
            </a:r>
            <a:endParaRPr lang="en-US" sz="900" dirty="0"/>
          </a:p>
        </p:txBody>
      </p:sp>
      <p:sp>
        <p:nvSpPr>
          <p:cNvPr id="90" name="Shape 88"/>
          <p:cNvSpPr/>
          <p:nvPr/>
        </p:nvSpPr>
        <p:spPr>
          <a:xfrm>
            <a:off x="6492240" y="3858768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6537960" y="3858768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용량 확장 중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VN-ENV-IND-1894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VN-ENV-IND-1894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1894/QĐ-TTg (2024)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 국가 환경산업 육성 프로그램(2025~2030, 결정문 1894/QĐ-TTg)은 환경산업을 독자적인 경제 부문으로 육성하고 녹색 전환과 순환경제를 촉진하는 것을 목표로 한다. 2026년 현재 국가 환경산업 센터 구축 및 재활용 산업단지(IP) 개발을 위한 법적 기틀이 마련 중이다. 한국 등 해외 협력을 통한 자원순환형 산업단지 도입이 추진되고 있으며, 확장된 생산자 책임(EPR) 제도의 의무 재활용 대상 확대 및 환경보호법 개정이 본 플랜의 강력한 실행 동력으로 작용하고 있다.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하수처리 기술 및 장비 국내 수요 충족률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70%~80%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조사 중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배출가스/폐가스 처리 기술 및 장비 국내 수요 충족률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60%~70%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조사 중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고형 및 유해 폐기물 수거·운반 국내 수요 충족률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50%~60%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조사 중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스타비안 플라스틱 재활용 복합단지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탄호아성 응이선 경제구역 (Nghi Son EZ) | 17,000 톤/년 (rPET 칩 생산)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2025년 4Q 착공, 2027년 1Q 상업가동 예정. Starlinger(오스트리아)·A…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박닌 자원순환형 산업단지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박닌성 반하 북송구 (Bắc Sông Cầu) | 약 200 ha 규모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한국 환경부-베트남 MAE MoU 체결(2024.7). KEITI 마스터플랜 수립 중. 산…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440680" y="2258568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13832" y="228600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비와세-시티오일필드 RGO 화학재활용 공장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513832" y="249631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빈증성 고형폐기물 처리단지 | 폐플라스틱→산업용 정제유 (RGO) 추출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513832" y="26426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한국 시티오일필드 저온촉매분해 기술 적용. EPR 연계 가공시설 기초공사 진행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440680" y="2916936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13832" y="2944368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남빈증 폐기물 에너지화(WtE) 확장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513832" y="31546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빈증성 남부 처리지구 | 퇴비화 840톤/일 + WtE 소각 200톤/일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513832" y="330098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ADB 2,000만 달러 차관 승인 완료. 소각로 가동 준비 단계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5440680" y="3575304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513832" y="3602736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국가 환경산업 혁신 센터 구축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513832" y="38130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(주요 하이테크 경제구역·대학 내) | 환경산업 보육 네트워크 구성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513832" y="395935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연구·전환·혁신 센터 건립 및 vườn ươm(보육네트워크) 운영 계획 확정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Solid Waste  |  Decision 1894/QĐ-TTg (2024)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C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에너지·전력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 &amp; Power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2423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포함 마스터플랜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2743200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779776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286000" y="2779776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3218688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255264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VN-PWR-PDP8-RENEWABLE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286000" y="3255264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VN-PWR-PDP8-RENEWABLE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694176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730752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VN-PWR-PDP8-LNG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286000" y="3730752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VN-PWR-PDP8-LNG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4169664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20624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VN-PWR-PDP8-GRID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286000" y="4206240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VN-PWR-PDP8-GRID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4645152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468172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VN-PWR-PDP8-NUCLEAR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286000" y="4681728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VN-PWR-PDP8-NUCLEAR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5120640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5157216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VN-PWR-PDP8-HYDROGEN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286000" y="5157216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VN-PWR-PDP8-HYDROGEN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5596128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5632704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VN-OG-2030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286000" y="5632704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VN-OG-2030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500/QĐ-TTg (2023) + Decision 768/QĐ-TTg (2024 개정)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PDP8 — 베트남 8차 전력개발계획. 2030년까지 발전설비 150GW (재생 50% 이상), 2050년 567~635GW (재생 67~71%) 목표. 2025년 4월 Decision 768로 개정되어 GDP 7%→10% 상향에 따른 전력수요 재계산, 해상풍력 6→17GW 3배 상향, 석탄발전 단계적 폐지 가속, 원자력 재개(닌투언 1·2호기) 반영. 하위 플랜: VN-PWR-PDP8-RENEWABLE (해상풍력·태양광), VN-PWR-PDP8-LNG (LNG 인수보장), VN-PWR-PDP8-...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총 발전설비 (2030)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150,489 MW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80,555 MW (2024)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재생에너지 비중 (2030)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30~39%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13.7% (2024)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해상풍력 (2030)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17,032 MW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MW (계획 중)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PDP8 통합 마스터 시나리오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| $135B 투자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하위 3개 플랜 통합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 |  Decision 500/QĐ-TTg (2023) + Decision 768/QĐ-TTg (2024 개정)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VN-PWR-PDP8-RENEWABLE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VN-PWR-PDP8-RENEWABLE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2025년 4월 Decision 768로 PDP8이 전면 개정됐다. GDP 성장률 목표 7%→10% 상향이 전력 수요 재계산을 촉발했으며, 해상풍력 목표가 3배 가까이 늘었다. Decree 57(DPPA·직접전력구매계약) 시행으로 RE100 기업의 재생에너지 직구매가 가능해졌다. 2030년까지 총 투자 $134.7B 규모다.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해상풍력(2030)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17,032 MW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6,000MW → 3배 상향 확정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육상풍력(2030)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38,029 MW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21,880MW (PDP8 원안) 대폭 상향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태양광(2030)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 GW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26,046MW → 대폭 상향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해상풍력 Zone 1~6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남중국해 연안 | 17,032 MW (2030)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Equinox/Orsted/Viet Dragon 입찰 준비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 태양광 단지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닌투언성 | 73 GW (2030 누적)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FiT→경쟁입찰 전환 추진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440680" y="2258568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13832" y="228600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BESS 배터리 저장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513832" y="249631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| 10,000 MW (2030)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513832" y="26426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768 신규 대폭 상향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440680" y="2916936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13832" y="2944368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DPPA 직접구매 시장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513832" y="31546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| 시장 개방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513832" y="330098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삼성·인텔 등 RE100 계약 추진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VN-PWR-PDP8-LNG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VN-PWR-PDP8-LNG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Decree 100(2025)은 LNG 발전사업의 최소 연간 발전량 65% 인수를 보장하는 정부 보증을 법제화해 외국인 투자자의 진입 장벽을 크게 낮췄다. 닌투언LNG 복합터미널, 박류-탄호아 LNG 등 대형 프로젝트가 FID(최종투자결정) 단계에 있다.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LNG 수입 터미널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8개소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2개소 운영 중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LNG 발전 용량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23,900 MW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약 3,000 MW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연간 LNG 수입량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14백만 톤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2백만 톤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 LNG 복합터미널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닌투언성 | LNG 허브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FID 단계 추진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박류-탄호아 LNG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탄호아성 | 대규모 LNG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FID 단계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440680" y="2258568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13832" y="228600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티바이 LNG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513832" y="249631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바리아붕따우 | LNG 터미널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513832" y="26426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2023년 운영 개시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440680" y="2916936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13832" y="2944368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까마우 LNG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513832" y="31546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까마우성 | LNG 발전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513832" y="330098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가스전 연계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VN-PWR-PDP8-GRID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VN-PWR-PDP8-GRID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PDP8 송배전망 확충계획으로 2030년까지 신규 송전선 5,000km 증설, 북부 재생에너지를 남부로 수송하는 해저케이블 구축, 스마트그리드 전국 전환이 3대 과제입니다.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신규 송전선 구축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22,000km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진행 중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765kV 신규 노선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3개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1개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스마트그리드 전환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2030년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파일럿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하노이-하이퐁 765kV 송전선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하노이~하이퐁 | $9억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계획 수립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라이차우 송전 인프라 확충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라이차우성 | 미정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계획 단계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VN-PWR-PDP8-NUCLEAR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VN-PWR-PDP8-NUCLEAR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2025년 정치국 결의(Resolution 70)로 2010년 중단된 원자력 재개 추진이 공식화됐다. 닌투언 1호기(러시아 Rosatom, 2,000MW)와 2호기(일본 ADB 컨소시엄) 개발 재개가 확정됐으며, 소형모듈원전(SMR) 도입도 검토 중이다. 에너지 안보·탄소중립 이중 과제 대응이 배경이다.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원자력 발전 용량(2035)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4,000 MW (2035 목표)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768 신규 추가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 1호기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2,000 MW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Rosatom, 재개 확정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 2호기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2,000 MW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일본 컨소시엄, 협의 중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 1호기 (Rosatom)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닌투언성 | 2,000 MW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러시아 기술, 2025 재개 확정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 2호기 (Japan)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닌투언성 | 2,000 MW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일본 ADB 컨소시엄, 협의 진행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440680" y="2258568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13832" y="228600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SMR 소형모듈원전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513832" y="249631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검토 중 | 미정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513832" y="26426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2040년대 도입 검토 중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VN-PWR-PDP8-HYDROGEN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VN-PWR-PDP8-HYDROGEN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165/QĐ-TTg(2023) 기반 국가 수소에너지 전략으로, 2030년 그린수소 파일럿(10만톤/년), 2050년 수소 수출국을 목표로 합니다. 재생에너지 잉여전력을 활용한 전해조 설치가 1단계 핵심입니다.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그린수소 생산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100,000톤/년 (2030)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수소 수출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2050년 수출국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로드맵 수립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 그린수소 파일럿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닌투언성 | 소규모 실증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2027년 예정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VN-OG-2030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VN-OG-2030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893/QĐ-TTg (2023)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 석유가스공사(PVN)는 바흐호(Bach Ho)·람손(Rang Dong) 등 노후 유전 생산 감소에 대응해 심해 탐사(113·115·129 블록)와 LNG 공급망 구축을 병행 추진 중이다. 국내 가스전(Ca Mau·Nam Con Son)을 LNG 발전소와 연계하는 통합 공급망이 핵심 전략이다.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원유 생산량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8~10백만 톤/년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11백만 톤/년 (유지 목표)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가스 생산량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13~15억 m³/년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10억 m³/년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LNG 수입 의존도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국내 가스 우선 활용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2백만 톤/년 수입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바흐호 유전 (Bach Ho)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바리아붕따우 해상 | 원유 생산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노후화 대응, 심해 탐사 병행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113·115·129 블록 탐사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남중국해 심해 | 탐사 단계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PVN 주도, 국제 컨소시엄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440680" y="2258568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13832" y="228600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까마우 가스전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513832" y="249631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까마우성 해상 | 국내 공급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513832" y="26426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LNG 발전소 연계 통합 공급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440680" y="2916936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13832" y="2944368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남콘손 파이프라인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513832" y="31546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남부 해상 | 파이프라인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513832" y="330098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가스 육상 이송 핵심 인프라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Oil &amp; Gas  |  Decision 893/QĐ-TTg (2023)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C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도시·교통·산업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Urban &amp; Transport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2423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포함 마스터플랜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2743200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779776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VN-IP-NORTH-2030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286000" y="2779776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VN-IP-NORTH-2030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3218688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255264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VN-TRAN-2055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286000" y="3255264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VN-TRAN-2055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694176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730752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VN-MEKONG-DELTA-2030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286000" y="3730752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VN-MEKONG-DELTA-2030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4169664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20624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VN-URB-METRO-2030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286000" y="4206240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VN-URB-METRO-2030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4645152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468172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VN-SC-2030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286000" y="4681728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VN-SC-2030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5120640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5157216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VN-EV-2030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286000" y="5157216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VN-EV-2030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5596128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5632704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HN-URBAN-INFRA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286000" y="5632704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HN-URBAN-INFRA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6071616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6108192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HN-URBAN-WEST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286000" y="6108192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HN-URBAN-WEST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" y="6547104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658368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HN-URBAN-NORTH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286000" y="6583680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HN-URBAN-NORTH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VN-IP-NORTH-2030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VN-IP-NORTH-2030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326/QĐ-TTg (2022) + 외국인 투자 유치 전략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북부 산업단지 클러스터(하이퐁·박닌·타이응우옌·박장·흥옌)는 삼성·LG·인텔·폭스콘 등 글로벌 전자·반도체 공급망의 핵심 기지다. VSIP(베트남-싱가포르 산업단지)는 19개 단지를 운영 중이며, 타이빈성 신규 착공으로 확장 중이다. 2025~2030년 반도체·배터리·첨단제조 클러스터 집중 육성이 정책 방향이다.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북부 산업용지 총 공급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28,000 ha 이상 (2030)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23,990 ha (2025년 4분기, +42.8% YoY)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북부 산업단지 평균 입주율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 이상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65.74% (박닌 74.1%, 하노이 100%)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FDI 유치 (베트남 전체)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$200억/년 이상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$276억 (2025년, 5년 최고) / 2026년 1~4월 $74억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옌퐁 II 산업단지 (Yen Phong II)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박닌성 옌퐁 | 1,200 ha (공업 1,000 ha + 도시 200 ha)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440680" y="1467041"/>
            <a:ext cx="3566160" cy="488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513832" y="1494473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VSIP 박닌 (Vietnam-Singapore IP)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513832" y="1704785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박닌성 투선 | 700 ha (산업+주거 복합)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440680" y="1992249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513832" y="2019681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VSIP 타이빈 (VSIP Thai Binh)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513832" y="2229993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타이빈성 타이투이 구 | 333 ha / $221M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440680" y="2517458"/>
            <a:ext cx="3566160" cy="488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513832" y="2544889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VSIP 랑선 (VSIP Lang Son)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513832" y="2755201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랑선성 후루 구 | 600 ha / $250M (3개 phase)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440680" y="3042666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13832" y="3070098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VSIP 흥옌·하이퐁·하이즈엉 확장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513832" y="328041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흥옌·하이퐁·하이즈엉 (북부 3개 성) | 미정 (MoU 체결)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440680" y="3567874"/>
            <a:ext cx="3566160" cy="488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513832" y="3595306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존슨헬스텍 투안타인 2공장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513832" y="380561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박닌성 투안타인 I IP | 20 ha / $100M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5440680" y="4093083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513832" y="4120515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기아빈 국제공항 개발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513832" y="4330827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박닌성 기아빈 | 산업단지 물류 연계 인프라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440680" y="4887468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+ 1개 추가 프로젝트 (상세 보고서 참조)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Industrial Parks  |  Decision 326/QĐ-TTg (2022) + 외국인 투자 유치 전략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45720"/>
            <a:ext cx="8778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VN-IP-NORTH-2030 — 프로젝트 전체 목록 (9개)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91440" y="457200"/>
            <a:ext cx="3200400" cy="274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572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프로젝트명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91840" y="457200"/>
            <a:ext cx="1371600" cy="274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37560" y="45720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위치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663440" y="457200"/>
            <a:ext cx="1828800" cy="274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09160" y="4572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규모/용량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92240" y="457200"/>
            <a:ext cx="2560320" cy="274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4572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비고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1440" y="731520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7160" y="731520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옌퐁 II 산업단지 (Yen Phong II)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91840" y="731520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37560" y="73152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박닌성 옌퐁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63440" y="731520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9160" y="731520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1,200 ha (공업 1,000 ha + 도시 200 ha)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492240" y="731520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37960" y="73152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삼성 위성 공장 허브. 3개 구역(A/B/C) 운영 중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91440" y="1078992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7160" y="1078992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VSIP 박닌 (Vietnam-Singapore IP)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91840" y="1078992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37560" y="107899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박닌성 투선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663440" y="1078992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9160" y="1078992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700 ha (산업+주거 복합)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492240" y="1078992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37960" y="107899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캐논·파나소닉·삼성·LG·폭스콘 입주. DPPA 계약 추진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91440" y="1426464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37160" y="1426464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VSIP 타이빈 (VSIP Thai Binh)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291840" y="1426464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37560" y="1426464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타이빈성 타이투이 구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663440" y="1426464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09160" y="1426464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333 ha / $221M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492240" y="1426464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37960" y="1426464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전자부품·정밀기계·신재생에너지 대상. 2026년 산업용지 인도 예정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91440" y="1773936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37160" y="1773936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VSIP 랑선 (VSIP Lang Son)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291840" y="1773936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337560" y="1773936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랑선성 후루 구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663440" y="1773936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09160" y="1773936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600 ha / $250M (3개 phase)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492240" y="1773936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37960" y="1773936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1phase 2025년 3Q 완공, 2phase 2026년 9월 완공 예정. 4만명 고용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91440" y="2121408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37160" y="2121408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VSIP 흥옌·하이퐁·하이즈엉 확장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291840" y="2121408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337560" y="2121408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흥옌·하이퐁·하이즈엉 (북부 3개 성)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663440" y="2121408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09160" y="2121408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미정 (MoU 체결)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492240" y="2121408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537960" y="2121408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Becamex IDC-Sembcorp Development 4개 MoU. 녹색 산업단지 계…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91440" y="2468880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37160" y="2468880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존슨헬스텍 투안타인 2공장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3291840" y="2468880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337560" y="246888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박닌성 투안타인 I IP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663440" y="2468880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709160" y="2468880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ha / $100M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6492240" y="2468880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537960" y="246888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2025년 1Q 착공, 2026년 가동 예정. 2,000~3,000명 고용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91440" y="2816352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37160" y="2816352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기아빈 국제공항 개발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3291840" y="2816352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337560" y="281635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박닌성 기아빈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4663440" y="2816352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709160" y="2816352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산업단지 물류 연계 인프라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6492240" y="2816352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537960" y="281635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북부 산업단지 물류 허브 재편 핵심. 2026년 개발 추진 중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91440" y="3163824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37160" y="3163824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딥씨 하이퐁 산업단지 (DEEP C)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3291840" y="3163824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337560" y="3163824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하이퐁시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4663440" y="3163824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709160" y="3163824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중공업·자동차 특화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6492240" y="3163824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537960" y="3163824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빈패스트(VinFast) 입주. 항만 직접 연계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91440" y="3511296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37160" y="3511296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삼성전자 반도체 후공정 테스트 공장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3291840" y="3511296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337560" y="3511296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박닌성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4663440" y="3511296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709160" y="3511296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$15억 투자 / DRAM·NAND 후공정 테스트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6492240" y="3511296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537960" y="3511296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2027년 11월 가동 예정. 북부 반도체 공급망 고도화 핵심 (Gemini 검색 기반)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VN-TRAN-2055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VN-TRAN-2055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1412/QĐ-TTg (2021)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교통인프라 마스터플랜은 2030년 고속도로 5,000km, 항구·공항 대규모 확충을 목표로 한다. 롱탄 국제공항($18B, 4단계)은 핵심 메가프로젝트로 2026년 1단계 개항이 목전이다. 하노이 링로드4, 호치민 링로드3·고가도로, 라크후옌 항구 확장이 병행 추진 중이다. PPP(BOT) 방식 확대로 민간 참여가 증가하고 있다.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고속도로 총연장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5,000 km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1,892 km (2025 실적)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롱탄공항 개항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25M PAX/년 (1단계)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2026.06 상업운항 목표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공항 네트워크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30개 공항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22개 운영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롱탄 국제공항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동나이성 | 25M PAX (1단계)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2026.06 개항 목표, $18B (4단계)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링로드4 (호치민)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광역 | 200km, $5.4B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병행도로 2026.6 개통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440680" y="2258568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13832" y="228600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링로드4 (하노이)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513832" y="249631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| 113km, $3.6B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513832" y="26426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착공 진행 중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440680" y="2916936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13832" y="2944368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라크후옌 항구 2단계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513832" y="31546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하이퐁 | 심해 컨테이너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513832" y="330098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국제 화물 허브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5440680" y="3575304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513832" y="3602736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메트로 1호선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513832" y="38130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| 19.7km, 14역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513832" y="395935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2024.12 개통 완료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Transport  |  Decision 1412/QĐ-TTg (2021)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VN-MEKONG-DELTA-2030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VN-MEKONG-DELTA-2030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Resolution 13-NQ/TW (2022)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메콩 델타 인프라 개발 계획 2030 근거: Resolution 13-NQ/TW (2022) 기간: 2022-2030 주요 목표: 2030년까지 고속도로 760km / 메콩 수계 통합 관리 / Can Tho 교량 2호 건설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2030년까지 고속도로 760km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메콩 수계 통합 관리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Tho 교량 2호 건설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메콩 수계 통합 관리 사업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메콩 유역 전체 | 수자원관리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기후변화 대응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Tho 교량 2호 건설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깐터성 | $3.2억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 완공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440680" y="2258568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13832" y="228600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메콩 고속도로 남북 축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513832" y="249631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메콩 전역 | 760km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513832" y="26426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목표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Transport  |  Resolution 13-NQ/TW (2022)</a:t>
            </a:r>
            <a:endParaRPr lang="en-US" sz="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VN-URB-METRO-2030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VN-URB-METRO-2030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하노이와 호치민은 각각 2030년까지 메트로 15개·8개 노선 완성을 목표로 하지만 재원조달·용지보상·기술역량 부족으로 지연이 상시적이다. 하노이 2A(껫린~하동)·3(못처~하노이역 부분) 운영 중이고, 1·2B·4호선이 건설 중이다. 호치민 1호선(벤탄~수오이티엔)은 2024년 말 개통됐다.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메트로 목표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15개 노선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2A·3호선 운영, 1·2B 건설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메트로 목표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8개 노선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1호선 2024.12 개통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도시철도 목표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46개 노선 3,045km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약 5개 노선 운영/건설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2A (껫린~하동)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| 13km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운영 중 (2021)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3 (못처~하노이역)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| 부분 운영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운영 중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440680" y="2258568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13832" y="228600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1호선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513832" y="249631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| 38.7km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513832" y="26426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건설 중, 2027 목표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440680" y="2916936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13832" y="2944368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2B·4호선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513832" y="31546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| 계획 중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513832" y="330098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2030 이후 단계별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5440680" y="3575304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513832" y="3602736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1호선 (벤탄~수오이티엔)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513832" y="38130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| 19.7km, 14역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513832" y="395935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2024.12 개통, 운영 중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5440680" y="4233672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513832" y="426110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2호선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5513832" y="44714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| 11.3km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5513832" y="461772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건설 중, ODA 확보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City</a:t>
            </a:r>
            <a:endParaRPr lang="en-US" sz="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VN-SC-2030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VN-SC-2030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950/QĐ-TTg (2018)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 스마트시티 국가전략. 2025년까지 6개 핵심도시(하노이·호치민·다낭·껀터·하이퐁·후에) 스마트시티 시범 모델 완성, 2030년까지 전국 30개 도시로 확산. 디지털 정부, IoT 도시 인프라, AI 교통관제, 스마트 미터링 등 6개 핵심 분야. 한국 KOICA·KIND·KT·SK텔레콤·LG CNS 등 ICT 기업 진출 활발. 2024년 디지털전환 로드맵(Decision 749) 통합으로 가속.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스마트시티 시범 도시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6개 (2025)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6개 (2024 진행 중)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확산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30개 (2030)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12개 (2024)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디지털정부 지수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50 (UN EGDI)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86위 (2024)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스마트시티 통합운영센터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Hanoi | $50M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 가동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IoT 통합 플랫폼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HCMC | $200M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디지털 전환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440680" y="2258568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13832" y="228600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다낭 AI 교통관제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513832" y="249631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 Nang | $30M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513832" y="26426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KT 협력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City  |  Decision 950/QĐ-TTg (2018)</a:t>
            </a:r>
            <a:endParaRPr lang="en-US" sz="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VN-EV-2030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VN-EV-2030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876/QĐ-TTg(2022) 기반으로 2030년까지 신규 판매차량 100%를 친환경차로 전환하는 국가 목표입니다. VinFast EV 생산 확대, 충전 인프라 25만 충전소, E10 바이오연료 전국화가 3대 과제입니다.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 신규 판매 비율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(2030)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~10%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충전 인프라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25만 충전소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~5,000개소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바이오연료 혼합률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E10 100% 보급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파일럿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VinFast 기업구조 개편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| EV 생산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진행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바이오연료 E10 전국 출시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| 정책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준비 완료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440680" y="2258568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13832" y="228600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Honda Vietnam EV 인센티브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513832" y="249631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| 정책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513832" y="26426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제안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Transport</a:t>
            </a:r>
            <a:endParaRPr lang="en-US" sz="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HN-URBAN-INFRA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HN-URBAN-INFRA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2024년 12월 Decision 1668로 확정된 하노이 도시개발 마스터플랜 2045/2065는 9×9×9 다핵다중심 클러스터 모델을 적용해 5대 도시권·7개 위성도시를 체계화한다. 총 투자 $2.5T(2026~2045), 인구 2045년 최대 16M 수용이 목표다. 링로드4(113km, $3.6B) 착공이 서막이며, 홍강 양안 신도시, 또리히강 정화, 15개 메트로 노선이 핵심이다.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도시개발 총투자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$2.5T (2026~2045)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1668 확정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인구 수용 목표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16M명 (2045)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현재 8.5M명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링로드4 완공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2027년 전체 완공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착공 진행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링로드4 전체 완공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외곽 | 도로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2027년 완공 목표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2공항 계획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인근 | 5,000만명/년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장기 계획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440680" y="2258568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13832" y="228600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북부 상수도 2단계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513832" y="249631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북부 | $3.2억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513832" y="26426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입찰 진행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City</a:t>
            </a:r>
            <a:endParaRPr lang="en-US" sz="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HN-URBAN-WEST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HN-URBAN-WEST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서부 1,586ha 국가 하이테크파크. ICT·반도체·바이오·R&amp;D 클러스터로 육성. 삼성·인텔·FPT·LG·VinFast 입주. 2023년 11월 하노이 인민위 이관으로 인허가 가속. KIST(한국과학기술연구원) Vietnam Campus, 베트남-한국 R&amp;D 센터 등 한국 협력 거점. 2030년까지 입주기업 800개, 매출 $30B 목표.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입주 기업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800개 (2030)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113개 (2024)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연간 매출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$30B (2030)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$1.6B (2024)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고용 인원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15만명 (2030)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2.5만명 (2024)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Samsung R&amp;D Center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Hoa Lac | $220M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2022 가동, 동남아 최대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KIST Vietnam Campus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Hoa Lac | $70M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한국 KIST 분원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440680" y="2258568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13832" y="228600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FPT Software HQ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513832" y="249631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Hoa Lac | 30,000명 수용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513832" y="26426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서비스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440680" y="2916936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13832" y="2944368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Hanwha Aerospace 위성 R&amp;D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513832" y="31546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Hoa Lac | 검토 중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513832" y="330098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한국 협력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City</a:t>
            </a:r>
            <a:endParaRPr lang="en-US" sz="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HN-URBAN-NORTH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HN-URBAN-NORTH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도시개발 마스터플랜 2045/2065 하위 — 북부 동아인(Dong Anh) 신도시. 하노이 북부 노이바이 공항 인근 4,200ha 부지, 인구 30~40만 수용 신도시 개발. Sumitomo(일본)·BRG Group(베트남) 합작 BRG-Sumitomo Smart City($4B), Vingroup Co Loa Smart City 등 대형 프로젝트 추진. 2045년 인구 87만 목표.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신도시 부지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4,200 ha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계획·인허가 단계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인구 수용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30~40만 (2045)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약 4.2만 (2024)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투자 규모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$4B+ (BRG-Sumitomo)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단계별 진입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BRG-Sumitomo Smart City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Dong Anh | 272 ha / $4B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일본 ODA + 민간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Vingroup Co Loa Smart City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Dong Anh | 385 ha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Vingroup 자체개발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440680" y="2258568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13832" y="228600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National Exhibition Center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513832" y="249631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Dong Anh | 90 ha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513832" y="26426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 개관 목표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City</a:t>
            </a:r>
            <a:endParaRPr lang="en-US" sz="8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C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0"/>
            <a:ext cx="8595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Vietnam Infrastructure MI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365760" y="146304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Report Pipeline · SA-8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" y="20116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D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21개 마스터플랜 · KPI 72개 · 프로젝트 106개 — knowledge_index 기반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233172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D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매주 토요일 KST 22:00 자동 생성 — Claude Haiku AI 기사 분석 연계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265176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D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1 (사업 개요 고정) + Layer 2 (AI 동적 분석) 이중 레이어 구조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297180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EF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노란색 하이라이트 = KPI 변동 자동 감지 · 이메일 자동 첨부 발송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374904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대시보드: hms4792.github.io/vietnam-infra-news/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Vietnam Infrastructure MI Weekly Report 2026-06-27</dc:title>
  <dc:subject>Vietnam Infrastructure Market Intelligence</dc:subject>
  <dc:creator>Claude SA-8 Auto-Report</dc:creator>
  <cp:lastModifiedBy>Claude SA-8 Auto-Report</cp:lastModifiedBy>
  <cp:revision>1</cp:revision>
  <dcterms:created xsi:type="dcterms:W3CDTF">2026-06-27T05:04:37Z</dcterms:created>
  <dcterms:modified xsi:type="dcterms:W3CDTF">2026-06-27T05:04:37Z</dcterms:modified>
</cp:coreProperties>
</file>