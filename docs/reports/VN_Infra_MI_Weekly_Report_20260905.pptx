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2860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20040" y="96012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 REPORT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627632"/>
            <a:ext cx="5029200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78308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인프라 시장 동향 주간 보고서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발행일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09년 05일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96312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기준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96312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v4.1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72584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마스터플랜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672584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19개 플랜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48856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48856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48856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004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by Area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566160"/>
            <a:ext cx="269748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인프라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20040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Plans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090672" y="3566160"/>
            <a:ext cx="269748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90672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에너지·전력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090672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Plans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861304" y="3566160"/>
            <a:ext cx="269748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61304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도시·교통·산업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861304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Plans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0040" y="4846320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hms4792.github.io/vietnam-infra-news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마스터플랜 KPI 목표 현황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19개 마스터플랜 · KPI 12개 · 2030 목표 기준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64592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폐기물 수거율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37744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(2025 목표 수준)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08683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072384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45536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145536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45536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목표 (2025), 속선(90MW, 5,000톤/일 전체가동 확인)·남선 WtE 가동으로 상승 중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16475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0176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3328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매립 의존율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53328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이하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053328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속선·다프억 WtE 가동으로 현저히 감소 중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624267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64592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7744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지하수 관리 대수층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37744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27개 완전 관리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237744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관리 중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08683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072384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45536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댐·저수지 안전진단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145536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완료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3145536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완료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16475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0176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53328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건기 염수침투 거리 (4‰ 염분경계선)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53328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관리목표 미상 (신규지표)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053328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40~70km 도달 (2026 기준)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624267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64592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7744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안전 상수 보급률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37744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(전 도시, 2025)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237744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수준 (2025)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08683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072384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145536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1인당 공급량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145536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L/일 (평균 목표)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3145536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L/일 (2025 목표)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16475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980176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53328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누수율(NRW)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053328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이하 (2급 이상 도시, 2025)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6053328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이하 (2025 목표)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624267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164592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37744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폐수처리율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237744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(2030)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237744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목표 50%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08683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3072384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145536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WWTP 용량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3145536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2,900,000 m³/일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3145536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800,000 m³/일 기존 운영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716475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5980176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053328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원유 생산량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053328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8~10백만 톤/년</a:t>
            </a:r>
            <a:endParaRPr lang="en-US" sz="1800" dirty="0"/>
          </a:p>
        </p:txBody>
      </p:sp>
      <p:sp>
        <p:nvSpPr>
          <p:cNvPr id="85" name="Text 83"/>
          <p:cNvSpPr/>
          <p:nvPr/>
        </p:nvSpPr>
        <p:spPr>
          <a:xfrm>
            <a:off x="6053328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11백만 톤/년 (유지 목표)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7624267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달성률 현황 비교 (2025년 기준)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82880" y="594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폐기물 수거율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194560" y="66751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667512"/>
            <a:ext cx="6254496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0" y="5943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/ 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" y="106984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0" y="114300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143000"/>
            <a:ext cx="3950208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0" y="106984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/ 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" y="1545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매립 의존율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0" y="161848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0" y="154533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/ 100%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2880" y="202082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지하수 관리 대수층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94560" y="2093976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4560" y="2093976"/>
            <a:ext cx="2896819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0" y="20208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44% / 100%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" y="24963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댐·저수지 안전진단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94560" y="2569464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94560" y="2569464"/>
            <a:ext cx="4279392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0" y="24963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/ 100%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" y="297180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건기 염수침투 거리 (4‰ 염분경계선)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94560" y="304495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94560" y="3044952"/>
            <a:ext cx="2633472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0" y="29718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/ 100%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2880" y="344728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안전 상수 보급률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194560" y="352044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94560" y="3520440"/>
            <a:ext cx="6254496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0" y="344728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/ 100%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82880" y="392277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1인당 공급량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94560" y="3995928"/>
            <a:ext cx="5266944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69680" y="39227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/ 100%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환경 인프라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Infrastructure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통합관리 국가전략 2025/2050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수자원법 2023 + 국가 수자원 전략 2030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상수도 개발전략 2030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폐수처리 인프라 국가 마스터플랜 2021~2030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환경산업 개발프로그램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VN-ENV-NATURA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자연환경 보전 전략 2030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통합관리 국가전략 2025/2050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491/QD-TTg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관리 전략(Decision 491/QD-TTg, 2018.5.7, 2009년 결정 2149/QD-TTg 대체) [확인됨]은 2030년까지 WtE(폐기물 에너지화) 비율을 50%로 높이고 매립 의존도를 획기적으로 낮추는 것이 핵심이다. [Cowork 팩트체크 2026-07-16, 판정: 부분사실→사실관계 규명] 하노이 속선(Soc Son) WtE 발전소를 둘러싼 '2022년 가동설'과 '2025.10 준공설'은 서로 모순되는 정보가 아니라, 단계별 건설의 서로 다른 시점을 가리킨다....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폐기물 수거율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(2025 목표 수준)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목표 (2025), 속선(90MW, 5,000톤/일 전체가동 확인)·남선 WtE 가동으로 상승 중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매립 의존율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속선·다프억 WtE 가동으로 현저히 감소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(속선현) | 총 90MW (1호기15MW+2호기30MW+3호기45MW), 5,000톤/일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10,000 톤/일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 톤/일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| 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 | 600 톤/일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400 톤/일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| 1,000 톤/일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+ 6개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환경 인프라 (Environment)  |  Decision 491/QD-TTg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 — 프로젝트 전체 목록 (14개)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(속선현)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90MW (1호기15MW+2호기30MW+3호기45MW), 5,000톤/일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확인] 운영사 티엔이하노이(Thien Y Ha Noi). 1호기 2…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톤/일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위생 매립 및 WtE 전환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톤/일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완공, 대규모 소각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재활용 및 WtE 병행 (가동단계 확인 필요)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톤/일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2025.11 가동, 도시폐기물 80% 처리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톤/일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준공, 메콩델타 핵심 WtE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톤/일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2028년 에너지 회수 최적화 목표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쿠찌 (Cu Chi) WtE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톤/일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및 퇴비화 복합 공정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푸꾸옥 (Phu Quoc)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톤/일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도서 지역 특화 소각 및 재활용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탄호아-롱안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300→500 톤/일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 확장 중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91440" y="420624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37160" y="420624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차우파 (Chau Pha) WtE 신규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91840" y="420624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337560" y="4206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63440" y="420624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709160" y="420624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부지 5ha+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6492240" y="420624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37960" y="420624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사실] 경쟁입찰로 투자자 선정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91440" y="455371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37160" y="455371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AMACCAO-Thanh Cong 2호기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291840" y="45537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37560" y="455371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663440" y="455371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709160" y="455371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미공개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6492240" y="455371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537960" y="455371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2026.6월 착공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수자원법 2023 + 국가 수자원 전략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 28/2023/QH15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2023년 11월 27일 전면 개정된 수자원법(Law 28/2023/QH15) [확인됨]은 유역통합관리(IWRM), 행정수단에서 경제수단(수자원이용료·로열티)으로의 전환, 하천 최소유량 규정, 지하수 취수 허가제 의무화를 골자로 한다. 베트남 수자원의 약 60%가 국경 밖에서 유입되는 구조적 취약성과 메콩델타 건기 염수침투 심화가 배경이다. [Cowork 팩트체크 2026-07-16] '2026 건기 메콩델타 염수침투' 악화로 4개 지류 41.6km 이상 관측 확인. ADB·세계은행 지원 하에 메...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지하수 관리 대수층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27개 완전 관리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관리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댐·저수지 안전진단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완료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완료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건기 염수침투 거리 (4‰ 염분경계선)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관리목표 미상 (신규지표)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40~70km 도달 (2026 기준)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수자원 현대화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| 대규모 인프라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ADB·세계은행 지원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홍수 관리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| 유역통합관리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환경부 주관, IWRM 적용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MRC 모니터링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| 예측 시스템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홍수·가뭄 조기 경보 체계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죽은 강(Dead River) 복원 사업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(또리히강·뉴에강·다이강) | 미정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 28/2023/QH15 신규 복원 조항 근거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국가실행계획 (Nghị quyết 166/NQ-CP)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전역 | 국가행동계획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2026.6.26 발표, 2035년까지.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Supply/Drainage  |  환경 인프라 (Environment)  |  Law 28/2023/QH15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상수도 개발전략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2502/QD-TTg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상수도 분야 실제 근거법령은 Decision 2502/QD-TTg(2016.12.22, '베트남 도시·산업단지 상수도 개발방향 조정', 2009년 결정 1929/QD-TTg 대체) [확인됨]로 추정됩니다. 이 결정문은 2025년까지 전 도시지역 100% 상수도 보급, 2급 이상 도시 비수익수(NRW) 15% 이하 달성을 목표로 하며, 개별 프로젝트는 명시하지 않는 정책방향 문서입니다. 하단 projects 목록은 기존 파이프라인이 수집한 개별 지방 정수장 사업 정보입니다.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안전 상수 보급률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(전 도시, 2025)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수준 (2025)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1인당 공급량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L/일 (평균 목표)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L/일 (2025 목표)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누수율(NRW)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이하 (2급 이상 도시, 2025)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이하 (2025 목표)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 | 600,000 m³/일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및 인근 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500,000 m³/일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중심부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Supply/Drainage  |  환경 인프라 (Environment)  |  Decision 2502/QD-TTg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폐수처리 인프라 국가 마스터플랜 2021~2030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589/QD-TTg (2016.4.6)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폐수처리 마스터플랜(Decision 589/QD-TTg 2016.4.6) [확인됨]은 도시 폐수처리율을 2025년 50%, 2030년 85%로 끌어올리는 것을 목표로 한다. 하노이 옌짜(Yen Xa) WWTP(27만㎥/일)가 2025년 준공되었고, 호치민 빈흥(Binh Hung) 2단계가 2024년 준공식을 열어 최대 시설로 부상했다. [V4.1 업데이트] 2026년 7월 호치민시 인민위원회는 2026-2030년 최우선 투자 대상 하수처리 프로젝트 4건(탐르엉-벤깟 2단계, 박사이공 2, 남...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폐수처리율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목표 50%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WWTP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2,900,000 m³/일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800,000 m³/일 기존 운영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40680" y="941832"/>
            <a:ext cx="3566160" cy="558437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 | 270,000 m³/일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2025.8.19 준공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1536845"/>
            <a:ext cx="3566160" cy="55843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1564277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호아이득 (Hoai Duc)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513832" y="1774589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(호아이득현) | $16.5M 규모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513832" y="19208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2026~2029년 구축 예정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440680" y="2131858"/>
            <a:ext cx="3566160" cy="558437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215929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236960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 | 469,000 m³/일 (2단계 확장)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513832" y="251590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2024.8.30 준공식 완료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440680" y="2726871"/>
            <a:ext cx="3566160" cy="55843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13832" y="275430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탐르엉-벤깟 하수처리장 건설 사업 (2단계)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513832" y="296461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230,000 m³/일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513832" y="3110919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[V4.1 신규] HCMC 2026-2030 우선순위 확정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440680" y="3321885"/>
            <a:ext cx="3566160" cy="558437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13832" y="3349317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박사이공 2 하수처리장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513832" y="3559629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140,000 m³/일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513832" y="370593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[V4.1 신규] 동부 확장지구 핵심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440680" y="3916898"/>
            <a:ext cx="3566160" cy="55843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94433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남사이공 하수처리 1단계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415464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132,000 m³/일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513832" y="430094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[V4.1 신규] 냐베 분지구역 정화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  |  환경 인프라 (Environment)  |  Decision 589/QD-TTg (2016.4.6)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환경산업 개발프로그램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1894/QD-TTg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환경산업 기술 자립화 프로그램으로 폐수·대기·폐기물 장비 국산화 목표. 스타비안(Stavian) 재활용단지가 IRC 승인을 획득하여 추진 중이다.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폐수처리 기술 국산화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70~80%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기준 ~30%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Stavian Plastic Recycling Complex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타인호아성 | 연 17,000톤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2027.1분기 가동 목표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 |  환경 인프라 (Environment)  |  Decision 1894/QD-TTg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VN-ENV-NATURA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자연환경 보전 전략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149/QD-TTg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생물다양성 보전 계획. 2030년까지 육상/해양 보호구역 확장이 목표다.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 보호구역 비율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7.6%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 Tien 국립공원 보전 프로젝트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Nai | 72,000 ha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WWF·USAID 지원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 |  환경 인프라 (Environment)  |  Decision 149/QD-TTg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에너지·전력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&amp; Power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석유가스 개발전략 2030 — PVN 국가 에너지 안보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인수보장 + 닌투언 LNG 허브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재개 — Resolution 70-NQ/TW (2025) / 닌투언 1·2호기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전력개발계획 PDP8 개정 — 해상풍력·태양광·DPPA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전력개발계획 PDP8 (통합)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석유가스 개발전략 2030 — PVN 국가 에너지 안보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861/QD-TTg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석유가스공사(PVN)는 노후 유전 생산 감소에 대응해 심해 탐사와 LNG 공급망 구축을 병행 추진 중이다. 국내 석유·가스 비축·공급 인프라 국가계획인 Decision 861/QD-TTg(2023.7.18)가 근접한 법령이다. PV GAS의 두 핵심 LNG 터미널 — 티바이(Thi Vai) LNG(연 100만톤→300만톤 확장)와 손미(Son My) LNG(1단계 연 360만톤, 2027년 이후 가동 예정) — 가 국내 LNG 공급망의 축이다.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원유 생산량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8~10백만 톤/년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11백만 톤/년 (유지 목표)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석유·가스 비축 인프라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25일 (2030년 이후)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20일 (2021~2030년 목표수준)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바흐호 유전 (Bach Ho)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해상 | 원유 생산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노후화 대응, 심해 탐사 병행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손미 (Son My) LNG 터미널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빈투언성 | 1단계 연 360만톤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VND 3.2조+ 투자, AES(미국) 합작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 |  에너지·전력 (Energy &amp; Power)  |  Decision 861/QD-TTg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인수보장 + 닌투언 LNG 허브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Decree 100/2025/ND-CP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Decree 100/2025/ND-CP(2025.5.8) [확인됨]은 수입 LNG 발전사업의 최소 장기 인수량(Qc)을 다년 평균발전량 대비 65% 이상으로 보장하고, 최대 10년간 요금 전가 메커니즘을 법제화했다. Qc 75%·15년 확대 제안은 현재 여전히 검토 중이다. 닌투언 소재 까나(Ca Na) LNG(1,500MW)가 EIA 심사 중이다. [V4.1 업데이트] 2026년 7월 기준, 대형 하이퐁 LNG(4.8GW) 사업은 개발사 빈그룹의 공식 철회 제안 및 재생에너지 전환으로 보류 위기...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22,524MW(PDP8 개정치)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최소 장기 인수량(Qc, 수입LNG 발전)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(COD 후 최대 10년)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2025.5.8 Decree 100 시행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까나 (Ca Na) LNG 1단계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1,500MW, 약 US$21.3억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EIA 심사 중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티바이 LNG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| LNG 터미널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2023년 운영 개시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응에안성 Quynh Lap LNG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응에안성 | 1,500MW급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[V4.1 신규] SK Innovation 컨소시엄 수주 및 공식 착공 확정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LNG 발전소 사업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4.8GW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[V4.1 갱신] 빈그룹 개발 철회 제안, 재생에너지 하이브리드 대체 유력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에너지·전력 (Energy &amp; Power)  |  Decree 100/2025/ND-CP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재개 — Resolution 70-NQ/TW (2025) / 닌투언 1·2호기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70-NQ/TW (2025)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8월 정치국 결의(Resolution 70-NQ/TW)로 원자력 재개 추진이 공식화됐다. 국회 결의 174/2024/QH15·189/2025/QH15로 원전사업 특별투자메커니즘이 수립됐다. 닌투언 1호기는 EVN이 투자자로 지정되어 러시아 Rosatom과 협력 중이며, 닌투언 2호기는 일본 철수 후 한국 KEPCO-PVN이 예비 합의(비구속 MOU)를 맺었으나 최종 EPC 파트너는 미확정 상태다. [V4.1 업데이트] 2026년 7월 16일 범정부 회의에서 닌투언 원전 사업을 효율화를 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발전 용량(2035)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MW (2035 목표)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추가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 (Ninh Thuan 1)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[V4.1 갱신] EVN 주도의 독립 프로젝트로 분할 개편, 러시아 Rosatom 기술협정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 (Ninh Thuan 2)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[V4.1 갱신] Petrovietnam 주도 독립 프로젝트 분할, KEPCO 유력 파트너…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원전 부지 보상 및 주민 이주 독립 프로젝트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N/A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[V4.1 신규] 원전 건설과 별개의 재정/행정 트랙으로 완전 분리 승인 권고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에너지·전력 (Energy &amp; Power)  |  Resolution 70-NQ/TW (2025)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전력개발계획 PDP8 개정 — 해상풍력·태양광·DPPA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4월 Decision 768로 PDP8이 전면 개정되며 해상풍력 목표가 대폭 늘었다. [V4.1 업데이트] 2026년 6월 26일 발효된 Decree 243/2026/ND-CP를 통해 DPPA 참여 범위에 산업단지 소매업자, 데이터 센터, 전기차 충전소가 정식 편입되었으며, 자가소비형 루프탑 태양광 잉여전력(50% 초과분)의 그리드 판매 유예기간은 2030년 12월 31일로 확정(Sunset Clause)되었다.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법적 프레임워크(Decree 272/2026) 시행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DPPA 가동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제도 본격 시행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[V4.1 갱신] Decree 243 발효로 데이터센터/산업단지 소매업자 전면 참여 가능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Zone 1~6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연안 | 17,032 MW (2030)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Decree 272/2026 적용 대상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SEVT-TTC 득후에2 태양광 DPPA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떠이닌성 | 49MWp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최초 상업DPPA (삼성전자 현지법인)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산업단지 및 데이터센터 대상 신규 DPPA 시범 직접거래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주요 산단 | 미정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[V4.1 신규] Decree 243/2026/ND-CP 개정안 수혜 타겟 대상망 가동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에너지·전력 (Energy &amp; Power)  |  Decision 768/QD-TTg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전력개발계획 PDP8 (통합)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500/QD-TTg + 768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전면 개정으로 목표 용량이 183~236GW로 상향되었다. EVN의 2026년 상반기 발전량은 전년대비 9.85% 급증했다.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183,291~236,363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87,600 MW (2025 실적)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남북 전력 밸런스 개선용 송전선로 건설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500kV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안정적 전력 수급 구축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에너지·전력 (Energy &amp; Power)  |  Decision 500/QD-TTg + 768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도시·교통·산업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&amp; Transport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VN-HAN-URBAN-2045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도시개발 마스터플랜 2045/2065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개발계획 2030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교통인프라 마스터플랜 2021~2030, Vision 2050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도시철도 국가전략 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VN-HAN-DONG-ANH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스마트시티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VN-HAN-HOA-LAC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호아락 하이테크파크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VN-HOUSING-2030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주택 개발 계획 2030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607161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10819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VN-SMART-2025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286000" y="610819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스마트시티 국가전략 2025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VN-HAN-URBAN-2045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도시개발 마스터플랜 2045/2065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1668/QD-TTg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1668로 확정된 하노이 도시개발 마스터플랜 2045/2065는 다핵다중심 도시모델을 기반으로 인구·GRDP 목표를 상향했다. 링로드4(113km, $3.6B)가 진행 중이나, 민자(PPP) 방식 3구간은 자본조달 부진으로 완공 일정이 재조정(2027년말 전체완공)되었다.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 목표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16M명 (2045)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8.5M명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완공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2027년말 전체 완공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착공 진행 중이나 PPP 자본조달 약 2%로 지연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(Ring Road 4)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113km, $3.6B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PPP구간 자본조달 지연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도시·교통 (Urban &amp; Transport)  |  Decision 1668/QD-TTg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개발계획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368/QD-TTg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클러스터는 글로벌 전자·반도체 공급망의 핵심 기지다. 삼성, LG, 인텔 등 첨단 외자 제조업이 다수 입주해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단지 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25개 이상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19개 운영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박닌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| 700 ha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베트남-싱가포르 산업단지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 박닌 반도체·전자 클러스터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| 누적투자 약 $232억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반도체 테스트공장 착공 중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Parks  |  도시·교통 (Urban &amp; Transport)  |  Decision 368/QD-TTg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교통인프라 마스터플랜 2021~2030, Vision 2050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1454/QD-TTg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교통인프라 마스터플랜은 2030년 고속도로 5,000km 완성을 목표로 한다. 롱탄 국제공항의 상업개항 목표가 당초 2026.6월에서 2026.12월로 공식 연기됐다. 호치민 링로드3 역시 2028년 전체완공으로 목표가 순연 제안됐다.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고속도로 총연장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 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1,892 km (2025 실적)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롱탄공항 개항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25M PAX/년 (1단계)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2026.12월 상업개항으로 공식 연기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 국제공항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동나이성 | 25M PAX (1단계)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개항 2026.12월로 연기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광역 | 전체 76km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2028년 완공 재조정 제안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도시·교통 (Urban &amp; Transport)  |  Decision 1454/QD-TTg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도시철도 국가전략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188/2025/QH15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정치국 결의(49-KL/TW) 및 국회 특례결의 188/2025/QH15로 재원조달·설계·TOD 특례가 확립됐다. 부총리가 도시철도 국가통일기술표준 제정을 지시했다. [V4.1 업데이트] 획기적 국가 규제 완화 결정인 Resolution 188/2025/QH15에 따라, 수의계약 특례 적용 및 TOD 방식 개발 권한을 바탕으로 하노이 5개 노선(1, 2, 8, 10, 14호선) 신설이 가속화되며, 호치민 메트로 2호선(벤탄-탐루옹)은 2026년 1월 55.1조 동의 예산을 투입해 본격적인 기공에 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메트로 목표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15~17개 노선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2A·3호선 부분 운영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2호선 (벤탄~탐르엉)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11.3km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[V4.1 갱신] 2026.1 공식 착공 및 ST10 팜반동 지하벽 시공 진행 중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신규 5대 도시철도 (1, 2, 8, 10, 14호선)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광역 | 미정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[V4.1 신규] Resolution 188 수의계약 및 특례 메커니즘 1호 적용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도시·교통 (Urban &amp; Transport)  |  Resolution 188/2025/QH15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VN-HAN-DONG-ANH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스마트시티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Hanoi PC Approved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BRG-Sumitomo 합작 스마트시티 프로젝트가 2025년 8월 실질 착공을 거쳤으며, 공사 가속화가 지시되었다.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30~40만 (2045)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4.2만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Hanoi Smart City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약 $4.2B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2025.8 실질착공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도시·교통 (Urban &amp; Transport)  |  Hanoi PC Approved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VN-HAN-HOA-LAC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호아락 하이테크파크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899/QD-TTg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서부 하이테크파크로, 2026.7 보도 기준 입주 프로젝트는 113건, 가동률은 42% 수준이다.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입주 프로젝트 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800개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113개 (2026.7 보도)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Viettel 반도체 공장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약 $13억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 착공, 핵심 신규투자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Parks  |  도시·교통 (Urban &amp; Transport)  |  Decision 899/QD-TTg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VN-HOUSING-2030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주택 개발 계획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2161/QD-TTg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저가 보급형 주택 집중 구축 계획. 2026.7.1부로 SBV의 사회주택 우대금리가 적용되었다.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사회주택 공급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100만호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25만호 누적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Vinhomes Ocean Park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Hung Yen | 1,200 ha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 |  도시·교통 (Urban &amp; Transport)  |  Decision 2161/QD-TTg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VN-SMART-2025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스마트시티 국가전략 2025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950/QD-TTg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주요 도시에 지능형 플랫폼을 구축하는 로드맵으로 호치민이 5G 기지국 8,500개를 초과 설치하여 선도 중이다.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5G 커버리지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100%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보급률 95% 이상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IoT 통합 플랫폼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HCMC | $200M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 전환 과제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도시·교통 (Urban &amp; Transport)  |  Decision 950/QD-TTg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 MI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4630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Report Pipeline · SA-8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20116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19개 마스터플랜 · KPI 32개 · 프로젝트 54개 — knowledge_index 기반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매주 토요일 KST 22:00 자동 생성 — Claude Haiku AI 기사 분석 연계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6517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(사업 개요 고정) + Layer 2 (AI 동적 분석) 이중 레이어 구조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9718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하이라이트 = KPI 변동 자동 감지 · 이메일 자동 첨부 발송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490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대시보드: hms4792.github.io/vietnam-infra-news/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Vietnam Infrastructure MI Weekly Report 2026-09-05</dc:title>
  <dc:subject>Vietnam Infrastructure Market Intelligence</dc:subject>
  <dc:creator>Claude SA-8 Auto-Report</dc:creator>
  <cp:lastModifiedBy>Claude SA-8 Auto-Report</cp:lastModifiedBy>
  <cp:revision>1</cp:revision>
  <dcterms:created xsi:type="dcterms:W3CDTF">2026-09-05T05:46:29Z</dcterms:created>
  <dcterms:modified xsi:type="dcterms:W3CDTF">2026-09-05T05:46:29Z</dcterms:modified>
</cp:coreProperties>
</file>