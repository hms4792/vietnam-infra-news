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25일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v4.1-fixed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2026.2.28 관측: 16.2km(허우강)~41.6km(끄어다이강), 4개 지류 개별값. 2026.4초 후속보도: 일부 지류 42~70km로 악화. [Cowork 팩트체크 2026-07-16 추가] 2026.7.1 보도: 40~70km 도달, 2030년 55.5km/2050년 62.5km(띠엔강) 전망 [부분사실, 1차출처 교차검증 필요]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수질안전계획(Water Safety Plan) 시행률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64592" y="4197096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= 직전 주 대비 KPI 변동사항 (도시 폐기물 수거율 · WtE 소각 비율 · 매립 의존율 · 지하수 관리 대수층 · 중복 댐·저수지 안전진단 · 홍수 피해 GDP 비중 · 메콩델타 건기 염수침투 거리 (4‰ 염분경계선) · 도시 안전 상수 보급률 · 1인당 공급량 · 누수율(NRW) · 수질안전계획(Water Safety Plan) 시행률 · 도시 폐수처리율)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주 핵심 KPI 변동사항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1097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항목 = 직전 주 대비 변동 확인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5943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594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5943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 폐기물 수거율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914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2608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" y="12070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신규 KPI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" y="13716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3716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1371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3716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WtE 소각 비율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92608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" y="19842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신규 KPI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1488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21488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2148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21488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매립 의존율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8288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468880" y="2468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9260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" y="27614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신규 KPI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29260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29260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" y="2926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828800" y="29260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지하수 관리 대수층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8288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46888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9260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82880" y="35387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 신규 KPI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2880" y="37033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" y="37033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3703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37033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중복 댐·저수지 안전진단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2880" y="4023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468880" y="4023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9260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82880" y="43159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 신규 KPI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82880" y="44805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" y="44805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480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28800" y="44805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홍수 피해 GDP 비중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8288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468880" y="4800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92608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82880" y="50932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 신규 KPI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82880" y="52578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2880" y="52578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" y="5257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828800" y="52578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메콩델타 건기 염수침투 거리 (4‰ 염분경계선)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82880" y="5577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2468880" y="5577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2926080" y="5577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182880" y="58704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 신규 KPI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82880" y="60350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82880" y="60350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6035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828800" y="60350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 안전 상수 보급률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8288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2468880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292608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182880" y="66476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신규 KPI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82880" y="68122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" y="68122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82880" y="6812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828800" y="68122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1인당 공급량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182880" y="7132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2468880" y="7132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2926080" y="7132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75" name="Text 73"/>
          <p:cNvSpPr/>
          <p:nvPr/>
        </p:nvSpPr>
        <p:spPr>
          <a:xfrm>
            <a:off x="182880" y="74249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신규 KPI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82880" y="75895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82880" y="75895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" y="7589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828800" y="75895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누수율(NRW)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82880" y="7909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81" name="Text 79"/>
          <p:cNvSpPr/>
          <p:nvPr/>
        </p:nvSpPr>
        <p:spPr>
          <a:xfrm>
            <a:off x="2468880" y="7909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2926080" y="7909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182880" y="82021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신규 KPI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182880" y="83667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82880" y="83667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82880" y="8366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1828800" y="83667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수질안전계획(Water Safety Plan) 시행률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182880" y="8686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2468880" y="8686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2926080" y="8686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182880" y="89794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신규 KPI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82880" y="91440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82880" y="91440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82880" y="9144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828800" y="91440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 폐수처리율</a:t>
            </a:r>
            <a:endParaRPr lang="en-US" sz="1300" dirty="0"/>
          </a:p>
        </p:txBody>
      </p:sp>
      <p:sp>
        <p:nvSpPr>
          <p:cNvPr id="96" name="Text 94"/>
          <p:cNvSpPr/>
          <p:nvPr/>
        </p:nvSpPr>
        <p:spPr>
          <a:xfrm>
            <a:off x="182880" y="9464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2468880" y="9464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2926080" y="9464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99" name="Text 97"/>
          <p:cNvSpPr/>
          <p:nvPr/>
        </p:nvSpPr>
        <p:spPr>
          <a:xfrm>
            <a:off x="182880" y="97566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신규 KPI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82880" y="99212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82880" y="99212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82880" y="9921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1828800" y="99212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신규 WWTP 용량</a:t>
            </a:r>
            <a:endParaRPr lang="en-US" sz="1300" dirty="0"/>
          </a:p>
        </p:txBody>
      </p:sp>
      <p:sp>
        <p:nvSpPr>
          <p:cNvPr id="104" name="Text 102"/>
          <p:cNvSpPr/>
          <p:nvPr/>
        </p:nvSpPr>
        <p:spPr>
          <a:xfrm>
            <a:off x="182880" y="10241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05" name="Text 103"/>
          <p:cNvSpPr/>
          <p:nvPr/>
        </p:nvSpPr>
        <p:spPr>
          <a:xfrm>
            <a:off x="2468880" y="10241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6" name="Text 104"/>
          <p:cNvSpPr/>
          <p:nvPr/>
        </p:nvSpPr>
        <p:spPr>
          <a:xfrm>
            <a:off x="2926080" y="10241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182880" y="105338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신규 KPI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82880" y="106984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82880" y="106984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182880" y="10698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1828800" y="106984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ODA 연계 투자</a:t>
            </a:r>
            <a:endParaRPr lang="en-US" sz="1300" dirty="0"/>
          </a:p>
        </p:txBody>
      </p:sp>
      <p:sp>
        <p:nvSpPr>
          <p:cNvPr id="112" name="Text 110"/>
          <p:cNvSpPr/>
          <p:nvPr/>
        </p:nvSpPr>
        <p:spPr>
          <a:xfrm>
            <a:off x="182880" y="11018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13" name="Text 111"/>
          <p:cNvSpPr/>
          <p:nvPr/>
        </p:nvSpPr>
        <p:spPr>
          <a:xfrm>
            <a:off x="2468880" y="11018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4" name="Text 112"/>
          <p:cNvSpPr/>
          <p:nvPr/>
        </p:nvSpPr>
        <p:spPr>
          <a:xfrm>
            <a:off x="2926080" y="11018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800" dirty="0"/>
          </a:p>
        </p:txBody>
      </p:sp>
      <p:sp>
        <p:nvSpPr>
          <p:cNvPr id="115" name="Text 113"/>
          <p:cNvSpPr/>
          <p:nvPr/>
        </p:nvSpPr>
        <p:spPr>
          <a:xfrm>
            <a:off x="182880" y="113111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신규 KPI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182880" y="114757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82880" y="114757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82880" y="11475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1828800" y="11475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원유 생산량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182880" y="1179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21" name="Text 119"/>
          <p:cNvSpPr/>
          <p:nvPr/>
        </p:nvSpPr>
        <p:spPr>
          <a:xfrm>
            <a:off x="2468880" y="11795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2" name="Text 120"/>
          <p:cNvSpPr/>
          <p:nvPr/>
        </p:nvSpPr>
        <p:spPr>
          <a:xfrm>
            <a:off x="2926080" y="11795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123" name="Text 121"/>
          <p:cNvSpPr/>
          <p:nvPr/>
        </p:nvSpPr>
        <p:spPr>
          <a:xfrm>
            <a:off x="182880" y="120883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 신규 KPI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182880" y="122529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82880" y="122529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82880" y="12252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1828800" y="122529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가스 생산량</a:t>
            </a:r>
            <a:endParaRPr lang="en-US" sz="1300" dirty="0"/>
          </a:p>
        </p:txBody>
      </p:sp>
      <p:sp>
        <p:nvSpPr>
          <p:cNvPr id="128" name="Text 126"/>
          <p:cNvSpPr/>
          <p:nvPr/>
        </p:nvSpPr>
        <p:spPr>
          <a:xfrm>
            <a:off x="182880" y="1257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29" name="Text 127"/>
          <p:cNvSpPr/>
          <p:nvPr/>
        </p:nvSpPr>
        <p:spPr>
          <a:xfrm>
            <a:off x="2468880" y="12573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0" name="Text 128"/>
          <p:cNvSpPr/>
          <p:nvPr/>
        </p:nvSpPr>
        <p:spPr>
          <a:xfrm>
            <a:off x="2926080" y="1257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800" dirty="0"/>
          </a:p>
        </p:txBody>
      </p:sp>
      <p:sp>
        <p:nvSpPr>
          <p:cNvPr id="131" name="Text 129"/>
          <p:cNvSpPr/>
          <p:nvPr/>
        </p:nvSpPr>
        <p:spPr>
          <a:xfrm>
            <a:off x="182880" y="128656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 신규 KPI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182880" y="130302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82880" y="130302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82880" y="13030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1828800" y="13030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LNG 수입 의존도</a:t>
            </a:r>
            <a:endParaRPr lang="en-US" sz="1300" dirty="0"/>
          </a:p>
        </p:txBody>
      </p:sp>
      <p:sp>
        <p:nvSpPr>
          <p:cNvPr id="136" name="Text 134"/>
          <p:cNvSpPr/>
          <p:nvPr/>
        </p:nvSpPr>
        <p:spPr>
          <a:xfrm>
            <a:off x="182880" y="13350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37" name="Text 135"/>
          <p:cNvSpPr/>
          <p:nvPr/>
        </p:nvSpPr>
        <p:spPr>
          <a:xfrm>
            <a:off x="2468880" y="13350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8" name="Text 136"/>
          <p:cNvSpPr/>
          <p:nvPr/>
        </p:nvSpPr>
        <p:spPr>
          <a:xfrm>
            <a:off x="2926080" y="1335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800" dirty="0"/>
          </a:p>
        </p:txBody>
      </p:sp>
      <p:sp>
        <p:nvSpPr>
          <p:cNvPr id="139" name="Text 137"/>
          <p:cNvSpPr/>
          <p:nvPr/>
        </p:nvSpPr>
        <p:spPr>
          <a:xfrm>
            <a:off x="182880" y="136428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 신규 KPI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182880" y="138074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82880" y="138074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82880" y="13807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1828800" y="138074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석유·가스 비축 인프라(순수입일수 기준)</a:t>
            </a:r>
            <a:endParaRPr lang="en-US" sz="1300" dirty="0"/>
          </a:p>
        </p:txBody>
      </p:sp>
      <p:sp>
        <p:nvSpPr>
          <p:cNvPr id="144" name="Text 142"/>
          <p:cNvSpPr/>
          <p:nvPr/>
        </p:nvSpPr>
        <p:spPr>
          <a:xfrm>
            <a:off x="182880" y="1412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45" name="Text 143"/>
          <p:cNvSpPr/>
          <p:nvPr/>
        </p:nvSpPr>
        <p:spPr>
          <a:xfrm>
            <a:off x="2468880" y="1412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6" name="Text 144"/>
          <p:cNvSpPr/>
          <p:nvPr/>
        </p:nvSpPr>
        <p:spPr>
          <a:xfrm>
            <a:off x="2926080" y="1412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800" dirty="0"/>
          </a:p>
        </p:txBody>
      </p:sp>
      <p:sp>
        <p:nvSpPr>
          <p:cNvPr id="147" name="Text 145"/>
          <p:cNvSpPr/>
          <p:nvPr/>
        </p:nvSpPr>
        <p:spPr>
          <a:xfrm>
            <a:off x="182880" y="144200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 신규 KPI</a:t>
            </a:r>
            <a:endParaRPr lang="en-US" sz="900" dirty="0"/>
          </a:p>
        </p:txBody>
      </p:sp>
      <p:sp>
        <p:nvSpPr>
          <p:cNvPr id="148" name="Shape 146"/>
          <p:cNvSpPr/>
          <p:nvPr/>
        </p:nvSpPr>
        <p:spPr>
          <a:xfrm>
            <a:off x="182880" y="145846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82880" y="145846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82880" y="14584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1828800" y="14584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LNG 수입 터미널</a:t>
            </a:r>
            <a:endParaRPr lang="en-US" sz="1300" dirty="0"/>
          </a:p>
        </p:txBody>
      </p:sp>
      <p:sp>
        <p:nvSpPr>
          <p:cNvPr id="152" name="Text 150"/>
          <p:cNvSpPr/>
          <p:nvPr/>
        </p:nvSpPr>
        <p:spPr>
          <a:xfrm>
            <a:off x="182880" y="1490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53" name="Text 151"/>
          <p:cNvSpPr/>
          <p:nvPr/>
        </p:nvSpPr>
        <p:spPr>
          <a:xfrm>
            <a:off x="2468880" y="1490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4" name="Text 152"/>
          <p:cNvSpPr/>
          <p:nvPr/>
        </p:nvSpPr>
        <p:spPr>
          <a:xfrm>
            <a:off x="2926080" y="14904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800" dirty="0"/>
          </a:p>
        </p:txBody>
      </p:sp>
      <p:sp>
        <p:nvSpPr>
          <p:cNvPr id="155" name="Text 153"/>
          <p:cNvSpPr/>
          <p:nvPr/>
        </p:nvSpPr>
        <p:spPr>
          <a:xfrm>
            <a:off x="182880" y="151973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 신규 KPI</a:t>
            </a:r>
            <a:endParaRPr lang="en-US" sz="900" dirty="0"/>
          </a:p>
        </p:txBody>
      </p:sp>
      <p:sp>
        <p:nvSpPr>
          <p:cNvPr id="156" name="Shape 154"/>
          <p:cNvSpPr/>
          <p:nvPr/>
        </p:nvSpPr>
        <p:spPr>
          <a:xfrm>
            <a:off x="182880" y="153619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82880" y="153619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82880" y="153619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59" name="Text 157"/>
          <p:cNvSpPr/>
          <p:nvPr/>
        </p:nvSpPr>
        <p:spPr>
          <a:xfrm>
            <a:off x="1828800" y="153619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LNG 발전 용량</a:t>
            </a:r>
            <a:endParaRPr lang="en-US" sz="1300" dirty="0"/>
          </a:p>
        </p:txBody>
      </p:sp>
      <p:sp>
        <p:nvSpPr>
          <p:cNvPr id="160" name="Text 158"/>
          <p:cNvSpPr/>
          <p:nvPr/>
        </p:nvSpPr>
        <p:spPr>
          <a:xfrm>
            <a:off x="182880" y="1568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61" name="Text 159"/>
          <p:cNvSpPr/>
          <p:nvPr/>
        </p:nvSpPr>
        <p:spPr>
          <a:xfrm>
            <a:off x="2468880" y="15681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2" name="Text 160"/>
          <p:cNvSpPr/>
          <p:nvPr/>
        </p:nvSpPr>
        <p:spPr>
          <a:xfrm>
            <a:off x="2926080" y="15681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800" dirty="0"/>
          </a:p>
        </p:txBody>
      </p:sp>
      <p:sp>
        <p:nvSpPr>
          <p:cNvPr id="163" name="Text 161"/>
          <p:cNvSpPr/>
          <p:nvPr/>
        </p:nvSpPr>
        <p:spPr>
          <a:xfrm>
            <a:off x="182880" y="159745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 신규 KPI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182880" y="161391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82880" y="161391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182880" y="16139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67" name="Text 165"/>
          <p:cNvSpPr/>
          <p:nvPr/>
        </p:nvSpPr>
        <p:spPr>
          <a:xfrm>
            <a:off x="1828800" y="161391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연간 LNG 수입량</a:t>
            </a:r>
            <a:endParaRPr lang="en-US" sz="1300" dirty="0"/>
          </a:p>
        </p:txBody>
      </p:sp>
      <p:sp>
        <p:nvSpPr>
          <p:cNvPr id="168" name="Text 166"/>
          <p:cNvSpPr/>
          <p:nvPr/>
        </p:nvSpPr>
        <p:spPr>
          <a:xfrm>
            <a:off x="182880" y="16459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69" name="Text 167"/>
          <p:cNvSpPr/>
          <p:nvPr/>
        </p:nvSpPr>
        <p:spPr>
          <a:xfrm>
            <a:off x="2468880" y="16459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0" name="Text 168"/>
          <p:cNvSpPr/>
          <p:nvPr/>
        </p:nvSpPr>
        <p:spPr>
          <a:xfrm>
            <a:off x="2926080" y="16459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800" dirty="0"/>
          </a:p>
        </p:txBody>
      </p:sp>
      <p:sp>
        <p:nvSpPr>
          <p:cNvPr id="171" name="Text 169"/>
          <p:cNvSpPr/>
          <p:nvPr/>
        </p:nvSpPr>
        <p:spPr>
          <a:xfrm>
            <a:off x="182880" y="167518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 신규 KPI</a:t>
            </a:r>
            <a:endParaRPr lang="en-US" sz="900" dirty="0"/>
          </a:p>
        </p:txBody>
      </p:sp>
      <p:sp>
        <p:nvSpPr>
          <p:cNvPr id="172" name="Shape 170"/>
          <p:cNvSpPr/>
          <p:nvPr/>
        </p:nvSpPr>
        <p:spPr>
          <a:xfrm>
            <a:off x="182880" y="169164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82880" y="169164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82880" y="16916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1828800" y="169164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최소 장기 인수량(Qc, 수입LNG 발전)</a:t>
            </a:r>
            <a:endParaRPr lang="en-US" sz="1300" dirty="0"/>
          </a:p>
        </p:txBody>
      </p:sp>
      <p:sp>
        <p:nvSpPr>
          <p:cNvPr id="176" name="Text 174"/>
          <p:cNvSpPr/>
          <p:nvPr/>
        </p:nvSpPr>
        <p:spPr>
          <a:xfrm>
            <a:off x="182880" y="17236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77" name="Text 175"/>
          <p:cNvSpPr/>
          <p:nvPr/>
        </p:nvSpPr>
        <p:spPr>
          <a:xfrm>
            <a:off x="2468880" y="17236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8" name="Text 176"/>
          <p:cNvSpPr/>
          <p:nvPr/>
        </p:nvSpPr>
        <p:spPr>
          <a:xfrm>
            <a:off x="2926080" y="1723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(다년평균발전량 대비, COD 후 최대 10년)</a:t>
            </a:r>
            <a:endParaRPr lang="en-US" sz="1800" dirty="0"/>
          </a:p>
        </p:txBody>
      </p:sp>
      <p:sp>
        <p:nvSpPr>
          <p:cNvPr id="179" name="Text 177"/>
          <p:cNvSpPr/>
          <p:nvPr/>
        </p:nvSpPr>
        <p:spPr>
          <a:xfrm>
            <a:off x="182880" y="17529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 신규 KPI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182880" y="176936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82880" y="176936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82880" y="17693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83" name="Text 181"/>
          <p:cNvSpPr/>
          <p:nvPr/>
        </p:nvSpPr>
        <p:spPr>
          <a:xfrm>
            <a:off x="1828800" y="176936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원자력 발전 용량(2035)</a:t>
            </a:r>
            <a:endParaRPr lang="en-US" sz="1300" dirty="0"/>
          </a:p>
        </p:txBody>
      </p:sp>
      <p:sp>
        <p:nvSpPr>
          <p:cNvPr id="184" name="Text 182"/>
          <p:cNvSpPr/>
          <p:nvPr/>
        </p:nvSpPr>
        <p:spPr>
          <a:xfrm>
            <a:off x="182880" y="18013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85" name="Text 183"/>
          <p:cNvSpPr/>
          <p:nvPr/>
        </p:nvSpPr>
        <p:spPr>
          <a:xfrm>
            <a:off x="2468880" y="18013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6" name="Text 184"/>
          <p:cNvSpPr/>
          <p:nvPr/>
        </p:nvSpPr>
        <p:spPr>
          <a:xfrm>
            <a:off x="2926080" y="18013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800" dirty="0"/>
          </a:p>
        </p:txBody>
      </p:sp>
      <p:sp>
        <p:nvSpPr>
          <p:cNvPr id="187" name="Text 185"/>
          <p:cNvSpPr/>
          <p:nvPr/>
        </p:nvSpPr>
        <p:spPr>
          <a:xfrm>
            <a:off x="182880" y="183062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 신규 KPI</a:t>
            </a:r>
            <a:endParaRPr lang="en-US" sz="900" dirty="0"/>
          </a:p>
        </p:txBody>
      </p:sp>
      <p:sp>
        <p:nvSpPr>
          <p:cNvPr id="188" name="Shape 186"/>
          <p:cNvSpPr/>
          <p:nvPr/>
        </p:nvSpPr>
        <p:spPr>
          <a:xfrm>
            <a:off x="182880" y="184708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182880" y="184708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82880" y="18470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91" name="Text 189"/>
          <p:cNvSpPr/>
          <p:nvPr/>
        </p:nvSpPr>
        <p:spPr>
          <a:xfrm>
            <a:off x="1828800" y="184708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닌투언 1호기</a:t>
            </a:r>
            <a:endParaRPr lang="en-US" sz="1300" dirty="0"/>
          </a:p>
        </p:txBody>
      </p:sp>
      <p:sp>
        <p:nvSpPr>
          <p:cNvPr id="192" name="Text 190"/>
          <p:cNvSpPr/>
          <p:nvPr/>
        </p:nvSpPr>
        <p:spPr>
          <a:xfrm>
            <a:off x="182880" y="18790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193" name="Text 191"/>
          <p:cNvSpPr/>
          <p:nvPr/>
        </p:nvSpPr>
        <p:spPr>
          <a:xfrm>
            <a:off x="2468880" y="18790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4" name="Text 192"/>
          <p:cNvSpPr/>
          <p:nvPr/>
        </p:nvSpPr>
        <p:spPr>
          <a:xfrm>
            <a:off x="2926080" y="18790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800" dirty="0"/>
          </a:p>
        </p:txBody>
      </p:sp>
      <p:sp>
        <p:nvSpPr>
          <p:cNvPr id="195" name="Text 193"/>
          <p:cNvSpPr/>
          <p:nvPr/>
        </p:nvSpPr>
        <p:spPr>
          <a:xfrm>
            <a:off x="182880" y="190835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 신규 KPI</a:t>
            </a:r>
            <a:endParaRPr lang="en-US" sz="900" dirty="0"/>
          </a:p>
        </p:txBody>
      </p:sp>
      <p:sp>
        <p:nvSpPr>
          <p:cNvPr id="196" name="Shape 194"/>
          <p:cNvSpPr/>
          <p:nvPr/>
        </p:nvSpPr>
        <p:spPr>
          <a:xfrm>
            <a:off x="182880" y="192481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82880" y="192481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182880" y="192481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99" name="Text 197"/>
          <p:cNvSpPr/>
          <p:nvPr/>
        </p:nvSpPr>
        <p:spPr>
          <a:xfrm>
            <a:off x="1828800" y="192481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닌투언 2호기</a:t>
            </a:r>
            <a:endParaRPr lang="en-US" sz="1300" dirty="0"/>
          </a:p>
        </p:txBody>
      </p:sp>
      <p:sp>
        <p:nvSpPr>
          <p:cNvPr id="200" name="Text 198"/>
          <p:cNvSpPr/>
          <p:nvPr/>
        </p:nvSpPr>
        <p:spPr>
          <a:xfrm>
            <a:off x="182880" y="19568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01" name="Text 199"/>
          <p:cNvSpPr/>
          <p:nvPr/>
        </p:nvSpPr>
        <p:spPr>
          <a:xfrm>
            <a:off x="2468880" y="19568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2" name="Text 200"/>
          <p:cNvSpPr/>
          <p:nvPr/>
        </p:nvSpPr>
        <p:spPr>
          <a:xfrm>
            <a:off x="2926080" y="19568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800" dirty="0"/>
          </a:p>
        </p:txBody>
      </p:sp>
      <p:sp>
        <p:nvSpPr>
          <p:cNvPr id="203" name="Text 201"/>
          <p:cNvSpPr/>
          <p:nvPr/>
        </p:nvSpPr>
        <p:spPr>
          <a:xfrm>
            <a:off x="182880" y="198607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 신규 KPI</a:t>
            </a:r>
            <a:endParaRPr lang="en-US" sz="900" dirty="0"/>
          </a:p>
        </p:txBody>
      </p:sp>
      <p:sp>
        <p:nvSpPr>
          <p:cNvPr id="204" name="Shape 202"/>
          <p:cNvSpPr/>
          <p:nvPr/>
        </p:nvSpPr>
        <p:spPr>
          <a:xfrm>
            <a:off x="182880" y="200253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82880" y="200253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82880" y="20025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207" name="Text 205"/>
          <p:cNvSpPr/>
          <p:nvPr/>
        </p:nvSpPr>
        <p:spPr>
          <a:xfrm>
            <a:off x="1828800" y="200253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해상풍력(2030)</a:t>
            </a:r>
            <a:endParaRPr lang="en-US" sz="1300" dirty="0"/>
          </a:p>
        </p:txBody>
      </p:sp>
      <p:sp>
        <p:nvSpPr>
          <p:cNvPr id="208" name="Text 206"/>
          <p:cNvSpPr/>
          <p:nvPr/>
        </p:nvSpPr>
        <p:spPr>
          <a:xfrm>
            <a:off x="182880" y="20345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09" name="Text 207"/>
          <p:cNvSpPr/>
          <p:nvPr/>
        </p:nvSpPr>
        <p:spPr>
          <a:xfrm>
            <a:off x="2468880" y="20345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0" name="Text 208"/>
          <p:cNvSpPr/>
          <p:nvPr/>
        </p:nvSpPr>
        <p:spPr>
          <a:xfrm>
            <a:off x="2926080" y="20345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211" name="Text 209"/>
          <p:cNvSpPr/>
          <p:nvPr/>
        </p:nvSpPr>
        <p:spPr>
          <a:xfrm>
            <a:off x="182880" y="206380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 신규 KPI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182880" y="208026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182880" y="208026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82880" y="20802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215" name="Text 213"/>
          <p:cNvSpPr/>
          <p:nvPr/>
        </p:nvSpPr>
        <p:spPr>
          <a:xfrm>
            <a:off x="1828800" y="208026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육상풍력(2030)</a:t>
            </a:r>
            <a:endParaRPr lang="en-US" sz="1300" dirty="0"/>
          </a:p>
        </p:txBody>
      </p:sp>
      <p:sp>
        <p:nvSpPr>
          <p:cNvPr id="216" name="Text 214"/>
          <p:cNvSpPr/>
          <p:nvPr/>
        </p:nvSpPr>
        <p:spPr>
          <a:xfrm>
            <a:off x="182880" y="21122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17" name="Text 215"/>
          <p:cNvSpPr/>
          <p:nvPr/>
        </p:nvSpPr>
        <p:spPr>
          <a:xfrm>
            <a:off x="2468880" y="21122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8" name="Text 216"/>
          <p:cNvSpPr/>
          <p:nvPr/>
        </p:nvSpPr>
        <p:spPr>
          <a:xfrm>
            <a:off x="2926080" y="21122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800" dirty="0"/>
          </a:p>
        </p:txBody>
      </p:sp>
      <p:sp>
        <p:nvSpPr>
          <p:cNvPr id="219" name="Text 217"/>
          <p:cNvSpPr/>
          <p:nvPr/>
        </p:nvSpPr>
        <p:spPr>
          <a:xfrm>
            <a:off x="182880" y="214152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 신규 KPI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182880" y="215798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82880" y="215798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82880" y="21579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223" name="Text 221"/>
          <p:cNvSpPr/>
          <p:nvPr/>
        </p:nvSpPr>
        <p:spPr>
          <a:xfrm>
            <a:off x="1828800" y="215798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태양광(2030)</a:t>
            </a:r>
            <a:endParaRPr lang="en-US" sz="1300" dirty="0"/>
          </a:p>
        </p:txBody>
      </p:sp>
      <p:sp>
        <p:nvSpPr>
          <p:cNvPr id="224" name="Text 222"/>
          <p:cNvSpPr/>
          <p:nvPr/>
        </p:nvSpPr>
        <p:spPr>
          <a:xfrm>
            <a:off x="182880" y="21899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25" name="Text 223"/>
          <p:cNvSpPr/>
          <p:nvPr/>
        </p:nvSpPr>
        <p:spPr>
          <a:xfrm>
            <a:off x="2468880" y="21899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6" name="Text 224"/>
          <p:cNvSpPr/>
          <p:nvPr/>
        </p:nvSpPr>
        <p:spPr>
          <a:xfrm>
            <a:off x="2926080" y="21899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800" dirty="0"/>
          </a:p>
        </p:txBody>
      </p:sp>
      <p:sp>
        <p:nvSpPr>
          <p:cNvPr id="227" name="Text 225"/>
          <p:cNvSpPr/>
          <p:nvPr/>
        </p:nvSpPr>
        <p:spPr>
          <a:xfrm>
            <a:off x="182880" y="221924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 신규 KPI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182880" y="223570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82880" y="223570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82880" y="22357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231" name="Text 229"/>
          <p:cNvSpPr/>
          <p:nvPr/>
        </p:nvSpPr>
        <p:spPr>
          <a:xfrm>
            <a:off x="1828800" y="223570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BESS 배터리(2030)</a:t>
            </a:r>
            <a:endParaRPr lang="en-US" sz="1300" dirty="0"/>
          </a:p>
        </p:txBody>
      </p:sp>
      <p:sp>
        <p:nvSpPr>
          <p:cNvPr id="232" name="Text 230"/>
          <p:cNvSpPr/>
          <p:nvPr/>
        </p:nvSpPr>
        <p:spPr>
          <a:xfrm>
            <a:off x="182880" y="22677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33" name="Text 231"/>
          <p:cNvSpPr/>
          <p:nvPr/>
        </p:nvSpPr>
        <p:spPr>
          <a:xfrm>
            <a:off x="2468880" y="22677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4" name="Text 232"/>
          <p:cNvSpPr/>
          <p:nvPr/>
        </p:nvSpPr>
        <p:spPr>
          <a:xfrm>
            <a:off x="2926080" y="22677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MW</a:t>
            </a:r>
            <a:endParaRPr lang="en-US" sz="1800" dirty="0"/>
          </a:p>
        </p:txBody>
      </p:sp>
      <p:sp>
        <p:nvSpPr>
          <p:cNvPr id="235" name="Text 233"/>
          <p:cNvSpPr/>
          <p:nvPr/>
        </p:nvSpPr>
        <p:spPr>
          <a:xfrm>
            <a:off x="182880" y="229697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 신규 KPI</a:t>
            </a:r>
            <a:endParaRPr lang="en-US" sz="900" dirty="0"/>
          </a:p>
        </p:txBody>
      </p:sp>
      <p:sp>
        <p:nvSpPr>
          <p:cNvPr id="236" name="Shape 234"/>
          <p:cNvSpPr/>
          <p:nvPr/>
        </p:nvSpPr>
        <p:spPr>
          <a:xfrm>
            <a:off x="182880" y="231343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82880" y="231343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82880" y="23134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239" name="Text 237"/>
          <p:cNvSpPr/>
          <p:nvPr/>
        </p:nvSpPr>
        <p:spPr>
          <a:xfrm>
            <a:off x="1828800" y="231343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DPPA 실제 가동 사례</a:t>
            </a:r>
            <a:endParaRPr lang="en-US" sz="1300" dirty="0"/>
          </a:p>
        </p:txBody>
      </p:sp>
      <p:sp>
        <p:nvSpPr>
          <p:cNvPr id="240" name="Text 238"/>
          <p:cNvSpPr/>
          <p:nvPr/>
        </p:nvSpPr>
        <p:spPr>
          <a:xfrm>
            <a:off x="182880" y="23454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41" name="Text 239"/>
          <p:cNvSpPr/>
          <p:nvPr/>
        </p:nvSpPr>
        <p:spPr>
          <a:xfrm>
            <a:off x="2468880" y="23454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2" name="Text 240"/>
          <p:cNvSpPr/>
          <p:nvPr/>
        </p:nvSpPr>
        <p:spPr>
          <a:xfrm>
            <a:off x="2926080" y="23454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시행(2025.3.3 Decree 57)</a:t>
            </a:r>
            <a:endParaRPr lang="en-US" sz="1800" dirty="0"/>
          </a:p>
        </p:txBody>
      </p:sp>
      <p:sp>
        <p:nvSpPr>
          <p:cNvPr id="243" name="Text 241"/>
          <p:cNvSpPr/>
          <p:nvPr/>
        </p:nvSpPr>
        <p:spPr>
          <a:xfrm>
            <a:off x="182880" y="237469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 신규 KPI</a:t>
            </a:r>
            <a:endParaRPr lang="en-US" sz="900" dirty="0"/>
          </a:p>
        </p:txBody>
      </p:sp>
      <p:sp>
        <p:nvSpPr>
          <p:cNvPr id="244" name="Shape 242"/>
          <p:cNvSpPr/>
          <p:nvPr/>
        </p:nvSpPr>
        <p:spPr>
          <a:xfrm>
            <a:off x="182880" y="239115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82880" y="239115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182880" y="23911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47" name="Text 245"/>
          <p:cNvSpPr/>
          <p:nvPr/>
        </p:nvSpPr>
        <p:spPr>
          <a:xfrm>
            <a:off x="1828800" y="239115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도시개발 총투자</a:t>
            </a:r>
            <a:endParaRPr lang="en-US" sz="1300" dirty="0"/>
          </a:p>
        </p:txBody>
      </p:sp>
      <p:sp>
        <p:nvSpPr>
          <p:cNvPr id="248" name="Text 246"/>
          <p:cNvSpPr/>
          <p:nvPr/>
        </p:nvSpPr>
        <p:spPr>
          <a:xfrm>
            <a:off x="182880" y="2423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49" name="Text 247"/>
          <p:cNvSpPr/>
          <p:nvPr/>
        </p:nvSpPr>
        <p:spPr>
          <a:xfrm>
            <a:off x="2468880" y="2423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0" name="Text 248"/>
          <p:cNvSpPr/>
          <p:nvPr/>
        </p:nvSpPr>
        <p:spPr>
          <a:xfrm>
            <a:off x="2926080" y="2423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800" dirty="0"/>
          </a:p>
        </p:txBody>
      </p:sp>
      <p:sp>
        <p:nvSpPr>
          <p:cNvPr id="251" name="Text 249"/>
          <p:cNvSpPr/>
          <p:nvPr/>
        </p:nvSpPr>
        <p:spPr>
          <a:xfrm>
            <a:off x="182880" y="245242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252" name="Shape 250"/>
          <p:cNvSpPr/>
          <p:nvPr/>
        </p:nvSpPr>
        <p:spPr>
          <a:xfrm>
            <a:off x="182880" y="246888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82880" y="246888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82880" y="24688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55" name="Text 253"/>
          <p:cNvSpPr/>
          <p:nvPr/>
        </p:nvSpPr>
        <p:spPr>
          <a:xfrm>
            <a:off x="1828800" y="246888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인구 수용 목표</a:t>
            </a:r>
            <a:endParaRPr lang="en-US" sz="1300" dirty="0"/>
          </a:p>
        </p:txBody>
      </p:sp>
      <p:sp>
        <p:nvSpPr>
          <p:cNvPr id="256" name="Text 254"/>
          <p:cNvSpPr/>
          <p:nvPr/>
        </p:nvSpPr>
        <p:spPr>
          <a:xfrm>
            <a:off x="182880" y="2500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57" name="Text 255"/>
          <p:cNvSpPr/>
          <p:nvPr/>
        </p:nvSpPr>
        <p:spPr>
          <a:xfrm>
            <a:off x="2468880" y="2500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8" name="Text 256"/>
          <p:cNvSpPr/>
          <p:nvPr/>
        </p:nvSpPr>
        <p:spPr>
          <a:xfrm>
            <a:off x="2926080" y="2500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800" dirty="0"/>
          </a:p>
        </p:txBody>
      </p:sp>
      <p:sp>
        <p:nvSpPr>
          <p:cNvPr id="259" name="Text 257"/>
          <p:cNvSpPr/>
          <p:nvPr/>
        </p:nvSpPr>
        <p:spPr>
          <a:xfrm>
            <a:off x="182880" y="253014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260" name="Shape 258"/>
          <p:cNvSpPr/>
          <p:nvPr/>
        </p:nvSpPr>
        <p:spPr>
          <a:xfrm>
            <a:off x="182880" y="254660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182880" y="254660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182880" y="25466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63" name="Text 261"/>
          <p:cNvSpPr/>
          <p:nvPr/>
        </p:nvSpPr>
        <p:spPr>
          <a:xfrm>
            <a:off x="1828800" y="254660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링로드4 완공</a:t>
            </a:r>
            <a:endParaRPr lang="en-US" sz="1300" dirty="0"/>
          </a:p>
        </p:txBody>
      </p:sp>
      <p:sp>
        <p:nvSpPr>
          <p:cNvPr id="264" name="Text 262"/>
          <p:cNvSpPr/>
          <p:nvPr/>
        </p:nvSpPr>
        <p:spPr>
          <a:xfrm>
            <a:off x="182880" y="2578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65" name="Text 263"/>
          <p:cNvSpPr/>
          <p:nvPr/>
        </p:nvSpPr>
        <p:spPr>
          <a:xfrm>
            <a:off x="2468880" y="2578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6" name="Text 264"/>
          <p:cNvSpPr/>
          <p:nvPr/>
        </p:nvSpPr>
        <p:spPr>
          <a:xfrm>
            <a:off x="2926080" y="2578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800" dirty="0"/>
          </a:p>
        </p:txBody>
      </p:sp>
      <p:sp>
        <p:nvSpPr>
          <p:cNvPr id="267" name="Text 265"/>
          <p:cNvSpPr/>
          <p:nvPr/>
        </p:nvSpPr>
        <p:spPr>
          <a:xfrm>
            <a:off x="182880" y="260786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268" name="Shape 266"/>
          <p:cNvSpPr/>
          <p:nvPr/>
        </p:nvSpPr>
        <p:spPr>
          <a:xfrm>
            <a:off x="182880" y="262432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82880" y="262432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182880" y="26243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71" name="Text 269"/>
          <p:cNvSpPr/>
          <p:nvPr/>
        </p:nvSpPr>
        <p:spPr>
          <a:xfrm>
            <a:off x="1828800" y="262432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메트로 노선망</a:t>
            </a:r>
            <a:endParaRPr lang="en-US" sz="1300" dirty="0"/>
          </a:p>
        </p:txBody>
      </p:sp>
      <p:sp>
        <p:nvSpPr>
          <p:cNvPr id="272" name="Text 270"/>
          <p:cNvSpPr/>
          <p:nvPr/>
        </p:nvSpPr>
        <p:spPr>
          <a:xfrm>
            <a:off x="182880" y="2656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73" name="Text 271"/>
          <p:cNvSpPr/>
          <p:nvPr/>
        </p:nvSpPr>
        <p:spPr>
          <a:xfrm>
            <a:off x="2468880" y="2656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4" name="Text 272"/>
          <p:cNvSpPr/>
          <p:nvPr/>
        </p:nvSpPr>
        <p:spPr>
          <a:xfrm>
            <a:off x="2926080" y="2656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14개 이상 노선, 약 624km</a:t>
            </a:r>
            <a:endParaRPr lang="en-US" sz="1800" dirty="0"/>
          </a:p>
        </p:txBody>
      </p:sp>
      <p:sp>
        <p:nvSpPr>
          <p:cNvPr id="275" name="Text 273"/>
          <p:cNvSpPr/>
          <p:nvPr/>
        </p:nvSpPr>
        <p:spPr>
          <a:xfrm>
            <a:off x="182880" y="268559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276" name="Shape 274"/>
          <p:cNvSpPr/>
          <p:nvPr/>
        </p:nvSpPr>
        <p:spPr>
          <a:xfrm>
            <a:off x="182880" y="270205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82880" y="270205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182880" y="27020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79" name="Text 277"/>
          <p:cNvSpPr/>
          <p:nvPr/>
        </p:nvSpPr>
        <p:spPr>
          <a:xfrm>
            <a:off x="1828800" y="270205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GRDP 목표</a:t>
            </a:r>
            <a:endParaRPr lang="en-US" sz="1300" dirty="0"/>
          </a:p>
        </p:txBody>
      </p:sp>
      <p:sp>
        <p:nvSpPr>
          <p:cNvPr id="280" name="Text 278"/>
          <p:cNvSpPr/>
          <p:nvPr/>
        </p:nvSpPr>
        <p:spPr>
          <a:xfrm>
            <a:off x="182880" y="2734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81" name="Text 279"/>
          <p:cNvSpPr/>
          <p:nvPr/>
        </p:nvSpPr>
        <p:spPr>
          <a:xfrm>
            <a:off x="2468880" y="27340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2" name="Text 280"/>
          <p:cNvSpPr/>
          <p:nvPr/>
        </p:nvSpPr>
        <p:spPr>
          <a:xfrm>
            <a:off x="2926080" y="2734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2035년 약 $200B, 2045년 약 $640B</a:t>
            </a:r>
            <a:endParaRPr lang="en-US" sz="1800" dirty="0"/>
          </a:p>
        </p:txBody>
      </p:sp>
      <p:sp>
        <p:nvSpPr>
          <p:cNvPr id="283" name="Text 281"/>
          <p:cNvSpPr/>
          <p:nvPr/>
        </p:nvSpPr>
        <p:spPr>
          <a:xfrm>
            <a:off x="182880" y="276331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284" name="Shape 282"/>
          <p:cNvSpPr/>
          <p:nvPr/>
        </p:nvSpPr>
        <p:spPr>
          <a:xfrm>
            <a:off x="182880" y="277977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182880" y="277977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82880" y="27797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87" name="Text 285"/>
          <p:cNvSpPr/>
          <p:nvPr/>
        </p:nvSpPr>
        <p:spPr>
          <a:xfrm>
            <a:off x="1828800" y="277977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문화산업 비중</a:t>
            </a:r>
            <a:endParaRPr lang="en-US" sz="1300" dirty="0"/>
          </a:p>
        </p:txBody>
      </p:sp>
      <p:sp>
        <p:nvSpPr>
          <p:cNvPr id="288" name="Text 286"/>
          <p:cNvSpPr/>
          <p:nvPr/>
        </p:nvSpPr>
        <p:spPr>
          <a:xfrm>
            <a:off x="182880" y="2811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89" name="Text 287"/>
          <p:cNvSpPr/>
          <p:nvPr/>
        </p:nvSpPr>
        <p:spPr>
          <a:xfrm>
            <a:off x="2468880" y="28117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0" name="Text 288"/>
          <p:cNvSpPr/>
          <p:nvPr/>
        </p:nvSpPr>
        <p:spPr>
          <a:xfrm>
            <a:off x="2926080" y="28117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2035년 GRDP 10%, 2065년 15~20%</a:t>
            </a:r>
            <a:endParaRPr lang="en-US" sz="1800" dirty="0"/>
          </a:p>
        </p:txBody>
      </p:sp>
      <p:sp>
        <p:nvSpPr>
          <p:cNvPr id="291" name="Text 289"/>
          <p:cNvSpPr/>
          <p:nvPr/>
        </p:nvSpPr>
        <p:spPr>
          <a:xfrm>
            <a:off x="182880" y="284104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292" name="Shape 290"/>
          <p:cNvSpPr/>
          <p:nvPr/>
        </p:nvSpPr>
        <p:spPr>
          <a:xfrm>
            <a:off x="182880" y="285750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82880" y="285750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182880" y="28575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95" name="Text 293"/>
          <p:cNvSpPr/>
          <p:nvPr/>
        </p:nvSpPr>
        <p:spPr>
          <a:xfrm>
            <a:off x="1828800" y="285750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도시건설용지 비중</a:t>
            </a:r>
            <a:endParaRPr lang="en-US" sz="1300" dirty="0"/>
          </a:p>
        </p:txBody>
      </p:sp>
      <p:sp>
        <p:nvSpPr>
          <p:cNvPr id="296" name="Text 294"/>
          <p:cNvSpPr/>
          <p:nvPr/>
        </p:nvSpPr>
        <p:spPr>
          <a:xfrm>
            <a:off x="182880" y="28895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297" name="Text 295"/>
          <p:cNvSpPr/>
          <p:nvPr/>
        </p:nvSpPr>
        <p:spPr>
          <a:xfrm>
            <a:off x="2468880" y="28895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8" name="Text 296"/>
          <p:cNvSpPr/>
          <p:nvPr/>
        </p:nvSpPr>
        <p:spPr>
          <a:xfrm>
            <a:off x="2926080" y="2889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2065년까지 55~60%</a:t>
            </a:r>
            <a:endParaRPr lang="en-US" sz="1800" dirty="0"/>
          </a:p>
        </p:txBody>
      </p:sp>
      <p:sp>
        <p:nvSpPr>
          <p:cNvPr id="299" name="Text 297"/>
          <p:cNvSpPr/>
          <p:nvPr/>
        </p:nvSpPr>
        <p:spPr>
          <a:xfrm>
            <a:off x="182880" y="291876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 신규 KPI</a:t>
            </a:r>
            <a:endParaRPr lang="en-US" sz="900" dirty="0"/>
          </a:p>
        </p:txBody>
      </p:sp>
      <p:sp>
        <p:nvSpPr>
          <p:cNvPr id="300" name="Shape 298"/>
          <p:cNvSpPr/>
          <p:nvPr/>
        </p:nvSpPr>
        <p:spPr>
          <a:xfrm>
            <a:off x="182880" y="293522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82880" y="293522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182880" y="29352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03" name="Text 301"/>
          <p:cNvSpPr/>
          <p:nvPr/>
        </p:nvSpPr>
        <p:spPr>
          <a:xfrm>
            <a:off x="1828800" y="293522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VSIP 단지 수</a:t>
            </a:r>
            <a:endParaRPr lang="en-US" sz="1300" dirty="0"/>
          </a:p>
        </p:txBody>
      </p:sp>
      <p:sp>
        <p:nvSpPr>
          <p:cNvPr id="304" name="Text 302"/>
          <p:cNvSpPr/>
          <p:nvPr/>
        </p:nvSpPr>
        <p:spPr>
          <a:xfrm>
            <a:off x="182880" y="29672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05" name="Text 303"/>
          <p:cNvSpPr/>
          <p:nvPr/>
        </p:nvSpPr>
        <p:spPr>
          <a:xfrm>
            <a:off x="2468880" y="29672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06" name="Text 304"/>
          <p:cNvSpPr/>
          <p:nvPr/>
        </p:nvSpPr>
        <p:spPr>
          <a:xfrm>
            <a:off x="2926080" y="29672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800" dirty="0"/>
          </a:p>
        </p:txBody>
      </p:sp>
      <p:sp>
        <p:nvSpPr>
          <p:cNvPr id="307" name="Text 305"/>
          <p:cNvSpPr/>
          <p:nvPr/>
        </p:nvSpPr>
        <p:spPr>
          <a:xfrm>
            <a:off x="182880" y="299648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08" name="Shape 306"/>
          <p:cNvSpPr/>
          <p:nvPr/>
        </p:nvSpPr>
        <p:spPr>
          <a:xfrm>
            <a:off x="182880" y="301294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82880" y="301294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182880" y="30129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11" name="Text 309"/>
          <p:cNvSpPr/>
          <p:nvPr/>
        </p:nvSpPr>
        <p:spPr>
          <a:xfrm>
            <a:off x="1828800" y="301294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첨단산업 비중</a:t>
            </a:r>
            <a:endParaRPr lang="en-US" sz="1300" dirty="0"/>
          </a:p>
        </p:txBody>
      </p:sp>
      <p:sp>
        <p:nvSpPr>
          <p:cNvPr id="312" name="Text 310"/>
          <p:cNvSpPr/>
          <p:nvPr/>
        </p:nvSpPr>
        <p:spPr>
          <a:xfrm>
            <a:off x="182880" y="30449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13" name="Text 311"/>
          <p:cNvSpPr/>
          <p:nvPr/>
        </p:nvSpPr>
        <p:spPr>
          <a:xfrm>
            <a:off x="2468880" y="30449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14" name="Text 312"/>
          <p:cNvSpPr/>
          <p:nvPr/>
        </p:nvSpPr>
        <p:spPr>
          <a:xfrm>
            <a:off x="2926080" y="30449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800" dirty="0"/>
          </a:p>
        </p:txBody>
      </p:sp>
      <p:sp>
        <p:nvSpPr>
          <p:cNvPr id="315" name="Text 313"/>
          <p:cNvSpPr/>
          <p:nvPr/>
        </p:nvSpPr>
        <p:spPr>
          <a:xfrm>
            <a:off x="182880" y="307421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16" name="Shape 314"/>
          <p:cNvSpPr/>
          <p:nvPr/>
        </p:nvSpPr>
        <p:spPr>
          <a:xfrm>
            <a:off x="182880" y="309067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82880" y="309067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182880" y="30906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19" name="Text 317"/>
          <p:cNvSpPr/>
          <p:nvPr/>
        </p:nvSpPr>
        <p:spPr>
          <a:xfrm>
            <a:off x="1828800" y="30906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FDI 유입</a:t>
            </a:r>
            <a:endParaRPr lang="en-US" sz="1300" dirty="0"/>
          </a:p>
        </p:txBody>
      </p:sp>
      <p:sp>
        <p:nvSpPr>
          <p:cNvPr id="320" name="Text 318"/>
          <p:cNvSpPr/>
          <p:nvPr/>
        </p:nvSpPr>
        <p:spPr>
          <a:xfrm>
            <a:off x="182880" y="31226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21" name="Text 319"/>
          <p:cNvSpPr/>
          <p:nvPr/>
        </p:nvSpPr>
        <p:spPr>
          <a:xfrm>
            <a:off x="2468880" y="31226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22" name="Text 320"/>
          <p:cNvSpPr/>
          <p:nvPr/>
        </p:nvSpPr>
        <p:spPr>
          <a:xfrm>
            <a:off x="2926080" y="31226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800" dirty="0"/>
          </a:p>
        </p:txBody>
      </p:sp>
      <p:sp>
        <p:nvSpPr>
          <p:cNvPr id="323" name="Text 321"/>
          <p:cNvSpPr/>
          <p:nvPr/>
        </p:nvSpPr>
        <p:spPr>
          <a:xfrm>
            <a:off x="182880" y="315193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24" name="Shape 322"/>
          <p:cNvSpPr/>
          <p:nvPr/>
        </p:nvSpPr>
        <p:spPr>
          <a:xfrm>
            <a:off x="182880" y="316839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182880" y="316839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182880" y="31683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27" name="Text 325"/>
          <p:cNvSpPr/>
          <p:nvPr/>
        </p:nvSpPr>
        <p:spPr>
          <a:xfrm>
            <a:off x="1828800" y="316839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삼성 박닌 누적투자</a:t>
            </a:r>
            <a:endParaRPr lang="en-US" sz="1300" dirty="0"/>
          </a:p>
        </p:txBody>
      </p:sp>
      <p:sp>
        <p:nvSpPr>
          <p:cNvPr id="328" name="Text 326"/>
          <p:cNvSpPr/>
          <p:nvPr/>
        </p:nvSpPr>
        <p:spPr>
          <a:xfrm>
            <a:off x="182880" y="32004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29" name="Text 327"/>
          <p:cNvSpPr/>
          <p:nvPr/>
        </p:nvSpPr>
        <p:spPr>
          <a:xfrm>
            <a:off x="2468880" y="32004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0" name="Text 328"/>
          <p:cNvSpPr/>
          <p:nvPr/>
        </p:nvSpPr>
        <p:spPr>
          <a:xfrm>
            <a:off x="2926080" y="32004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확대</a:t>
            </a:r>
            <a:endParaRPr lang="en-US" sz="1800" dirty="0"/>
          </a:p>
        </p:txBody>
      </p:sp>
      <p:sp>
        <p:nvSpPr>
          <p:cNvPr id="331" name="Text 329"/>
          <p:cNvSpPr/>
          <p:nvPr/>
        </p:nvSpPr>
        <p:spPr>
          <a:xfrm>
            <a:off x="182880" y="322966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32" name="Shape 330"/>
          <p:cNvSpPr/>
          <p:nvPr/>
        </p:nvSpPr>
        <p:spPr>
          <a:xfrm>
            <a:off x="182880" y="324612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82880" y="324612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182880" y="32461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35" name="Text 333"/>
          <p:cNvSpPr/>
          <p:nvPr/>
        </p:nvSpPr>
        <p:spPr>
          <a:xfrm>
            <a:off x="1828800" y="32461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홍강델타 지역 GRDP 성장률</a:t>
            </a:r>
            <a:endParaRPr lang="en-US" sz="1300" dirty="0"/>
          </a:p>
        </p:txBody>
      </p:sp>
      <p:sp>
        <p:nvSpPr>
          <p:cNvPr id="336" name="Text 334"/>
          <p:cNvSpPr/>
          <p:nvPr/>
        </p:nvSpPr>
        <p:spPr>
          <a:xfrm>
            <a:off x="182880" y="32781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37" name="Text 335"/>
          <p:cNvSpPr/>
          <p:nvPr/>
        </p:nvSpPr>
        <p:spPr>
          <a:xfrm>
            <a:off x="2468880" y="32781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8" name="Text 336"/>
          <p:cNvSpPr/>
          <p:nvPr/>
        </p:nvSpPr>
        <p:spPr>
          <a:xfrm>
            <a:off x="2926080" y="32781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9.0~9.5%/년 (2030)</a:t>
            </a:r>
            <a:endParaRPr lang="en-US" sz="1800" dirty="0"/>
          </a:p>
        </p:txBody>
      </p:sp>
      <p:sp>
        <p:nvSpPr>
          <p:cNvPr id="339" name="Text 337"/>
          <p:cNvSpPr/>
          <p:nvPr/>
        </p:nvSpPr>
        <p:spPr>
          <a:xfrm>
            <a:off x="182880" y="330738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40" name="Shape 338"/>
          <p:cNvSpPr/>
          <p:nvPr/>
        </p:nvSpPr>
        <p:spPr>
          <a:xfrm>
            <a:off x="182880" y="332384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182880" y="332384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42" name="Text 340"/>
          <p:cNvSpPr/>
          <p:nvPr/>
        </p:nvSpPr>
        <p:spPr>
          <a:xfrm>
            <a:off x="182880" y="33238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43" name="Text 341"/>
          <p:cNvSpPr/>
          <p:nvPr/>
        </p:nvSpPr>
        <p:spPr>
          <a:xfrm>
            <a:off x="1828800" y="332384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홍강델타 GRDP/인당</a:t>
            </a:r>
            <a:endParaRPr lang="en-US" sz="1300" dirty="0"/>
          </a:p>
        </p:txBody>
      </p:sp>
      <p:sp>
        <p:nvSpPr>
          <p:cNvPr id="344" name="Text 342"/>
          <p:cNvSpPr/>
          <p:nvPr/>
        </p:nvSpPr>
        <p:spPr>
          <a:xfrm>
            <a:off x="182880" y="33558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45" name="Text 343"/>
          <p:cNvSpPr/>
          <p:nvPr/>
        </p:nvSpPr>
        <p:spPr>
          <a:xfrm>
            <a:off x="2468880" y="33558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6" name="Text 344"/>
          <p:cNvSpPr/>
          <p:nvPr/>
        </p:nvSpPr>
        <p:spPr>
          <a:xfrm>
            <a:off x="2926080" y="33558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$11,000~12,000 (2030)</a:t>
            </a:r>
            <a:endParaRPr lang="en-US" sz="1800" dirty="0"/>
          </a:p>
        </p:txBody>
      </p:sp>
      <p:sp>
        <p:nvSpPr>
          <p:cNvPr id="347" name="Text 345"/>
          <p:cNvSpPr/>
          <p:nvPr/>
        </p:nvSpPr>
        <p:spPr>
          <a:xfrm>
            <a:off x="182880" y="338510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48" name="Shape 346"/>
          <p:cNvSpPr/>
          <p:nvPr/>
        </p:nvSpPr>
        <p:spPr>
          <a:xfrm>
            <a:off x="182880" y="340156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82880" y="340156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0" name="Text 348"/>
          <p:cNvSpPr/>
          <p:nvPr/>
        </p:nvSpPr>
        <p:spPr>
          <a:xfrm>
            <a:off x="182880" y="34015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351" name="Text 349"/>
          <p:cNvSpPr/>
          <p:nvPr/>
        </p:nvSpPr>
        <p:spPr>
          <a:xfrm>
            <a:off x="1828800" y="34015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일자리 창출</a:t>
            </a:r>
            <a:endParaRPr lang="en-US" sz="1300" dirty="0"/>
          </a:p>
        </p:txBody>
      </p:sp>
      <p:sp>
        <p:nvSpPr>
          <p:cNvPr id="352" name="Text 350"/>
          <p:cNvSpPr/>
          <p:nvPr/>
        </p:nvSpPr>
        <p:spPr>
          <a:xfrm>
            <a:off x="182880" y="34335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53" name="Text 351"/>
          <p:cNvSpPr/>
          <p:nvPr/>
        </p:nvSpPr>
        <p:spPr>
          <a:xfrm>
            <a:off x="2468880" y="34335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4" name="Text 352"/>
          <p:cNvSpPr/>
          <p:nvPr/>
        </p:nvSpPr>
        <p:spPr>
          <a:xfrm>
            <a:off x="2926080" y="34335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400만 명</a:t>
            </a:r>
            <a:endParaRPr lang="en-US" sz="1800" dirty="0"/>
          </a:p>
        </p:txBody>
      </p:sp>
      <p:sp>
        <p:nvSpPr>
          <p:cNvPr id="355" name="Text 353"/>
          <p:cNvSpPr/>
          <p:nvPr/>
        </p:nvSpPr>
        <p:spPr>
          <a:xfrm>
            <a:off x="182880" y="346283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 신규 KPI</a:t>
            </a:r>
            <a:endParaRPr lang="en-US" sz="900" dirty="0"/>
          </a:p>
        </p:txBody>
      </p:sp>
      <p:sp>
        <p:nvSpPr>
          <p:cNvPr id="356" name="Shape 354"/>
          <p:cNvSpPr/>
          <p:nvPr/>
        </p:nvSpPr>
        <p:spPr>
          <a:xfrm>
            <a:off x="182880" y="347929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182880" y="347929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182880" y="347929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359" name="Text 357"/>
          <p:cNvSpPr/>
          <p:nvPr/>
        </p:nvSpPr>
        <p:spPr>
          <a:xfrm>
            <a:off x="1828800" y="347929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고속도로 총연장</a:t>
            </a:r>
            <a:endParaRPr lang="en-US" sz="1300" dirty="0"/>
          </a:p>
        </p:txBody>
      </p:sp>
      <p:sp>
        <p:nvSpPr>
          <p:cNvPr id="360" name="Text 358"/>
          <p:cNvSpPr/>
          <p:nvPr/>
        </p:nvSpPr>
        <p:spPr>
          <a:xfrm>
            <a:off x="182880" y="35112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61" name="Text 359"/>
          <p:cNvSpPr/>
          <p:nvPr/>
        </p:nvSpPr>
        <p:spPr>
          <a:xfrm>
            <a:off x="2468880" y="35112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2" name="Text 360"/>
          <p:cNvSpPr/>
          <p:nvPr/>
        </p:nvSpPr>
        <p:spPr>
          <a:xfrm>
            <a:off x="2926080" y="3511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800" dirty="0"/>
          </a:p>
        </p:txBody>
      </p:sp>
      <p:sp>
        <p:nvSpPr>
          <p:cNvPr id="363" name="Text 361"/>
          <p:cNvSpPr/>
          <p:nvPr/>
        </p:nvSpPr>
        <p:spPr>
          <a:xfrm>
            <a:off x="182880" y="354055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 신규 KPI</a:t>
            </a:r>
            <a:endParaRPr lang="en-US" sz="900" dirty="0"/>
          </a:p>
        </p:txBody>
      </p:sp>
      <p:sp>
        <p:nvSpPr>
          <p:cNvPr id="364" name="Shape 362"/>
          <p:cNvSpPr/>
          <p:nvPr/>
        </p:nvSpPr>
        <p:spPr>
          <a:xfrm>
            <a:off x="182880" y="355701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182880" y="355701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66" name="Text 364"/>
          <p:cNvSpPr/>
          <p:nvPr/>
        </p:nvSpPr>
        <p:spPr>
          <a:xfrm>
            <a:off x="182880" y="35570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367" name="Text 365"/>
          <p:cNvSpPr/>
          <p:nvPr/>
        </p:nvSpPr>
        <p:spPr>
          <a:xfrm>
            <a:off x="1828800" y="355701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롱탄공항 개항</a:t>
            </a:r>
            <a:endParaRPr lang="en-US" sz="1300" dirty="0"/>
          </a:p>
        </p:txBody>
      </p:sp>
      <p:sp>
        <p:nvSpPr>
          <p:cNvPr id="368" name="Text 366"/>
          <p:cNvSpPr/>
          <p:nvPr/>
        </p:nvSpPr>
        <p:spPr>
          <a:xfrm>
            <a:off x="182880" y="3589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69" name="Text 367"/>
          <p:cNvSpPr/>
          <p:nvPr/>
        </p:nvSpPr>
        <p:spPr>
          <a:xfrm>
            <a:off x="2468880" y="3589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0" name="Text 368"/>
          <p:cNvSpPr/>
          <p:nvPr/>
        </p:nvSpPr>
        <p:spPr>
          <a:xfrm>
            <a:off x="2926080" y="3589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800" dirty="0"/>
          </a:p>
        </p:txBody>
      </p:sp>
      <p:sp>
        <p:nvSpPr>
          <p:cNvPr id="371" name="Text 369"/>
          <p:cNvSpPr/>
          <p:nvPr/>
        </p:nvSpPr>
        <p:spPr>
          <a:xfrm>
            <a:off x="182880" y="361828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 신규 KPI</a:t>
            </a:r>
            <a:endParaRPr lang="en-US" sz="900" dirty="0"/>
          </a:p>
        </p:txBody>
      </p:sp>
      <p:sp>
        <p:nvSpPr>
          <p:cNvPr id="372" name="Shape 370"/>
          <p:cNvSpPr/>
          <p:nvPr/>
        </p:nvSpPr>
        <p:spPr>
          <a:xfrm>
            <a:off x="182880" y="363474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182880" y="363474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4" name="Text 372"/>
          <p:cNvSpPr/>
          <p:nvPr/>
        </p:nvSpPr>
        <p:spPr>
          <a:xfrm>
            <a:off x="182880" y="36347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375" name="Text 373"/>
          <p:cNvSpPr/>
          <p:nvPr/>
        </p:nvSpPr>
        <p:spPr>
          <a:xfrm>
            <a:off x="1828800" y="363474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공항 네트워크</a:t>
            </a:r>
            <a:endParaRPr lang="en-US" sz="1300" dirty="0"/>
          </a:p>
        </p:txBody>
      </p:sp>
      <p:sp>
        <p:nvSpPr>
          <p:cNvPr id="376" name="Text 374"/>
          <p:cNvSpPr/>
          <p:nvPr/>
        </p:nvSpPr>
        <p:spPr>
          <a:xfrm>
            <a:off x="182880" y="3666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77" name="Text 375"/>
          <p:cNvSpPr/>
          <p:nvPr/>
        </p:nvSpPr>
        <p:spPr>
          <a:xfrm>
            <a:off x="2468880" y="36667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8" name="Text 376"/>
          <p:cNvSpPr/>
          <p:nvPr/>
        </p:nvSpPr>
        <p:spPr>
          <a:xfrm>
            <a:off x="2926080" y="3666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800" dirty="0"/>
          </a:p>
        </p:txBody>
      </p:sp>
      <p:sp>
        <p:nvSpPr>
          <p:cNvPr id="379" name="Text 377"/>
          <p:cNvSpPr/>
          <p:nvPr/>
        </p:nvSpPr>
        <p:spPr>
          <a:xfrm>
            <a:off x="182880" y="36960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 신규 KPI</a:t>
            </a:r>
            <a:endParaRPr lang="en-US" sz="900" dirty="0"/>
          </a:p>
        </p:txBody>
      </p:sp>
      <p:sp>
        <p:nvSpPr>
          <p:cNvPr id="380" name="Shape 378"/>
          <p:cNvSpPr/>
          <p:nvPr/>
        </p:nvSpPr>
        <p:spPr>
          <a:xfrm>
            <a:off x="182880" y="371246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182880" y="371246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2" name="Text 380"/>
          <p:cNvSpPr/>
          <p:nvPr/>
        </p:nvSpPr>
        <p:spPr>
          <a:xfrm>
            <a:off x="182880" y="37124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383" name="Text 381"/>
          <p:cNvSpPr/>
          <p:nvPr/>
        </p:nvSpPr>
        <p:spPr>
          <a:xfrm>
            <a:off x="1828800" y="371246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항만 처리 용량</a:t>
            </a:r>
            <a:endParaRPr lang="en-US" sz="1300" dirty="0"/>
          </a:p>
        </p:txBody>
      </p:sp>
      <p:sp>
        <p:nvSpPr>
          <p:cNvPr id="384" name="Text 382"/>
          <p:cNvSpPr/>
          <p:nvPr/>
        </p:nvSpPr>
        <p:spPr>
          <a:xfrm>
            <a:off x="182880" y="37444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85" name="Text 383"/>
          <p:cNvSpPr/>
          <p:nvPr/>
        </p:nvSpPr>
        <p:spPr>
          <a:xfrm>
            <a:off x="2468880" y="3744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6" name="Text 384"/>
          <p:cNvSpPr/>
          <p:nvPr/>
        </p:nvSpPr>
        <p:spPr>
          <a:xfrm>
            <a:off x="2926080" y="3744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1,100M 톤/년</a:t>
            </a:r>
            <a:endParaRPr lang="en-US" sz="1800" dirty="0"/>
          </a:p>
        </p:txBody>
      </p:sp>
      <p:sp>
        <p:nvSpPr>
          <p:cNvPr id="387" name="Text 385"/>
          <p:cNvSpPr/>
          <p:nvPr/>
        </p:nvSpPr>
        <p:spPr>
          <a:xfrm>
            <a:off x="182880" y="377372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 신규 KPI</a:t>
            </a:r>
            <a:endParaRPr lang="en-US" sz="900" dirty="0"/>
          </a:p>
        </p:txBody>
      </p:sp>
      <p:sp>
        <p:nvSpPr>
          <p:cNvPr id="388" name="Shape 386"/>
          <p:cNvSpPr/>
          <p:nvPr/>
        </p:nvSpPr>
        <p:spPr>
          <a:xfrm>
            <a:off x="182880" y="379018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182880" y="379018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0" name="Text 388"/>
          <p:cNvSpPr/>
          <p:nvPr/>
        </p:nvSpPr>
        <p:spPr>
          <a:xfrm>
            <a:off x="182880" y="37901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391" name="Text 389"/>
          <p:cNvSpPr/>
          <p:nvPr/>
        </p:nvSpPr>
        <p:spPr>
          <a:xfrm>
            <a:off x="1828800" y="379018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하노이 메트로 목표</a:t>
            </a:r>
            <a:endParaRPr lang="en-US" sz="1300" dirty="0"/>
          </a:p>
        </p:txBody>
      </p:sp>
      <p:sp>
        <p:nvSpPr>
          <p:cNvPr id="392" name="Text 390"/>
          <p:cNvSpPr/>
          <p:nvPr/>
        </p:nvSpPr>
        <p:spPr>
          <a:xfrm>
            <a:off x="182880" y="38221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393" name="Text 391"/>
          <p:cNvSpPr/>
          <p:nvPr/>
        </p:nvSpPr>
        <p:spPr>
          <a:xfrm>
            <a:off x="2468880" y="38221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4" name="Text 392"/>
          <p:cNvSpPr/>
          <p:nvPr/>
        </p:nvSpPr>
        <p:spPr>
          <a:xfrm>
            <a:off x="2926080" y="3822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800" dirty="0"/>
          </a:p>
        </p:txBody>
      </p:sp>
      <p:sp>
        <p:nvSpPr>
          <p:cNvPr id="395" name="Text 393"/>
          <p:cNvSpPr/>
          <p:nvPr/>
        </p:nvSpPr>
        <p:spPr>
          <a:xfrm>
            <a:off x="182880" y="385145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 신규 KPI</a:t>
            </a:r>
            <a:endParaRPr lang="en-US" sz="900" dirty="0"/>
          </a:p>
        </p:txBody>
      </p:sp>
      <p:sp>
        <p:nvSpPr>
          <p:cNvPr id="396" name="Shape 394"/>
          <p:cNvSpPr/>
          <p:nvPr/>
        </p:nvSpPr>
        <p:spPr>
          <a:xfrm>
            <a:off x="182880" y="386791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182880" y="386791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98" name="Text 396"/>
          <p:cNvSpPr/>
          <p:nvPr/>
        </p:nvSpPr>
        <p:spPr>
          <a:xfrm>
            <a:off x="182880" y="386791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399" name="Text 397"/>
          <p:cNvSpPr/>
          <p:nvPr/>
        </p:nvSpPr>
        <p:spPr>
          <a:xfrm>
            <a:off x="1828800" y="386791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호치민 메트로 목표</a:t>
            </a:r>
            <a:endParaRPr lang="en-US" sz="1300" dirty="0"/>
          </a:p>
        </p:txBody>
      </p:sp>
      <p:sp>
        <p:nvSpPr>
          <p:cNvPr id="400" name="Text 398"/>
          <p:cNvSpPr/>
          <p:nvPr/>
        </p:nvSpPr>
        <p:spPr>
          <a:xfrm>
            <a:off x="182880" y="38999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01" name="Text 399"/>
          <p:cNvSpPr/>
          <p:nvPr/>
        </p:nvSpPr>
        <p:spPr>
          <a:xfrm>
            <a:off x="2468880" y="3899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2" name="Text 400"/>
          <p:cNvSpPr/>
          <p:nvPr/>
        </p:nvSpPr>
        <p:spPr>
          <a:xfrm>
            <a:off x="2926080" y="3899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800" dirty="0"/>
          </a:p>
        </p:txBody>
      </p:sp>
      <p:sp>
        <p:nvSpPr>
          <p:cNvPr id="403" name="Text 401"/>
          <p:cNvSpPr/>
          <p:nvPr/>
        </p:nvSpPr>
        <p:spPr>
          <a:xfrm>
            <a:off x="182880" y="392917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 신규 KPI</a:t>
            </a:r>
            <a:endParaRPr lang="en-US" sz="900" dirty="0"/>
          </a:p>
        </p:txBody>
      </p:sp>
      <p:sp>
        <p:nvSpPr>
          <p:cNvPr id="404" name="Shape 402"/>
          <p:cNvSpPr/>
          <p:nvPr/>
        </p:nvSpPr>
        <p:spPr>
          <a:xfrm>
            <a:off x="182880" y="394563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182880" y="394563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182880" y="39456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407" name="Text 405"/>
          <p:cNvSpPr/>
          <p:nvPr/>
        </p:nvSpPr>
        <p:spPr>
          <a:xfrm>
            <a:off x="1828800" y="394563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전국 도시철도 목표</a:t>
            </a:r>
            <a:endParaRPr lang="en-US" sz="1300" dirty="0"/>
          </a:p>
        </p:txBody>
      </p:sp>
      <p:sp>
        <p:nvSpPr>
          <p:cNvPr id="408" name="Text 406"/>
          <p:cNvSpPr/>
          <p:nvPr/>
        </p:nvSpPr>
        <p:spPr>
          <a:xfrm>
            <a:off x="182880" y="39776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09" name="Text 407"/>
          <p:cNvSpPr/>
          <p:nvPr/>
        </p:nvSpPr>
        <p:spPr>
          <a:xfrm>
            <a:off x="2468880" y="39776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0" name="Text 408"/>
          <p:cNvSpPr/>
          <p:nvPr/>
        </p:nvSpPr>
        <p:spPr>
          <a:xfrm>
            <a:off x="2926080" y="39776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800" dirty="0"/>
          </a:p>
        </p:txBody>
      </p:sp>
      <p:sp>
        <p:nvSpPr>
          <p:cNvPr id="411" name="Text 409"/>
          <p:cNvSpPr/>
          <p:nvPr/>
        </p:nvSpPr>
        <p:spPr>
          <a:xfrm>
            <a:off x="182880" y="400690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 신규 KPI</a:t>
            </a:r>
            <a:endParaRPr lang="en-US" sz="900" dirty="0"/>
          </a:p>
        </p:txBody>
      </p:sp>
      <p:sp>
        <p:nvSpPr>
          <p:cNvPr id="412" name="Shape 410"/>
          <p:cNvSpPr/>
          <p:nvPr/>
        </p:nvSpPr>
        <p:spPr>
          <a:xfrm>
            <a:off x="182880" y="402336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182880" y="402336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14" name="Text 412"/>
          <p:cNvSpPr/>
          <p:nvPr/>
        </p:nvSpPr>
        <p:spPr>
          <a:xfrm>
            <a:off x="182880" y="40233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415" name="Text 413"/>
          <p:cNvSpPr/>
          <p:nvPr/>
        </p:nvSpPr>
        <p:spPr>
          <a:xfrm>
            <a:off x="1828800" y="402336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하노이·호치민 통합 투자소요</a:t>
            </a:r>
            <a:endParaRPr lang="en-US" sz="1300" dirty="0"/>
          </a:p>
        </p:txBody>
      </p:sp>
      <p:sp>
        <p:nvSpPr>
          <p:cNvPr id="416" name="Text 414"/>
          <p:cNvSpPr/>
          <p:nvPr/>
        </p:nvSpPr>
        <p:spPr>
          <a:xfrm>
            <a:off x="182880" y="40553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17" name="Text 415"/>
          <p:cNvSpPr/>
          <p:nvPr/>
        </p:nvSpPr>
        <p:spPr>
          <a:xfrm>
            <a:off x="2468880" y="40553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8" name="Text 416"/>
          <p:cNvSpPr/>
          <p:nvPr/>
        </p:nvSpPr>
        <p:spPr>
          <a:xfrm>
            <a:off x="2926080" y="40553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3,065,100억</a:t>
            </a:r>
            <a:endParaRPr lang="en-US" sz="1800" dirty="0"/>
          </a:p>
        </p:txBody>
      </p:sp>
      <p:sp>
        <p:nvSpPr>
          <p:cNvPr id="419" name="Text 417"/>
          <p:cNvSpPr/>
          <p:nvPr/>
        </p:nvSpPr>
        <p:spPr>
          <a:xfrm>
            <a:off x="182880" y="408462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 신규 KPI</a:t>
            </a:r>
            <a:endParaRPr lang="en-US" sz="900" dirty="0"/>
          </a:p>
        </p:txBody>
      </p:sp>
      <p:sp>
        <p:nvSpPr>
          <p:cNvPr id="420" name="Shape 418"/>
          <p:cNvSpPr/>
          <p:nvPr/>
        </p:nvSpPr>
        <p:spPr>
          <a:xfrm>
            <a:off x="182880" y="410108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182880" y="410108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22" name="Text 420"/>
          <p:cNvSpPr/>
          <p:nvPr/>
        </p:nvSpPr>
        <p:spPr>
          <a:xfrm>
            <a:off x="182880" y="41010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423" name="Text 421"/>
          <p:cNvSpPr/>
          <p:nvPr/>
        </p:nvSpPr>
        <p:spPr>
          <a:xfrm>
            <a:off x="1828800" y="410108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도시철도 국가통일기술표준</a:t>
            </a:r>
            <a:endParaRPr lang="en-US" sz="1300" dirty="0"/>
          </a:p>
        </p:txBody>
      </p:sp>
      <p:sp>
        <p:nvSpPr>
          <p:cNvPr id="424" name="Text 422"/>
          <p:cNvSpPr/>
          <p:nvPr/>
        </p:nvSpPr>
        <p:spPr>
          <a:xfrm>
            <a:off x="182880" y="41330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25" name="Text 423"/>
          <p:cNvSpPr/>
          <p:nvPr/>
        </p:nvSpPr>
        <p:spPr>
          <a:xfrm>
            <a:off x="2468880" y="41330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6" name="Text 424"/>
          <p:cNvSpPr/>
          <p:nvPr/>
        </p:nvSpPr>
        <p:spPr>
          <a:xfrm>
            <a:off x="2926080" y="41330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2026.7월까지 제정 (신규지표)</a:t>
            </a:r>
            <a:endParaRPr lang="en-US" sz="1800" dirty="0"/>
          </a:p>
        </p:txBody>
      </p:sp>
      <p:sp>
        <p:nvSpPr>
          <p:cNvPr id="427" name="Text 425"/>
          <p:cNvSpPr/>
          <p:nvPr/>
        </p:nvSpPr>
        <p:spPr>
          <a:xfrm>
            <a:off x="182880" y="416234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 신규 KPI</a:t>
            </a:r>
            <a:endParaRPr lang="en-US" sz="900" dirty="0"/>
          </a:p>
        </p:txBody>
      </p:sp>
      <p:sp>
        <p:nvSpPr>
          <p:cNvPr id="428" name="Shape 426"/>
          <p:cNvSpPr/>
          <p:nvPr/>
        </p:nvSpPr>
        <p:spPr>
          <a:xfrm>
            <a:off x="182880" y="417880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182880" y="417880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182880" y="41788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431" name="Text 429"/>
          <p:cNvSpPr/>
          <p:nvPr/>
        </p:nvSpPr>
        <p:spPr>
          <a:xfrm>
            <a:off x="1828800" y="417880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메트로 네트워크 적용</a:t>
            </a:r>
            <a:endParaRPr lang="en-US" sz="1300" dirty="0"/>
          </a:p>
        </p:txBody>
      </p:sp>
      <p:sp>
        <p:nvSpPr>
          <p:cNvPr id="432" name="Text 430"/>
          <p:cNvSpPr/>
          <p:nvPr/>
        </p:nvSpPr>
        <p:spPr>
          <a:xfrm>
            <a:off x="182880" y="42108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33" name="Text 431"/>
          <p:cNvSpPr/>
          <p:nvPr/>
        </p:nvSpPr>
        <p:spPr>
          <a:xfrm>
            <a:off x="2468880" y="42108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34" name="Text 432"/>
          <p:cNvSpPr/>
          <p:nvPr/>
        </p:nvSpPr>
        <p:spPr>
          <a:xfrm>
            <a:off x="2926080" y="42108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호찌민 핵심 노선 가속</a:t>
            </a:r>
            <a:endParaRPr lang="en-US" sz="1800" dirty="0"/>
          </a:p>
        </p:txBody>
      </p:sp>
      <p:sp>
        <p:nvSpPr>
          <p:cNvPr id="435" name="Text 433"/>
          <p:cNvSpPr/>
          <p:nvPr/>
        </p:nvSpPr>
        <p:spPr>
          <a:xfrm>
            <a:off x="182880" y="424007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 신규 KPI</a:t>
            </a:r>
            <a:endParaRPr lang="en-US" sz="900" dirty="0"/>
          </a:p>
        </p:txBody>
      </p:sp>
      <p:sp>
        <p:nvSpPr>
          <p:cNvPr id="436" name="Shape 434"/>
          <p:cNvSpPr/>
          <p:nvPr/>
        </p:nvSpPr>
        <p:spPr>
          <a:xfrm>
            <a:off x="182880" y="425653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7" name="Shape 435"/>
          <p:cNvSpPr/>
          <p:nvPr/>
        </p:nvSpPr>
        <p:spPr>
          <a:xfrm>
            <a:off x="182880" y="425653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38" name="Text 436"/>
          <p:cNvSpPr/>
          <p:nvPr/>
        </p:nvSpPr>
        <p:spPr>
          <a:xfrm>
            <a:off x="182880" y="42565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439" name="Text 437"/>
          <p:cNvSpPr/>
          <p:nvPr/>
        </p:nvSpPr>
        <p:spPr>
          <a:xfrm>
            <a:off x="1828800" y="425653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폐수처리 기술 국산화</a:t>
            </a:r>
            <a:endParaRPr lang="en-US" sz="1300" dirty="0"/>
          </a:p>
        </p:txBody>
      </p:sp>
      <p:sp>
        <p:nvSpPr>
          <p:cNvPr id="440" name="Text 438"/>
          <p:cNvSpPr/>
          <p:nvPr/>
        </p:nvSpPr>
        <p:spPr>
          <a:xfrm>
            <a:off x="182880" y="42885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41" name="Text 439"/>
          <p:cNvSpPr/>
          <p:nvPr/>
        </p:nvSpPr>
        <p:spPr>
          <a:xfrm>
            <a:off x="2468880" y="42885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42" name="Text 440"/>
          <p:cNvSpPr/>
          <p:nvPr/>
        </p:nvSpPr>
        <p:spPr>
          <a:xfrm>
            <a:off x="2926080" y="42885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800" dirty="0"/>
          </a:p>
        </p:txBody>
      </p:sp>
      <p:sp>
        <p:nvSpPr>
          <p:cNvPr id="443" name="Text 441"/>
          <p:cNvSpPr/>
          <p:nvPr/>
        </p:nvSpPr>
        <p:spPr>
          <a:xfrm>
            <a:off x="182880" y="431779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신규 KPI</a:t>
            </a:r>
            <a:endParaRPr lang="en-US" sz="900" dirty="0"/>
          </a:p>
        </p:txBody>
      </p:sp>
      <p:sp>
        <p:nvSpPr>
          <p:cNvPr id="444" name="Shape 442"/>
          <p:cNvSpPr/>
          <p:nvPr/>
        </p:nvSpPr>
        <p:spPr>
          <a:xfrm>
            <a:off x="182880" y="433425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182880" y="433425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46" name="Text 444"/>
          <p:cNvSpPr/>
          <p:nvPr/>
        </p:nvSpPr>
        <p:spPr>
          <a:xfrm>
            <a:off x="182880" y="43342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447" name="Text 445"/>
          <p:cNvSpPr/>
          <p:nvPr/>
        </p:nvSpPr>
        <p:spPr>
          <a:xfrm>
            <a:off x="1828800" y="433425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배기가스 처리 국산화</a:t>
            </a:r>
            <a:endParaRPr lang="en-US" sz="1300" dirty="0"/>
          </a:p>
        </p:txBody>
      </p:sp>
      <p:sp>
        <p:nvSpPr>
          <p:cNvPr id="448" name="Text 446"/>
          <p:cNvSpPr/>
          <p:nvPr/>
        </p:nvSpPr>
        <p:spPr>
          <a:xfrm>
            <a:off x="182880" y="43662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49" name="Text 447"/>
          <p:cNvSpPr/>
          <p:nvPr/>
        </p:nvSpPr>
        <p:spPr>
          <a:xfrm>
            <a:off x="2468880" y="43662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0" name="Text 448"/>
          <p:cNvSpPr/>
          <p:nvPr/>
        </p:nvSpPr>
        <p:spPr>
          <a:xfrm>
            <a:off x="2926080" y="43662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800" dirty="0"/>
          </a:p>
        </p:txBody>
      </p:sp>
      <p:sp>
        <p:nvSpPr>
          <p:cNvPr id="451" name="Text 449"/>
          <p:cNvSpPr/>
          <p:nvPr/>
        </p:nvSpPr>
        <p:spPr>
          <a:xfrm>
            <a:off x="182880" y="439552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신규 KPI</a:t>
            </a:r>
            <a:endParaRPr lang="en-US" sz="900" dirty="0"/>
          </a:p>
        </p:txBody>
      </p:sp>
      <p:sp>
        <p:nvSpPr>
          <p:cNvPr id="452" name="Shape 450"/>
          <p:cNvSpPr/>
          <p:nvPr/>
        </p:nvSpPr>
        <p:spPr>
          <a:xfrm>
            <a:off x="182880" y="441198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182880" y="441198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182880" y="44119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455" name="Text 453"/>
          <p:cNvSpPr/>
          <p:nvPr/>
        </p:nvSpPr>
        <p:spPr>
          <a:xfrm>
            <a:off x="1828800" y="441198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고형폐기물 처리 국산화</a:t>
            </a:r>
            <a:endParaRPr lang="en-US" sz="1300" dirty="0"/>
          </a:p>
        </p:txBody>
      </p:sp>
      <p:sp>
        <p:nvSpPr>
          <p:cNvPr id="456" name="Text 454"/>
          <p:cNvSpPr/>
          <p:nvPr/>
        </p:nvSpPr>
        <p:spPr>
          <a:xfrm>
            <a:off x="182880" y="44439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57" name="Text 455"/>
          <p:cNvSpPr/>
          <p:nvPr/>
        </p:nvSpPr>
        <p:spPr>
          <a:xfrm>
            <a:off x="2468880" y="44439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8" name="Text 456"/>
          <p:cNvSpPr/>
          <p:nvPr/>
        </p:nvSpPr>
        <p:spPr>
          <a:xfrm>
            <a:off x="2926080" y="44439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800" dirty="0"/>
          </a:p>
        </p:txBody>
      </p:sp>
      <p:sp>
        <p:nvSpPr>
          <p:cNvPr id="459" name="Text 457"/>
          <p:cNvSpPr/>
          <p:nvPr/>
        </p:nvSpPr>
        <p:spPr>
          <a:xfrm>
            <a:off x="182880" y="447324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신규 KPI</a:t>
            </a:r>
            <a:endParaRPr lang="en-US" sz="900" dirty="0"/>
          </a:p>
        </p:txBody>
      </p:sp>
      <p:sp>
        <p:nvSpPr>
          <p:cNvPr id="460" name="Shape 458"/>
          <p:cNvSpPr/>
          <p:nvPr/>
        </p:nvSpPr>
        <p:spPr>
          <a:xfrm>
            <a:off x="182880" y="448970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182880" y="448970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62" name="Text 460"/>
          <p:cNvSpPr/>
          <p:nvPr/>
        </p:nvSpPr>
        <p:spPr>
          <a:xfrm>
            <a:off x="182880" y="44897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463" name="Text 461"/>
          <p:cNvSpPr/>
          <p:nvPr/>
        </p:nvSpPr>
        <p:spPr>
          <a:xfrm>
            <a:off x="1828800" y="448970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환경 모니터링 장비 국산화</a:t>
            </a:r>
            <a:endParaRPr lang="en-US" sz="1300" dirty="0"/>
          </a:p>
        </p:txBody>
      </p:sp>
      <p:sp>
        <p:nvSpPr>
          <p:cNvPr id="464" name="Text 462"/>
          <p:cNvSpPr/>
          <p:nvPr/>
        </p:nvSpPr>
        <p:spPr>
          <a:xfrm>
            <a:off x="182880" y="45217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65" name="Text 463"/>
          <p:cNvSpPr/>
          <p:nvPr/>
        </p:nvSpPr>
        <p:spPr>
          <a:xfrm>
            <a:off x="2468880" y="45217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66" name="Text 464"/>
          <p:cNvSpPr/>
          <p:nvPr/>
        </p:nvSpPr>
        <p:spPr>
          <a:xfrm>
            <a:off x="2926080" y="45217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(2030)</a:t>
            </a:r>
            <a:endParaRPr lang="en-US" sz="1800" dirty="0"/>
          </a:p>
        </p:txBody>
      </p:sp>
      <p:sp>
        <p:nvSpPr>
          <p:cNvPr id="467" name="Text 465"/>
          <p:cNvSpPr/>
          <p:nvPr/>
        </p:nvSpPr>
        <p:spPr>
          <a:xfrm>
            <a:off x="182880" y="455096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신규 KPI</a:t>
            </a:r>
            <a:endParaRPr lang="en-US" sz="900" dirty="0"/>
          </a:p>
        </p:txBody>
      </p:sp>
      <p:sp>
        <p:nvSpPr>
          <p:cNvPr id="468" name="Shape 466"/>
          <p:cNvSpPr/>
          <p:nvPr/>
        </p:nvSpPr>
        <p:spPr>
          <a:xfrm>
            <a:off x="182880" y="456742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182880" y="456742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0" name="Text 468"/>
          <p:cNvSpPr/>
          <p:nvPr/>
        </p:nvSpPr>
        <p:spPr>
          <a:xfrm>
            <a:off x="182880" y="45674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471" name="Text 469"/>
          <p:cNvSpPr/>
          <p:nvPr/>
        </p:nvSpPr>
        <p:spPr>
          <a:xfrm>
            <a:off x="1828800" y="456742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재활용 산업단지 파일럿</a:t>
            </a:r>
            <a:endParaRPr lang="en-US" sz="1300" dirty="0"/>
          </a:p>
        </p:txBody>
      </p:sp>
      <p:sp>
        <p:nvSpPr>
          <p:cNvPr id="472" name="Text 470"/>
          <p:cNvSpPr/>
          <p:nvPr/>
        </p:nvSpPr>
        <p:spPr>
          <a:xfrm>
            <a:off x="182880" y="4599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73" name="Text 471"/>
          <p:cNvSpPr/>
          <p:nvPr/>
        </p:nvSpPr>
        <p:spPr>
          <a:xfrm>
            <a:off x="2468880" y="45994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74" name="Text 472"/>
          <p:cNvSpPr/>
          <p:nvPr/>
        </p:nvSpPr>
        <p:spPr>
          <a:xfrm>
            <a:off x="2926080" y="4599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(2027)</a:t>
            </a:r>
            <a:endParaRPr lang="en-US" sz="1800" dirty="0"/>
          </a:p>
        </p:txBody>
      </p:sp>
      <p:sp>
        <p:nvSpPr>
          <p:cNvPr id="475" name="Text 473"/>
          <p:cNvSpPr/>
          <p:nvPr/>
        </p:nvSpPr>
        <p:spPr>
          <a:xfrm>
            <a:off x="182880" y="462869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신규 KPI</a:t>
            </a:r>
            <a:endParaRPr lang="en-US" sz="900" dirty="0"/>
          </a:p>
        </p:txBody>
      </p:sp>
      <p:sp>
        <p:nvSpPr>
          <p:cNvPr id="476" name="Shape 474"/>
          <p:cNvSpPr/>
          <p:nvPr/>
        </p:nvSpPr>
        <p:spPr>
          <a:xfrm>
            <a:off x="182880" y="464515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182880" y="464515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78" name="Text 476"/>
          <p:cNvSpPr/>
          <p:nvPr/>
        </p:nvSpPr>
        <p:spPr>
          <a:xfrm>
            <a:off x="182880" y="46451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479" name="Text 477"/>
          <p:cNvSpPr/>
          <p:nvPr/>
        </p:nvSpPr>
        <p:spPr>
          <a:xfrm>
            <a:off x="1828800" y="464515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WtE(폐기물 에너지화)</a:t>
            </a:r>
            <a:endParaRPr lang="en-US" sz="1300" dirty="0"/>
          </a:p>
        </p:txBody>
      </p:sp>
      <p:sp>
        <p:nvSpPr>
          <p:cNvPr id="480" name="Text 478"/>
          <p:cNvSpPr/>
          <p:nvPr/>
        </p:nvSpPr>
        <p:spPr>
          <a:xfrm>
            <a:off x="182880" y="4677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81" name="Text 479"/>
          <p:cNvSpPr/>
          <p:nvPr/>
        </p:nvSpPr>
        <p:spPr>
          <a:xfrm>
            <a:off x="2468880" y="46771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82" name="Text 480"/>
          <p:cNvSpPr/>
          <p:nvPr/>
        </p:nvSpPr>
        <p:spPr>
          <a:xfrm>
            <a:off x="2926080" y="4677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2,270MW 확대</a:t>
            </a:r>
            <a:endParaRPr lang="en-US" sz="1800" dirty="0"/>
          </a:p>
        </p:txBody>
      </p:sp>
      <p:sp>
        <p:nvSpPr>
          <p:cNvPr id="483" name="Text 481"/>
          <p:cNvSpPr/>
          <p:nvPr/>
        </p:nvSpPr>
        <p:spPr>
          <a:xfrm>
            <a:off x="182880" y="470641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신규 KPI</a:t>
            </a:r>
            <a:endParaRPr lang="en-US" sz="900" dirty="0"/>
          </a:p>
        </p:txBody>
      </p:sp>
      <p:sp>
        <p:nvSpPr>
          <p:cNvPr id="484" name="Shape 482"/>
          <p:cNvSpPr/>
          <p:nvPr/>
        </p:nvSpPr>
        <p:spPr>
          <a:xfrm>
            <a:off x="182880" y="472287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182880" y="472287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86" name="Text 484"/>
          <p:cNvSpPr/>
          <p:nvPr/>
        </p:nvSpPr>
        <p:spPr>
          <a:xfrm>
            <a:off x="182880" y="47228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487" name="Text 485"/>
          <p:cNvSpPr/>
          <p:nvPr/>
        </p:nvSpPr>
        <p:spPr>
          <a:xfrm>
            <a:off x="1828800" y="472287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육상 보호구역 비율</a:t>
            </a:r>
            <a:endParaRPr lang="en-US" sz="1300" dirty="0"/>
          </a:p>
        </p:txBody>
      </p:sp>
      <p:sp>
        <p:nvSpPr>
          <p:cNvPr id="488" name="Text 486"/>
          <p:cNvSpPr/>
          <p:nvPr/>
        </p:nvSpPr>
        <p:spPr>
          <a:xfrm>
            <a:off x="182880" y="4754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89" name="Text 487"/>
          <p:cNvSpPr/>
          <p:nvPr/>
        </p:nvSpPr>
        <p:spPr>
          <a:xfrm>
            <a:off x="2468880" y="47548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90" name="Text 488"/>
          <p:cNvSpPr/>
          <p:nvPr/>
        </p:nvSpPr>
        <p:spPr>
          <a:xfrm>
            <a:off x="2926080" y="4754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800" dirty="0"/>
          </a:p>
        </p:txBody>
      </p:sp>
      <p:sp>
        <p:nvSpPr>
          <p:cNvPr id="491" name="Text 489"/>
          <p:cNvSpPr/>
          <p:nvPr/>
        </p:nvSpPr>
        <p:spPr>
          <a:xfrm>
            <a:off x="182880" y="478414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 신규 KPI</a:t>
            </a:r>
            <a:endParaRPr lang="en-US" sz="900" dirty="0"/>
          </a:p>
        </p:txBody>
      </p:sp>
      <p:sp>
        <p:nvSpPr>
          <p:cNvPr id="492" name="Shape 490"/>
          <p:cNvSpPr/>
          <p:nvPr/>
        </p:nvSpPr>
        <p:spPr>
          <a:xfrm>
            <a:off x="182880" y="480060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82880" y="480060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94" name="Text 492"/>
          <p:cNvSpPr/>
          <p:nvPr/>
        </p:nvSpPr>
        <p:spPr>
          <a:xfrm>
            <a:off x="182880" y="48006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495" name="Text 493"/>
          <p:cNvSpPr/>
          <p:nvPr/>
        </p:nvSpPr>
        <p:spPr>
          <a:xfrm>
            <a:off x="1828800" y="480060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해양 보호구역 비율</a:t>
            </a:r>
            <a:endParaRPr lang="en-US" sz="1300" dirty="0"/>
          </a:p>
        </p:txBody>
      </p:sp>
      <p:sp>
        <p:nvSpPr>
          <p:cNvPr id="496" name="Text 494"/>
          <p:cNvSpPr/>
          <p:nvPr/>
        </p:nvSpPr>
        <p:spPr>
          <a:xfrm>
            <a:off x="182880" y="4832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497" name="Text 495"/>
          <p:cNvSpPr/>
          <p:nvPr/>
        </p:nvSpPr>
        <p:spPr>
          <a:xfrm>
            <a:off x="2468880" y="4832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98" name="Text 496"/>
          <p:cNvSpPr/>
          <p:nvPr/>
        </p:nvSpPr>
        <p:spPr>
          <a:xfrm>
            <a:off x="2926080" y="4832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800" dirty="0"/>
          </a:p>
        </p:txBody>
      </p:sp>
      <p:sp>
        <p:nvSpPr>
          <p:cNvPr id="499" name="Text 497"/>
          <p:cNvSpPr/>
          <p:nvPr/>
        </p:nvSpPr>
        <p:spPr>
          <a:xfrm>
            <a:off x="182880" y="486186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 신규 KPI</a:t>
            </a:r>
            <a:endParaRPr lang="en-US" sz="900" dirty="0"/>
          </a:p>
        </p:txBody>
      </p:sp>
      <p:sp>
        <p:nvSpPr>
          <p:cNvPr id="500" name="Shape 498"/>
          <p:cNvSpPr/>
          <p:nvPr/>
        </p:nvSpPr>
        <p:spPr>
          <a:xfrm>
            <a:off x="182880" y="487832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182880" y="487832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02" name="Text 500"/>
          <p:cNvSpPr/>
          <p:nvPr/>
        </p:nvSpPr>
        <p:spPr>
          <a:xfrm>
            <a:off x="182880" y="487832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503" name="Text 501"/>
          <p:cNvSpPr/>
          <p:nvPr/>
        </p:nvSpPr>
        <p:spPr>
          <a:xfrm>
            <a:off x="1828800" y="487832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적색목록종 복원</a:t>
            </a:r>
            <a:endParaRPr lang="en-US" sz="1300" dirty="0"/>
          </a:p>
        </p:txBody>
      </p:sp>
      <p:sp>
        <p:nvSpPr>
          <p:cNvPr id="504" name="Text 502"/>
          <p:cNvSpPr/>
          <p:nvPr/>
        </p:nvSpPr>
        <p:spPr>
          <a:xfrm>
            <a:off x="182880" y="4910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05" name="Text 503"/>
          <p:cNvSpPr/>
          <p:nvPr/>
        </p:nvSpPr>
        <p:spPr>
          <a:xfrm>
            <a:off x="2468880" y="4910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06" name="Text 504"/>
          <p:cNvSpPr/>
          <p:nvPr/>
        </p:nvSpPr>
        <p:spPr>
          <a:xfrm>
            <a:off x="2926080" y="4910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800" dirty="0"/>
          </a:p>
        </p:txBody>
      </p:sp>
      <p:sp>
        <p:nvSpPr>
          <p:cNvPr id="507" name="Text 505"/>
          <p:cNvSpPr/>
          <p:nvPr/>
        </p:nvSpPr>
        <p:spPr>
          <a:xfrm>
            <a:off x="182880" y="493958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 신규 KPI</a:t>
            </a:r>
            <a:endParaRPr lang="en-US" sz="900" dirty="0"/>
          </a:p>
        </p:txBody>
      </p:sp>
      <p:sp>
        <p:nvSpPr>
          <p:cNvPr id="508" name="Shape 506"/>
          <p:cNvSpPr/>
          <p:nvPr/>
        </p:nvSpPr>
        <p:spPr>
          <a:xfrm>
            <a:off x="182880" y="495604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9" name="Shape 507"/>
          <p:cNvSpPr/>
          <p:nvPr/>
        </p:nvSpPr>
        <p:spPr>
          <a:xfrm>
            <a:off x="182880" y="495604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0" name="Text 508"/>
          <p:cNvSpPr/>
          <p:nvPr/>
        </p:nvSpPr>
        <p:spPr>
          <a:xfrm>
            <a:off x="182880" y="495604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511" name="Text 509"/>
          <p:cNvSpPr/>
          <p:nvPr/>
        </p:nvSpPr>
        <p:spPr>
          <a:xfrm>
            <a:off x="1828800" y="495604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REDD+ 산림 탄소축적</a:t>
            </a:r>
            <a:endParaRPr lang="en-US" sz="1300" dirty="0"/>
          </a:p>
        </p:txBody>
      </p:sp>
      <p:sp>
        <p:nvSpPr>
          <p:cNvPr id="512" name="Text 510"/>
          <p:cNvSpPr/>
          <p:nvPr/>
        </p:nvSpPr>
        <p:spPr>
          <a:xfrm>
            <a:off x="182880" y="4988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13" name="Text 511"/>
          <p:cNvSpPr/>
          <p:nvPr/>
        </p:nvSpPr>
        <p:spPr>
          <a:xfrm>
            <a:off x="2468880" y="49880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14" name="Text 512"/>
          <p:cNvSpPr/>
          <p:nvPr/>
        </p:nvSpPr>
        <p:spPr>
          <a:xfrm>
            <a:off x="2926080" y="4988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증가</a:t>
            </a:r>
            <a:endParaRPr lang="en-US" sz="1800" dirty="0"/>
          </a:p>
        </p:txBody>
      </p:sp>
      <p:sp>
        <p:nvSpPr>
          <p:cNvPr id="515" name="Text 513"/>
          <p:cNvSpPr/>
          <p:nvPr/>
        </p:nvSpPr>
        <p:spPr>
          <a:xfrm>
            <a:off x="182880" y="501731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 신규 KPI</a:t>
            </a:r>
            <a:endParaRPr lang="en-US" sz="900" dirty="0"/>
          </a:p>
        </p:txBody>
      </p:sp>
      <p:sp>
        <p:nvSpPr>
          <p:cNvPr id="516" name="Shape 514"/>
          <p:cNvSpPr/>
          <p:nvPr/>
        </p:nvSpPr>
        <p:spPr>
          <a:xfrm>
            <a:off x="182880" y="503377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182880" y="503377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18" name="Text 516"/>
          <p:cNvSpPr/>
          <p:nvPr/>
        </p:nvSpPr>
        <p:spPr>
          <a:xfrm>
            <a:off x="182880" y="503377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519" name="Text 517"/>
          <p:cNvSpPr/>
          <p:nvPr/>
        </p:nvSpPr>
        <p:spPr>
          <a:xfrm>
            <a:off x="1828800" y="503377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총 발전설비 (2030)</a:t>
            </a:r>
            <a:endParaRPr lang="en-US" sz="1300" dirty="0"/>
          </a:p>
        </p:txBody>
      </p:sp>
      <p:sp>
        <p:nvSpPr>
          <p:cNvPr id="520" name="Text 518"/>
          <p:cNvSpPr/>
          <p:nvPr/>
        </p:nvSpPr>
        <p:spPr>
          <a:xfrm>
            <a:off x="182880" y="5065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21" name="Text 519"/>
          <p:cNvSpPr/>
          <p:nvPr/>
        </p:nvSpPr>
        <p:spPr>
          <a:xfrm>
            <a:off x="2468880" y="50657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22" name="Text 520"/>
          <p:cNvSpPr/>
          <p:nvPr/>
        </p:nvSpPr>
        <p:spPr>
          <a:xfrm>
            <a:off x="2926080" y="50657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800" dirty="0"/>
          </a:p>
        </p:txBody>
      </p:sp>
      <p:sp>
        <p:nvSpPr>
          <p:cNvPr id="523" name="Text 521"/>
          <p:cNvSpPr/>
          <p:nvPr/>
        </p:nvSpPr>
        <p:spPr>
          <a:xfrm>
            <a:off x="182880" y="509503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 신규 KPI</a:t>
            </a:r>
            <a:endParaRPr lang="en-US" sz="900" dirty="0"/>
          </a:p>
        </p:txBody>
      </p:sp>
      <p:sp>
        <p:nvSpPr>
          <p:cNvPr id="524" name="Shape 522"/>
          <p:cNvSpPr/>
          <p:nvPr/>
        </p:nvSpPr>
        <p:spPr>
          <a:xfrm>
            <a:off x="182880" y="511149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182880" y="511149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26" name="Text 524"/>
          <p:cNvSpPr/>
          <p:nvPr/>
        </p:nvSpPr>
        <p:spPr>
          <a:xfrm>
            <a:off x="182880" y="511149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527" name="Text 525"/>
          <p:cNvSpPr/>
          <p:nvPr/>
        </p:nvSpPr>
        <p:spPr>
          <a:xfrm>
            <a:off x="1828800" y="511149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재생에너지 비중 (2030)</a:t>
            </a:r>
            <a:endParaRPr lang="en-US" sz="1300" dirty="0"/>
          </a:p>
        </p:txBody>
      </p:sp>
      <p:sp>
        <p:nvSpPr>
          <p:cNvPr id="528" name="Text 526"/>
          <p:cNvSpPr/>
          <p:nvPr/>
        </p:nvSpPr>
        <p:spPr>
          <a:xfrm>
            <a:off x="182880" y="51435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29" name="Text 527"/>
          <p:cNvSpPr/>
          <p:nvPr/>
        </p:nvSpPr>
        <p:spPr>
          <a:xfrm>
            <a:off x="2468880" y="514350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30" name="Text 528"/>
          <p:cNvSpPr/>
          <p:nvPr/>
        </p:nvSpPr>
        <p:spPr>
          <a:xfrm>
            <a:off x="2926080" y="51435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800" dirty="0"/>
          </a:p>
        </p:txBody>
      </p:sp>
      <p:sp>
        <p:nvSpPr>
          <p:cNvPr id="531" name="Text 529"/>
          <p:cNvSpPr/>
          <p:nvPr/>
        </p:nvSpPr>
        <p:spPr>
          <a:xfrm>
            <a:off x="182880" y="517276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 신규 KPI</a:t>
            </a:r>
            <a:endParaRPr lang="en-US" sz="900" dirty="0"/>
          </a:p>
        </p:txBody>
      </p:sp>
      <p:sp>
        <p:nvSpPr>
          <p:cNvPr id="532" name="Shape 530"/>
          <p:cNvSpPr/>
          <p:nvPr/>
        </p:nvSpPr>
        <p:spPr>
          <a:xfrm>
            <a:off x="182880" y="518922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182880" y="518922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34" name="Text 532"/>
          <p:cNvSpPr/>
          <p:nvPr/>
        </p:nvSpPr>
        <p:spPr>
          <a:xfrm>
            <a:off x="182880" y="51892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535" name="Text 533"/>
          <p:cNvSpPr/>
          <p:nvPr/>
        </p:nvSpPr>
        <p:spPr>
          <a:xfrm>
            <a:off x="1828800" y="518922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해상풍력 (2030)</a:t>
            </a:r>
            <a:endParaRPr lang="en-US" sz="1300" dirty="0"/>
          </a:p>
        </p:txBody>
      </p:sp>
      <p:sp>
        <p:nvSpPr>
          <p:cNvPr id="536" name="Text 534"/>
          <p:cNvSpPr/>
          <p:nvPr/>
        </p:nvSpPr>
        <p:spPr>
          <a:xfrm>
            <a:off x="182880" y="52212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37" name="Text 535"/>
          <p:cNvSpPr/>
          <p:nvPr/>
        </p:nvSpPr>
        <p:spPr>
          <a:xfrm>
            <a:off x="2468880" y="5221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38" name="Text 536"/>
          <p:cNvSpPr/>
          <p:nvPr/>
        </p:nvSpPr>
        <p:spPr>
          <a:xfrm>
            <a:off x="2926080" y="52212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800" dirty="0"/>
          </a:p>
        </p:txBody>
      </p:sp>
      <p:sp>
        <p:nvSpPr>
          <p:cNvPr id="539" name="Text 537"/>
          <p:cNvSpPr/>
          <p:nvPr/>
        </p:nvSpPr>
        <p:spPr>
          <a:xfrm>
            <a:off x="182880" y="525048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 신규 KPI</a:t>
            </a:r>
            <a:endParaRPr lang="en-US" sz="900" dirty="0"/>
          </a:p>
        </p:txBody>
      </p:sp>
      <p:sp>
        <p:nvSpPr>
          <p:cNvPr id="540" name="Shape 538"/>
          <p:cNvSpPr/>
          <p:nvPr/>
        </p:nvSpPr>
        <p:spPr>
          <a:xfrm>
            <a:off x="182880" y="526694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82880" y="526694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42" name="Text 540"/>
          <p:cNvSpPr/>
          <p:nvPr/>
        </p:nvSpPr>
        <p:spPr>
          <a:xfrm>
            <a:off x="182880" y="526694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543" name="Text 541"/>
          <p:cNvSpPr/>
          <p:nvPr/>
        </p:nvSpPr>
        <p:spPr>
          <a:xfrm>
            <a:off x="1828800" y="526694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석탄발전 단계적 폐지</a:t>
            </a:r>
            <a:endParaRPr lang="en-US" sz="1300" dirty="0"/>
          </a:p>
        </p:txBody>
      </p:sp>
      <p:sp>
        <p:nvSpPr>
          <p:cNvPr id="544" name="Text 542"/>
          <p:cNvSpPr/>
          <p:nvPr/>
        </p:nvSpPr>
        <p:spPr>
          <a:xfrm>
            <a:off x="182880" y="52989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45" name="Text 543"/>
          <p:cNvSpPr/>
          <p:nvPr/>
        </p:nvSpPr>
        <p:spPr>
          <a:xfrm>
            <a:off x="2468880" y="52989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46" name="Text 544"/>
          <p:cNvSpPr/>
          <p:nvPr/>
        </p:nvSpPr>
        <p:spPr>
          <a:xfrm>
            <a:off x="2926080" y="52989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2050년 0%</a:t>
            </a:r>
            <a:endParaRPr lang="en-US" sz="1800" dirty="0"/>
          </a:p>
        </p:txBody>
      </p:sp>
      <p:sp>
        <p:nvSpPr>
          <p:cNvPr id="547" name="Text 545"/>
          <p:cNvSpPr/>
          <p:nvPr/>
        </p:nvSpPr>
        <p:spPr>
          <a:xfrm>
            <a:off x="182880" y="532820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 신규 KPI</a:t>
            </a:r>
            <a:endParaRPr lang="en-US" sz="900" dirty="0"/>
          </a:p>
        </p:txBody>
      </p:sp>
      <p:sp>
        <p:nvSpPr>
          <p:cNvPr id="548" name="Shape 546"/>
          <p:cNvSpPr/>
          <p:nvPr/>
        </p:nvSpPr>
        <p:spPr>
          <a:xfrm>
            <a:off x="182880" y="534466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82880" y="534466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0" name="Text 548"/>
          <p:cNvSpPr/>
          <p:nvPr/>
        </p:nvSpPr>
        <p:spPr>
          <a:xfrm>
            <a:off x="182880" y="53446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551" name="Text 549"/>
          <p:cNvSpPr/>
          <p:nvPr/>
        </p:nvSpPr>
        <p:spPr>
          <a:xfrm>
            <a:off x="1828800" y="534466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2021~2030 전원+송전망 총투자</a:t>
            </a:r>
            <a:endParaRPr lang="en-US" sz="1300" dirty="0"/>
          </a:p>
        </p:txBody>
      </p:sp>
      <p:sp>
        <p:nvSpPr>
          <p:cNvPr id="552" name="Text 550"/>
          <p:cNvSpPr/>
          <p:nvPr/>
        </p:nvSpPr>
        <p:spPr>
          <a:xfrm>
            <a:off x="182880" y="53766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53" name="Text 551"/>
          <p:cNvSpPr/>
          <p:nvPr/>
        </p:nvSpPr>
        <p:spPr>
          <a:xfrm>
            <a:off x="2468880" y="53766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54" name="Text 552"/>
          <p:cNvSpPr/>
          <p:nvPr/>
        </p:nvSpPr>
        <p:spPr>
          <a:xfrm>
            <a:off x="2926080" y="53766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USD 134.7십억 (전원 119.8B + 송전망 15.0B)</a:t>
            </a:r>
            <a:endParaRPr lang="en-US" sz="1800" dirty="0"/>
          </a:p>
        </p:txBody>
      </p:sp>
      <p:sp>
        <p:nvSpPr>
          <p:cNvPr id="555" name="Text 553"/>
          <p:cNvSpPr/>
          <p:nvPr/>
        </p:nvSpPr>
        <p:spPr>
          <a:xfrm>
            <a:off x="182880" y="540593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 신규 KPI</a:t>
            </a:r>
            <a:endParaRPr lang="en-US" sz="900" dirty="0"/>
          </a:p>
        </p:txBody>
      </p:sp>
      <p:sp>
        <p:nvSpPr>
          <p:cNvPr id="556" name="Shape 554"/>
          <p:cNvSpPr/>
          <p:nvPr/>
        </p:nvSpPr>
        <p:spPr>
          <a:xfrm>
            <a:off x="182880" y="542239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82880" y="542239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58" name="Text 556"/>
          <p:cNvSpPr/>
          <p:nvPr/>
        </p:nvSpPr>
        <p:spPr>
          <a:xfrm>
            <a:off x="182880" y="542239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559" name="Text 557"/>
          <p:cNvSpPr/>
          <p:nvPr/>
        </p:nvSpPr>
        <p:spPr>
          <a:xfrm>
            <a:off x="1828800" y="542239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신도시 부지</a:t>
            </a:r>
            <a:endParaRPr lang="en-US" sz="1300" dirty="0"/>
          </a:p>
        </p:txBody>
      </p:sp>
      <p:sp>
        <p:nvSpPr>
          <p:cNvPr id="560" name="Text 558"/>
          <p:cNvSpPr/>
          <p:nvPr/>
        </p:nvSpPr>
        <p:spPr>
          <a:xfrm>
            <a:off x="182880" y="54543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61" name="Text 559"/>
          <p:cNvSpPr/>
          <p:nvPr/>
        </p:nvSpPr>
        <p:spPr>
          <a:xfrm>
            <a:off x="2468880" y="54543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62" name="Text 560"/>
          <p:cNvSpPr/>
          <p:nvPr/>
        </p:nvSpPr>
        <p:spPr>
          <a:xfrm>
            <a:off x="2926080" y="54543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800" dirty="0"/>
          </a:p>
        </p:txBody>
      </p:sp>
      <p:sp>
        <p:nvSpPr>
          <p:cNvPr id="563" name="Text 561"/>
          <p:cNvSpPr/>
          <p:nvPr/>
        </p:nvSpPr>
        <p:spPr>
          <a:xfrm>
            <a:off x="182880" y="548365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 신규 KPI</a:t>
            </a:r>
            <a:endParaRPr lang="en-US" sz="900" dirty="0"/>
          </a:p>
        </p:txBody>
      </p:sp>
      <p:sp>
        <p:nvSpPr>
          <p:cNvPr id="564" name="Shape 562"/>
          <p:cNvSpPr/>
          <p:nvPr/>
        </p:nvSpPr>
        <p:spPr>
          <a:xfrm>
            <a:off x="182880" y="550011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82880" y="550011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66" name="Text 564"/>
          <p:cNvSpPr/>
          <p:nvPr/>
        </p:nvSpPr>
        <p:spPr>
          <a:xfrm>
            <a:off x="182880" y="55001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567" name="Text 565"/>
          <p:cNvSpPr/>
          <p:nvPr/>
        </p:nvSpPr>
        <p:spPr>
          <a:xfrm>
            <a:off x="1828800" y="550011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인구 수용</a:t>
            </a:r>
            <a:endParaRPr lang="en-US" sz="1300" dirty="0"/>
          </a:p>
        </p:txBody>
      </p:sp>
      <p:sp>
        <p:nvSpPr>
          <p:cNvPr id="568" name="Text 566"/>
          <p:cNvSpPr/>
          <p:nvPr/>
        </p:nvSpPr>
        <p:spPr>
          <a:xfrm>
            <a:off x="182880" y="55321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69" name="Text 567"/>
          <p:cNvSpPr/>
          <p:nvPr/>
        </p:nvSpPr>
        <p:spPr>
          <a:xfrm>
            <a:off x="2468880" y="55321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70" name="Text 568"/>
          <p:cNvSpPr/>
          <p:nvPr/>
        </p:nvSpPr>
        <p:spPr>
          <a:xfrm>
            <a:off x="2926080" y="55321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800" dirty="0"/>
          </a:p>
        </p:txBody>
      </p:sp>
      <p:sp>
        <p:nvSpPr>
          <p:cNvPr id="571" name="Text 569"/>
          <p:cNvSpPr/>
          <p:nvPr/>
        </p:nvSpPr>
        <p:spPr>
          <a:xfrm>
            <a:off x="182880" y="556138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 신규 KPI</a:t>
            </a:r>
            <a:endParaRPr lang="en-US" sz="900" dirty="0"/>
          </a:p>
        </p:txBody>
      </p:sp>
      <p:sp>
        <p:nvSpPr>
          <p:cNvPr id="572" name="Shape 570"/>
          <p:cNvSpPr/>
          <p:nvPr/>
        </p:nvSpPr>
        <p:spPr>
          <a:xfrm>
            <a:off x="182880" y="557784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82880" y="557784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74" name="Text 572"/>
          <p:cNvSpPr/>
          <p:nvPr/>
        </p:nvSpPr>
        <p:spPr>
          <a:xfrm>
            <a:off x="182880" y="557784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575" name="Text 573"/>
          <p:cNvSpPr/>
          <p:nvPr/>
        </p:nvSpPr>
        <p:spPr>
          <a:xfrm>
            <a:off x="1828800" y="557784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투자 규모 (North Hanoi Smart City)</a:t>
            </a:r>
            <a:endParaRPr lang="en-US" sz="1300" dirty="0"/>
          </a:p>
        </p:txBody>
      </p:sp>
      <p:sp>
        <p:nvSpPr>
          <p:cNvPr id="576" name="Text 574"/>
          <p:cNvSpPr/>
          <p:nvPr/>
        </p:nvSpPr>
        <p:spPr>
          <a:xfrm>
            <a:off x="182880" y="56098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77" name="Text 575"/>
          <p:cNvSpPr/>
          <p:nvPr/>
        </p:nvSpPr>
        <p:spPr>
          <a:xfrm>
            <a:off x="2468880" y="56098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78" name="Text 576"/>
          <p:cNvSpPr/>
          <p:nvPr/>
        </p:nvSpPr>
        <p:spPr>
          <a:xfrm>
            <a:off x="2926080" y="56098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800" dirty="0"/>
          </a:p>
        </p:txBody>
      </p:sp>
      <p:sp>
        <p:nvSpPr>
          <p:cNvPr id="579" name="Text 577"/>
          <p:cNvSpPr/>
          <p:nvPr/>
        </p:nvSpPr>
        <p:spPr>
          <a:xfrm>
            <a:off x="182880" y="56391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 신규 KPI</a:t>
            </a:r>
            <a:endParaRPr lang="en-US" sz="900" dirty="0"/>
          </a:p>
        </p:txBody>
      </p:sp>
      <p:sp>
        <p:nvSpPr>
          <p:cNvPr id="580" name="Shape 578"/>
          <p:cNvSpPr/>
          <p:nvPr/>
        </p:nvSpPr>
        <p:spPr>
          <a:xfrm>
            <a:off x="182880" y="565556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82880" y="565556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82" name="Text 580"/>
          <p:cNvSpPr/>
          <p:nvPr/>
        </p:nvSpPr>
        <p:spPr>
          <a:xfrm>
            <a:off x="182880" y="565556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583" name="Text 581"/>
          <p:cNvSpPr/>
          <p:nvPr/>
        </p:nvSpPr>
        <p:spPr>
          <a:xfrm>
            <a:off x="1828800" y="565556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입주 프로젝트 수</a:t>
            </a:r>
            <a:endParaRPr lang="en-US" sz="1300" dirty="0"/>
          </a:p>
        </p:txBody>
      </p:sp>
      <p:sp>
        <p:nvSpPr>
          <p:cNvPr id="584" name="Text 582"/>
          <p:cNvSpPr/>
          <p:nvPr/>
        </p:nvSpPr>
        <p:spPr>
          <a:xfrm>
            <a:off x="182880" y="56875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85" name="Text 583"/>
          <p:cNvSpPr/>
          <p:nvPr/>
        </p:nvSpPr>
        <p:spPr>
          <a:xfrm>
            <a:off x="2468880" y="56875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86" name="Text 584"/>
          <p:cNvSpPr/>
          <p:nvPr/>
        </p:nvSpPr>
        <p:spPr>
          <a:xfrm>
            <a:off x="2926080" y="56875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800" dirty="0"/>
          </a:p>
        </p:txBody>
      </p:sp>
      <p:sp>
        <p:nvSpPr>
          <p:cNvPr id="587" name="Text 585"/>
          <p:cNvSpPr/>
          <p:nvPr/>
        </p:nvSpPr>
        <p:spPr>
          <a:xfrm>
            <a:off x="182880" y="571682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 신규 KPI</a:t>
            </a:r>
            <a:endParaRPr lang="en-US" sz="900" dirty="0"/>
          </a:p>
        </p:txBody>
      </p:sp>
      <p:sp>
        <p:nvSpPr>
          <p:cNvPr id="588" name="Shape 586"/>
          <p:cNvSpPr/>
          <p:nvPr/>
        </p:nvSpPr>
        <p:spPr>
          <a:xfrm>
            <a:off x="182880" y="573328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89" name="Shape 587"/>
          <p:cNvSpPr/>
          <p:nvPr/>
        </p:nvSpPr>
        <p:spPr>
          <a:xfrm>
            <a:off x="182880" y="573328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90" name="Text 588"/>
          <p:cNvSpPr/>
          <p:nvPr/>
        </p:nvSpPr>
        <p:spPr>
          <a:xfrm>
            <a:off x="182880" y="573328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591" name="Text 589"/>
          <p:cNvSpPr/>
          <p:nvPr/>
        </p:nvSpPr>
        <p:spPr>
          <a:xfrm>
            <a:off x="1828800" y="573328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총 등록 투자자본</a:t>
            </a:r>
            <a:endParaRPr lang="en-US" sz="1300" dirty="0"/>
          </a:p>
        </p:txBody>
      </p:sp>
      <p:sp>
        <p:nvSpPr>
          <p:cNvPr id="592" name="Text 590"/>
          <p:cNvSpPr/>
          <p:nvPr/>
        </p:nvSpPr>
        <p:spPr>
          <a:xfrm>
            <a:off x="182880" y="57652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593" name="Text 591"/>
          <p:cNvSpPr/>
          <p:nvPr/>
        </p:nvSpPr>
        <p:spPr>
          <a:xfrm>
            <a:off x="2468880" y="57652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594" name="Text 592"/>
          <p:cNvSpPr/>
          <p:nvPr/>
        </p:nvSpPr>
        <p:spPr>
          <a:xfrm>
            <a:off x="2926080" y="57652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800" dirty="0"/>
          </a:p>
        </p:txBody>
      </p:sp>
      <p:sp>
        <p:nvSpPr>
          <p:cNvPr id="595" name="Text 593"/>
          <p:cNvSpPr/>
          <p:nvPr/>
        </p:nvSpPr>
        <p:spPr>
          <a:xfrm>
            <a:off x="182880" y="579455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 신규 KPI</a:t>
            </a:r>
            <a:endParaRPr lang="en-US" sz="900" dirty="0"/>
          </a:p>
        </p:txBody>
      </p:sp>
      <p:sp>
        <p:nvSpPr>
          <p:cNvPr id="596" name="Shape 594"/>
          <p:cNvSpPr/>
          <p:nvPr/>
        </p:nvSpPr>
        <p:spPr>
          <a:xfrm>
            <a:off x="182880" y="581101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82880" y="581101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98" name="Text 596"/>
          <p:cNvSpPr/>
          <p:nvPr/>
        </p:nvSpPr>
        <p:spPr>
          <a:xfrm>
            <a:off x="182880" y="581101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599" name="Text 597"/>
          <p:cNvSpPr/>
          <p:nvPr/>
        </p:nvSpPr>
        <p:spPr>
          <a:xfrm>
            <a:off x="1828800" y="581101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상업용지 가동률</a:t>
            </a:r>
            <a:endParaRPr lang="en-US" sz="1300" dirty="0"/>
          </a:p>
        </p:txBody>
      </p:sp>
      <p:sp>
        <p:nvSpPr>
          <p:cNvPr id="600" name="Text 598"/>
          <p:cNvSpPr/>
          <p:nvPr/>
        </p:nvSpPr>
        <p:spPr>
          <a:xfrm>
            <a:off x="182880" y="5843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01" name="Text 599"/>
          <p:cNvSpPr/>
          <p:nvPr/>
        </p:nvSpPr>
        <p:spPr>
          <a:xfrm>
            <a:off x="2468880" y="58430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02" name="Text 600"/>
          <p:cNvSpPr/>
          <p:nvPr/>
        </p:nvSpPr>
        <p:spPr>
          <a:xfrm>
            <a:off x="2926080" y="5843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800" dirty="0"/>
          </a:p>
        </p:txBody>
      </p:sp>
      <p:sp>
        <p:nvSpPr>
          <p:cNvPr id="603" name="Text 601"/>
          <p:cNvSpPr/>
          <p:nvPr/>
        </p:nvSpPr>
        <p:spPr>
          <a:xfrm>
            <a:off x="182880" y="587227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 신규 KPI</a:t>
            </a:r>
            <a:endParaRPr lang="en-US" sz="900" dirty="0"/>
          </a:p>
        </p:txBody>
      </p:sp>
      <p:sp>
        <p:nvSpPr>
          <p:cNvPr id="604" name="Shape 602"/>
          <p:cNvSpPr/>
          <p:nvPr/>
        </p:nvSpPr>
        <p:spPr>
          <a:xfrm>
            <a:off x="182880" y="588873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182880" y="588873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06" name="Text 604"/>
          <p:cNvSpPr/>
          <p:nvPr/>
        </p:nvSpPr>
        <p:spPr>
          <a:xfrm>
            <a:off x="182880" y="588873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607" name="Text 605"/>
          <p:cNvSpPr/>
          <p:nvPr/>
        </p:nvSpPr>
        <p:spPr>
          <a:xfrm>
            <a:off x="1828800" y="588873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FPT대학교 재학생 수</a:t>
            </a:r>
            <a:endParaRPr lang="en-US" sz="1300" dirty="0"/>
          </a:p>
        </p:txBody>
      </p:sp>
      <p:sp>
        <p:nvSpPr>
          <p:cNvPr id="608" name="Text 606"/>
          <p:cNvSpPr/>
          <p:nvPr/>
        </p:nvSpPr>
        <p:spPr>
          <a:xfrm>
            <a:off x="182880" y="59207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09" name="Text 607"/>
          <p:cNvSpPr/>
          <p:nvPr/>
        </p:nvSpPr>
        <p:spPr>
          <a:xfrm>
            <a:off x="2468880" y="592074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10" name="Text 608"/>
          <p:cNvSpPr/>
          <p:nvPr/>
        </p:nvSpPr>
        <p:spPr>
          <a:xfrm>
            <a:off x="2926080" y="59207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지속</a:t>
            </a:r>
            <a:endParaRPr lang="en-US" sz="1800" dirty="0"/>
          </a:p>
        </p:txBody>
      </p:sp>
      <p:sp>
        <p:nvSpPr>
          <p:cNvPr id="611" name="Text 609"/>
          <p:cNvSpPr/>
          <p:nvPr/>
        </p:nvSpPr>
        <p:spPr>
          <a:xfrm>
            <a:off x="182880" y="595000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 신규 KPI</a:t>
            </a:r>
            <a:endParaRPr lang="en-US" sz="900" dirty="0"/>
          </a:p>
        </p:txBody>
      </p:sp>
      <p:sp>
        <p:nvSpPr>
          <p:cNvPr id="612" name="Shape 610"/>
          <p:cNvSpPr/>
          <p:nvPr/>
        </p:nvSpPr>
        <p:spPr>
          <a:xfrm>
            <a:off x="182880" y="596646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3" name="Shape 611"/>
          <p:cNvSpPr/>
          <p:nvPr/>
        </p:nvSpPr>
        <p:spPr>
          <a:xfrm>
            <a:off x="182880" y="596646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14" name="Text 612"/>
          <p:cNvSpPr/>
          <p:nvPr/>
        </p:nvSpPr>
        <p:spPr>
          <a:xfrm>
            <a:off x="182880" y="596646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615" name="Text 613"/>
          <p:cNvSpPr/>
          <p:nvPr/>
        </p:nvSpPr>
        <p:spPr>
          <a:xfrm>
            <a:off x="1828800" y="596646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국내 주요기업 프로젝트 수</a:t>
            </a:r>
            <a:endParaRPr lang="en-US" sz="1300" dirty="0"/>
          </a:p>
        </p:txBody>
      </p:sp>
      <p:sp>
        <p:nvSpPr>
          <p:cNvPr id="616" name="Text 614"/>
          <p:cNvSpPr/>
          <p:nvPr/>
        </p:nvSpPr>
        <p:spPr>
          <a:xfrm>
            <a:off x="182880" y="5998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17" name="Text 615"/>
          <p:cNvSpPr/>
          <p:nvPr/>
        </p:nvSpPr>
        <p:spPr>
          <a:xfrm>
            <a:off x="2468880" y="5998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18" name="Text 616"/>
          <p:cNvSpPr/>
          <p:nvPr/>
        </p:nvSpPr>
        <p:spPr>
          <a:xfrm>
            <a:off x="2926080" y="59984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지속</a:t>
            </a:r>
            <a:endParaRPr lang="en-US" sz="1800" dirty="0"/>
          </a:p>
        </p:txBody>
      </p:sp>
      <p:sp>
        <p:nvSpPr>
          <p:cNvPr id="619" name="Text 617"/>
          <p:cNvSpPr/>
          <p:nvPr/>
        </p:nvSpPr>
        <p:spPr>
          <a:xfrm>
            <a:off x="182880" y="602772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 신규 KPI</a:t>
            </a:r>
            <a:endParaRPr lang="en-US" sz="900" dirty="0"/>
          </a:p>
        </p:txBody>
      </p:sp>
      <p:sp>
        <p:nvSpPr>
          <p:cNvPr id="620" name="Shape 618"/>
          <p:cNvSpPr/>
          <p:nvPr/>
        </p:nvSpPr>
        <p:spPr>
          <a:xfrm>
            <a:off x="182880" y="604418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82880" y="604418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22" name="Text 620"/>
          <p:cNvSpPr/>
          <p:nvPr/>
        </p:nvSpPr>
        <p:spPr>
          <a:xfrm>
            <a:off x="182880" y="604418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623" name="Text 621"/>
          <p:cNvSpPr/>
          <p:nvPr/>
        </p:nvSpPr>
        <p:spPr>
          <a:xfrm>
            <a:off x="1828800" y="604418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1인당 주거면적</a:t>
            </a:r>
            <a:endParaRPr lang="en-US" sz="1300" dirty="0"/>
          </a:p>
        </p:txBody>
      </p:sp>
      <p:sp>
        <p:nvSpPr>
          <p:cNvPr id="624" name="Text 622"/>
          <p:cNvSpPr/>
          <p:nvPr/>
        </p:nvSpPr>
        <p:spPr>
          <a:xfrm>
            <a:off x="182880" y="6076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25" name="Text 623"/>
          <p:cNvSpPr/>
          <p:nvPr/>
        </p:nvSpPr>
        <p:spPr>
          <a:xfrm>
            <a:off x="2468880" y="6076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26" name="Text 624"/>
          <p:cNvSpPr/>
          <p:nvPr/>
        </p:nvSpPr>
        <p:spPr>
          <a:xfrm>
            <a:off x="2926080" y="6076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800" dirty="0"/>
          </a:p>
        </p:txBody>
      </p:sp>
      <p:sp>
        <p:nvSpPr>
          <p:cNvPr id="627" name="Text 625"/>
          <p:cNvSpPr/>
          <p:nvPr/>
        </p:nvSpPr>
        <p:spPr>
          <a:xfrm>
            <a:off x="182880" y="610544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 신규 KPI</a:t>
            </a:r>
            <a:endParaRPr lang="en-US" sz="900" dirty="0"/>
          </a:p>
        </p:txBody>
      </p:sp>
      <p:sp>
        <p:nvSpPr>
          <p:cNvPr id="628" name="Shape 626"/>
          <p:cNvSpPr/>
          <p:nvPr/>
        </p:nvSpPr>
        <p:spPr>
          <a:xfrm>
            <a:off x="182880" y="612190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82880" y="612190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30" name="Text 628"/>
          <p:cNvSpPr/>
          <p:nvPr/>
        </p:nvSpPr>
        <p:spPr>
          <a:xfrm>
            <a:off x="182880" y="6121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631" name="Text 629"/>
          <p:cNvSpPr/>
          <p:nvPr/>
        </p:nvSpPr>
        <p:spPr>
          <a:xfrm>
            <a:off x="1828800" y="612190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도시화율</a:t>
            </a:r>
            <a:endParaRPr lang="en-US" sz="1300" dirty="0"/>
          </a:p>
        </p:txBody>
      </p:sp>
      <p:sp>
        <p:nvSpPr>
          <p:cNvPr id="632" name="Text 630"/>
          <p:cNvSpPr/>
          <p:nvPr/>
        </p:nvSpPr>
        <p:spPr>
          <a:xfrm>
            <a:off x="182880" y="61539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33" name="Text 631"/>
          <p:cNvSpPr/>
          <p:nvPr/>
        </p:nvSpPr>
        <p:spPr>
          <a:xfrm>
            <a:off x="2468880" y="61539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34" name="Text 632"/>
          <p:cNvSpPr/>
          <p:nvPr/>
        </p:nvSpPr>
        <p:spPr>
          <a:xfrm>
            <a:off x="2926080" y="6153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800" dirty="0"/>
          </a:p>
        </p:txBody>
      </p:sp>
      <p:sp>
        <p:nvSpPr>
          <p:cNvPr id="635" name="Text 633"/>
          <p:cNvSpPr/>
          <p:nvPr/>
        </p:nvSpPr>
        <p:spPr>
          <a:xfrm>
            <a:off x="182880" y="618317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 신규 KPI</a:t>
            </a:r>
            <a:endParaRPr lang="en-US" sz="900" dirty="0"/>
          </a:p>
        </p:txBody>
      </p:sp>
      <p:sp>
        <p:nvSpPr>
          <p:cNvPr id="636" name="Shape 634"/>
          <p:cNvSpPr/>
          <p:nvPr/>
        </p:nvSpPr>
        <p:spPr>
          <a:xfrm>
            <a:off x="182880" y="619963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37" name="Shape 635"/>
          <p:cNvSpPr/>
          <p:nvPr/>
        </p:nvSpPr>
        <p:spPr>
          <a:xfrm>
            <a:off x="182880" y="619963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38" name="Text 636"/>
          <p:cNvSpPr/>
          <p:nvPr/>
        </p:nvSpPr>
        <p:spPr>
          <a:xfrm>
            <a:off x="182880" y="619963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639" name="Text 637"/>
          <p:cNvSpPr/>
          <p:nvPr/>
        </p:nvSpPr>
        <p:spPr>
          <a:xfrm>
            <a:off x="1828800" y="619963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사회주택 공급</a:t>
            </a:r>
            <a:endParaRPr lang="en-US" sz="1300" dirty="0"/>
          </a:p>
        </p:txBody>
      </p:sp>
      <p:sp>
        <p:nvSpPr>
          <p:cNvPr id="640" name="Text 638"/>
          <p:cNvSpPr/>
          <p:nvPr/>
        </p:nvSpPr>
        <p:spPr>
          <a:xfrm>
            <a:off x="182880" y="62316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41" name="Text 639"/>
          <p:cNvSpPr/>
          <p:nvPr/>
        </p:nvSpPr>
        <p:spPr>
          <a:xfrm>
            <a:off x="2468880" y="62316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42" name="Text 640"/>
          <p:cNvSpPr/>
          <p:nvPr/>
        </p:nvSpPr>
        <p:spPr>
          <a:xfrm>
            <a:off x="2926080" y="62316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800" dirty="0"/>
          </a:p>
        </p:txBody>
      </p:sp>
      <p:sp>
        <p:nvSpPr>
          <p:cNvPr id="643" name="Text 641"/>
          <p:cNvSpPr/>
          <p:nvPr/>
        </p:nvSpPr>
        <p:spPr>
          <a:xfrm>
            <a:off x="182880" y="626089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 신규 KPI</a:t>
            </a:r>
            <a:endParaRPr lang="en-US" sz="900" dirty="0"/>
          </a:p>
        </p:txBody>
      </p:sp>
      <p:sp>
        <p:nvSpPr>
          <p:cNvPr id="644" name="Shape 642"/>
          <p:cNvSpPr/>
          <p:nvPr/>
        </p:nvSpPr>
        <p:spPr>
          <a:xfrm>
            <a:off x="182880" y="627735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45" name="Shape 643"/>
          <p:cNvSpPr/>
          <p:nvPr/>
        </p:nvSpPr>
        <p:spPr>
          <a:xfrm>
            <a:off x="182880" y="627735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46" name="Text 644"/>
          <p:cNvSpPr/>
          <p:nvPr/>
        </p:nvSpPr>
        <p:spPr>
          <a:xfrm>
            <a:off x="182880" y="627735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647" name="Text 645"/>
          <p:cNvSpPr/>
          <p:nvPr/>
        </p:nvSpPr>
        <p:spPr>
          <a:xfrm>
            <a:off x="1828800" y="627735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주택보급률</a:t>
            </a:r>
            <a:endParaRPr lang="en-US" sz="1300" dirty="0"/>
          </a:p>
        </p:txBody>
      </p:sp>
      <p:sp>
        <p:nvSpPr>
          <p:cNvPr id="648" name="Text 646"/>
          <p:cNvSpPr/>
          <p:nvPr/>
        </p:nvSpPr>
        <p:spPr>
          <a:xfrm>
            <a:off x="182880" y="63093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49" name="Text 647"/>
          <p:cNvSpPr/>
          <p:nvPr/>
        </p:nvSpPr>
        <p:spPr>
          <a:xfrm>
            <a:off x="2468880" y="63093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50" name="Text 648"/>
          <p:cNvSpPr/>
          <p:nvPr/>
        </p:nvSpPr>
        <p:spPr>
          <a:xfrm>
            <a:off x="2926080" y="6309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 (2030)</a:t>
            </a:r>
            <a:endParaRPr lang="en-US" sz="1800" dirty="0"/>
          </a:p>
        </p:txBody>
      </p:sp>
      <p:sp>
        <p:nvSpPr>
          <p:cNvPr id="651" name="Text 649"/>
          <p:cNvSpPr/>
          <p:nvPr/>
        </p:nvSpPr>
        <p:spPr>
          <a:xfrm>
            <a:off x="182880" y="633862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 신규 KPI</a:t>
            </a:r>
            <a:endParaRPr lang="en-US" sz="900" dirty="0"/>
          </a:p>
        </p:txBody>
      </p:sp>
      <p:sp>
        <p:nvSpPr>
          <p:cNvPr id="652" name="Shape 650"/>
          <p:cNvSpPr/>
          <p:nvPr/>
        </p:nvSpPr>
        <p:spPr>
          <a:xfrm>
            <a:off x="182880" y="635508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53" name="Shape 651"/>
          <p:cNvSpPr/>
          <p:nvPr/>
        </p:nvSpPr>
        <p:spPr>
          <a:xfrm>
            <a:off x="182880" y="635508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54" name="Text 652"/>
          <p:cNvSpPr/>
          <p:nvPr/>
        </p:nvSpPr>
        <p:spPr>
          <a:xfrm>
            <a:off x="182880" y="635508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655" name="Text 653"/>
          <p:cNvSpPr/>
          <p:nvPr/>
        </p:nvSpPr>
        <p:spPr>
          <a:xfrm>
            <a:off x="1828800" y="635508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사회주택 우대금리</a:t>
            </a:r>
            <a:endParaRPr lang="en-US" sz="1300" dirty="0"/>
          </a:p>
        </p:txBody>
      </p:sp>
      <p:sp>
        <p:nvSpPr>
          <p:cNvPr id="656" name="Text 654"/>
          <p:cNvSpPr/>
          <p:nvPr/>
        </p:nvSpPr>
        <p:spPr>
          <a:xfrm>
            <a:off x="182880" y="63870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57" name="Text 655"/>
          <p:cNvSpPr/>
          <p:nvPr/>
        </p:nvSpPr>
        <p:spPr>
          <a:xfrm>
            <a:off x="2468880" y="63870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58" name="Text 656"/>
          <p:cNvSpPr/>
          <p:nvPr/>
        </p:nvSpPr>
        <p:spPr>
          <a:xfrm>
            <a:off x="2926080" y="63870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인하 추진 (신규지표)</a:t>
            </a:r>
            <a:endParaRPr lang="en-US" sz="1800" dirty="0"/>
          </a:p>
        </p:txBody>
      </p:sp>
      <p:sp>
        <p:nvSpPr>
          <p:cNvPr id="659" name="Text 657"/>
          <p:cNvSpPr/>
          <p:nvPr/>
        </p:nvSpPr>
        <p:spPr>
          <a:xfrm>
            <a:off x="182880" y="641634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 신규 KPI</a:t>
            </a:r>
            <a:endParaRPr lang="en-US" sz="900" dirty="0"/>
          </a:p>
        </p:txBody>
      </p:sp>
      <p:sp>
        <p:nvSpPr>
          <p:cNvPr id="660" name="Shape 658"/>
          <p:cNvSpPr/>
          <p:nvPr/>
        </p:nvSpPr>
        <p:spPr>
          <a:xfrm>
            <a:off x="182880" y="6432804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61" name="Shape 659"/>
          <p:cNvSpPr/>
          <p:nvPr/>
        </p:nvSpPr>
        <p:spPr>
          <a:xfrm>
            <a:off x="182880" y="6432804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62" name="Text 660"/>
          <p:cNvSpPr/>
          <p:nvPr/>
        </p:nvSpPr>
        <p:spPr>
          <a:xfrm>
            <a:off x="182880" y="6432804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663" name="Text 661"/>
          <p:cNvSpPr/>
          <p:nvPr/>
        </p:nvSpPr>
        <p:spPr>
          <a:xfrm>
            <a:off x="1828800" y="6432804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스마트시티 시범 도시</a:t>
            </a:r>
            <a:endParaRPr lang="en-US" sz="1300" dirty="0"/>
          </a:p>
        </p:txBody>
      </p:sp>
      <p:sp>
        <p:nvSpPr>
          <p:cNvPr id="664" name="Text 662"/>
          <p:cNvSpPr/>
          <p:nvPr/>
        </p:nvSpPr>
        <p:spPr>
          <a:xfrm>
            <a:off x="182880" y="64648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65" name="Text 663"/>
          <p:cNvSpPr/>
          <p:nvPr/>
        </p:nvSpPr>
        <p:spPr>
          <a:xfrm>
            <a:off x="2468880" y="64648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66" name="Text 664"/>
          <p:cNvSpPr/>
          <p:nvPr/>
        </p:nvSpPr>
        <p:spPr>
          <a:xfrm>
            <a:off x="2926080" y="64648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800" dirty="0"/>
          </a:p>
        </p:txBody>
      </p:sp>
      <p:sp>
        <p:nvSpPr>
          <p:cNvPr id="667" name="Text 665"/>
          <p:cNvSpPr/>
          <p:nvPr/>
        </p:nvSpPr>
        <p:spPr>
          <a:xfrm>
            <a:off x="182880" y="6494068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 신규 KPI</a:t>
            </a:r>
            <a:endParaRPr lang="en-US" sz="900" dirty="0"/>
          </a:p>
        </p:txBody>
      </p:sp>
      <p:sp>
        <p:nvSpPr>
          <p:cNvPr id="668" name="Shape 666"/>
          <p:cNvSpPr/>
          <p:nvPr/>
        </p:nvSpPr>
        <p:spPr>
          <a:xfrm>
            <a:off x="182880" y="6510528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69" name="Shape 667"/>
          <p:cNvSpPr/>
          <p:nvPr/>
        </p:nvSpPr>
        <p:spPr>
          <a:xfrm>
            <a:off x="182880" y="6510528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70" name="Text 668"/>
          <p:cNvSpPr/>
          <p:nvPr/>
        </p:nvSpPr>
        <p:spPr>
          <a:xfrm>
            <a:off x="182880" y="651052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671" name="Text 669"/>
          <p:cNvSpPr/>
          <p:nvPr/>
        </p:nvSpPr>
        <p:spPr>
          <a:xfrm>
            <a:off x="1828800" y="6510528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전국 확산</a:t>
            </a:r>
            <a:endParaRPr lang="en-US" sz="1300" dirty="0"/>
          </a:p>
        </p:txBody>
      </p:sp>
      <p:sp>
        <p:nvSpPr>
          <p:cNvPr id="672" name="Text 670"/>
          <p:cNvSpPr/>
          <p:nvPr/>
        </p:nvSpPr>
        <p:spPr>
          <a:xfrm>
            <a:off x="182880" y="65425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73" name="Text 671"/>
          <p:cNvSpPr/>
          <p:nvPr/>
        </p:nvSpPr>
        <p:spPr>
          <a:xfrm>
            <a:off x="2468880" y="65425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74" name="Text 672"/>
          <p:cNvSpPr/>
          <p:nvPr/>
        </p:nvSpPr>
        <p:spPr>
          <a:xfrm>
            <a:off x="2926080" y="65425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800" dirty="0"/>
          </a:p>
        </p:txBody>
      </p:sp>
      <p:sp>
        <p:nvSpPr>
          <p:cNvPr id="675" name="Text 673"/>
          <p:cNvSpPr/>
          <p:nvPr/>
        </p:nvSpPr>
        <p:spPr>
          <a:xfrm>
            <a:off x="182880" y="6571792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 신규 KPI</a:t>
            </a:r>
            <a:endParaRPr lang="en-US" sz="900" dirty="0"/>
          </a:p>
        </p:txBody>
      </p:sp>
      <p:sp>
        <p:nvSpPr>
          <p:cNvPr id="676" name="Shape 674"/>
          <p:cNvSpPr/>
          <p:nvPr/>
        </p:nvSpPr>
        <p:spPr>
          <a:xfrm>
            <a:off x="182880" y="6588252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77" name="Shape 675"/>
          <p:cNvSpPr/>
          <p:nvPr/>
        </p:nvSpPr>
        <p:spPr>
          <a:xfrm>
            <a:off x="182880" y="6588252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78" name="Text 676"/>
          <p:cNvSpPr/>
          <p:nvPr/>
        </p:nvSpPr>
        <p:spPr>
          <a:xfrm>
            <a:off x="182880" y="6588252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679" name="Text 677"/>
          <p:cNvSpPr/>
          <p:nvPr/>
        </p:nvSpPr>
        <p:spPr>
          <a:xfrm>
            <a:off x="1828800" y="6588252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디지털정부 지수</a:t>
            </a:r>
            <a:endParaRPr lang="en-US" sz="1300" dirty="0"/>
          </a:p>
        </p:txBody>
      </p:sp>
      <p:sp>
        <p:nvSpPr>
          <p:cNvPr id="680" name="Text 678"/>
          <p:cNvSpPr/>
          <p:nvPr/>
        </p:nvSpPr>
        <p:spPr>
          <a:xfrm>
            <a:off x="182880" y="66202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81" name="Text 679"/>
          <p:cNvSpPr/>
          <p:nvPr/>
        </p:nvSpPr>
        <p:spPr>
          <a:xfrm>
            <a:off x="2468880" y="66202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82" name="Text 680"/>
          <p:cNvSpPr/>
          <p:nvPr/>
        </p:nvSpPr>
        <p:spPr>
          <a:xfrm>
            <a:off x="2926080" y="66202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800" dirty="0"/>
          </a:p>
        </p:txBody>
      </p:sp>
      <p:sp>
        <p:nvSpPr>
          <p:cNvPr id="683" name="Text 681"/>
          <p:cNvSpPr/>
          <p:nvPr/>
        </p:nvSpPr>
        <p:spPr>
          <a:xfrm>
            <a:off x="182880" y="6649516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 신규 KPI</a:t>
            </a:r>
            <a:endParaRPr lang="en-US" sz="900" dirty="0"/>
          </a:p>
        </p:txBody>
      </p:sp>
      <p:sp>
        <p:nvSpPr>
          <p:cNvPr id="684" name="Shape 682"/>
          <p:cNvSpPr/>
          <p:nvPr/>
        </p:nvSpPr>
        <p:spPr>
          <a:xfrm>
            <a:off x="182880" y="6665976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85" name="Shape 683"/>
          <p:cNvSpPr/>
          <p:nvPr/>
        </p:nvSpPr>
        <p:spPr>
          <a:xfrm>
            <a:off x="182880" y="6665976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86" name="Text 684"/>
          <p:cNvSpPr/>
          <p:nvPr/>
        </p:nvSpPr>
        <p:spPr>
          <a:xfrm>
            <a:off x="182880" y="66659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687" name="Text 685"/>
          <p:cNvSpPr/>
          <p:nvPr/>
        </p:nvSpPr>
        <p:spPr>
          <a:xfrm>
            <a:off x="1828800" y="6665976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5G 커버리지</a:t>
            </a:r>
            <a:endParaRPr lang="en-US" sz="1300" dirty="0"/>
          </a:p>
        </p:txBody>
      </p:sp>
      <p:sp>
        <p:nvSpPr>
          <p:cNvPr id="688" name="Text 686"/>
          <p:cNvSpPr/>
          <p:nvPr/>
        </p:nvSpPr>
        <p:spPr>
          <a:xfrm>
            <a:off x="182880" y="66979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89" name="Text 687"/>
          <p:cNvSpPr/>
          <p:nvPr/>
        </p:nvSpPr>
        <p:spPr>
          <a:xfrm>
            <a:off x="2468880" y="66979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90" name="Text 688"/>
          <p:cNvSpPr/>
          <p:nvPr/>
        </p:nvSpPr>
        <p:spPr>
          <a:xfrm>
            <a:off x="2926080" y="66979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800" dirty="0"/>
          </a:p>
        </p:txBody>
      </p:sp>
      <p:sp>
        <p:nvSpPr>
          <p:cNvPr id="691" name="Text 689"/>
          <p:cNvSpPr/>
          <p:nvPr/>
        </p:nvSpPr>
        <p:spPr>
          <a:xfrm>
            <a:off x="182880" y="6727240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 신규 KPI</a:t>
            </a:r>
            <a:endParaRPr lang="en-US" sz="900" dirty="0"/>
          </a:p>
        </p:txBody>
      </p:sp>
      <p:sp>
        <p:nvSpPr>
          <p:cNvPr id="692" name="Shape 690"/>
          <p:cNvSpPr/>
          <p:nvPr/>
        </p:nvSpPr>
        <p:spPr>
          <a:xfrm>
            <a:off x="182880" y="67437000"/>
            <a:ext cx="8778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93" name="Shape 691"/>
          <p:cNvSpPr/>
          <p:nvPr/>
        </p:nvSpPr>
        <p:spPr>
          <a:xfrm>
            <a:off x="182880" y="67437000"/>
            <a:ext cx="1463040" cy="2926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94" name="Text 692"/>
          <p:cNvSpPr/>
          <p:nvPr/>
        </p:nvSpPr>
        <p:spPr>
          <a:xfrm>
            <a:off x="182880" y="674370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695" name="Text 693"/>
          <p:cNvSpPr/>
          <p:nvPr/>
        </p:nvSpPr>
        <p:spPr>
          <a:xfrm>
            <a:off x="1828800" y="67437000"/>
            <a:ext cx="7040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호치민 스마트도시 개발 조정위원회</a:t>
            </a:r>
            <a:endParaRPr lang="en-US" sz="1300" dirty="0"/>
          </a:p>
        </p:txBody>
      </p:sp>
      <p:sp>
        <p:nvSpPr>
          <p:cNvPr id="696" name="Text 694"/>
          <p:cNvSpPr/>
          <p:nvPr/>
        </p:nvSpPr>
        <p:spPr>
          <a:xfrm>
            <a:off x="182880" y="67757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미포함</a:t>
            </a:r>
            <a:endParaRPr lang="en-US" sz="1800" dirty="0"/>
          </a:p>
        </p:txBody>
      </p:sp>
      <p:sp>
        <p:nvSpPr>
          <p:cNvPr id="697" name="Text 695"/>
          <p:cNvSpPr/>
          <p:nvPr/>
        </p:nvSpPr>
        <p:spPr>
          <a:xfrm>
            <a:off x="2468880" y="67757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698" name="Text 696"/>
          <p:cNvSpPr/>
          <p:nvPr/>
        </p:nvSpPr>
        <p:spPr>
          <a:xfrm>
            <a:off x="2926080" y="67757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2026~2030 사업 추진, 2035 비전</a:t>
            </a:r>
            <a:endParaRPr lang="en-US" sz="1800" dirty="0"/>
          </a:p>
        </p:txBody>
      </p:sp>
      <p:sp>
        <p:nvSpPr>
          <p:cNvPr id="699" name="Text 697"/>
          <p:cNvSpPr/>
          <p:nvPr/>
        </p:nvSpPr>
        <p:spPr>
          <a:xfrm>
            <a:off x="182880" y="680496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 신규 KPI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995928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하노이 속선(Soc Son) WtE 발전소의 1호기(15MW)가 2022.7.25경 국가 전력망에 최초 연계됐고, 2025.10.13 하노이시 주관으로 전체 시설(총 90MW, 5,000톤/일)의 공식 준공식이 열렸다. EPR(생산자책임재활용) 규정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 (단계 확인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 (단계 확인 필요)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(Chau Pha 사)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5ha+, 용량 미공개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선정, 202…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 (세라핀 인접)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(선떠이 쑤언선)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 (기존 세라핀 1호기 37MW/2,250톤일 인접)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2026.6월 착공, baoda…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28/2023/QH15, 2024.7.1 발효)은 유역통합관리(IWRM), 하천 최소유량 규정, '죽은 강' 복원 조항, 지하수 취수 허가제 의무화를 골자로 한다. 메콩델타 건기 염수침투 심화가 배경이며 2026년 2월 관측 기준 16.2km~41.6km(지류별) 침투가 확인되었다. 정부는 2026.6.26 결의 166/NQ-CP를 발표해 메콩델타 지반침하·홍수·가뭄·염해 대응 국가실행계획(~2035)을 수립했다.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근거, 세부 시행계획은 확인 필요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지반침하·홍수·가뭄·염해 대응 국가실행계획 (Nghị quyết 166/NQ-CP)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국가행동계획(예산 미정)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2026.6.26 발표, 20…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도시·산업단지 상수도 개발방향(Decision 2502/QD-TTg, 2016.12.22)은 2025년까지 전 도시지역 100% 상수도 보급, 2급 이상 도시 비수익수(NRW) 15% 이하 달성을 목표로 한다. 전국적으로 송다(Song Da), 투득(Thu Duc) 등 권역별 핵심 정수장 신설 및 관망 교체 사업이 ODA 자금을 바탕으로 활발히 전개되고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589/QD-TTg)은 도시 폐수처리율을 2025년 50%, 2030년 85%로 끌어올리는 것을 목표로 한다. 2025년 8월 하노이 옌짜(Yen Xa) WWTP(27만㎥/일)가 준공되었으며, 호치민 빈흥 2단계(46.9만㎥/일)가 2024년 8월 준공되었다. [V4.1 업데이트] 호찌민시 인민위원회는 2026~2030년 환경 인프라 개선을 위해 4대 메가 폐수처리 시스템 구축에 대한 대규모 투자 유치 목록을 발표했다. 여기에는 탐르엉-벤깟 2단계(일일 2...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 + 옌짜 270,000 m³/일 신규 가동(2025.8)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$690M(옌짜, 준공완료) + 호아이득 $16.5M(2026~2029 신규 승인)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 (처리용량 미기재)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 후 총용량, 최종목표 512,000 m³/일)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$16.5M 규모 (처리용량 미기재)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인민위 승인, 2026~2029년 구축 예정. [Cowork 팩트체크 2026-07…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469,000 m³/일 (2단계 확장 후 총용량, 최종목표 512,000 m³/일)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2단계 확장 2024.8.30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 (착공단계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 (단계 확인 필요)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 (단계 확인 필요)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탐르엉-벤깟 (Tham Luong - Ben Cat) 2단계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(안푸동)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230,000 m³ (2040년)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 투자 유치 중점 사업 [6]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폐수·배기가스·고형폐기물 기술 국산화를 지향하는 프로그램. [V4.1 업데이트] 2026년 7월 10일 동나이에서 개최된 환경부(Department of Environment) 워크숍에서 고형 폐기물 관리 및 EPR(생산자책임재활용) 규정을 구체화하는 초안 법령이 집중 논의되었다. 재활용 할당량, 재정 기여금, 의무 보고 시스템이 조만간 확정되어 관련 기업들의 규제 준수 의무가 대폭 강화될 예정이다.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플라스틱, 현재 연6만톤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축전지·타이어·윤활유·운송수단 폐기물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포장재 재활용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48,000톤 / $50M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 협력 / rPET 첨단 기술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2024.7 MOU / 한국 환경부·KEITI 공동 시행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109억 동 (2단계)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2021.11~2025.2 / 일본 ODA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알루미늄/PET 경질 포장재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수행 업체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PET·HDPE·PP 플라스틱, 현재 연6만톤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사실(배경자료)] 2026.7.5 보도…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 Dong Environment JSC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축전지·플라스틱·전자 폐기물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재활용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응이선 경제구역 (CN2-1 산업용지)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연 약 17,000톤 (소비후 PET → 식품등급 rPET 펠릿)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IRC 2025.7.24경 발급, 2025.4분기 착…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생물다양성 보전 및 자연자원 이용 국가전략. 2030년까지 해양 보호구역 확대를 목표로 한다. 금주 특이 업데이트 사항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보호구역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적색목록종 복원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Nha-Ke Bang World Heritage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 Binh | 123,000 ha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등재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GEF-7 Biodiversity Project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5개 지역 | $15M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GEF/UNDP 공동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석유·가스 비축·공급 인프라 국가계획(Decision 861/QD-TTg)은 노후 유전 생산 감소에 대응해 심해 탐사와 LNG 공급망 구축을 병행 추진한다. 티바이(Thi Vai) LNG와 손미(Son My) LNG가 국내 공급망의 축이다. [V4.1 업데이트] 글로벌 LNG 투자 지연에도 불구하고, 국영 기업인 PV Gas는 2026년부터 2030년까지 38억 달러 이상을 투입하여 국가 전역의 LNG 터미널 및 가스 파이프라인 인프라를 독자적으로 확장하는 계획을 지속 추진 중이다.[2]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(Thi Vai) LNG 터미널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연 100만톤 → 300만톤 확장 중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LNG 수입터미널, PV GAS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합작, 2027년 이후 가동 예정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LNG 발전사업의 최소 장기 인수량(Qc)을 보장하기 위한 제도적 논의가 진행되어 왔으나, Decree 100/2025/ND-CP를 통해 EVN의 의무 인수 보증 한도가 '최대 10년간 65%'로 확정되었다. MOIT와 외투기업들이 요구한 75%·15년 확대안은 최종적으로 기각되었다.[2, 7][V4.1 업데이트] 이러한 엄격한 PPA 인수 조건과 외환(FX) 리스크, 서남아시아 분쟁으로 인한 LNG 연료비 폭등이 맞물려, 4.8GW 규모의 '하이퐁 LNG 발전소' 개발사 빈그룹(VinGro...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 Complex 1단계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VND49조/US$21.3억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부분사실] Trung Nam-Sider…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개시, 연 100만→300만톤 확장 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뀐랍(Quynh Lap) LNG 발전소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1.5 GW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SK이노베이션 및 PV Power. 23억 달러 규모, 2027년 착공 예정 [8]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결의안을 통해 중단되었던 원자력 발전이 전략적으로 재개되었고, 2026년 1월 발효된 새 원자력법(Atomic Energy Law)을 통해 2035년까지 국가 전력의 6~8%를 담당하는 국가 최우선 순위로 격상되었다. [V4.1 업데이트] 2026년 7월 16일 팜 지아 툭 부총리 주재 정부 회의에서 재무부 국가 평가 위원회의 권고에 따라 닌투언 원전 프로그램을 1) 닌투언 1호기(EVN, 러시아 로사톰), 2) 닌투언 2호기(PVN, 해외파트너), 3) 독립 토지 보상 프로젝트 등 3...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Rosatom(러시아) 재개 확정, EVN 투자자 지정. [Cowork 팩트체크 2026-07-16] 부지정리 여전히 부진(최근 1주 0.03ha 처리, 52ha 목표 대비 크게 미달)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철수(2025.11~2026.1경) 후 한국 KEPCO-PVN 비구속 MOU 체결(2026.4.22~30경, 정상회담 계기, 사업타당성조사용) — 최종 EPC 파트너는 2026.7 기준 미확정. [Cowork 팩트체크 2026-07-16 추가] 부지보상 74.6%(2026.6.22 기준, 308.6/413.6ha) 완료, 약 80% 보상금 지급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확정. [Cowork 팩트체크 2026-07-16] 부지정리 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철수 확인(시점 출처엇갈림) + 한국 KEPCO-PVN 비구속 MOU 체결(2026.…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 (2025.4.15)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개정에 따라 해상풍력 등 재생에너지 목표가 대폭 상향되었으며, 2025년 3월 법령 제57호로 DPPA(직접전력구매계약)가 법제화되었다. [V4.1 업데이트] 초기 DPPA의 저조한 채택률을 극복하기 위해 베트남 정부는 2026년 6월 26일 자로 **법령 제243/2026/ND-CP호**를 공포하여 규제를 전면 수정했다. 이제 DPPA 참여 자격은 단순 대규모 전력 소비자를 넘어 '산업 단지 및 클러스터 내의 전력 소매업체', '데이터 센터(Data centers)', 'EV 충전...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확정. [Cowork 팩트체크 2026-07-16] 신규 법적 프레임워크(Decree 272/2026, 2026.7.4 시행)로 조사기관·투자자 자기자본 요건 명문화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준비. [Cowork 팩트체크 202…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(구 롱안성 득후에, 2025 성통폐합으로 편입) | 49MWp(41.4MWac)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삼성전자베트남타이응우옌(SEVT)-TTC그룹 계약, 베트남 …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BESS 16.3GW 확장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16.3 GW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변동성 보완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 (2025.4.15)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마스터플랜으로 석탄 의존에서 벗어나 재생에너지 및 천연가스로의 전환을 주도한다. 2026년 상반기 실적상 석탄 비중은 여전히 54.5%로 의존적이다. 신규 하위 플랜 동향(LNG, 원자력)이 지식베이스 내 별도 ID로 구체화됨.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(2025년말 EVN 공식실적, 전년대비 +6,400MW, 아세안 2위) — 2030목표 대비 약 37~48% 수준. [Cowork 팩트체크 2026-07-16] 2026 상반기 발전량 171.54억kWh(+9.85% YoY) 확인, 단 설비용량 갱신치는 미확인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 → [Cowork 팩트체크 2026-07-16] 2026 상반기 발전믹스 중 재생에너지 12.9%(석탄 54.5%·수력 21%·가스 8%·수입 3.5%)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플랜(재생에너지·LNG·원자력) 통합 프레임워크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Nhon Trach 3 &amp;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1,624MW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1단계 우선 LNG 프로젝트, 상세는 VN-PWR-PDP8-LNG 참조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Quang Trach II (석탄→LNG 전환)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꽝빈성 | 1,500MW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정부공문 54/TB-VPCP(2022.2.25)에 따라 석탄에서 LNG로 전환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빈떤 III (Vinh Tan III) 석탄화력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1,980MW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당초계획 대비 지연·난항 프로젝트로 분류(Decision 500/QD-TTg 부속서)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마스터플랜(Decision 1668/QD-TTg)은 다핵다중심 도시모델을 바탕으로 2045년 1,500만 수용을 목표로 한다. 링로드4 착공 및 메트로 노선 구축이 최우선 과제다. 링로드4 PPP 구간 자본 조달 부진으로 완공 시점이 재조정되었다.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착공 진행 중이나 PPP 3구간 자본조달 약 2%에 그쳐 지연 확인(2026.7.9 도로청 발표)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착공의 서막. [Cowork 팩트체크 2026-07-16, 판정…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삼성, LG 등 글로벌 반도체 공급망의 핵심 기지다. [V4.1 업데이트] 2026년 7월 하이퐁에서 열린 '베트남 산업단지 서밋(Vietnam Industrial Park Summit 2026)'에서 베트남 내 산업단지 모델의 질적 전환이 선언되었다. 애플, 인텔 등 다국적 기업의 ESG 요구를 수용하기 위해 기존의 저비용 생산 기지 제공 모델을 탈피하고 기술, 혁신, 물류, 100% 녹색 에너지(DPPA 법령 연계)를 통합한 '혁신 생태계(Innovation ecosy...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정정] 박닌 2026년 1분기 등록자본 기준 $56.9억(전국 2위) — 기존 '$13억/81%'설은 원문 미확인으로 정정. 자본조정 프로젝트 비중 전국 31%로 최다. [Cowork 팩트체크 2026-07-16 참고] 박닌 상반기 누적 약 $20억(2026.6.24 보도, 조사기간 이전 정보이며 1분기치와의 정합성은 재확인 필요)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 콤플렉스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3,400 ha (산업단지 5개+항만 6개)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로이터 단독보도(2026.5.27) — 삼성이 202…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 (지역계획 범위 불일치 참고)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 클러스터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$232억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 상업가동 목표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완공 및 대형 거점 공항 건설을 목표로 한다. 롱탄 국제공항 상업 개항은 2026년 12월로 공식 연기되었다. [V4.1 업데이트] 2026년 7월 주요 정책으로 떤선녓(Tan Son Nhat) 국제공항 등에서 외국인 입국자를 대상으로 한 온라인 사전 입국 신고제(Pre-arrival declaration)가 본격 시행되어 물류 및 인적 이동의 디지털 관리가 강화되었다. 또한, 중부 내륙 거점 강화를 위해 FLC 그룹이 미국 HASDC와 민...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당초 2026.6월 목표에서 2026.12월 상업개항으로 공식 연기(2026.6.29 baochinhphu.vn/ACV 확인). 전체 공정률 77%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 (Vành đai 3, 호치민·빈즈엉·동나이·롱안)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(구 투득 고가구간 포함) | 전체 76km (구투득 고가구간 약14.7km)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호치민-롱탄 고속도로 확장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호치민-동나이 | 4→8~10차로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떤선녓 국제공항 프로세스 고도화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입국 인프라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도시·교통·산업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국회 특례결의안 제188/2025/QH15호가 시행되면서 기존의 관료적 병목이 제거되었다. 대중교통지향형개발(TOD) 연계, 수의 계약 허용, 토지 정리 분리 발주가 가능해졌다. [V4.1 업데이트] 결의안 188호에 힘입어 하노이시는 5개의 핵심 메트로 회랑(1호선, 2호선, 8호선, 10호선, 14호선)에 대한 전격적인 건설 착수를 발표했다.[4, 14] 호찌민시는 이 메커니즘을 적용하여 100% 공공 예산으로 21억 달러가 확보된 메트로 2호선(벤탄-탐르엉)의 실질적인 착공을 2026년 1월...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개통. [Cowork 팩트체크 2026-07-16] 2호선 2026.7.2 첫 주요구간(ST10역) 착공 확인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1호선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약 81 km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Urban Master 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동아인 신도시. 2045년 87만 인구 수용을 목표로 한다. BRG-Sumitomo 합작 스마트시티 프로젝트가 지연 끝에 2025년 실질 착공했다.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 (North Hanoi Smart City)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'$4B→$4.2B 확대'설은 근거없음. 실질착공은 2025.8부터(2019착공식 이후 6년 지연). [Cowork 팩트체크 2026-07-16] 2026.5.8 기준 하노이시가 공사가속 지시 — 금주 신규 진척 뉴스 없음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 (BRG-Sumitomo, 108층 Phuong Trach Tower 포함)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 (2019년 이래 일관된 수치)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Sumitomo+베트남 BRG 합작. 201…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Co Loa (Vinhomes Global Gate 브랜드)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공식명칭은 '신도시'(스마트시티 아님). 'Glo…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빈그룹 미명명 스마트-생태 신도시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(땀싸·빈응옭·쑤언까잉 사) | $13.8억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신규확인] 2024.7 VnExpress 기준 프로젝트명 미확정 —…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Hanoi Urban Master Plan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하이테크파크. 2026년 7월 기준 입주 프로젝트는 113건으로 늘었으나 상업용지 가동률은 42% 수준에 머무르고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113개 (2026.7.13 Nhân Dân 보도, 기존 109개에서 증가)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등록 투자자본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116조 (~US$50억, 2025년 보도 기준)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상업용지 가동률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약 42% (2026.7.13 보도), 87.7ha 미정리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VKIST (한-베 과학기술연구원)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정부간 R&amp;D협력기관, 한국 KIST 모델. 호아락 소재 한국 관련 실제 기관 (정…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부품 제조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투자자, 항공기엔진·산업용 가스터빈 부품 제조, 가동 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Nidec Group R&amp;D/생산 (2개 프로젝트)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투자자, 고성능 열모듈 R&amp;D·생산·판매, 가동 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+ FPT Corporation (총 4개 프로젝트)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재학생 3,000명 이상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대기업, 대학캠퍼스 운영 + 추가 기업 프로젝트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Innovation Centre(NIC) &amp; Vietnam Space Centre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국가기관, 과학도시 정체성의 일부로 공동 입지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27ha, 약 $13억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2026.1.16 착공, 20…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사회주택 100만 호 공급을 목표로 한다. 2026년 7월부터 SBV 지침에 따라 6.5% 개인 우대금리가 시행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주거면적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25.6㎡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도시화율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 / 75만 인구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New Township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500 ha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Group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KIND-LH 사회주택 협력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Ninh, Hai Phong | 검토 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LH공사 MOU. [Cowork 팩트체크 2026-07-16] 금주 신규 뉴스 없음 …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도시·교통·산업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2025년까지 핵심 시범 스마트도시의 국가적 확산을 주도한다. [V4.1 업데이트] 호찌민시는 2026년 7월 17일 새로운 '기후 변화 적응 장기 행동 계획(~2030)'을 발효시켰다. 이 전략에 따라 신규 도시 개발 구역에는 저탄소 친환경 건축 자재 사용이 권장되며, 스마트 배수 네트워크 구축이 최우선 인프라 과제로 편입되었다.[16]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DE7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FEF08A"/>
          </a:solidFill>
          <a:ln w="12700">
            <a:solidFill>
              <a:srgbClr val="FEF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전환. [Cowork 팩트체크 확인] '실질적 스마트도시' 표현은 실무자 인터뷰 발…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한-베 스마트시티 협력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| 한국 FDI 14건, 약 $3.16억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2026.7.3 한국 대표단(…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기후적응형 스마트 도시 모델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전역 확장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7월 17일 실행계획 적용 [16]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87개 · 프로젝트 129개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2026-07-25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2026-07-25T13:30:22Z</dcterms:created>
  <dcterms:modified xsi:type="dcterms:W3CDTF">2026-07-25T13:30:22Z</dcterms:modified>
</cp:coreProperties>
</file>