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22860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spc="2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20040" y="96012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 REPORT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627632"/>
            <a:ext cx="5029200" cy="0"/>
          </a:xfrm>
          <a:prstGeom prst="line">
            <a:avLst/>
          </a:prstGeom>
          <a:noFill/>
          <a:ln w="3175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783080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인프라 시장 동향 주간 보고서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20040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발행일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0040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05년 10일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96312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기준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96312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knowledge_index v3.4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72584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72584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마스터플랜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672584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플랜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48856" y="2377440"/>
            <a:ext cx="210312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48856" y="241401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분석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848856" y="263347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Haiku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by Area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2697480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 인프라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20040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Plans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090672" y="3566160"/>
            <a:ext cx="269748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에너지·전력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090672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Plans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61304" y="3566160"/>
            <a:ext cx="2697480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61304" y="362102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도시·교통·산업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861304" y="3895344"/>
            <a:ext cx="2697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Plans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0040" y="484632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hms4792.github.io/vietnam-infra-news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마스터플랜 KPI 목표 현황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914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마스터플랜 · KPI 10개 · 2030 목표 기준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64592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37744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08683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~29%→50%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08683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072384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45536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145536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6475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달성중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6475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80176" y="566928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3328" y="612648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상수 보급률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53328" y="768096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053328" y="1097280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4267" y="768096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24267" y="1097280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64592" y="1463040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7744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7744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237744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08683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6,000MW→3배 상향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08683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072384" y="1463040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45536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145536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3145536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16475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 MW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16475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0176" y="1463040"/>
            <a:ext cx="2834640" cy="822960"/>
          </a:xfrm>
          <a:prstGeom prst="rect">
            <a:avLst/>
          </a:prstGeom>
          <a:solidFill>
            <a:srgbClr val="FFFDE7"/>
          </a:solidFill>
          <a:ln w="25400">
            <a:solidFill>
              <a:srgbClr val="D4A01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53328" y="1508760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(2035)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053328" y="1664208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053328" y="199339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solidFill>
            <a:srgbClr val="FEF08A"/>
          </a:solidFill>
          <a:ln w="12700">
            <a:solidFill>
              <a:srgbClr val="FEF08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4267" y="1664208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신규추가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24267" y="1993392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64592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7744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37744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237744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08683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808683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3072384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145536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5536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3145536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6475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 운영중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16475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980176" y="2359152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053328" y="2404872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유입 목표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053328" y="2560320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$20B+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6053328" y="2889504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624267" y="2560320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2025: $18B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7624267" y="2889504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164592" y="3255264"/>
            <a:ext cx="2834640" cy="82296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37744" y="3300984"/>
            <a:ext cx="26883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237744" y="3456432"/>
            <a:ext cx="15590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237744" y="3785616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808683" y="3456432"/>
            <a:ext cx="107716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목표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808683" y="3785616"/>
            <a:ext cx="107716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현황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64592" y="4197096"/>
            <a:ext cx="88148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54D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= 직전 주 대비 KPI 변동사항 (해상풍력 (2030) · 원자력 (2035))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이번 주 핵심 KPI 변동사항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0" y="109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항목 = 직전 주 대비 변동 확인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82880" y="59436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59436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828800" y="59436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PDP8 해상풍력 목표 3배 상향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" y="9144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 MW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468880" y="9144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2608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2880" y="120700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(2025.4.15) GDP 성장 목표 10% 상향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82880" y="1371600"/>
            <a:ext cx="87782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2880" y="1371600"/>
            <a:ext cx="1463040" cy="292608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" y="137160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828800" y="1371600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원자력 재개 신규 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82880" y="16916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미포함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468880" y="1691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92608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(2035)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" y="1984248"/>
            <a:ext cx="8778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70-NQ/TW 닌투언 1·2호기 재개 공식화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달성률 현황 비교 (2025년 기준)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82880" y="594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상수 보급률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94560" y="66751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667512"/>
            <a:ext cx="6254496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0" y="5943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/ 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1069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94560" y="114300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143000"/>
            <a:ext cx="6122822" cy="23774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0" y="106984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 / 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" y="1545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(5,000km)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194560" y="161848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1618488"/>
            <a:ext cx="250179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15453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 / 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" y="202082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194560" y="2093976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4560" y="2093976"/>
            <a:ext cx="1645920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0" y="202082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/ 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2880" y="2496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94560" y="2569464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569464"/>
            <a:ext cx="1909267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0" y="24963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 / 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2880" y="297180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(17,032MW)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194560" y="3044952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4560" y="3044952"/>
            <a:ext cx="131674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0" y="29718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 / 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82880" y="344728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(23,900MW)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194560" y="3520440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94560" y="3520440"/>
            <a:ext cx="855878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69680" y="34472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13% / 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82880" y="3922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(46개 노선)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194560" y="3995928"/>
            <a:ext cx="6583680" cy="2377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194560" y="3995928"/>
            <a:ext cx="724205" cy="237744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69680" y="39227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 / 100%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환경 인프라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통합관리 국가전략 2025/2050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수자원법 2023 + 국가 수자원 전략 2030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 2030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인프라 국가 마스터플랜 2021~2030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개발프로그램 (Decision 1894)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VN-ENV-NATURA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자연환경 보전 전략 2030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통합관리 국가전략 2025/2050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491/QD-TTg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고형폐기물 관리 전략은 2030년까지 WtE(폐기물 에너지화) 비율을 50%로 높이고 매립 의존도를 획기적으로 낮추는 것이 핵심이다. 하노이 속선(Soc Son) WtE 발전소 준공(2025.10, 90MW)이 베트남 WtE 전략의 이정표다. EPR(생산자책임재활용) 규정 시행, 재활용 기반 강화가 중기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폐기물 수거율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(2025 목표 수준)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소각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목표 (2025), 속선 WtE 가동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매립 의존율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WtE 가동으로 현저히 감소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4,000~5,000 톤/일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10,000 톤/일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4,000 톤/일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| 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 | 600 톤/일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400 톤/일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| 1,000 톤/일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  |  환경 인프라 (Environment)  |  Decision 491/QD-TTg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VN-SWM-NATIONAL-2030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속선 (Soc Son) WtE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4,000~5,000 톤/일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90MW, 세계 2위 규모, 2025.10 준공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다프억 (Da Phuoc)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 톤/일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위생 매립 및 WtE 전환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남선 (Nam Son) WtE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톤/일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완공, 대규모 소각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 처리장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빈즈엉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 톤/일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재활용 및 WtE 병행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푸손 (Phu Son)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트어티엔후에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 톤/일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2025.11 가동, 도시폐기물 80% 처리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타일라이 (Thoi Lai)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톤/일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준공, 메콩델타 핵심 WtE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 WtE (VSIP)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 톤/일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2028년 에너지 회수 최적화 목표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쿠찌 (Cu Chi) WtE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톤/일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WtE 및 퇴비화 복합 공정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푸꾸옥 (Phu Quoc)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톤/일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도서 지역 특화 소각 및 재활용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탄호아-롱안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300→500 톤/일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용량 확장 중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수자원법 2023 + 국가 수자원 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 28/2023/QH15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베트남은 기후변화로 메콩델타 해수 침투, 홍강 유역 가뭄·홍수 교차, 지하수 과잉 채굴 등 복합 수자원 위기에 직면해 있다. 2023년 수자원법 전면 개정으로 유역통합관리(IWRM), 지하수 이용 허가제, 오염자부담 원칙이 강화됐다. ADB·세계은행 지원 하에 메콩델타 수자원 인프라 현대화가 가속 중이다.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지하수 관리 대수층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27개 완전 관리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관리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댐·저수지 안전진단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완료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 완료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 피해 GDP 비중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 미만으로 감소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연평균 1.2%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수자원 현대화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메콩델타 | 대규모 인프라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ADB·세계은행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홍수 관리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홍강 유역 | 유역통합관리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환경부 주관, IWRM 적용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MRC 모니터링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메콩강 | 예측 시스템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홍수·가뭄 조기 경보 체계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환경 인프라 (Environment)  |  Law 28/2023/QH15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1979/QD-TTg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상수도 개발전략은 2030년 도시 지역 100% 안전 수돗물 보급을 목표로 한다. ADB가 빈증성 바우방(Bau Bang) 정수장 확장($200M+), KfW가 중부 지역 상수도 현대화를 지원 중이다. 민영화(PPP·BOT) 확대로 TDM 수자원(빈증), BWS(호치민) 등 민간 사업자의 역할이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안전 상수 보급률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수준 (2025)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공급량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L/일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L/일 (2025 목표)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누수율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이하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이하 (2025 목표)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 | 600,000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500,000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250,000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| 200,000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| 80,000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| 120,000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Supply/Drainage  |  환경 인프라 (Environment)  |  Decision 1979/QD-TTg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VN-WAT-URBAN — 프로젝트 전체 목록 (20개)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송다 (Song Da)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화빈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및 인근 성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 (Thu Duc)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중심부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꺼우도 (Cau Do)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전역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(Dong Anh)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북부 신도시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 (Dong Nai)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비엔화 및 호치민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(Ninh Thuan)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판랑-탑짬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 2 (Can Tho 2)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껀터시 중심권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 (Tay Ninh)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타이닌성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 (Vung Tau)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붕따우시 전역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 (Dong Thap)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동탑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까오라인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91440" y="420624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37160" y="420624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 (Quang Tri)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3291840" y="420624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37560" y="420624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꽝찌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420624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20624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m³/일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6492240" y="420624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537960" y="420624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동하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1440" y="455371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37160" y="455371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 (Kien Giang)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3291840" y="455371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37560" y="455371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끼엔장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663440" y="455371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709160" y="455371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85,000 m³/일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6492240" y="455371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537960" y="455371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락지아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인프라 국가 마스터플랜 2021~2030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1354/QD-TTg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폐수처리 마스터플랜(2021~2030)은 도시 폐수처리율을 2025년 50%, 2030년 85%로 끌어올리는 것을 목표로 한다. 하노이·호치민·다낭 등 주요 도시 권역별 WWTP 신규·확장이 핵심이다. JICA, ADB, KfW 등 다자금융기관 ODA가 투자의 80% 이상을 차지하며, 민관협력(PPP) 확대가 정책 방향이다. 2024년 기준 하노이 폐수처리율은 약 29%로 목표(50%, 2025년)에 크게 못 미치나, 옌짜 WWTP 준공(2025.8)으로 처리 용량이 2배 이상 증가할 전망이...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 폐수처리율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~29% → 50% (하노이 옌짜 준공)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WWTP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2,900,000 m³/일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800,000 m³/일 운영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 연계 투자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$2.5B+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$690M (옌짜 준공 확정)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 | 270,000 m³/일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 | 141,000→512,000 m³/일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 | 1,100,000 m³/일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 | 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480,000 m³/일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42,000→116,000 m³/일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| 60,000 m³/일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40680" y="48874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+ 2개 추가 프로젝트 (상세 보고서 참조)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 Water  |  환경 인프라 (Environment)  |  Decision 1354/QD-TTg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11480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4572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VN-WW-2030 — 프로젝트 전체 목록 (10개)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" y="457200"/>
            <a:ext cx="32004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57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프로젝트명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91840" y="457200"/>
            <a:ext cx="13716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45720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위치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63440" y="457200"/>
            <a:ext cx="182880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457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규모/용량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457200"/>
            <a:ext cx="2560320" cy="2743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457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" y="731520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73152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옌짜 (Yen Xa)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731520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731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(Thanh Tri)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731520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9160" y="73152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270,000 m³/일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731520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73152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2025.8.19 준공, 북부 최대 시설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1440" y="1078992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" y="107899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빈흥 (Binh Hung)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91840" y="1078992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107899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(Binh Chanh)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663440" y="1078992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07899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141,000→512,000 m³/일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92240" y="1078992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107899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단계적 확장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1440" y="1426464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" y="142646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투득시 (Thu Duc)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1426464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142646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(Thu Duc)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1426464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142646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1,100,000 m³/일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492240" y="1426464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37960" y="142646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동남아 최대, MBBR 기술 적용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1440" y="1773936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37160" y="177393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탐르엉 (Tham Luong)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1840" y="1773936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37560" y="177393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(Go Vap)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1773936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177393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131,000→310,000 m³/일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92240" y="1773936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37960" y="177393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최종 확장 목표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1440" y="2121408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37160" y="212140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응우옌루 (Nhieu Loc)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91840" y="2121408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37560" y="21214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63440" y="2121408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09160" y="21214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480,000 m³/일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92240" y="2121408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37960" y="21214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2026년 완공 예정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1440" y="2468880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37160" y="2468880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박탕롱-반찌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91840" y="2468880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337560" y="246888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663440" y="2468880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09160" y="24688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42,000→116,000 m³/일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492240" y="2468880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37960" y="2468880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용량 증설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1440" y="2816352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37160" y="2816352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손짜 (Son Tra)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0" y="2816352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37560" y="2816352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2816352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09160" y="28163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60,000 m³/일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92240" y="2816352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37960" y="281635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지원, 2020년 이후 확장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440" y="3163824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7160" y="3163824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화쑤언 (Hoa Xuan)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291840" y="3163824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337560" y="316382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63440" y="3163824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09160" y="316382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 m³/일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6492240" y="3163824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537960" y="3163824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 2단계 완공 목표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91440" y="3511296"/>
            <a:ext cx="32004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" y="3511296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년짝 (Nhon Trach)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291840" y="3511296"/>
            <a:ext cx="13716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37560" y="3511296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663440" y="3511296"/>
            <a:ext cx="182880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709160" y="351129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30,000 m³/일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492240" y="3511296"/>
            <a:ext cx="2560320" cy="329184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537960" y="3511296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산업단지 연계 하수처리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91440" y="3858768"/>
            <a:ext cx="32004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37160" y="3858768"/>
            <a:ext cx="3108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푸록 (Phu Loc)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3291840" y="3858768"/>
            <a:ext cx="13716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337560" y="38587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663440" y="3858768"/>
            <a:ext cx="182880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709160" y="385876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65,000 m³/일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6492240" y="3858768"/>
            <a:ext cx="25603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537960" y="38587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바이오필터(Biofilter) 공법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VN-ENV-IND-1894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환경산업 개발프로그램 (Decision 1894)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1894/QD-TTg (September 4, 2025)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환경산업 기술 자립화 프로그램. 폐수처리·배기가스·고형폐기물 기술 국산화. 2030년 폐수처리 기술 국산화율 70~80%, 배기가스 처리 60~70% 목표. ⚠ 주의: 인프라 건설 사업이 아닌 MOIT 주관 기술산업 육성 프로그램. 2025년 9월 4일 총리가 환경산업 발전 프로그램(2025~2030)을 승인한 결정으로 즉시 발효. 환경산업을 그린성장 핵심 산업·국가 사회·경제 발전전략의 핵심 구성요소로 격상하고, 향후 별도 ‘환경산업 발전 정부령’ 제정을 위한 법·제도적 토대를 마련하는 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폐수처리 기술 국산화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70~80%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~30%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배기가스 처리 국산화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60~70%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고형폐기물 처리 국산화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50~60%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기준 ~20%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VAMM (베트남이륜차제조사협회)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빈푹성 | 축전지·타이어·윤활유·운송수단 폐기물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40680" y="1467041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13832" y="1494473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Vietnam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13832" y="1704785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호치민시 | 포장재 재활용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40680" y="1992249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13832" y="2019681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ALBA Asia + VietCycle 합작 PET/HDPE 재활용 공장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13832" y="2229993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| 연간 48,000톤 / $50M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40680" y="2517458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13832" y="2544889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한-베 자원재활용 산업단지 (KEITI MOU)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13832" y="2755201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미정 | 폐기물 처리 시스템 현대화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40680" y="3042666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307009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JICA 다낭 3R 프로젝트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28041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다낭시 하이쩌우/타인케구 | 109억 동 (2단계)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440680" y="3567874"/>
            <a:ext cx="3566160" cy="488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13832" y="359530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Thuan Thanh Environment JSC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13832" y="380561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박닌성 | 알루미늄/PET 경질 포장재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440680" y="4093083"/>
            <a:ext cx="3566160" cy="48863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13832" y="4120515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 Tan Recycling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513832" y="4330827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롱안성 | PET·HDPE·PP 플라스틱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 |  환경 인프라 (Environment)  |  Decision 1894/QD-TTg (September 4, 2025)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VN-ENV-NATURA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자연환경 보전 전략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149/QD-TTg (2022.1.28)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생물다양성 보전 + 자연자원 지속가능 이용 국가전략. 2030년까지 보호구역 9% (육상)/3-5% (해양) 확대, 적색목록종 복원, 베트남-Cat Tien NP·Phong Nha-Ke Bang 등 국립공원 운영 강화 목표. GEF·UNDP·KOICA 등 국제협력으로 지원되며, 베트남 환경부(MoNRE) 주관.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 보호구역 비율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7.6%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해양 보호구역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3~5%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0.24%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적색목록종 복원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회복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Tien 국립공원 보전 프로젝트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Nai | 72,000 ha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WWF·USAID 지원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Phong Nha-Ke Bang World Heritage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Quang Binh | 123,000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UNESCO 등재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GEF-7 Biodiversity Project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5개 지역 | $15M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GEF/UNDP 공동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 |  환경 인프라 (Environment)  |  Decision 149/QD-TTg (2022.1.28)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에너지·전력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&amp; Power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석유가스 개발전략 2030 — PVN 국가 에너지 안보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인수보장 + 닌투언 LNG 허브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재개 — Resolution 70-NQ/TW (2025) / 닌투언 1·2호기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개정 — 해상풍력·태양광·DPPA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(통합)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VN-OG-2030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석유가스 개발전략 2030 — PVN 국가 에너지 안보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국가 에너지 안보전략 2030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석유가스공사(PVN)는 바흐호(Bach Ho)·람손(Rang Dong) 등 노후 유전 생산 감소에 대응해 심해 탐사(113·115·129 블록)와 LNG 공급망 구축을 병행 추진 중이다. 국내 가스전(Ca Mau·Nam Con Son)을 LNG 발전소와 연계하는 통합 공급망이 핵심 전략이다.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원유 생산량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8~10백만 톤/년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11백만 톤/년 (유지 목표)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생산량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13~15억 m³/년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10억 m³/년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의존도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국내 가스 우선 활용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톤/년 수입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바흐호 유전 (Bach Ho)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해상 | 원유 생산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노후화 대응, 심해 탐사 병행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113·115·129 블록 탐사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심해 | 탐사 단계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PVN 주도, 국제 컨소시엄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가스전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해상 | 국내 공급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발전소 연계 통합 공급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남콘손 파이프라인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남부 해상 | 파이프라인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 육상 이송 핵심 인프라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 &amp; Gas  |  에너지·전력 (Energy &amp; Power)  |  PVN 국가 에너지 안보전략 2030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VN-PWR-PDP8-LNG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인수보장 + 닌투언 LNG 허브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100/2025/ND-CP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Decree 100(2025)은 LNG 발전사업의 최소 연간 발전량 65% 인수를 보장하는 정부 보증을 법제화해 외국인 투자자의 진입 장벽을 크게 낮췄다. 닌투언LNG 복합터미널, 박류-탄호아 LNG 등 대형 프로젝트가 FID(최종투자결정) 단계에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수입 터미널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8개소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2개소 운영 중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LNG 발전 용량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3,000 MW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LNG 수입량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14백만 톤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2백만 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LNG 복합터미널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LNG 허브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 추진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박류-탄호아 LNG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탄호아성 | 대규모 LNG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 단계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티바이 LNG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바리아붕따우 | LNG 터미널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2023년 운영 개시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 LNG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까마우성 | LNG 발전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가스전 연계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Decree 100/2025/ND-CP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VN-PWR-PDP8-NUCLEAR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재개 — Resolution 70-NQ/TW (2025) / 닌투언 1·2호기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70-NQ/TW (2025)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정치국 결의(Resolution 70)로 2010년 중단된 원자력 재개 추진이 공식화됐다. 닌투언 1호기(러시아 Rosatom, 2,000MW)와 2호기(일본 ADB 컨소시엄) 개발 재개가 확정됐으며, 소형모듈원전(SMR) 도입도 검토 중이다. 에너지 안보·탄소중립 이중 과제 대응이 배경이다.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원자력 발전 용량(2035)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MW (2035 목표)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추가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Rosatom, 재개 확정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컨소시엄, 협의 중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1호기 (Rosatom)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러시아 기술, 2025 재개 확정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2호기 (Japan)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2,000 MW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ADB 컨소시엄, 협의 진행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SMR 소형모듈원전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검토 중 | 미정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2040년대 도입 검토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Resolution 70-NQ/TW (2025)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VN-PWR-PDP8-RENEWABLE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개정 — 해상풍력·태양광·DPPA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768/QD-TTg (2025.4.15)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4월 Decision 768로 PDP8이 전면 개정됐다. GDP 성장률 목표 7%→10% 상향이 전력 수요 재계산을 촉발했으며, 해상풍력 목표가 3배 가까이 늘었다. Decree 57(DPPA·직접전력구매계약) 시행으로 RE100 기업의 재생에너지 직구매가 가능해졌다. 2030년까지 총 투자 $134.7B 규모다.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6,000MW → 3배 상향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육상풍력(2030)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38,029 MW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21,880MW (PDP8 원안) 대폭 상향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태양광(2030)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GW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26,046MW → 대폭 상향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Zone 1~6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남중국해 연안 | 17,032 MW (2030)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Equinox/Orsted/Viet Dragon 입찰 준비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 태양광 단지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닌투언성 | 73 GW (2030 누적)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FiT→경쟁입찰 전환 추진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 배터리 저장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10,000 MW (2030)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768 신규 대폭 상향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DPPA 직접구매 시장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시장 개방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삼성·인텔 등 RE100 계약 추진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Decision 768/QD-TTg (2025.4.15)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VN-PWR-PDP8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전력개발계획 PDP8 (통합)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500/QD-TTg (2023.5.15) + 768 (2025.4.15)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— 베트남 8차 전력개발계획. 2030년까지 발전설비 150GW (재생 50% 이상), 2050년 567~635GW (재생 67~71%) 목표. 2025년 4월 Decision 768로 개정되어 GDP 7%→10% 상향에 따른 전력수요 재계산, 해상풍력 6→17GW 3배 상향, 석탄발전 단계적 폐지 가속, 원자력 재개(닌투언 1·2호기) 반영. 하위 플랜: VN-PWR-PDP8-RENEWABLE (해상풍력·태양광), VN-PWR-PDP8-LNG (LNG 인수보장), VN-PWR-PDP8-...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발전설비 (2030)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150,489 MW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80,555 MW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재생에너지 비중 (2030)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30~39%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13.7%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해상풍력 (2030)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17,032 MW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MW (계획 중)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PDP8 통합 마스터 시나리오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| $135B 투자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하위 3개 플랜 통합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 |  에너지·전력 (Energy &amp; Power)  |  Decision 500/QD-TTg (2023.5.15) + 768 (2025.4.15)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도시·교통·산업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&amp; Transport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2423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포함 마스터플랜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977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VN-HAN-URBAN-2045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277977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255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325526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 — FDI 유입 핵심 거점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9417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73075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373075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교통인프라 마스터플랜 2021~2030, Vision 2050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169664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0624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4206240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 — 하노이·호치민 15개 노선 계획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68172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VN-HAN-DONG-ANH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286000" y="4681728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스마트시티 (Dong Anh Smart City)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157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VN-HAN-HOA-LAC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286000" y="5157216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호아락 하이테크파크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596128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632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VN-HOUSING-2030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5632704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주택 개발 계획 2030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6071616"/>
            <a:ext cx="8229600" cy="384048"/>
          </a:xfrm>
          <a:prstGeom prst="rect">
            <a:avLst/>
          </a:prstGeom>
          <a:solidFill>
            <a:srgbClr val="132038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10819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VN-SMART-2025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86000" y="6108192"/>
            <a:ext cx="6309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국가전략 2025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VN-HAN-URBAN-2045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1668/QD-TTg (2024.12)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2024년 12월 Decision 1668로 확정된 하노이 도시개발 마스터플랜 2045/2065는 9×9×9 다핵다중심 클러스터 모델을 적용해 5대 도시권·7개 위성도시를 체계화한다. 총 투자 $2.5T(2026~2045), 인구 2045년 최대 16M 수용이 목표다. 링로드4(113km, $3.6B) 착공이 서막이며, 홍강 양안 신도시, 또리히강 정화, 15개 메트로 노선이 핵심이다.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도시개발 총투자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$2.5T (2026~2045)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1668 확정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16M명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8.5M명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완공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2027년 전체 완공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 (Urban &amp; Transport)  |  Decision 1668/QD-TTg (2024.12)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VN-IP-NORTH-2030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 — FDI 유입 핵심 거점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개발계획 2030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북부 산업단지 클러스터(하이퐁·박닌·타이응우옌·박장·흥옌)는 삼성·LG·인텔·폭스콘 등 글로벌 전자·반도체 공급망의 핵심 기지다. VSIP(베트남-싱가포르 산업단지)는 19개 단지를 운영 중이며, 타이빈성 신규 착공으로 확장 중이다. 2025~2030년 반도체·배터리·첨단제조 클러스터 집중 육성이 정책 방향이다.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단지 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25개 이상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운영 (타이빈 신규 착공)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첨단산업 비중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이상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전자·반도체 집중 육성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FDI 유입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$20B 이상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2025년 $18B 수준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VSIP 타이빈 (신규)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타이빈성 | 신규 착공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19번째 VSIP 단지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C 하이퐁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1,300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외국인 투자 선호 1순위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 SDI 배터리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타이응우옌 | EV 배터리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스마트폰→EV 공급망 전환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폭스콘 박장 확장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박장성 | 반도체 부품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애플 공급망 핵심 거점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인텔 하이퐁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반도체 패키징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외투 반도체 시설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도시·교통 (Urban &amp; Transport)  |  북부 산업단지 개발계획 2030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VN-TRAN-2055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교통인프라 마스터플랜 2021~2030, Vision 2050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1454/QD-TTg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교통인프라 마스터플랜은 2030년 고속도로 5,000km, 항구·공항 대규모 확충을 목표로 한다. 롱탄 국제공항($18B, 4단계)은 핵심 메가프로젝트로 2026년 1단계 개항이 목전이다. 하노이 링로드4, 호치민 링로드3·고가도로, 라크후옌 항구 확장이 병행 추진 중이다. PPP(BOT) 방식 확대로 민간 참여가 증가하고 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고속도로 총연장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 km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1,892 km (2025 실적)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롱탄공항 개항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25M PAX/년 (1단계)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상업운항 목표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공항 네트워크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공항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22개 운영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롱탄 국제공항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동나이성 | 25M PAX (1단계)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2026.06 개항 목표, $18B (4단계)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(호치민)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광역 | 200km, $5.4B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병행도로 2026.6 개통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링로드4 (하노이)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113km, $3.6B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착공 진행 중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라크후옌 항구 2단계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하이퐁 | 심해 컨테이너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국제 화물 허브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1호선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 완료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  |  도시·교통 (Urban &amp; Transport)  |  Decision 1454/QD-TTg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VN-URB-METRO-2030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 — 하노이·호치민 15개 노선 계획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도시철도 국가전략 2030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하노이와 호치민은 각각 2030년까지 메트로 15개·8개 노선 완성을 목표로 하지만 재원조달·용지보상·기술역량 부족으로 지연이 상시적이다. 하노이 2A(껫린~하동)·3(못처~하노이역 부분) 운영 중이고, 1·2B·4호선이 건설 중이다. 호치민 1호선(벤탄~수오이티엔)은 2024년 말 개통됐다.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메트로 목표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15개 노선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2A·3호선 운영, 1·2B 건설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메트로 목표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8개 노선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1호선 2024.12 개통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도시철도 목표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46개 노선 3,045km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5개 노선 운영/건설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2A (껫린~하동)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13km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 (2021)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3 (못처~하노이역)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부분 운영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운영 중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1호선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38.7km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2027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2B·4호선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| 계획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이후 단계별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440680" y="3575304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13832" y="3602736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1호선 (벤탄~수오이티엔)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513832" y="38130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19.7km, 14역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513832" y="395935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2024.12 개통, 운영 중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440680" y="4233672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13832" y="426110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2호선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5513832" y="44714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| 11.3km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513832" y="46177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건설 중, ODA 확보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 (Urban &amp; Transport)  |  도시철도 국가전략 2030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VN-HAN-DONG-ANH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동아인 스마트시티 (Dong Anh Smart City)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Urban Master Plan 2045 — Dong Anh North Urban Cluster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도시개발 마스터플랜 2045/2065 하위 — 북부 동아인(Dong Anh) 신도시. 하노이 북부 노이바이 공항 인근 4,200ha 부지, 인구 30~40만 수용 신도시 개발. Sumitomo(일본)·BRG Group(베트남) 합작 BRG-Sumitomo Smart City($4B), Vingroup Co Loa Smart City 등 대형 프로젝트 추진. 2045년 인구 87만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신도시 부지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4,200 ha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계획·인허가 단계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인구 수용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30~40만 (2045)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4.2만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투자 규모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$4B+ (BRG-Sumitomo)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단계별 진입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BRG-Sumitomo Smart City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272 ha / $4B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일본 ODA + 민간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Co Loa Smart City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385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 자체개발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Exhibition Center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Dong Anh | 90 ha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개관 목표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 (Urban &amp; Transport)  |  Hanoi Urban Master Plan 2045 — Dong Anh North Urban Cluster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VN-HAN-HOA-LAC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호아락 하이테크파크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274/QD-TTg (1998) + 1626/QD-TTg (2024 개정)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서부 1,586ha 국가 하이테크파크. ICT·반도체·바이오·R&amp;D 클러스터로 육성. 삼성·인텔·FPT·LG·VinFast 입주. 2023년 11월 하노이 인민위 이관으로 인허가 가속. KIST(한국과학기술연구원) Vietnam Campus, 베트남-한국 R&amp;D 센터 등 한국 협력 거점. 2030년까지 입주기업 800개, 매출 $30B 목표.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입주 기업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800개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113개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연간 매출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$1.6B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고용 인원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15만명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2.5만명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R&amp;D Center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$220M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 가동, 동남아 최대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 Vietnam Campus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$70M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KIST 분원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FPT Software HQ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30,000명 수용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440680" y="2916936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13832" y="2944368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Hanwha Aerospace 위성 R&amp;D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13832" y="31546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Hoa Lac | 검토 중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13832" y="330098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협력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Parks  |  도시·교통 (Urban &amp; Transport)  |  Decision 274/QD-TTg (1998) + 1626/QD-TTg (2024 개정)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VN-HOUSING-2030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국가 주택 개발 계획 2030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2161/QD-TTg (2021.12.22)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국가 주택 개발 전략 2030. 2030년까지 1인당 주거면적 30㎡, 도시화율 50%, 사회주택 100만호 공급 목표. 호치민·하노이 등 5대 도시권에 집중 공급. Decree 100/2024는 사회주택 인센티브 (토지비 면제, 법인세 감면, 신용 우대)를 강화하여 민간투자 유도. Vinhomes·Sun Group·Novaland 등 대형 디벨로퍼 주도. KIND·LH공사 협력 사업 진행 중.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1인당 주거면적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30㎡ (2030)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25.6㎡ (2024)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도시화율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사회주택 공급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100만호 (2030)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25만호 누적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Vinhomes Ocean Park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Hung Yen | 1,200 ha / 75만 인구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Vingroup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Ecopark New Township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Hung Yen | 500 ha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Ecopark Group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KIND-LH 사회주택 협력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 Ninh, Hai Phong | 검토 중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LH공사 MOU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  |  도시·교통 (Urban &amp; Transport)  |  Decision 2161/QD-TTg (2021.12.22)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VN-SMART-2025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828800" y="18288"/>
            <a:ext cx="7132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국가전략 2025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950/QD-TTg (2018.8.1)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0" y="621792"/>
            <a:ext cx="91440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85800"/>
            <a:ext cx="521208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" y="68580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사업 개요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0" y="941832"/>
            <a:ext cx="5212080" cy="1417320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" y="978408"/>
            <a:ext cx="502920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베트남 스마트시티 국가전략. 2025년까지 6개 핵심도시(하노이·호치민·다낭·껀터·하이퐁·후에) 스마트시티 시범 모델 완성, 2030년까지 전국 30개 도시로 확산. 디지털 정부, IoT 도시 인프라, AI 교통관제, 스마트 미터링 등 6개 핵심 분야. 한국 KOICA·KIND·KT·SK텔레콤·LG CNS 등 ICT 기업 진출 활발. 2024년 디지털전환 로드맵(Decision 749) 통합으로 가속.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0" y="2377440"/>
            <a:ext cx="5212080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" y="2377440"/>
            <a:ext cx="5065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KPI 목표 및 현황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스마트시티 시범 도시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4864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(2025)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 (2024 진행 중)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755648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10512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전국 확산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10512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(2030)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10512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12개 (2024)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11296" y="2651760"/>
            <a:ext cx="1700784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66160" y="2688336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디지털정부 지수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66160" y="2871216"/>
            <a:ext cx="15910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(UN EGDI)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136392"/>
            <a:ext cx="1591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86위 (2024)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40680" y="685800"/>
            <a:ext cx="3566160" cy="256032"/>
          </a:xfrm>
          <a:prstGeom prst="rect">
            <a:avLst/>
          </a:prstGeom>
          <a:solidFill>
            <a:srgbClr val="0C2340"/>
          </a:solidFill>
          <a:ln w="12700">
            <a:solidFill>
              <a:srgbClr val="0C23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13832" y="685800"/>
            <a:ext cx="34198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주요 프로젝트 목록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40680" y="941832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13832" y="969264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하노이 스마트시티 통합운영센터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13832" y="117957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Hanoi | $50M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513832" y="132588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가동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600200"/>
            <a:ext cx="35661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13832" y="1627632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호치민 IoT 통합 플랫폼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513832" y="1837944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HCMC | $200M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513832" y="1984248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디지털 전환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40680" y="2258568"/>
            <a:ext cx="3566160" cy="621792"/>
          </a:xfrm>
          <a:prstGeom prst="rect">
            <a:avLst/>
          </a:prstGeom>
          <a:solidFill>
            <a:srgbClr val="F8F9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13832" y="2286000"/>
            <a:ext cx="34198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다낭 AI 교통관제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13832" y="2496312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Nang | $30M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513832" y="2642616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 협력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 |  도시·교통 (Urban &amp; Transport)  |  Decision 950/QD-TTg (2018.8.1)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C2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73152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Vietnam Infrastructure MI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4630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Report Pipeline · SA-8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20116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19개 마스터플랜 · KPI 76개 · 프로젝트 99개 — knowledge_index 기반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매주 토요일 KST 22:00 자동 생성 — Claude Haiku AI 기사 분석 연계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517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 (사업 개요 고정) + Layer 2 (AI 동적 분석) 이중 레이어 구조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29718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노란색 하이라이트 = KPI 변동 자동 감지 · 이메일 자동 첨부 발송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490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대시보드: hms4792.github.io/vietnam-infra-news/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Vietnam Infrastructure MI Weekly Report 2026-05-10</dc:title>
  <dc:subject>Vietnam Infrastructure Market Intelligence</dc:subject>
  <dc:creator>Claude SA-8 Auto-Report</dc:creator>
  <cp:lastModifiedBy>Claude SA-8 Auto-Report</cp:lastModifiedBy>
  <cp:revision>1</cp:revision>
  <dcterms:created xsi:type="dcterms:W3CDTF">2026-05-10T08:18:04Z</dcterms:created>
  <dcterms:modified xsi:type="dcterms:W3CDTF">2026-05-10T08:18:04Z</dcterms:modified>
</cp:coreProperties>
</file>