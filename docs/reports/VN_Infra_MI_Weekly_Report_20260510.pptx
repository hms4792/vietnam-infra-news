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276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500" kern="0" dirty="0">
                <a:solidFill>
                  <a:srgbClr val="7E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 REPORT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02996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0CF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인프라 시장 분석 주간 보고서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15240">
            <a:solidFill>
              <a:srgbClr val="2E6A9A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457200" y="2743200"/>
            <a:ext cx="2560320" cy="777240"/>
          </a:xfrm>
          <a:prstGeom prst="rect">
            <a:avLst/>
          </a:prstGeom>
          <a:solidFill>
            <a:srgbClr val="1B3A5C"/>
          </a:solidFill>
          <a:ln w="12700">
            <a:solidFill>
              <a:srgbClr val="2E6A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2798064"/>
            <a:ext cx="2340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발행일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66928" y="2980944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2026-05-10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18688" y="2743200"/>
            <a:ext cx="2560320" cy="777240"/>
          </a:xfrm>
          <a:prstGeom prst="rect">
            <a:avLst/>
          </a:prstGeom>
          <a:solidFill>
            <a:srgbClr val="1B3A5C"/>
          </a:solidFill>
          <a:ln w="12700">
            <a:solidFill>
              <a:srgbClr val="2E6A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28416" y="2798064"/>
            <a:ext cx="2340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 기간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328416" y="2980944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2026-W19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980176" y="2743200"/>
            <a:ext cx="2560320" cy="777240"/>
          </a:xfrm>
          <a:prstGeom prst="rect">
            <a:avLst/>
          </a:prstGeom>
          <a:solidFill>
            <a:srgbClr val="1B3A5C"/>
          </a:solidFill>
          <a:ln w="12700">
            <a:solidFill>
              <a:srgbClr val="2E6A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89904" y="2798064"/>
            <a:ext cx="2340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(신규 82건)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089904" y="2980944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449건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57200" y="3703320"/>
            <a:ext cx="8229600" cy="274320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03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이번 주 신규 기사 82건 — 슬라이드 내 노란색 배지로 표시  /  기존 기사는 회색 배지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4A7B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—  내부 참고용  —  SA-8 자동 생성 (Claude Haiku)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  차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20040" y="530352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 기간: 2026-W19  |  전체 21개 마스터플랜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498080" y="10972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2026-05-10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of Contents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320040" y="822960"/>
            <a:ext cx="2743200" cy="310896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82296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0" y="822960"/>
            <a:ext cx="2743200" cy="310896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0" y="82296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Develop.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80760" y="822960"/>
            <a:ext cx="2743200" cy="310896"/>
          </a:xfrm>
          <a:prstGeom prst="rect">
            <a:avLst/>
          </a:prstGeom>
          <a:solidFill>
            <a:srgbClr val="4A3B8C"/>
          </a:solidFill>
          <a:ln w="12700">
            <a:solidFill>
              <a:srgbClr val="4A3B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80760" y="82296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Develop.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20040" y="530352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 시장 종합 분석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498080" y="10972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2026-05-10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320040" y="749808"/>
            <a:ext cx="2377440" cy="201168"/>
          </a:xfrm>
          <a:prstGeom prst="rect">
            <a:avLst/>
          </a:prstGeom>
          <a:solidFill>
            <a:srgbClr val="FFF9C4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7498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AI 신규 분석  |  신규 기사 82건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20040" y="1024128"/>
            <a:ext cx="45720" cy="3090672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9768" y="1024128"/>
            <a:ext cx="8394192" cy="3090672"/>
          </a:xfrm>
          <a:prstGeom prst="rect">
            <a:avLst/>
          </a:prstGeom>
          <a:noFill/>
          <a:ln/>
        </p:spPr>
        <p:txBody>
          <a:bodyPr wrap="square" lIns="76200" tIns="101600" rIns="101600" bIns="7620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베트남 인프라 시장 주간 Executive Summary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 2026년 5월 2주차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**시장 동향 분석**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인프라 시장은 외교 강화와 브랜드 가치 제고 중심으로 재편되고 있습니다. 동남아 e스포츠 네이션스컵 연간 개최 결정은 인도-태평양 전략 차원의 교통·통신 인프라 고도화 신호입니다. 인도·스리랑카와의 전략적 관계 심화는 메콩 지역 연결성 투자 확대를 예고하며, 결의안 68은 베트남 기업의 글로벌 공급망 참여 확대로 물류·항만 인프라 수요 증가를 의미합니다.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**부문별 전망**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에너지 부문은 라오스의 전력 공급 애로가 역내 그리드 협력 필요성을 대두시키고 있어, 베트남의 에너지 거래소 확대 기회가 증대됩니다. 교통·물류는 국제 행사 유치와 브랜드 강화에 따른 공항·항만 현대화 수요가 가시화되는 상황입니다.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**투자자 권고사항**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메콩 지역 연결성 강화와 에너지 인프라 협력이 중기 성장축입니다. 항만·공항·통신 분야 프로젝트 발굴을 적극 추진하되, 라오스 에너지 수입 의존도 증가 추세에 주목하여 지역 에너지 거래 구조 변화에 대응할 필요가 있습니다.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223760" y="1024128"/>
            <a:ext cx="1572768" cy="694944"/>
          </a:xfrm>
          <a:prstGeom prst="rect">
            <a:avLst/>
          </a:prstGeom>
          <a:solidFill>
            <a:srgbClr val="F0F4F8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78624" y="106984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누적 기사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278624" y="1280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449건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223760" y="1755648"/>
            <a:ext cx="1572768" cy="694944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78624" y="180136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 신규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7278624" y="20116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82건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223760" y="2487168"/>
            <a:ext cx="1572768" cy="694944"/>
          </a:xfrm>
          <a:prstGeom prst="rect">
            <a:avLst/>
          </a:prstGeom>
          <a:solidFill>
            <a:srgbClr val="F0F4F8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78624" y="25328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 플랜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278624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21개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223760" y="3218688"/>
            <a:ext cx="1572768" cy="694944"/>
          </a:xfrm>
          <a:prstGeom prst="rect">
            <a:avLst/>
          </a:prstGeom>
          <a:solidFill>
            <a:srgbClr val="F0F4F8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78624" y="326440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변동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278624" y="34747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0개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대시보드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20040" y="530352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마스터플랜 진행단계 및 기사 수집 현황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498080" y="10972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2026-05-10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Dashboard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320040" y="777240"/>
            <a:ext cx="2743200" cy="960120"/>
          </a:xfrm>
          <a:prstGeom prst="rect">
            <a:avLst/>
          </a:prstGeom>
          <a:solidFill>
            <a:srgbClr val="E0F0EF"/>
          </a:solidFill>
          <a:ln w="12700">
            <a:solidFill>
              <a:srgbClr val="0D6E6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777240"/>
            <a:ext cx="2743200" cy="256032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7772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93192" y="1069848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D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0개 플랜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93192" y="1289304"/>
            <a:ext cx="2596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0건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200400" y="777240"/>
            <a:ext cx="2743200" cy="960120"/>
          </a:xfrm>
          <a:prstGeom prst="rect">
            <a:avLst/>
          </a:prstGeom>
          <a:solidFill>
            <a:srgbClr val="E3EDF8"/>
          </a:solidFill>
          <a:ln w="12700">
            <a:solidFill>
              <a:srgbClr val="1B4F8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0" y="777240"/>
            <a:ext cx="2743200" cy="256032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0" y="7772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Develop.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273552" y="1069848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0개 플랜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273552" y="1289304"/>
            <a:ext cx="2596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0건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80760" y="777240"/>
            <a:ext cx="2743200" cy="960120"/>
          </a:xfrm>
          <a:prstGeom prst="rect">
            <a:avLst/>
          </a:prstGeom>
          <a:solidFill>
            <a:srgbClr val="EDE9F8"/>
          </a:solidFill>
          <a:ln w="12700">
            <a:solidFill>
              <a:srgbClr val="4A3B8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80760" y="777240"/>
            <a:ext cx="2743200" cy="256032"/>
          </a:xfrm>
          <a:prstGeom prst="rect">
            <a:avLst/>
          </a:prstGeom>
          <a:solidFill>
            <a:srgbClr val="4A3B8C"/>
          </a:solidFill>
          <a:ln w="12700">
            <a:solidFill>
              <a:srgbClr val="4A3B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80760" y="7772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Develop.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153912" y="1069848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3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0개 플랜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153912" y="1289304"/>
            <a:ext cx="2596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0건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20040" y="1847088"/>
            <a:ext cx="8503920" cy="219456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0040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마스터플랜 ID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2148840" y="1847088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영역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3108960" y="1847088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4251960" y="184708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누적 기사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5349240" y="1847088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신규 기사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6309360" y="184708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관찰 포인트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320040" y="2066544"/>
            <a:ext cx="8503920" cy="175565"/>
          </a:xfrm>
          <a:prstGeom prst="rect">
            <a:avLst/>
          </a:prstGeom>
          <a:solidFill>
            <a:srgbClr val="FFF9C4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7472" y="2066544"/>
            <a:ext cx="17739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176272" y="2066544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3136392" y="2066544"/>
            <a:ext cx="10881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계획·승인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279392" y="2066544"/>
            <a:ext cx="104241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191건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5376672" y="2066544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10건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6336792" y="2066544"/>
            <a:ext cx="24597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입찰 공고 또는 EPC 계약 발표 여부 확인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320040" y="2244852"/>
            <a:ext cx="8503920" cy="175565"/>
          </a:xfrm>
          <a:prstGeom prst="rect">
            <a:avLst/>
          </a:prstGeom>
          <a:solidFill>
            <a:srgbClr val="FFF9C4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7472" y="2244852"/>
            <a:ext cx="17739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VN-PWR-PDP8-RENEWABLE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176272" y="2244852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3136392" y="2244852"/>
            <a:ext cx="10881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미확정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4279392" y="2244852"/>
            <a:ext cx="104241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150건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5376672" y="2244852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8건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336792" y="2244852"/>
            <a:ext cx="24597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신재생에너지 사업 관련 기사 추적 필요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320040" y="2423160"/>
            <a:ext cx="8503920" cy="175565"/>
          </a:xfrm>
          <a:prstGeom prst="rect">
            <a:avLst/>
          </a:prstGeom>
          <a:solidFill>
            <a:srgbClr val="FFF9C4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7472" y="2423160"/>
            <a:ext cx="17739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VN-PWR-PDP8-LNG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2176272" y="2423160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3136392" y="2423160"/>
            <a:ext cx="10881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미확정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4279392" y="2423160"/>
            <a:ext cx="104241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156건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5376672" y="2423160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7건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6336792" y="2423160"/>
            <a:ext cx="24597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VN-PWR-PDP8-LNG 관련 공식 발표 확인 필요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320040" y="2601468"/>
            <a:ext cx="8503920" cy="175565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7472" y="2601468"/>
            <a:ext cx="17739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VN-PWR-PDP8-GRID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2176272" y="2601468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3136392" y="2601468"/>
            <a:ext cx="10881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미확정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4279392" y="2601468"/>
            <a:ext cx="104241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7건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5376672" y="2601468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6336792" y="2601468"/>
            <a:ext cx="24597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320040" y="2779776"/>
            <a:ext cx="8503920" cy="17556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47472" y="2779776"/>
            <a:ext cx="17739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VN-PWR-PDP8-NUCLEAR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2176272" y="2779776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3136392" y="2779776"/>
            <a:ext cx="10881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미확정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4279392" y="2779776"/>
            <a:ext cx="104241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5건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5376672" y="2779776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6336792" y="2779776"/>
            <a:ext cx="24597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원전 관련 공식 발표 추적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320040" y="2958084"/>
            <a:ext cx="8503920" cy="175565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47472" y="2958084"/>
            <a:ext cx="17739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VN-PWR-PDP8-HYDROGEN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2176272" y="2958084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3136392" y="2958084"/>
            <a:ext cx="10881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미확정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4279392" y="2958084"/>
            <a:ext cx="104241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0건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5376672" y="2958084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6336792" y="2958084"/>
            <a:ext cx="24597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320040" y="3136392"/>
            <a:ext cx="8503920" cy="175565"/>
          </a:xfrm>
          <a:prstGeom prst="rect">
            <a:avLst/>
          </a:prstGeom>
          <a:solidFill>
            <a:srgbClr val="FFF9C4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47472" y="3136392"/>
            <a:ext cx="17739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VN-OG-2030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2176272" y="3136392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3136392" y="3136392"/>
            <a:ext cx="10881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미확정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4279392" y="3136392"/>
            <a:ext cx="104241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29건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5376672" y="3136392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1건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6336792" y="3136392"/>
            <a:ext cx="24597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VN-OG-2030 관련 공식 발표 모니터링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320040" y="3314700"/>
            <a:ext cx="8503920" cy="175565"/>
          </a:xfrm>
          <a:prstGeom prst="rect">
            <a:avLst/>
          </a:prstGeom>
          <a:solidFill>
            <a:srgbClr val="FFF9C4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47472" y="3314700"/>
            <a:ext cx="17739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VN-WW-2030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176272" y="3314700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3136392" y="3314700"/>
            <a:ext cx="10881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계획·승인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4279392" y="3314700"/>
            <a:ext cx="104241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3건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5376672" y="3314700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1건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6336792" y="3314700"/>
            <a:ext cx="24597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입찰 공고 또는 EPC 계약 발표 여부 확인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320040" y="3493008"/>
            <a:ext cx="8503920" cy="175565"/>
          </a:xfrm>
          <a:prstGeom prst="rect">
            <a:avLst/>
          </a:prstGeom>
          <a:solidFill>
            <a:srgbClr val="FFF9C4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347472" y="3493008"/>
            <a:ext cx="17739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VN-WAT-RESOURCES</a:t>
            </a:r>
            <a:endParaRPr lang="en-US" sz="700" dirty="0"/>
          </a:p>
        </p:txBody>
      </p:sp>
      <p:sp>
        <p:nvSpPr>
          <p:cNvPr id="89" name="Text 87"/>
          <p:cNvSpPr/>
          <p:nvPr/>
        </p:nvSpPr>
        <p:spPr>
          <a:xfrm>
            <a:off x="2176272" y="3493008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3136392" y="3493008"/>
            <a:ext cx="10881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계획·승인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4279392" y="3493008"/>
            <a:ext cx="104241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8건</a:t>
            </a:r>
            <a:endParaRPr lang="en-US" sz="700" dirty="0"/>
          </a:p>
        </p:txBody>
      </p:sp>
      <p:sp>
        <p:nvSpPr>
          <p:cNvPr id="92" name="Text 90"/>
          <p:cNvSpPr/>
          <p:nvPr/>
        </p:nvSpPr>
        <p:spPr>
          <a:xfrm>
            <a:off x="5376672" y="3493008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2건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6336792" y="3493008"/>
            <a:ext cx="24597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입찰 공고 또는 EPC 계약 발표 여부 확인</a:t>
            </a:r>
            <a:endParaRPr lang="en-US" sz="700" dirty="0"/>
          </a:p>
        </p:txBody>
      </p:sp>
      <p:sp>
        <p:nvSpPr>
          <p:cNvPr id="94" name="Shape 92"/>
          <p:cNvSpPr/>
          <p:nvPr/>
        </p:nvSpPr>
        <p:spPr>
          <a:xfrm>
            <a:off x="320040" y="3671316"/>
            <a:ext cx="8503920" cy="175565"/>
          </a:xfrm>
          <a:prstGeom prst="rect">
            <a:avLst/>
          </a:prstGeom>
          <a:solidFill>
            <a:srgbClr val="FFF9C4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47472" y="3671316"/>
            <a:ext cx="17739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VN-WAT-URBAN</a:t>
            </a:r>
            <a:endParaRPr lang="en-US" sz="700" dirty="0"/>
          </a:p>
        </p:txBody>
      </p:sp>
      <p:sp>
        <p:nvSpPr>
          <p:cNvPr id="96" name="Text 94"/>
          <p:cNvSpPr/>
          <p:nvPr/>
        </p:nvSpPr>
        <p:spPr>
          <a:xfrm>
            <a:off x="2176272" y="3671316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97" name="Text 95"/>
          <p:cNvSpPr/>
          <p:nvPr/>
        </p:nvSpPr>
        <p:spPr>
          <a:xfrm>
            <a:off x="3136392" y="3671316"/>
            <a:ext cx="10881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계획·승인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4279392" y="3671316"/>
            <a:ext cx="104241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7건</a:t>
            </a:r>
            <a:endParaRPr lang="en-US" sz="700" dirty="0"/>
          </a:p>
        </p:txBody>
      </p:sp>
      <p:sp>
        <p:nvSpPr>
          <p:cNvPr id="99" name="Text 97"/>
          <p:cNvSpPr/>
          <p:nvPr/>
        </p:nvSpPr>
        <p:spPr>
          <a:xfrm>
            <a:off x="5376672" y="3671316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2건</a:t>
            </a:r>
            <a:endParaRPr lang="en-US" sz="700" dirty="0"/>
          </a:p>
        </p:txBody>
      </p:sp>
      <p:sp>
        <p:nvSpPr>
          <p:cNvPr id="100" name="Text 98"/>
          <p:cNvSpPr/>
          <p:nvPr/>
        </p:nvSpPr>
        <p:spPr>
          <a:xfrm>
            <a:off x="6336792" y="3671316"/>
            <a:ext cx="24597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입찰 공고 또는 EPC 계약 발표 여부 확인</a:t>
            </a:r>
            <a:endParaRPr lang="en-US" sz="700" dirty="0"/>
          </a:p>
        </p:txBody>
      </p:sp>
      <p:sp>
        <p:nvSpPr>
          <p:cNvPr id="101" name="Shape 99"/>
          <p:cNvSpPr/>
          <p:nvPr/>
        </p:nvSpPr>
        <p:spPr>
          <a:xfrm>
            <a:off x="320040" y="3849624"/>
            <a:ext cx="8503920" cy="175565"/>
          </a:xfrm>
          <a:prstGeom prst="rect">
            <a:avLst/>
          </a:prstGeom>
          <a:solidFill>
            <a:srgbClr val="FFF9C4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347472" y="3849624"/>
            <a:ext cx="17739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VN-SWM-NATIONAL-2030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2176272" y="3849624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104" name="Text 102"/>
          <p:cNvSpPr/>
          <p:nvPr/>
        </p:nvSpPr>
        <p:spPr>
          <a:xfrm>
            <a:off x="3136392" y="3849624"/>
            <a:ext cx="10881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D4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건설·시공</a:t>
            </a:r>
            <a:endParaRPr lang="en-US" sz="700" dirty="0"/>
          </a:p>
        </p:txBody>
      </p:sp>
      <p:sp>
        <p:nvSpPr>
          <p:cNvPr id="105" name="Text 103"/>
          <p:cNvSpPr/>
          <p:nvPr/>
        </p:nvSpPr>
        <p:spPr>
          <a:xfrm>
            <a:off x="4279392" y="3849624"/>
            <a:ext cx="104241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6건</a:t>
            </a:r>
            <a:endParaRPr lang="en-US" sz="700" dirty="0"/>
          </a:p>
        </p:txBody>
      </p:sp>
      <p:sp>
        <p:nvSpPr>
          <p:cNvPr id="106" name="Text 104"/>
          <p:cNvSpPr/>
          <p:nvPr/>
        </p:nvSpPr>
        <p:spPr>
          <a:xfrm>
            <a:off x="5376672" y="3849624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2건</a:t>
            </a:r>
            <a:endParaRPr lang="en-US" sz="700" dirty="0"/>
          </a:p>
        </p:txBody>
      </p:sp>
      <p:sp>
        <p:nvSpPr>
          <p:cNvPr id="107" name="Text 105"/>
          <p:cNvSpPr/>
          <p:nvPr/>
        </p:nvSpPr>
        <p:spPr>
          <a:xfrm>
            <a:off x="6336792" y="3849624"/>
            <a:ext cx="24597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공정률 업데이트 및 준공 예정일 변경 여부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320040" y="4027932"/>
            <a:ext cx="8503920" cy="175565"/>
          </a:xfrm>
          <a:prstGeom prst="rect">
            <a:avLst/>
          </a:prstGeom>
          <a:solidFill>
            <a:srgbClr val="FFF9C4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347472" y="4027932"/>
            <a:ext cx="17739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VN-ENV-IND-1894</a:t>
            </a:r>
            <a:endParaRPr lang="en-US" sz="700" dirty="0"/>
          </a:p>
        </p:txBody>
      </p:sp>
      <p:sp>
        <p:nvSpPr>
          <p:cNvPr id="110" name="Text 108"/>
          <p:cNvSpPr/>
          <p:nvPr/>
        </p:nvSpPr>
        <p:spPr>
          <a:xfrm>
            <a:off x="2176272" y="4027932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111" name="Text 109"/>
          <p:cNvSpPr/>
          <p:nvPr/>
        </p:nvSpPr>
        <p:spPr>
          <a:xfrm>
            <a:off x="3136392" y="4027932"/>
            <a:ext cx="10881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계획·승인</a:t>
            </a:r>
            <a:endParaRPr lang="en-US" sz="700" dirty="0"/>
          </a:p>
        </p:txBody>
      </p:sp>
      <p:sp>
        <p:nvSpPr>
          <p:cNvPr id="112" name="Text 110"/>
          <p:cNvSpPr/>
          <p:nvPr/>
        </p:nvSpPr>
        <p:spPr>
          <a:xfrm>
            <a:off x="4279392" y="4027932"/>
            <a:ext cx="104241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18건</a:t>
            </a:r>
            <a:endParaRPr lang="en-US" sz="700" dirty="0"/>
          </a:p>
        </p:txBody>
      </p:sp>
      <p:sp>
        <p:nvSpPr>
          <p:cNvPr id="113" name="Text 111"/>
          <p:cNvSpPr/>
          <p:nvPr/>
        </p:nvSpPr>
        <p:spPr>
          <a:xfrm>
            <a:off x="5376672" y="4027932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5건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6336792" y="4027932"/>
            <a:ext cx="24597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입찰 공고 또는 EPC 계약 발표 여부 확인</a:t>
            </a:r>
            <a:endParaRPr lang="en-US" sz="700" dirty="0"/>
          </a:p>
        </p:txBody>
      </p:sp>
      <p:sp>
        <p:nvSpPr>
          <p:cNvPr id="115" name="Shape 113"/>
          <p:cNvSpPr/>
          <p:nvPr/>
        </p:nvSpPr>
        <p:spPr>
          <a:xfrm>
            <a:off x="320040" y="4206240"/>
            <a:ext cx="8503920" cy="175565"/>
          </a:xfrm>
          <a:prstGeom prst="rect">
            <a:avLst/>
          </a:prstGeom>
          <a:solidFill>
            <a:srgbClr val="FFF9C4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47472" y="4206240"/>
            <a:ext cx="17739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VN-IP-NORTH-2030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2176272" y="4206240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118" name="Text 116"/>
          <p:cNvSpPr/>
          <p:nvPr/>
        </p:nvSpPr>
        <p:spPr>
          <a:xfrm>
            <a:off x="3136392" y="4206240"/>
            <a:ext cx="10881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D4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건설·시공</a:t>
            </a:r>
            <a:endParaRPr lang="en-US" sz="700" dirty="0"/>
          </a:p>
        </p:txBody>
      </p:sp>
      <p:sp>
        <p:nvSpPr>
          <p:cNvPr id="119" name="Text 117"/>
          <p:cNvSpPr/>
          <p:nvPr/>
        </p:nvSpPr>
        <p:spPr>
          <a:xfrm>
            <a:off x="4279392" y="4206240"/>
            <a:ext cx="104241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44건</a:t>
            </a:r>
            <a:endParaRPr lang="en-US" sz="700" dirty="0"/>
          </a:p>
        </p:txBody>
      </p:sp>
      <p:sp>
        <p:nvSpPr>
          <p:cNvPr id="120" name="Text 118"/>
          <p:cNvSpPr/>
          <p:nvPr/>
        </p:nvSpPr>
        <p:spPr>
          <a:xfrm>
            <a:off x="5376672" y="4206240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3건</a:t>
            </a:r>
            <a:endParaRPr lang="en-US" sz="700" dirty="0"/>
          </a:p>
        </p:txBody>
      </p:sp>
      <p:sp>
        <p:nvSpPr>
          <p:cNvPr id="121" name="Text 119"/>
          <p:cNvSpPr/>
          <p:nvPr/>
        </p:nvSpPr>
        <p:spPr>
          <a:xfrm>
            <a:off x="6336792" y="4206240"/>
            <a:ext cx="24597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공정률 업데이트 및 준공 예정일 변경 여부</a:t>
            </a:r>
            <a:endParaRPr lang="en-US" sz="700" dirty="0"/>
          </a:p>
        </p:txBody>
      </p:sp>
      <p:sp>
        <p:nvSpPr>
          <p:cNvPr id="122" name="Shape 120"/>
          <p:cNvSpPr/>
          <p:nvPr/>
        </p:nvSpPr>
        <p:spPr>
          <a:xfrm>
            <a:off x="320040" y="4384548"/>
            <a:ext cx="8503920" cy="175565"/>
          </a:xfrm>
          <a:prstGeom prst="rect">
            <a:avLst/>
          </a:prstGeom>
          <a:solidFill>
            <a:srgbClr val="FFF9C4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347472" y="4384548"/>
            <a:ext cx="17739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VN-TRAN-2055</a:t>
            </a:r>
            <a:endParaRPr lang="en-US" sz="700" dirty="0"/>
          </a:p>
        </p:txBody>
      </p:sp>
      <p:sp>
        <p:nvSpPr>
          <p:cNvPr id="124" name="Text 122"/>
          <p:cNvSpPr/>
          <p:nvPr/>
        </p:nvSpPr>
        <p:spPr>
          <a:xfrm>
            <a:off x="2176272" y="4384548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125" name="Text 123"/>
          <p:cNvSpPr/>
          <p:nvPr/>
        </p:nvSpPr>
        <p:spPr>
          <a:xfrm>
            <a:off x="3136392" y="4384548"/>
            <a:ext cx="10881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미확정</a:t>
            </a:r>
            <a:endParaRPr lang="en-US" sz="700" dirty="0"/>
          </a:p>
        </p:txBody>
      </p:sp>
      <p:sp>
        <p:nvSpPr>
          <p:cNvPr id="126" name="Text 124"/>
          <p:cNvSpPr/>
          <p:nvPr/>
        </p:nvSpPr>
        <p:spPr>
          <a:xfrm>
            <a:off x="4279392" y="4384548"/>
            <a:ext cx="104241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92건</a:t>
            </a:r>
            <a:endParaRPr lang="en-US" sz="700" dirty="0"/>
          </a:p>
        </p:txBody>
      </p:sp>
      <p:sp>
        <p:nvSpPr>
          <p:cNvPr id="127" name="Text 125"/>
          <p:cNvSpPr/>
          <p:nvPr/>
        </p:nvSpPr>
        <p:spPr>
          <a:xfrm>
            <a:off x="5376672" y="4384548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41건</a:t>
            </a:r>
            <a:endParaRPr lang="en-US" sz="700" dirty="0"/>
          </a:p>
        </p:txBody>
      </p:sp>
      <p:sp>
        <p:nvSpPr>
          <p:cNvPr id="128" name="Text 126"/>
          <p:cNvSpPr/>
          <p:nvPr/>
        </p:nvSpPr>
        <p:spPr>
          <a:xfrm>
            <a:off x="6336792" y="4384548"/>
            <a:ext cx="24597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VN-TRAN-2055 관련 공식 발표 모니터링</a:t>
            </a:r>
            <a:endParaRPr lang="en-US" sz="700" dirty="0"/>
          </a:p>
        </p:txBody>
      </p:sp>
      <p:sp>
        <p:nvSpPr>
          <p:cNvPr id="129" name="Shape 127"/>
          <p:cNvSpPr/>
          <p:nvPr/>
        </p:nvSpPr>
        <p:spPr>
          <a:xfrm>
            <a:off x="320040" y="4562856"/>
            <a:ext cx="8503920" cy="17556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347472" y="4562856"/>
            <a:ext cx="17739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VN-MEKONG-DELTA-2030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176272" y="4562856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132" name="Text 130"/>
          <p:cNvSpPr/>
          <p:nvPr/>
        </p:nvSpPr>
        <p:spPr>
          <a:xfrm>
            <a:off x="3136392" y="4562856"/>
            <a:ext cx="10881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미확정</a:t>
            </a:r>
            <a:endParaRPr lang="en-US" sz="700" dirty="0"/>
          </a:p>
        </p:txBody>
      </p:sp>
      <p:sp>
        <p:nvSpPr>
          <p:cNvPr id="133" name="Text 131"/>
          <p:cNvSpPr/>
          <p:nvPr/>
        </p:nvSpPr>
        <p:spPr>
          <a:xfrm>
            <a:off x="4279392" y="4562856"/>
            <a:ext cx="104241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2건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5376672" y="4562856"/>
            <a:ext cx="90525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6336792" y="4562856"/>
            <a:ext cx="245973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136" name="Text 134"/>
          <p:cNvSpPr/>
          <p:nvPr/>
        </p:nvSpPr>
        <p:spPr>
          <a:xfrm>
            <a:off x="320040" y="4732020"/>
            <a:ext cx="8503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+ 6개 플랜 — 상세 슬라이드 참조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제8차 국가전력개발계획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500/QĐ-TTg (2023) + Decision 768/QĐ-TTg (2024…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191건  |  ★신규 10건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9848" y="813816"/>
            <a:ext cx="617220" cy="82296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계획·승인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FF9C4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이번 주 신규 분석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325112" y="1353312"/>
            <a:ext cx="4498848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25112" y="1353312"/>
            <a:ext cx="36576" cy="17007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98264" y="1353312"/>
            <a:ext cx="4389120" cy="17007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VN-PWR-PDP8 진행현황 분석 보고서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**분석 주기: 2026-05-04~05-06 | 신규 기사 8건**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---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 1. 최신 뉴스 분석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**PDP8 사업 진행단계: 정책 실행 가속화 단계**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히스토리 기사(4월)는 동남아 전력 수급 압박 신호였으나, 신규 기사(5월)는 **구체적 실행 신호로 전환**되었습니다. 특히 [기사7]이 PDP8 기반 청정에너지·아세안 전력연계…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10건  +  기존 181건)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Mekong Eye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라오스는 이 지역에 힘을 실어주지만 자국의 주택은 시원함을 유지하기 위해 …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VnExpress I…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태국, 말레이시아와의 철도 연결 가속화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20040" y="3685032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704088" y="368503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05-05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1298448" y="368503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vietnamplus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075688" y="368503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베트남, 미국, 더 강력한 에너지 협력 모색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20040" y="3881628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46" name="Text 44"/>
          <p:cNvSpPr/>
          <p:nvPr/>
        </p:nvSpPr>
        <p:spPr>
          <a:xfrm>
            <a:off x="704088" y="3881628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05-05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1298448" y="3881628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2075688" y="3881628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부옹 수력 발전소는 건기에 활발하게 운영되어 하류의 전기 및 수도 공급을 …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320040" y="4078224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704088" y="4078224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05-05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1298448" y="4078224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2075688" y="4078224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[동영상] El Nino 2026의 위험에 처하기 전에 수력 발전이 물을 …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320040" y="427482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58" name="Text 56"/>
          <p:cNvSpPr/>
          <p:nvPr/>
        </p:nvSpPr>
        <p:spPr>
          <a:xfrm>
            <a:off x="704088" y="427482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05-06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1298448" y="427482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VnExpress B…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2075688" y="427482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수출이 줄어들면서 과일 가격이 급락합니다.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320040" y="4471416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64" name="Text 62"/>
          <p:cNvSpPr/>
          <p:nvPr/>
        </p:nvSpPr>
        <p:spPr>
          <a:xfrm>
            <a:off x="704088" y="447141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05-06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1298448" y="447141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2075688" y="447141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베트남, 청정 에너지 촉진, 아세안 전력 연결 가속화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20040" y="4668012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38328" y="4700016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38328" y="470001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704088" y="466801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05-06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1298448" y="466801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VnExpress B…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2075688" y="466801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정재은, 베트남에 10MW 옥상 태양광 시스템 설치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320040" y="4777740"/>
            <a:ext cx="8503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+ 12건 추가 기사 — Word 보고서 참조</a:t>
            </a:r>
            <a:endParaRPr lang="en-US" sz="650" dirty="0"/>
          </a:p>
        </p:txBody>
      </p:sp>
      <p:sp>
        <p:nvSpPr>
          <p:cNvPr id="74" name="Shape 72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  |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VN-PWR-PDP8-RENEWABLE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PDP8 재생에너지 (해상풍력·태양광)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150건  |  ★신규 8건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미확정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FF9C4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이번 주 신규 분석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325112" y="1353312"/>
            <a:ext cx="4498848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5112" y="1353312"/>
            <a:ext cx="36576" cy="17007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98264" y="1353312"/>
            <a:ext cx="4389120" cy="17007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VN-PWR-PDP8-RENEWABLE 진행현황 분석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 1. 최신 뉴스 분석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**사업 진행단계 맥락:**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PDP8 재생에너지 마스터플랜은 정책 홍보·투자 유치 단계에서 실행 초기 단계로 진입하고 있습니다. ★ 이번 주 핵심 동향은 **정책-민간 협력 모멘텀 강화**입니다. 베트남 정부가 APAC 풍력 컨퍼런스 개최(기사3)로 국제투자 플랫폼을 조성한 반면, 정재은의 10MW 옥상…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8건  +  기존 142건)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Mekong Eye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라오스는 이 지역에 힘을 실어주지만 자국의 주택은 시원함을 유지하기 위해 …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VnExpress I…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태국, 말레이시아와의 철도 연결 가속화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20040" y="3685032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704088" y="368503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05-05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1298448" y="368503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075688" y="368503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베트남, APAC 풍력 에너지 컨퍼런스 2026 개최: 풍력 발전 투자 유…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20040" y="3881628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704088" y="3881628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05-06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1298448" y="3881628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menafn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2075688" y="3881628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Skycorp Solar Group Limited, $ 3.6 백만 두 번…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320040" y="4078224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704088" y="4078224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05-06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1298448" y="4078224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VnExpress B…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2075688" y="4078224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수출이 줄어들면서 과일 가격이 급락합니다.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20040" y="427482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704088" y="427482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05-06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1298448" y="427482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VnExpress B…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2075688" y="427482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정재은, 베트남에 10MW 옥상 태양광 시스템 설치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320040" y="4471416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704088" y="447141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05-07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1298448" y="447141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2075688" y="447141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디엔비엔푸의 승리 - 20세기의 서사시와 시대의 가치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320040" y="4668012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38328" y="4700016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38328" y="470001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704088" y="466801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05-08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1298448" y="466801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VnExpress I…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2075688" y="466801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태국, PM2.5 오염 관리 진전 보고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320040" y="4777740"/>
            <a:ext cx="8503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+ 12건 추가 기사 — Word 보고서 참조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VN-PWR-PDP8-RENEWABLE  |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VN-PWR-PDP8-LNG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PDP8 LNG 가스발전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156건  |  ★신규 7건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미확정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FF9C4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이번 주 신규 분석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325112" y="1353312"/>
            <a:ext cx="4498848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5112" y="1353312"/>
            <a:ext cx="36576" cy="17007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98264" y="1353312"/>
            <a:ext cx="4389120" cy="17007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VN-PWR-PDP8-LNG 진행현황 분석 보고서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 1. 최신 뉴스 분석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**사업 진행단계 및 맥락:**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PDP8 LNG 가스발전 사업은 현재 **정책·메커니즘 고도화 단계**에 진입했습니다. 이번 주 핵심 기사[4]는 베트남 정부가 LNG 발전소의 경제성 보장 메커니즘을 정교화하는 중임을 명확히 보여줍니다. ★**전력수급 안정성과 전기요금 안정화를 동시에 추구하는 정책적 전환점…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7건  +  기존 149건)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Mekong Eye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라오스는 이 지역에 힘을 실어주지만 자국의 주택은 시원함을 유지하기 위해 …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VnExpress I…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태국, 말레이시아와의 철도 연결 가속화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20040" y="3685032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704088" y="368503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05-06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1298448" y="368503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VnExpress B…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075688" y="368503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수출이 줄어들면서 과일 가격이 급락합니다.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20040" y="3881628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704088" y="3881628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05-06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1298448" y="3881628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2075688" y="3881628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LNG 발전 프로젝트 메커니즘 완성: 전기 가격에 압력을 가하지 않고 출력…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320040" y="4078224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704088" y="4078224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05-06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1298448" y="4078224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VnExpress B…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2075688" y="4078224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정재은, 베트남에 10MW 옥상 태양광 시스템 설치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20040" y="427482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704088" y="427482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05-07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1298448" y="427482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2075688" y="427482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디엔비엔푸의 승리 - 20세기의 서사시와 시대의 가치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320040" y="4471416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704088" y="447141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05-08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1298448" y="447141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VnExpress I…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2075688" y="447141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태국, PM2.5 오염 관리 진전 보고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320040" y="4668012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38328" y="4700016"/>
            <a:ext cx="347472" cy="132588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38328" y="470001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704088" y="466801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04-08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1298448" y="466801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NewsData/Wa…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2075688" y="466801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GAS, 티바이 LNG 터미널 처리 능력 확대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320040" y="4777740"/>
            <a:ext cx="8503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+ 12건 추가 기사 — Word 보고서 참조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VN-PWR-PDP8-LNG  |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VN-PWR-PDP8-GRID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PDP8 송배전망 확충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7건  |  ★신규 0건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미확정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3F4F6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이전 분석 유지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325112" y="1353312"/>
            <a:ext cx="4498848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5112" y="1353312"/>
            <a:ext cx="36576" cy="17007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98264" y="1353312"/>
            <a:ext cx="4389120" cy="17007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 VN-PWR-PDP8-GRID 관련 신규 기사가 수집되지 않았습니다.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0건  +  기존 7건)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03-14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VnExpress E…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캐나다의 베트남 교수는 북미 최대 전력망의 수명을 연장하기 위해 백만 달러…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04-08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Thanh Nien …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EVN, 전력망 기반 에너지 저장 배터리 개발 로드맵 가속화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20040" y="3685032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704088" y="368503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04-08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1298448" y="368503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075688" y="368503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Thanh Nien - Kinh te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20040" y="3881628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704088" y="3881628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04-09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1298448" y="3881628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Thanh Nien …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2075688" y="3881628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EVN, 전력망 내 BESS 구축 추진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320040" y="4078224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704088" y="4078224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04-09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1298448" y="4078224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2075688" y="4078224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Thanh Nien - Kinh te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20040" y="4274820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704088" y="427482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04-13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1298448" y="427482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Tri - K…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2075688" y="427482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베트남은 자체 축전지를 생산해 전력망 '구출'에 기여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320040" y="4471416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704088" y="447141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04-13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1298448" y="447141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2075688" y="447141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Tri - Kinh doanh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VN-PWR-PDP8-GRID  |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VN-PWR-PDP8-NUCLEAR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PDP8 원전 재개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5건  |  ★신규 0건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미확정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3F4F6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이전 분석 유지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325112" y="1353312"/>
            <a:ext cx="4498848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5112" y="1353312"/>
            <a:ext cx="36576" cy="17007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98264" y="1353312"/>
            <a:ext cx="4389120" cy="17007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 VN-PWR-PDP8-NUCLEAR 관련 신규 기사가 수집되지 않았습니다.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0건  +  기존 5건)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03-17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VietnamPlus…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베트남, Assystem Group과 원자력 분야 협력 논의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03-17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VietnamPlus - Kinh te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20040" y="3685032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704088" y="368503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03-28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1298448" y="368503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VietnamPlus…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075688" y="368503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원전 건설 계약으로 인한 긍정적 영향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20040" y="3881628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704088" y="3881628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03-28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1298448" y="3881628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Khanh Hoa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2075688" y="3881628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VietnamPlus - Kinh te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320040" y="4078224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704088" y="4078224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04-25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1298448" y="4078224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vir_vn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2075688" y="4078224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한국과 베트남, 원자력 발전 협정 합의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VN-PWR-PDP8-NUCLEAR  |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VN-PWR-PDP8-HYDROGEN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PDP8 그린수소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0건  |  ★신규 0건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미확정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3F4F6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이전 분석 유지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325112" y="1353312"/>
            <a:ext cx="4498848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5112" y="1353312"/>
            <a:ext cx="36576" cy="17007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98264" y="1353312"/>
            <a:ext cx="4389120" cy="17007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 VN-PWR-PDP8-HYDROGEN 관련 기사가 없습니다.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20040" y="3108960"/>
            <a:ext cx="8503920" cy="292608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3108960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 수집된 기사 없음 — 기존 분석 및 KPI 현황 유지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VN-PWR-PDP8-HYDROGEN  |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VN-OG-2030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석유가스 분야 전략 2030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893/QĐ-TTg (2023)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29건  |  ★신규 1건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미확정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FF9C4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이번 주 신규 분석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325112" y="1353312"/>
            <a:ext cx="4498848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5112" y="1353312"/>
            <a:ext cx="36576" cy="12435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98264" y="1353312"/>
            <a:ext cx="4389120" cy="12435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**진행단계 맥락:**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VN-OG-2030은 상류(E&amp;P) 및 중류(정제·유통) 통합 강화 단계에 진입했습니다. 4월 역사 기사군(Dung Quat 정제센터 정책구축, PVOIL·BSR 가치사슬 강화, PV GAS LNG 확보)은 공급망 안정화를 중심으로 전개되었으며, 신규 휘발유 가격인상 기사는 이러한 업스트림 투자가 다운스트림 시장가격 변동으로 구체화되는 **전환 신호**를 의미합니다.…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325112" y="2651760"/>
            <a:ext cx="4498848" cy="402336"/>
          </a:xfrm>
          <a:prstGeom prst="rect">
            <a:avLst/>
          </a:prstGeom>
          <a:solidFill>
            <a:srgbClr val="E8EEF4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70832" y="2670048"/>
            <a:ext cx="594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370832" y="2834640"/>
            <a:ext cx="4407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석유가스 섹터는 정제·유통 마진 개선 시점에 접어들었으며, 향후 3년간 Dung Quat 등 주력 정제소의 가동률 상향과 바이오연료 혼합유 확대가 실질적 ROI 창출의 핵…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1건  +  기존 28건)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05-07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VnExpress B…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휘발유 가격 인상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03-03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 News E…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베트남, 글로벌 불안정 속에서 석유 거래에 대한 검사 강화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320040" y="3685032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704088" y="368503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03-03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1298448" y="368503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VietnamNet …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2075688" y="368503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다리 붕괴, 초대형 선박 미사일 피격, 베트남 액화가스 공급 중단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320040" y="3881628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48" name="Text 46"/>
          <p:cNvSpPr/>
          <p:nvPr/>
        </p:nvSpPr>
        <p:spPr>
          <a:xfrm>
            <a:off x="704088" y="3881628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03-03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1298448" y="3881628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2075688" y="3881628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VietnamNet - Kinh doanh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320040" y="4078224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704088" y="4078224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03-04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1298448" y="4078224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Tuoi Tre - …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2075688" y="4078224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에너지 안보 위협을 우려한 페트로베트남은 국내 구매에 우선순위를 두고 원유…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320040" y="4274820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60" name="Text 58"/>
          <p:cNvSpPr/>
          <p:nvPr/>
        </p:nvSpPr>
        <p:spPr>
          <a:xfrm>
            <a:off x="704088" y="427482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03-04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1298448" y="427482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2075688" y="427482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Tuoi Tre - Kinh doanh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320040" y="4471416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04088" y="447141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03-05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1298448" y="447141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Tuoi Tre - …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2075688" y="447141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세계 유가 상승 우려: 정유소용 원유 공급원 찾기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320040" y="4668012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38328" y="4700016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8328" y="470001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72" name="Text 70"/>
          <p:cNvSpPr/>
          <p:nvPr/>
        </p:nvSpPr>
        <p:spPr>
          <a:xfrm>
            <a:off x="704088" y="466801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03-05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1298448" y="466801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2075688" y="466801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Tuoi Tre - Kinh doanh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320040" y="4777740"/>
            <a:ext cx="8503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+ 12건 추가 기사 — Word 보고서 참조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VN-OG-2030  |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VN-WW-2030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국가 하수처리 프로그램 2030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1085/QĐ-TTg (2016) + QCVN 14:2008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3건  |  ★신규 1건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9848" y="813816"/>
            <a:ext cx="617220" cy="82296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계획·승인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FF9C4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이번 주 신규 분석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325112" y="1353312"/>
            <a:ext cx="4498848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25112" y="1353312"/>
            <a:ext cx="36576" cy="12435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98264" y="1353312"/>
            <a:ext cx="4389120" cy="12435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**현황:** 이번 주 신규 기사 수집 부재로 인프라 진행상황 파악 불가능합니다. 기존 히스토리(4월 1일 하노이 배수시스템 프로젝트 1건)만으로는 전국 규모 하수처리 프로그램의 실제 진전 정도를 평가하기 어렵습니다. 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**KPI 현황:** 마스터플랜의 구체적 KPI 목표치가 미제시되어 정량적 달성도 평가 불가(기준수치 0/0). 2030년 목표 대비 현재까지 수집된 사업실적은 "진행 초…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325112" y="2651760"/>
            <a:ext cx="4498848" cy="402336"/>
          </a:xfrm>
          <a:prstGeom prst="rect">
            <a:avLst/>
          </a:prstGeom>
          <a:solidFill>
            <a:srgbClr val="E8EEF4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70832" y="2670048"/>
            <a:ext cx="594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370832" y="2834640"/>
            <a:ext cx="4407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**투자 관점 주의:** 현재 수집 데이터의 희소성은 사업 실행 지연 신호일 가능성을 배제할 수 없습니다. 베트남 정부의 실제 투자 집행 추이와 지역별 진행률을 확인하는 **현지…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1건  +  기존 2건)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04-01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Bao Xay Dung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1/4 CONSTRUCTION PRISM: 하노이는 일련의 배수 시스템 프…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320040" y="3685032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704088" y="368503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04-01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1298448" y="368503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Hanoi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2075688" y="368503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Bao Xay Dung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VN-WW-2030  |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VN-WAT-RESOURCES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수자원 개발 전략 2030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1622/QĐ-TTg (2017)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8건  |  ★신규 2건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9848" y="813816"/>
            <a:ext cx="617220" cy="82296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계획·승인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FF9C4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이번 주 신규 분석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325112" y="1353312"/>
            <a:ext cx="4498848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25112" y="1353312"/>
            <a:ext cx="36576" cy="17007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98264" y="1353312"/>
            <a:ext cx="4389120" cy="17007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VN-WAT-RESOURCES 진행현황 분석 리포트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 (분석일: 2026-05-07)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---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 1. 【최신 뉴스 분석】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**진행단계 및 맥락 평가**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수자원 개발 전략(2030)은 **대응적(Reactive) 위기관리 단계**에서 **전략적 적응(Strategic Adaptation) 단계**로 전환 중입니다. 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히스토리 기사(3월~4월)는 지역별 가뭄·염분 대응…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2건  +  기존 6건)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수력 발전은 El Nino 2026의 위험에 처하기 전에 물을 축적하기 위…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05-07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'슈퍼 엘니노' 의 위험에 처한 아시아의 에너지 및 식량 안보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20040" y="3685032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704088" y="368503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03-22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1298448" y="368503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Nhandan - M…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075688" y="368503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동탑성 해안 섬 코뮌은 가뭄과 염분에 적극적으로 대응합니다.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20040" y="3881628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46" name="Text 44"/>
          <p:cNvSpPr/>
          <p:nvPr/>
        </p:nvSpPr>
        <p:spPr>
          <a:xfrm>
            <a:off x="704088" y="3881628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03-22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1298448" y="3881628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Dong Thap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2075688" y="3881628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Nhandan - Moi truong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320040" y="4078224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704088" y="4078224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03-30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1298448" y="4078224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Bao Ha Tinh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2075688" y="4078224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Nha Be 및 Long Cuong 배수 문제: 최적의 해결책은 무엇입니까?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320040" y="4274820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58" name="Text 56"/>
          <p:cNvSpPr/>
          <p:nvPr/>
        </p:nvSpPr>
        <p:spPr>
          <a:xfrm>
            <a:off x="704088" y="427482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04-01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1298448" y="427482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Bao Binh Di…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2075688" y="427482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내수 프로젝트 가속화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320040" y="4471416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64" name="Text 62"/>
          <p:cNvSpPr/>
          <p:nvPr/>
        </p:nvSpPr>
        <p:spPr>
          <a:xfrm>
            <a:off x="704088" y="447141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04-03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1298448" y="447141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2075688" y="447141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20040" y="4668012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38328" y="4700016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38328" y="470001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704088" y="466801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04-11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1298448" y="466801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Bao Binh Di…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2075688" y="466801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지아라이 상하수도 주식회사 채용 공고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VN-WAT-RESOURCES  |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VN-WAT-URBAN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도시 배수·침수 방지 마스터플랜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7건  |  ★신규 2건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9848" y="813816"/>
            <a:ext cx="617220" cy="82296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계획·승인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FF9C4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이번 주 신규 분석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325112" y="1353312"/>
            <a:ext cx="4498848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25112" y="1353312"/>
            <a:ext cx="36576" cy="12435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98264" y="1353312"/>
            <a:ext cx="4389120" cy="12435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**진행단계 맥락:** 히스토리 기사(3월~4월)는 정책·사업 추진 단계였으나, 신규 기사(5월)는 구체적 **현장 문제 노출 및 이행 단계**로 전환. 나트랑 만 오염 심화는 기존 배수·침수 방지 인프라의 **실질적 운영 한계**를 드러냄. 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**KPI 달성도:** KPI 목표 미설정으로 정량 평가 불가하나, "오염도 기준 초과", "불법 배출 단속 강화" 등의 표현은 목표와 현실의 *…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325112" y="2651760"/>
            <a:ext cx="4498848" cy="402336"/>
          </a:xfrm>
          <a:prstGeom prst="rect">
            <a:avLst/>
          </a:prstGeom>
          <a:solidFill>
            <a:srgbClr val="E8EEF4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70832" y="2670048"/>
            <a:ext cx="594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370832" y="2834640"/>
            <a:ext cx="4407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나트랑 오염 심화는 인프라 설계·운영의 구조적 문제를 시사하며, 동시에 신농촌 협력체계 출범은 광역적 재정투입 가능성을 제시. **투자 진입점은 환경개선사업의 구체화 시점(향후 …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2건  +  기존 5건)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폐수에 의해 "질식" 된 나트랑: 만 오염이 기준치를 초과하여 불법 배출 …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05-08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[VIDEO] 베트남 물환경협회, 새로운 농촌조정중앙사무소와 협력: 깨끗한…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320040" y="3685032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704088" y="368503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03-25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1298448" y="368503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Giang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2075688" y="368503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Tuoi Tre - Kinh doanh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320040" y="3881628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704088" y="3881628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03-30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1298448" y="3881628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Bao Ha Tinh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2075688" y="3881628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Nha Be 및 Long Cuong 배수 문제: 최적의 해결책은 무엇입니까?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320040" y="4078224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704088" y="4078224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04-01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1298448" y="4078224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Bao Binh Di…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2075688" y="4078224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내수 프로젝트 가속화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320040" y="4274820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704088" y="427482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04-03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1298448" y="427482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2075688" y="427482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320040" y="4471416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67" name="Text 65"/>
          <p:cNvSpPr/>
          <p:nvPr/>
        </p:nvSpPr>
        <p:spPr>
          <a:xfrm>
            <a:off x="704088" y="447141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04-11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1298448" y="447141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Bao Binh Di…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2075688" y="447141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지아라이 상하수도 주식회사 채용 공고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VN-WAT-URBAN  |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VN-SWM-NATIONAL-2030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국가 고형폐기물 관리 전략 2030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491/QĐ-TTg (2018)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6건  |  ★신규 2건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9848" y="813816"/>
            <a:ext cx="2468880" cy="82296"/>
          </a:xfrm>
          <a:prstGeom prst="rect">
            <a:avLst/>
          </a:prstGeom>
          <a:solidFill>
            <a:srgbClr val="D4820A"/>
          </a:solidFill>
          <a:ln w="12700">
            <a:solidFill>
              <a:srgbClr val="D482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4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건설·시공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FF9C4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이번 주 신규 분석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325112" y="1353312"/>
            <a:ext cx="4498848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25112" y="1353312"/>
            <a:ext cx="36576" cy="17007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98264" y="1353312"/>
            <a:ext cx="4389120" cy="17007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VN-SWM-NATIONAL-2030 진행현황 분석 보고서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 분석 기준일: 2026-05-09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---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 1. 최신 뉴스 분석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**진행단계 맥락평가:**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히스토리 기사(4월)에서 EPR 메커니즘 재정 지원 개방 → 지역 시설 운영 현안(꽝찌 화재, HCMC 계량시스템)으로 진행되던 사업이, 이번 주(5월)에는 **정책 구체화 단계로 전환**되고 있습니다. EPR 강화(제1기사…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2건  +  기존 4건)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05-08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포장, 배터리 및 전자 제품 재활용 책임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05-09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20040" y="3685032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704088" y="368503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04-01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1298448" y="368503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 News E…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075688" y="368503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HCMC는 폐기물 처리 시설에 자동 계량 시스템을 배치합니다.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20040" y="3881628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46" name="Text 44"/>
          <p:cNvSpPr/>
          <p:nvPr/>
        </p:nvSpPr>
        <p:spPr>
          <a:xfrm>
            <a:off x="704088" y="3881628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04-01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1298448" y="3881628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Chi Minh…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2075688" y="3881628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 News English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320040" y="4078224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704088" y="4078224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04-09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1298448" y="4078224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2075688" y="4078224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꽝찌: 심각한 오염을 초래한 장기화된 쓰레기 매립지 화재 사건을 철저히 처리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320040" y="4274820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58" name="Text 56"/>
          <p:cNvSpPr/>
          <p:nvPr/>
        </p:nvSpPr>
        <p:spPr>
          <a:xfrm>
            <a:off x="704088" y="427482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04-27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1298448" y="427482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2075688" y="427482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EPR 메커니즘은 지역 폐기물 처리를 위한 재정 자원을 개방합니다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VN-SWM-NATIONAL-2030  |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VN-ENV-IND-1894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환경산업 발전 프로그램 (결정문 1894/QĐ-TTg 2024)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1894/QĐ-TTg (2024)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18건  |  ★신규 5건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9848" y="813816"/>
            <a:ext cx="617220" cy="82296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계획·승인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FF9C4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이번 주 신규 분석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325112" y="1353312"/>
            <a:ext cx="4498848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25112" y="1353312"/>
            <a:ext cx="36576" cy="17007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98264" y="1353312"/>
            <a:ext cx="4389120" cy="17007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VN-ENV-IND-1894 진행현황 분석 보고서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**분석 기준일: 2026-05-09**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---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 1. 최신 뉴스 분석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**사업 진행단계 맥락:**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VN-ENV-IND-1894는 정책 수립(2024) → 인프라 착공(2026년 4월) → **운영·관리 단계(현재)**로 진화 중입니다. 히스토리 기사는 푸옌산업단지 등 신규 개발에 집중했으나, 신규 기사는 **기존 산업단지(르민…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5건  +  기존 13건)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5월부터 시행되는 4가지 새로운 환경 정책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05-08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[동영상] 르 민 쑤언 산업단지 (Le Minh Xuan Industria…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20040" y="3685032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704088" y="368503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05-08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1298448" y="368503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075688" y="368503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르 민 쑤언 산업단지의 오염: 사람들은 연기와 배기가스 배출에 집착합니다.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20040" y="3881628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46" name="Text 44"/>
          <p:cNvSpPr/>
          <p:nvPr/>
        </p:nvSpPr>
        <p:spPr>
          <a:xfrm>
            <a:off x="704088" y="3881628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05-09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1298448" y="3881628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2075688" y="3881628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320040" y="4078224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704088" y="4078224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1298448" y="4078224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Hanoi Times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2075688" y="4078224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호아팟, 베트남 북부에 미화 1억 3천만 달러 규모의 산업단지 건설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320040" y="4274820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58" name="Text 56"/>
          <p:cNvSpPr/>
          <p:nvPr/>
        </p:nvSpPr>
        <p:spPr>
          <a:xfrm>
            <a:off x="704088" y="427482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02-11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1298448" y="427482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2075688" y="427482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 News English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320040" y="4471416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64" name="Text 62"/>
          <p:cNvSpPr/>
          <p:nvPr/>
        </p:nvSpPr>
        <p:spPr>
          <a:xfrm>
            <a:off x="704088" y="447141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03-10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1298448" y="447141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CafeBiz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2075688" y="447141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베트남에서 가장 젊은 중앙 운영 도시는 약 226헥타르 규모의 1조 7천억…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20040" y="4668012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38328" y="4700016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38328" y="470001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704088" y="466801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03-19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1298448" y="466801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2075688" y="466801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Tuoi Tre - Kinh doanh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320040" y="4777740"/>
            <a:ext cx="8503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+ 10건 추가 기사 — Word 보고서 참조</a:t>
            </a:r>
            <a:endParaRPr lang="en-US" sz="650" dirty="0"/>
          </a:p>
        </p:txBody>
      </p:sp>
      <p:sp>
        <p:nvSpPr>
          <p:cNvPr id="74" name="Shape 72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VN-ENV-IND-1894  |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VN-IP-NORTH-2030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북부 베트남 산업단지 개발 계획 2030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326/QĐ-TTg (2022) + 외국인 투자 유치 전략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44건  |  ★신규 3건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9848" y="813816"/>
            <a:ext cx="2468880" cy="82296"/>
          </a:xfrm>
          <a:prstGeom prst="rect">
            <a:avLst/>
          </a:prstGeom>
          <a:solidFill>
            <a:srgbClr val="D4820A"/>
          </a:solidFill>
          <a:ln w="12700">
            <a:solidFill>
              <a:srgbClr val="D482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4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건설·시공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FF9C4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이번 주 신규 분석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325112" y="1353312"/>
            <a:ext cx="4498848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25112" y="1353312"/>
            <a:ext cx="36576" cy="17007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98264" y="1353312"/>
            <a:ext cx="4389120" cy="17007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VN-IP-NORTH-2030 진행현황 종합분석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---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 1. 최신 뉴스 분석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**사업 진행단계 평가 및 맥락**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북부 베트남 산업단지 개발 계획은 **FDI 유치 가속화 → 인프라 플랫폼 고도화 → 전략적 국제협력 강화** 단계로 진행 중입니다. 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히스토리 기사(4월 말)는 FDI 투자 급증 신호(녹색산업단지, 데이터인프라)에 집중했다면, 이번 주 신규 기사는 **기반 시…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3건  +  기존 41건)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05-03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nhandan_vn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FDI 유치 플랫폼의 포괄적인 업그레이드 필요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05-08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vietnamplus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차장은 공항 시스템에 대한 전략적, 동기식 계획을 강조합니다.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20040" y="3685032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704088" y="368503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05-08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1298448" y="368503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vietnamnews…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075688" y="368503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HCM City의 데이터 인프라에 수십억 달러의 투자가 쏟아집니다.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20040" y="3881628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650" dirty="0"/>
          </a:p>
        </p:txBody>
      </p:sp>
      <p:sp>
        <p:nvSpPr>
          <p:cNvPr id="46" name="Text 44"/>
          <p:cNvSpPr/>
          <p:nvPr/>
        </p:nvSpPr>
        <p:spPr>
          <a:xfrm>
            <a:off x="704088" y="3881628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03-09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1298448" y="3881628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Nhan Dan En…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2075688" y="3881628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응에안(Nghe An)은 병목 현상을 제거하고 FDI를 유치하기 위한 노력…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320040" y="4078224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704088" y="4078224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05-02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1298448" y="4078224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sggp_org_vn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2075688" y="4078224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녹색산업단지, FDI 투자자 유치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320040" y="4274820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58" name="Text 56"/>
          <p:cNvSpPr/>
          <p:nvPr/>
        </p:nvSpPr>
        <p:spPr>
          <a:xfrm>
            <a:off x="704088" y="427482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03-05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1298448" y="427482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VnExpress E…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2075688" y="427482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박닌(Bac Ninh), 베트남 FDI 분야 선두 자리 굳건히 다져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320040" y="4471416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64" name="Text 62"/>
          <p:cNvSpPr/>
          <p:nvPr/>
        </p:nvSpPr>
        <p:spPr>
          <a:xfrm>
            <a:off x="704088" y="447141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03-09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1298448" y="447141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VietnamPlus…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2075688" y="447141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첫 2개월 동안 베트남의 실현 FDI 자본은 8.8% 증가했습니…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20040" y="4668012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38328" y="4700016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38328" y="470001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704088" y="466801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03-09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1298448" y="466801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Dong Nai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2075688" y="466801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Nhan Dan English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320040" y="4777740"/>
            <a:ext cx="8503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+ 12건 추가 기사 — Word 보고서 참조</a:t>
            </a:r>
            <a:endParaRPr lang="en-US" sz="650" dirty="0"/>
          </a:p>
        </p:txBody>
      </p:sp>
      <p:sp>
        <p:nvSpPr>
          <p:cNvPr id="74" name="Shape 72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VN-IP-NORTH-2030  |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VN-TRAN-2055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교통 인프라 마스터플랜 2021-2030 (비전 2050)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1412/QĐ-TTg (2021)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92건  |  ★신규 41건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미확정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FF9C4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이번 주 신규 분석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325112" y="1353312"/>
            <a:ext cx="4498848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5112" y="1353312"/>
            <a:ext cx="36576" cy="17007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98264" y="1353312"/>
            <a:ext cx="4389120" cy="17007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VN-TRAN-2055 진행현황 분석 보고서 (2026-05-04 주간)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---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 1. 최신 뉴스 분석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**사업 진행단계 맥락**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교통 인프라 마스터플랜은 **실행 가속화 단계**에 진입했습니다. 히스토리(5월 2일 $247M 고속도로·육교 개통, 동나이 $43억 운송링크)에 이어 이번 주(5월 4일) **롱탄 공항 1단계 상업운영 가속화**가 총리 주재 회의를 통해 …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41건  +  기존 51건)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vietnamplus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ILDEX VIETNAM 2026, 농식품 부문에서 지속 가능한 변화 강조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vietnamplus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Moody 's는 베트남의 전망을 개혁 추진에 대한 "긍정적" 으로 끌어 …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20040" y="3685032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704088" y="368503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1298448" y="368503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vietnamplus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075688" y="368503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롱탄 공항 프로젝트 가속화를 위한 신속한 조치 촉구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20040" y="3881628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704088" y="3881628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1298448" y="3881628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nhandan_vn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2075688" y="3881628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롱탄 공항 프로젝트 가속화를 위한 신속한 조치 촉구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320040" y="4078224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704088" y="4078224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1298448" y="4078224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vietnamplus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2075688" y="4078224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위험에도 불구하고 베트남은 여전히 밝은 지역으로 남아 있습니다: 국제…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20040" y="427482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704088" y="427482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1298448" y="427482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sggp_org_vn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2075688" y="427482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롱탄 국제공항 1단계, 2026년 상업 운영 예정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320040" y="4471416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704088" y="447141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1298448" y="447141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vietnamplus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2075688" y="447141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호주, 베트남 아연 도금강에 반덤핑 프로브 출시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320040" y="4668012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38328" y="4700016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38328" y="470001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704088" y="466801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1298448" y="466801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vir_vn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2075688" y="466801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비엣텔글로벌, 1분기 30% 성장 기록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320040" y="4777740"/>
            <a:ext cx="8503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+ 12건 추가 기사 — Word 보고서 참조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VN-TRAN-2055  |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VN-MEKONG-DELTA-2030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메콩 델타 인프라 개발 계획 2030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13-NQ/TW (2022)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2건  |  ★신규 0건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미확정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3F4F6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이전 분석 유지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325112" y="1353312"/>
            <a:ext cx="4498848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5112" y="1353312"/>
            <a:ext cx="36576" cy="17007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98264" y="1353312"/>
            <a:ext cx="4389120" cy="17007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 VN-MEKONG-DELTA-2030 관련 신규 기사가 수집되지 않았습니다.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0건  +  기존 2건)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04-21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 News E…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Tho Bridge는 과부하 위험에 직면해 있습니다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04-21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Tho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 News English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VN-MEKONG-DELTA-2030  |</a:t>
            </a:r>
            <a:endParaRPr lang="en-US" sz="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VN-URB-METRO-2030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도시철도(메트로) 개발 계획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15건  |  ★신규 3건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9848" y="813816"/>
            <a:ext cx="617220" cy="82296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계획·승인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FF9C4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이번 주 신규 분석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325112" y="1353312"/>
            <a:ext cx="4498848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25112" y="1353312"/>
            <a:ext cx="36576" cy="12435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98264" y="1353312"/>
            <a:ext cx="4389120" cy="12435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**진행단계 맥락평가:**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메트로 개발은 **하드웨어 구축(4월)에서 소프트웨어·생태계 조성(5월)으로 단계 전환** 중입니다. 4월 토지수용·TOD 정책 수립 이후, 5월에는 관광경제 파급(아고다 국내검색 81% 증가), 스마트시티 기술 통합이 가속화되고 있습니다.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**KPI 달성도:**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공식 KPI 목표 미공시이나, **간접지표로는 긍정적 진행 확인**: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도시간 연결성 강화…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325112" y="2651760"/>
            <a:ext cx="4498848" cy="402336"/>
          </a:xfrm>
          <a:prstGeom prst="rect">
            <a:avLst/>
          </a:prstGeom>
          <a:solidFill>
            <a:srgbClr val="E8EEF4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70832" y="2670048"/>
            <a:ext cx="594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370832" y="2834640"/>
            <a:ext cx="4407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메트로 개발의 경제성 입증(국내관광 81% 증가)이 정치적 수용성을 높이는 시점입니다. **투자자는 직접 건설사업 외에 TOD(역세권 개발) 상업·관광·스마트서비스 부문의 2차 …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3건  +  기존 12건)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vietnamplus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방콕의 녹색 도시 재생은 동남아시아 도시에 대한 모델을 제공합니다.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05-05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vir_vn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아고다, 베트남 국내 여행 검색 81% 증가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320040" y="3685032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704088" y="368503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05-06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1298448" y="368503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vietnamnews…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2075688" y="368503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호치민시, 교육, 인프라, 스마트 시티를 연계한 주요 기술 쇼케이스 개최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320040" y="3881628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704088" y="3881628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04-05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1298448" y="3881628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 News E…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2075688" y="3881628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호치민시, 지하철 2호선 건설 가속화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320040" y="4078224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704088" y="4078224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04-04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1298448" y="4078224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 News E…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2075688" y="4078224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호치민시 지도자들이 지하철 2호선 현장 조사를 실시합니다.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320040" y="4274820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704088" y="427482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04-04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1298448" y="427482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Chi Minh…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2075688" y="427482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 News English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320040" y="4471416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67" name="Text 65"/>
          <p:cNvSpPr/>
          <p:nvPr/>
        </p:nvSpPr>
        <p:spPr>
          <a:xfrm>
            <a:off x="704088" y="447141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04-05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1298448" y="447141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Chi Minh…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2075688" y="447141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 News English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320040" y="4668012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38328" y="4700016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38328" y="470001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73" name="Text 71"/>
          <p:cNvSpPr/>
          <p:nvPr/>
        </p:nvSpPr>
        <p:spPr>
          <a:xfrm>
            <a:off x="704088" y="466801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04-14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1298448" y="466801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VnExpress E…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2075688" y="466801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HCMC, 2차 지하철 노선 건설을 위해 시내 나무 400그루 이동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320040" y="4777740"/>
            <a:ext cx="8503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+ 7건 추가 기사 — Word 보고서 참조</a:t>
            </a:r>
            <a:endParaRPr lang="en-US" sz="650" dirty="0"/>
          </a:p>
        </p:txBody>
      </p:sp>
      <p:sp>
        <p:nvSpPr>
          <p:cNvPr id="77" name="Shape 75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VN-URB-METRO-2030  |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VN-SC-2030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스마트시티 개발 프로그램 2030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950/QĐ-TTg (2018)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5건  |  ★신규 1건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운영·확장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FF9C4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이번 주 신규 분석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325112" y="1353312"/>
            <a:ext cx="4498848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25112" y="1353312"/>
            <a:ext cx="36576" cy="17007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98264" y="1353312"/>
            <a:ext cx="4389120" cy="17007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VN-SC-2030 진행현황 분석 리포트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**분석기준일: 2026-05-05 | 신규기사 1건 추가**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---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 1. 최신 뉴스 분석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**히스토리 기사 맥락 + 신규 기사 평가:**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VN-SC-2030은 2018년 이후 5G, 블록체인, 디지털 전환을 핵심축으로 추진 중이며, 이번 주 신규 기사는 **스마트시티 인프라의 시민생활 영역 확대**를 시사합니다. 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**핵심 변화:…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1건  +  기존 4건)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05-05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vietnamplus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문화 관광을 재구성하는 요리, 문화유산 여권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02-25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 News E…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베트남, 디지털 경제를 위한 최초의 국가 블록체인 인프라 출시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20040" y="3685032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704088" y="368503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03-05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1298448" y="368503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 News E…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075688" y="368503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스마트 시티와 디지털 산업단지를 강화하기 위한 5G 출시 가속화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20040" y="3881628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46" name="Text 44"/>
          <p:cNvSpPr/>
          <p:nvPr/>
        </p:nvSpPr>
        <p:spPr>
          <a:xfrm>
            <a:off x="704088" y="3881628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04-09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1298448" y="3881628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 News E…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2075688" y="3881628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호치민시에서 애국적 경쟁 운동이 획기적인 발전을 이끌고 있다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320040" y="4078224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704088" y="4078224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04-20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1298448" y="4078224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New…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2075688" y="4078224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SHB는 디지털 전환을 촉진하기 위해 Huawei와 협력합니다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VN-SC-2030  |</a:t>
            </a:r>
            <a:endParaRPr lang="en-US" sz="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VN-EV-2030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전기차·친환경 교통 전략 2030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5건  |  ★신규 1건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9848" y="813816"/>
            <a:ext cx="2468880" cy="82296"/>
          </a:xfrm>
          <a:prstGeom prst="rect">
            <a:avLst/>
          </a:prstGeom>
          <a:solidFill>
            <a:srgbClr val="D4820A"/>
          </a:solidFill>
          <a:ln w="12700">
            <a:solidFill>
              <a:srgbClr val="D482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4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건설·시공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FF9C4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이번 주 신규 분석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325112" y="1353312"/>
            <a:ext cx="4498848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25112" y="1353312"/>
            <a:ext cx="36576" cy="12435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98264" y="1353312"/>
            <a:ext cx="4389120" cy="12435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**진행단계 맥락:**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전기차·친환경 교통 전략은 다층 추진 중이다. 최근 히스토리(4월)는 EV 충전 인프라·요금제·배터리 교환망 등 **공급 인프라 단계**를 보였으나, 이번 주 신규 기사는 **바이오 연료(E10) 전국 확대**로 진행 방향성에 변화를 드러낸다.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**KPI 대비 현재 수준:**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공식 KPI 목표 미제시 상황에서 정량 평가는 제한적이나, EV 관련 기사 5건 대…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325112" y="2651760"/>
            <a:ext cx="4498848" cy="402336"/>
          </a:xfrm>
          <a:prstGeom prst="rect">
            <a:avLst/>
          </a:prstGeom>
          <a:solidFill>
            <a:srgbClr val="E8EEF4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70832" y="2670048"/>
            <a:ext cx="594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370832" y="2834640"/>
            <a:ext cx="4407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베트남은 EV 인프라 투자와 병행하여 기존 가솔린 차량의 배출량 감축을 통해 **단기(2026~2027) 실적 창출 경로 확보** 중. 바이오 연료 보급은 EV 충전망 부족을 보…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1건  +  기존 4건)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vietnamplus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PVOIL, 5월 15일부터 E10 가솔린 전국 출시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04-07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 News E…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하노이, 전기차 배터리 교환망 구축에 박차를 가하고 있다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320040" y="3685032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704088" y="368503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04-10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1298448" y="368503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 News E…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2075688" y="368503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전력 당국, 전력망 안정화를 위해 시간대별 전기차 충전 요금제 검토 중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320040" y="3881628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704088" y="3881628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04-18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1298448" y="3881628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Nhan Dan En…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2075688" y="3881628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하노이, 친환경 대중교통으로 전기버스 전환 가속화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320040" y="4078224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704088" y="4078224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04-23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1298448" y="4078224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VnExpress B…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2075688" y="4078224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‘VinFast는 다시는 가솔린 자동차를 생산하지 않을 것입니다’: 동남아…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VN-EV-2030  |</a:t>
            </a:r>
            <a:endParaRPr lang="en-US" sz="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HN-URBAN-INFRA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하노이 도시 인프라 개발 계획 2030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7건  |  ★신규 1건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9848" y="813816"/>
            <a:ext cx="2468880" cy="82296"/>
          </a:xfrm>
          <a:prstGeom prst="rect">
            <a:avLst/>
          </a:prstGeom>
          <a:solidFill>
            <a:srgbClr val="D4820A"/>
          </a:solidFill>
          <a:ln w="12700">
            <a:solidFill>
              <a:srgbClr val="D482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4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건설·시공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FF9C4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이번 주 신규 분석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325112" y="1353312"/>
            <a:ext cx="4498848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25112" y="1353312"/>
            <a:ext cx="36576" cy="12435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98264" y="1353312"/>
            <a:ext cx="4389120" cy="12435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**진행단계 맥락:** 하노이 도시 인프라 개발이 **우기 대응 긴급 모드**로 전환됨. 히스토리 기사(4월30일 배수시스템 운영, 5월4일 긴급 프로젝트 가속화)는 연쇄적 홍수 위험 대응을 시사하며, 링로드4 113km 6월 개통, 우주센터 3월 개관 등 주요 인프라는 진행 중이나 **강우기 영향 리스크 상승 단계**.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**KPI 평가:** 구체적 KPI 목표 미제시로 정량 평가 불가.…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325112" y="2651760"/>
            <a:ext cx="4498848" cy="402336"/>
          </a:xfrm>
          <a:prstGeom prst="rect">
            <a:avLst/>
          </a:prstGeom>
          <a:solidFill>
            <a:srgbClr val="E8EEF4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70832" y="2670048"/>
            <a:ext cx="594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370832" y="2834640"/>
            <a:ext cx="4407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하노이의 계절 인프라 리스크 대응 체계화는 도시 레질리언스 성숙 신호. 링로드4·배수시스템 등 핵심 인프라 동시 진행 시, 우기(5~9월) 완공 지연 리스크 모니터링 필수이며, …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1건  +  기존 6건)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9C4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05-04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하노이는 2026년 우기 전에 일련의 긴급 인프라 프로젝트의 진행을 촉진합…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02-24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Vietnam.vn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호아락 하이테크파크 460ha 확장 — 베트남 실리콘밸리 2026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320040" y="3685032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704088" y="368503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03-05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1298448" y="368503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Vietnam.vn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2075688" y="368503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하노이 링로드4 병행도로 2026년 6월 개통 목표 — 113km 업데이트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320040" y="3881628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704088" y="3881628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03-13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1298448" y="3881628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2075688" y="3881628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우주센터 개관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320040" y="4078224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38328" y="4110228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704088" y="4078224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03-13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1298448" y="4078224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Bao Ha Tinh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2075688" y="4078224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우주센터 개관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320040" y="4274820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8328" y="430682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704088" y="427482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03-13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1298448" y="427482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2075688" y="427482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Bao Ha Tinh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320040" y="4471416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38328" y="450342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67" name="Text 65"/>
          <p:cNvSpPr/>
          <p:nvPr/>
        </p:nvSpPr>
        <p:spPr>
          <a:xfrm>
            <a:off x="704088" y="447141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04-30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1298448" y="447141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 truong …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2075688" y="447141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하노이는 배수 시스템을 적극적으로 운영하여 4 월 30 일부터 5 월 1 …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HN-URBAN-INFRA  |</a:t>
            </a:r>
            <a:endParaRPr lang="en-US" sz="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HN-URBAN-WEST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하노이 서부 도시개발 (화락 첨단기술단지)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4건  |  ★신규 0건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미확정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3F4F6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이전 분석 유지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325112" y="1353312"/>
            <a:ext cx="4498848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5112" y="1353312"/>
            <a:ext cx="36576" cy="17007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98264" y="1353312"/>
            <a:ext cx="4389120" cy="17007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 HN-URBAN-WEST 관련 신규 기사가 수집되지 않았습니다.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20040" y="2926080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 기사  (★신규 0건  +  기존 4건)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20040" y="3108960"/>
            <a:ext cx="8503920" cy="18288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" y="31089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등급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704088" y="310896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1298448" y="31089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2075688" y="3108960"/>
            <a:ext cx="6748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 (한국어)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320040" y="3291840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" y="3323844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704088" y="3291840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02-24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1298448" y="3291840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Vietnam.vn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075688" y="3291840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호아락 하이테크파크 460ha 확장 — 베트남 실리콘밸리 2026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20040" y="3488436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38328" y="3520440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704088" y="3488436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03-13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1298448" y="3488436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SGGP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075688" y="3488436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우주센터 개관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20040" y="3685032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8328" y="3717036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704088" y="3685032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03-13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1298448" y="3685032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Bao Ha Tinh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075688" y="3685032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베트남 우주센터 개관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20040" y="3881628"/>
            <a:ext cx="8503920" cy="196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8328" y="3913632"/>
            <a:ext cx="34747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704088" y="3881628"/>
            <a:ext cx="5943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03-13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1298448" y="3881628"/>
            <a:ext cx="77724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2075688" y="3881628"/>
            <a:ext cx="667512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Bao Ha Tinh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HN-URBAN-WEST  |</a:t>
            </a:r>
            <a:endParaRPr lang="en-US" sz="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45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20040" y="73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HN-URBAN-NORTH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하노이 북부 도시개발 (동아인, 메린)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20040" y="594360"/>
            <a:ext cx="6217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223760" y="274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CD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기사 0건  |  ★신규 0건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57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26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78638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진행단계: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069848" y="813816"/>
            <a:ext cx="4114800" cy="82296"/>
          </a:xfrm>
          <a:prstGeom prst="rect">
            <a:avLst/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30368" y="804672"/>
            <a:ext cx="914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미확정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325112" y="987552"/>
            <a:ext cx="4498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시장 분석 (Claude Haiku)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solidFill>
            <a:srgbClr val="F3F4F6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5112" y="1179576"/>
            <a:ext cx="4498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이전 분석 유지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325112" y="1353312"/>
            <a:ext cx="4498848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5112" y="1353312"/>
            <a:ext cx="36576" cy="1700784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98264" y="1353312"/>
            <a:ext cx="4389120" cy="1700784"/>
          </a:xfrm>
          <a:prstGeom prst="rect">
            <a:avLst/>
          </a:prstGeom>
          <a:noFill/>
          <a:ln/>
        </p:spPr>
        <p:txBody>
          <a:bodyPr wrap="square" lIns="50800" tIns="76200" rIns="76200" bIns="5080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 HN-URBAN-NORTH 관련 기사가 없습니다.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20040" y="3108960"/>
            <a:ext cx="8503920" cy="292608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3108960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 수집된 기사 없음 — 기존 분석 및 KPI 현황 유지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49606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MI Report  |  CONFIDENTIAL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858000" y="496062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HN-URBAN-NORTH  |</a:t>
            </a:r>
            <a:endParaRPr lang="en-US" sz="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8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221284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E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Infrastructure Market Intelligence  |  2026-W19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71600" y="2651760"/>
            <a:ext cx="6400800" cy="0"/>
          </a:xfrm>
          <a:prstGeom prst="line">
            <a:avLst/>
          </a:prstGeom>
          <a:noFill/>
          <a:ln w="12700">
            <a:solidFill>
              <a:srgbClr val="2E6A9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57200" y="2788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E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21개 마스터플랜  |  전체 449건 기사  |  신규 82건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E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SA-8 자동 생성 파이프라인 (Claude Haiku + Node.js)  |  CONFIDENTIAL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Vietnam Infra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VN Infra MI Report 2026-05-10</dc:title>
  <dc:subject>PptxGenJS Presentation</dc:subject>
  <dc:creator>SA-8 MI Pipeline</dc:creator>
  <cp:lastModifiedBy>SA-8 MI Pipeline</cp:lastModifiedBy>
  <cp:revision>1</cp:revision>
  <dcterms:created xsi:type="dcterms:W3CDTF">2026-05-10T00:39:39Z</dcterms:created>
  <dcterms:modified xsi:type="dcterms:W3CDTF">2026-05-10T00:39:39Z</dcterms:modified>
</cp:coreProperties>
</file>