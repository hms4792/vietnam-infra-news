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27일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v4.1-fixed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2026.2.28 관측: 16.2km(허우강)~41.6km(끄어다이강), 4개 지류 개별값. 2026.4초 후속보도: 일부 지류 42~70km로 악화. [Cowork 팩트체크 2026-07-16 추가] 2026.7.1 보도: 40~70km 도달, 2030년 55.5km/2050년 62.5km(띠엔강) 전망 [부분사실, 1차출처 교차검증 필요]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수질안전계획(Water Safety Plan) 시행률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995928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하노이 속선(Soc Son) WtE 발전소의 1호기(15MW)가 2022.7.25경 국가 전력망에 최초 연계됐고, 2025.10.13 하노이시 주관으로 전체 시설(총 90MW, 5,000톤/일)의 공식 준공식이 열렸다. EPR(생산자책임재활용) 규정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 (단계 확인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 (단계 확인 필요)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(Chau Pha 사)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5ha+, 용량 미공개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선정, 202…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 (세라핀 인접)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(선떠이 쑤언선)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 (기존 세라핀 1호기 37MW/2,250톤일 인접)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2026.6월 착공, baoda…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28/2023/QH15, 2024.7.1 발효)은 유역통합관리(IWRM), 하천 최소유량 규정, '죽은 강' 복원 조항, 지하수 취수 허가제 의무화를 골자로 한다. 메콩델타 건기 염수침투 심화가 배경이며 2026년 2월 관측 기준 16.2km~41.6km(지류별) 침투가 확인되었다. 정부는 2026.6.26 결의 166/NQ-CP를 발표해 메콩델타 지반침하·홍수·가뭄·염해 대응 국가실행계획(~2035)을 수립했다.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근거, 세부 시행계획은 확인 필요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지반침하·홍수·가뭄·염해 대응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국가행동계획(예산 미정)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2026.6.26 발표, 20…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도시·산업단지 상수도 개발방향(Decision 2502/QD-TTg, 2016.12.22)은 2025년까지 전 도시지역 100% 상수도 보급, 2급 이상 도시 비수익수(NRW) 15% 이하 달성을 목표로 한다. 전국적으로 송다(Song Da), 투득(Thu Duc) 등 권역별 핵심 정수장 신설 및 관망 교체 사업이 ODA 자금을 바탕으로 활발히 전개되고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589/QD-TTg)은 도시 폐수처리율을 2025년 50%, 2030년 85%로 끌어올리는 것을 목표로 한다. 2025년 8월 하노이 옌짜(Yen Xa) WWTP(27만㎥/일)가 준공되었으며, 호치민 빈흥 2단계(46.9만㎥/일)가 2024년 8월 준공되었다. [V4.1 업데이트] 호찌민시 인민위원회는 2026~2030년 환경 인프라 개선을 위해 4대 메가 폐수처리 시스템 구축에 대한 대규모 투자 유치 목록을 발표했다. 여기에는 탐르엉-벤깟 2단계(일일 2...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 + 옌짜 270,000 m³/일 신규 가동(2025.8)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$690M(옌짜, 준공완료) + 호아이득 $16.5M(2026~2029 신규 승인)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 (처리용량 미기재)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 후 총용량, 최종목표 512,000 m³/일)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$16.5M 규모 (처리용량 미기재)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인민위 승인, 2026~2029년 구축 예정. [Cowork 팩트체크 2026-07…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469,000 m³/일 (2단계 확장 후 총용량, 최종목표 512,000 m³/일)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2단계 확장 2024.8.30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 (착공단계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 (단계 확인 필요)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 (단계 확인 필요)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탐르엉-벤깟 (Tham Luong - Ben Cat) 2단계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(안푸동)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230,000 m³ (2040년)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 투자 유치 중점 사업 [6]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폐수·배기가스·고형폐기물 기술 국산화를 지향하는 프로그램. [V4.1 업데이트] 2026년 7월 10일 동나이에서 개최된 환경부(Department of Environment) 워크숍에서 고형 폐기물 관리 및 EPR(생산자책임재활용) 규정을 구체화하는 초안 법령이 집중 논의되었다. 재활용 할당량, 재정 기여금, 의무 보고 시스템이 조만간 확정되어 관련 기업들의 규제 준수 의무가 대폭 강화될 예정이다.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플라스틱, 현재 연6만톤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축전지·타이어·윤활유·운송수단 폐기물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포장재 재활용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48,000톤 / $50M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 협력 / rPET 첨단 기술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2024.7 MOU / 한국 환경부·KEITI 공동 시행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109억 동 (2단계)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2021.11~2025.2 / 일본 ODA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알루미늄/PET 경질 포장재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수행 업체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PET·HDPE·PP 플라스틱, 현재 연6만톤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사실(배경자료)] 2026.7.5 보도…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 Dong Environment JSC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축전지·플라스틱·전자 폐기물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재활용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응이선 경제구역 (CN2-1 산업용지)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연 약 17,000톤 (소비후 PET → 식품등급 rPET 펠릿)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IRC 2025.7.24경 발급, 2025.4분기 착…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생물다양성 보전 및 자연자원 이용 국가전략. 2030년까지 해양 보호구역 확대를 목표로 한다. 금주 특이 업데이트 사항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보호구역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적색목록종 복원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Nha-Ke Bang World Heritage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 Binh | 123,000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등재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GEF-7 Biodiversity Project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5개 지역 | $15M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GEF/UNDP 공동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석유·가스 비축·공급 인프라 국가계획(Decision 861/QD-TTg)은 노후 유전 생산 감소에 대응해 심해 탐사와 LNG 공급망 구축을 병행 추진한다. 티바이(Thi Vai) LNG와 손미(Son My) LNG가 국내 공급망의 축이다. [V4.1 업데이트] 글로벌 LNG 투자 지연에도 불구하고, 국영 기업인 PV Gas는 2026년부터 2030년까지 38억 달러 이상을 투입하여 국가 전역의 LNG 터미널 및 가스 파이프라인 인프라를 독자적으로 확장하는 계획을 지속 추진 중이다.[2]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(Thi Vai) LNG 터미널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연 100만톤 → 300만톤 확장 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LNG 수입터미널, PV GAS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합작, 2027년 이후 가동 예정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LNG 발전사업의 최소 장기 인수량(Qc)을 보장하기 위한 제도적 논의가 진행되어 왔으나, Decree 100/2025/ND-CP를 통해 EVN의 의무 인수 보증 한도가 '최대 10년간 65%'로 확정되었다. MOIT와 외투기업들이 요구한 75%·15년 확대안은 최종적으로 기각되었다.[2, 7][V4.1 업데이트] 이러한 엄격한 PPA 인수 조건과 외환(FX) 리스크, 서남아시아 분쟁으로 인한 LNG 연료비 폭등이 맞물려, 4.8GW 규모의 '하이퐁 LNG 발전소' 개발사 빈그룹(VinGro...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 Complex 1단계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VND49조/US$21.3억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부분사실] Trung Nam-Sider…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개시, 연 100만→300만톤 확장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뀐랍(Quynh Lap) LNG 발전소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1.5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SK이노베이션 및 PV Power. 23억 달러 규모, 2027년 착공 예정 [8]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결의안을 통해 중단되었던 원자력 발전이 전략적으로 재개되었고, 2026년 1월 발효된 새 원자력법(Atomic Energy Law)을 통해 2035년까지 국가 전력의 6~8%를 담당하는 국가 최우선 순위로 격상되었다. [V4.1 업데이트] 2026년 7월 16일 팜 지아 툭 부총리 주재 정부 회의에서 재무부 국가 평가 위원회의 권고에 따라 닌투언 원전 프로그램을 1) 닌투언 1호기(EVN, 러시아 로사톰), 2) 닌투언 2호기(PVN, 해외파트너), 3) 독립 토지 보상 프로젝트 등 3...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Rosatom(러시아) 재개 확정, EVN 투자자 지정. [Cowork 팩트체크 2026-07-16] 부지정리 여전히 부진(최근 1주 0.03ha 처리, 52ha 목표 대비 크게 미달)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철수(2025.11~2026.1경) 후 한국 KEPCO-PVN 비구속 MOU 체결(2026.4.22~30경, 정상회담 계기, 사업타당성조사용) — 최종 EPC 파트너는 2026.7 기준 미확정. [Cowork 팩트체크 2026-07-16 추가] 부지보상 74.6%(2026.6.22 기준, 308.6/413.6ha) 완료, 약 80% 보상금 지급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확정. [Cowork 팩트체크 2026-07-16] 부지정리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철수 확인(시점 출처엇갈림) + 한국 KEPCO-PVN 비구속 MOU 체결(2026.…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 (2025.4.15)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개정에 따라 해상풍력 등 재생에너지 목표가 대폭 상향되었으며, 2025년 3월 법령 제57호로 DPPA(직접전력구매계약)가 법제화되었다. [V4.1 업데이트] 초기 DPPA의 저조한 채택률을 극복하기 위해 베트남 정부는 2026년 6월 26일 자로 **법령 제243/2026/ND-CP호**를 공포하여 규제를 전면 수정했다. 이제 DPPA 참여 자격은 단순 대규모 전력 소비자를 넘어 '산업 단지 및 클러스터 내의 전력 소매업체', '데이터 센터(Data centers)', 'EV 충전...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확정. [Cowork 팩트체크 2026-07-16] 신규 법적 프레임워크(Decree 272/2026, 2026.7.4 시행)로 조사기관·투자자 자기자본 요건 명문화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준비. [Cowork 팩트체크 202…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(구 롱안성 득후에, 2025 성통폐합으로 편입) | 49MWp(41.4MWac)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삼성전자베트남타이응우옌(SEVT)-TTC그룹 계약, 베트남 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BESS 16.3GW 확장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16.3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변동성 보완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 (2025.4.15)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마스터플랜으로 석탄 의존에서 벗어나 재생에너지 및 천연가스로의 전환을 주도한다. 2026년 상반기 실적상 석탄 비중은 여전히 54.5%로 의존적이다. 신규 하위 플랜 동향(LNG, 원자력)이 지식베이스 내 별도 ID로 구체화됨.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(2025년말 EVN 공식실적, 전년대비 +6,400MW, 아세안 2위) — 2030목표 대비 약 37~48% 수준. [Cowork 팩트체크 2026-07-16] 2026 상반기 발전량 171.54억kWh(+9.85% YoY) 확인, 단 설비용량 갱신치는 미확인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 → [Cowork 팩트체크 2026-07-16] 2026 상반기 발전믹스 중 재생에너지 12.9%(석탄 54.5%·수력 21%·가스 8%·수입 3.5%)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플랜(재생에너지·LNG·원자력) 통합 프레임워크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Nhon Trach 3 &amp;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1,624MW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1단계 우선 LNG 프로젝트, 상세는 VN-PWR-PDP8-LNG 참조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Quang Trach II (석탄→LNG 전환)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꽝빈성 | 1,500MW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정부공문 54/TB-VPCP(2022.2.25)에 따라 석탄에서 LNG로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빈떤 III (Vinh Tan III) 석탄화력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1,980MW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당초계획 대비 지연·난항 프로젝트로 분류(Decision 500/QD-TTg 부속서)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마스터플랜(Decision 1668/QD-TTg)은 다핵다중심 도시모델을 바탕으로 2045년 1,500만 수용을 목표로 한다. 링로드4 착공 및 메트로 노선 구축이 최우선 과제다. 링로드4 PPP 구간 자본 조달 부진으로 완공 시점이 재조정되었다.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착공 진행 중이나 PPP 3구간 자본조달 약 2%에 그쳐 지연 확인(2026.7.9 도로청 발표)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착공의 서막. [Cowork 팩트체크 2026-07-16, 판정…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삼성, LG 등 글로벌 반도체 공급망의 핵심 기지다. [V4.1 업데이트] 2026년 7월 하이퐁에서 열린 '베트남 산업단지 서밋(Vietnam Industrial Park Summit 2026)'에서 베트남 내 산업단지 모델의 질적 전환이 선언되었다. 애플, 인텔 등 다국적 기업의 ESG 요구를 수용하기 위해 기존의 저비용 생산 기지 제공 모델을 탈피하고 기술, 혁신, 물류, 100% 녹색 에너지(DPPA 법령 연계)를 통합한 '혁신 생태계(Innovation ecosy...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정정] 박닌 2026년 1분기 등록자본 기준 $56.9억(전국 2위) — 기존 '$13억/81%'설은 원문 미확인으로 정정. 자본조정 프로젝트 비중 전국 31%로 최다. [Cowork 팩트체크 2026-07-16 참고] 박닌 상반기 누적 약 $20억(2026.6.24 보도, 조사기간 이전 정보이며 1분기치와의 정합성은 재확인 필요)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 콤플렉스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3,400 ha (산업단지 5개+항만 6개)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로이터 단독보도(2026.5.27) — 삼성이 202…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 (지역계획 범위 불일치 참고)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 클러스터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$232억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 상업가동 목표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완공 및 대형 거점 공항 건설을 목표로 한다. 롱탄 국제공항 상업 개항은 2026년 12월로 공식 연기되었다. [V4.1 업데이트] 2026년 7월 주요 정책으로 떤선녓(Tan Son Nhat) 국제공항 등에서 외국인 입국자를 대상으로 한 온라인 사전 입국 신고제(Pre-arrival declaration)가 본격 시행되어 물류 및 인적 이동의 디지털 관리가 강화되었다. 또한, 중부 내륙 거점 강화를 위해 FLC 그룹이 미국 HASDC와 민...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당초 2026.6월 목표에서 2026.12월 상업개항으로 공식 연기(2026.6.29 baochinhphu.vn/ACV 확인). 전체 공정률 77%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 (Vành đai 3, 호치민·빈즈엉·동나이·롱안)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(구 투득 고가구간 포함) | 전체 76km (구투득 고가구간 약14.7km)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호치민-롱탄 고속도로 확장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호치민-동나이 | 4→8~10차로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떤선녓 국제공항 프로세스 고도화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입국 인프라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도시·교통·산업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국회 특례결의안 제188/2025/QH15호가 시행되면서 기존의 관료적 병목이 제거되었다. 대중교통지향형개발(TOD) 연계, 수의 계약 허용, 토지 정리 분리 발주가 가능해졌다. [V4.1 업데이트] 결의안 188호에 힘입어 하노이시는 5개의 핵심 메트로 회랑(1호선, 2호선, 8호선, 10호선, 14호선)에 대한 전격적인 건설 착수를 발표했다.[4, 14] 호찌민시는 이 메커니즘을 적용하여 100% 공공 예산으로 21억 달러가 확보된 메트로 2호선(벤탄-탐르엉)의 실질적인 착공을 2026년 1월...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개통. [Cowork 팩트체크 2026-07-16] 2호선 2026.7.2 첫 주요구간(ST10역) 착공 확인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1호선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약 81 km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Urban Master 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동아인 신도시. 2045년 87만 인구 수용을 목표로 한다. BRG-Sumitomo 합작 스마트시티 프로젝트가 지연 끝에 2025년 실질 착공했다.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 (North Hanoi Smart City)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'$4B→$4.2B 확대'설은 근거없음. 실질착공은 2025.8부터(2019착공식 이후 6년 지연). [Cowork 팩트체크 2026-07-16] 2026.5.8 기준 하노이시가 공사가속 지시 — 금주 신규 진척 뉴스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 (BRG-Sumitomo, 108층 Phuong Trach Tower 포함)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 (2019년 이래 일관된 수치)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Sumitomo+베트남 BRG 합작. 201…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Co Loa (Vinhomes Global Gate 브랜드)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공식명칭은 '신도시'(스마트시티 아님). 'Glo…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빈그룹 미명명 스마트-생태 신도시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(땀싸·빈응옭·쑤언까잉 사) | $13.8억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신규확인] 2024.7 VnExpress 기준 프로젝트명 미확정 —…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Hanoi Urban Master Plan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하이테크파크. 2026년 7월 기준 입주 프로젝트는 113건으로 늘었으나 상업용지 가동률은 42% 수준에 머무르고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113개 (2026.7.13 Nhân Dân 보도, 기존 109개에서 증가)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등록 투자자본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116조 (~US$50억, 2025년 보도 기준)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상업용지 가동률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약 42% (2026.7.13 보도), 87.7ha 미정리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VKIST (한-베 과학기술연구원)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정부간 R&amp;D협력기관, 한국 KIST 모델. 호아락 소재 한국 관련 실제 기관 (정…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부품 제조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투자자, 항공기엔진·산업용 가스터빈 부품 제조, 가동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Nidec Group R&amp;D/생산 (2개 프로젝트)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투자자, 고성능 열모듈 R&amp;D·생산·판매, 가동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+ FPT Corporation (총 4개 프로젝트)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재학생 3,000명 이상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대기업, 대학캠퍼스 운영 + 추가 기업 프로젝트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Innovation Centre(NIC) &amp; Vietnam Space Centre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국가기관, 과학도시 정체성의 일부로 공동 입지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27ha, 약 $13억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2026.1.16 착공, 20…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사회주택 100만 호 공급을 목표로 한다. 2026년 7월부터 SBV 지침에 따라 6.5% 개인 우대금리가 시행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주거면적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25.6㎡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도시화율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 / 75만 인구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New Township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500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Group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KIND-LH 사회주택 협력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Ninh, Hai Phong | 검토 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LH공사 MOU. [Cowork 팩트체크 2026-07-16] 금주 신규 뉴스 없음 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도시·교통·산업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2025년까지 핵심 시범 스마트도시의 국가적 확산을 주도한다. [V4.1 업데이트] 호찌민시는 2026년 7월 17일 새로운 '기후 변화 적응 장기 행동 계획(~2030)'을 발효시켰다. 이 전략에 따라 신규 도시 개발 구역에는 저탄소 친환경 건축 자재 사용이 권장되며, 스마트 배수 네트워크 구축이 최우선 인프라 과제로 편입되었다.[16]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전환. [Cowork 팩트체크 확인] '실질적 스마트도시' 표현은 실무자 인터뷰 발…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한-베 스마트시티 협력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| 한국 FDI 14건, 약 $3.16억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2026.7.3 한국 대표단(…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기후적응형 스마트 도시 모델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전역 확장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7월 17일 실행계획 적용 [16]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87개 · 프로젝트 129개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2026-07-27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2026-07-27T08:01:25Z</dcterms:created>
  <dcterms:modified xsi:type="dcterms:W3CDTF">2026-07-27T08:01:25Z</dcterms:modified>
</cp:coreProperties>
</file>