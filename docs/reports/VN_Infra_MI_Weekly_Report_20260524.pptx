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05년 24일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(2024)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300MW → 33배 상향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164592" y="4197096"/>
            <a:ext cx="8814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= 직전 주 대비 KPI 변동사항 (총 발전설비 (2030) · 재생에너지 비중 (2030) · 해상풍력 (2030) · 석탄발전 단계적 폐지 · 해상풍력(2030) · 육상풍력(2030) · 태양광(2030) · BESS 배터리(2030) · LNG 수입 터미널 · LNG 발전 용량 · 연간 LNG 수입량 · 신규 송전선 구축)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주 핵심 KPI 변동사항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109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항목 = 직전 주 대비 변동 확인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5943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5943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828800" y="5943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총 발전설비 (2030)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" y="914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468880" y="914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2608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2880" y="12070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 신규 KPI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82880" y="13716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2880" y="13716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28800" y="13716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재생에너지 비중 (2030)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2880" y="1691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468880" y="1691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92608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" y="19842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 신규 KPI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21488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" y="21488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2148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21488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해상풍력 (2030)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2880" y="2468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468880" y="2468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926080" y="2468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82880" y="27614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 신규 KPI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2880" y="29260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2880" y="29260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2880" y="2926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28800" y="29260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석탄발전 단계적 폐지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82880" y="3246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2468880" y="3246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292608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82880" y="35387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 신규 KPI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82880" y="37033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2880" y="37033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37033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828800" y="37033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해상풍력(2030)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82880" y="4023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2468880" y="4023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2926080" y="4023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82880" y="43159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 신규 KPI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82880" y="44805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2880" y="44805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2880" y="44805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828800" y="44805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육상풍력(2030)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8288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2468880" y="4800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926080" y="4800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82880" y="50932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 신규 KPI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82880" y="52578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2880" y="52578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52578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828800" y="52578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태양광(2030)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82880" y="5577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2468880" y="5577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2926080" y="5577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182880" y="58704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 신규 KPI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82880" y="60350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2880" y="60350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2880" y="60350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828800" y="60350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BESS 배터리(2030)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82880" y="6355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2468880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2926080" y="6355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67" name="Text 65"/>
          <p:cNvSpPr/>
          <p:nvPr/>
        </p:nvSpPr>
        <p:spPr>
          <a:xfrm>
            <a:off x="182880" y="66476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 신규 KPI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182880" y="68122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82880" y="68122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82880" y="68122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828800" y="68122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LNG 수입 터미널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82880" y="7132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73" name="Text 71"/>
          <p:cNvSpPr/>
          <p:nvPr/>
        </p:nvSpPr>
        <p:spPr>
          <a:xfrm>
            <a:off x="2468880" y="71323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74" name="Text 72"/>
          <p:cNvSpPr/>
          <p:nvPr/>
        </p:nvSpPr>
        <p:spPr>
          <a:xfrm>
            <a:off x="2926080" y="7132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82880" y="74249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 신규 KPI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182880" y="75895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82880" y="75895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82880" y="75895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828800" y="75895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LNG 발전 용량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182880" y="7909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81" name="Text 79"/>
          <p:cNvSpPr/>
          <p:nvPr/>
        </p:nvSpPr>
        <p:spPr>
          <a:xfrm>
            <a:off x="2468880" y="7909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2" name="Text 80"/>
          <p:cNvSpPr/>
          <p:nvPr/>
        </p:nvSpPr>
        <p:spPr>
          <a:xfrm>
            <a:off x="2926080" y="7909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83" name="Text 81"/>
          <p:cNvSpPr/>
          <p:nvPr/>
        </p:nvSpPr>
        <p:spPr>
          <a:xfrm>
            <a:off x="182880" y="82021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 신규 KPI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182880" y="83667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82880" y="83667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82880" y="8366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1828800" y="83667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연간 LNG 수입량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82880" y="8686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89" name="Text 87"/>
          <p:cNvSpPr/>
          <p:nvPr/>
        </p:nvSpPr>
        <p:spPr>
          <a:xfrm>
            <a:off x="2468880" y="8686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0" name="Text 88"/>
          <p:cNvSpPr/>
          <p:nvPr/>
        </p:nvSpPr>
        <p:spPr>
          <a:xfrm>
            <a:off x="2926080" y="8686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91" name="Text 89"/>
          <p:cNvSpPr/>
          <p:nvPr/>
        </p:nvSpPr>
        <p:spPr>
          <a:xfrm>
            <a:off x="182880" y="89794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 신규 KPI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182880" y="91440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82880" y="91440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82880" y="91440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1828800" y="91440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신규 송전선 구축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182880" y="9464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97" name="Text 95"/>
          <p:cNvSpPr/>
          <p:nvPr/>
        </p:nvSpPr>
        <p:spPr>
          <a:xfrm>
            <a:off x="2468880" y="94640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8" name="Text 96"/>
          <p:cNvSpPr/>
          <p:nvPr/>
        </p:nvSpPr>
        <p:spPr>
          <a:xfrm>
            <a:off x="2926080" y="9464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182880" y="97566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 신규 KPI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182880" y="99212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82880" y="99212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82880" y="99212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1828800" y="99212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765kV 신규 노선</a:t>
            </a:r>
            <a:endParaRPr lang="en-US" sz="1300" dirty="0"/>
          </a:p>
        </p:txBody>
      </p:sp>
      <p:sp>
        <p:nvSpPr>
          <p:cNvPr id="104" name="Text 102"/>
          <p:cNvSpPr/>
          <p:nvPr/>
        </p:nvSpPr>
        <p:spPr>
          <a:xfrm>
            <a:off x="182880" y="10241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05" name="Text 103"/>
          <p:cNvSpPr/>
          <p:nvPr/>
        </p:nvSpPr>
        <p:spPr>
          <a:xfrm>
            <a:off x="2468880" y="10241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6" name="Text 104"/>
          <p:cNvSpPr/>
          <p:nvPr/>
        </p:nvSpPr>
        <p:spPr>
          <a:xfrm>
            <a:off x="2926080" y="10241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82880" y="105338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 신규 KPI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182880" y="106984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82880" y="106984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82880" y="106984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1828800" y="106984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스마트그리드 전환</a:t>
            </a:r>
            <a:endParaRPr lang="en-US" sz="1300" dirty="0"/>
          </a:p>
        </p:txBody>
      </p:sp>
      <p:sp>
        <p:nvSpPr>
          <p:cNvPr id="112" name="Text 110"/>
          <p:cNvSpPr/>
          <p:nvPr/>
        </p:nvSpPr>
        <p:spPr>
          <a:xfrm>
            <a:off x="182880" y="11018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13" name="Text 111"/>
          <p:cNvSpPr/>
          <p:nvPr/>
        </p:nvSpPr>
        <p:spPr>
          <a:xfrm>
            <a:off x="2468880" y="11018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4" name="Text 112"/>
          <p:cNvSpPr/>
          <p:nvPr/>
        </p:nvSpPr>
        <p:spPr>
          <a:xfrm>
            <a:off x="2926080" y="11018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800" dirty="0"/>
          </a:p>
        </p:txBody>
      </p:sp>
      <p:sp>
        <p:nvSpPr>
          <p:cNvPr id="115" name="Text 113"/>
          <p:cNvSpPr/>
          <p:nvPr/>
        </p:nvSpPr>
        <p:spPr>
          <a:xfrm>
            <a:off x="182880" y="113111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 신규 KPI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182880" y="114757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82880" y="114757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2880" y="11475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1828800" y="114757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원자력 발전 용량(2035)</a:t>
            </a:r>
            <a:endParaRPr lang="en-US" sz="1300" dirty="0"/>
          </a:p>
        </p:txBody>
      </p:sp>
      <p:sp>
        <p:nvSpPr>
          <p:cNvPr id="120" name="Text 118"/>
          <p:cNvSpPr/>
          <p:nvPr/>
        </p:nvSpPr>
        <p:spPr>
          <a:xfrm>
            <a:off x="182880" y="11795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21" name="Text 119"/>
          <p:cNvSpPr/>
          <p:nvPr/>
        </p:nvSpPr>
        <p:spPr>
          <a:xfrm>
            <a:off x="2468880" y="117957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2" name="Text 120"/>
          <p:cNvSpPr/>
          <p:nvPr/>
        </p:nvSpPr>
        <p:spPr>
          <a:xfrm>
            <a:off x="2926080" y="1179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800" dirty="0"/>
          </a:p>
        </p:txBody>
      </p:sp>
      <p:sp>
        <p:nvSpPr>
          <p:cNvPr id="123" name="Text 121"/>
          <p:cNvSpPr/>
          <p:nvPr/>
        </p:nvSpPr>
        <p:spPr>
          <a:xfrm>
            <a:off x="182880" y="120883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 신규 KPI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182880" y="122529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82880" y="122529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82880" y="122529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127" name="Text 125"/>
          <p:cNvSpPr/>
          <p:nvPr/>
        </p:nvSpPr>
        <p:spPr>
          <a:xfrm>
            <a:off x="1828800" y="122529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닌투언 1호기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182880" y="1257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29" name="Text 127"/>
          <p:cNvSpPr/>
          <p:nvPr/>
        </p:nvSpPr>
        <p:spPr>
          <a:xfrm>
            <a:off x="2468880" y="12573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0" name="Text 128"/>
          <p:cNvSpPr/>
          <p:nvPr/>
        </p:nvSpPr>
        <p:spPr>
          <a:xfrm>
            <a:off x="2926080" y="12573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800" dirty="0"/>
          </a:p>
        </p:txBody>
      </p:sp>
      <p:sp>
        <p:nvSpPr>
          <p:cNvPr id="131" name="Text 129"/>
          <p:cNvSpPr/>
          <p:nvPr/>
        </p:nvSpPr>
        <p:spPr>
          <a:xfrm>
            <a:off x="182880" y="128656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 신규 KPI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182880" y="130302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82880" y="130302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82880" y="130302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828800" y="130302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닌투언 2호기</a:t>
            </a:r>
            <a:endParaRPr lang="en-US" sz="1300" dirty="0"/>
          </a:p>
        </p:txBody>
      </p:sp>
      <p:sp>
        <p:nvSpPr>
          <p:cNvPr id="136" name="Text 134"/>
          <p:cNvSpPr/>
          <p:nvPr/>
        </p:nvSpPr>
        <p:spPr>
          <a:xfrm>
            <a:off x="182880" y="13350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37" name="Text 135"/>
          <p:cNvSpPr/>
          <p:nvPr/>
        </p:nvSpPr>
        <p:spPr>
          <a:xfrm>
            <a:off x="2468880" y="13350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8" name="Text 136"/>
          <p:cNvSpPr/>
          <p:nvPr/>
        </p:nvSpPr>
        <p:spPr>
          <a:xfrm>
            <a:off x="2926080" y="13350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182880" y="136428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 신규 KPI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182880" y="138074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82880" y="138074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82880" y="138074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143" name="Text 141"/>
          <p:cNvSpPr/>
          <p:nvPr/>
        </p:nvSpPr>
        <p:spPr>
          <a:xfrm>
            <a:off x="1828800" y="138074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그린수소 생산</a:t>
            </a:r>
            <a:endParaRPr lang="en-US" sz="1300" dirty="0"/>
          </a:p>
        </p:txBody>
      </p:sp>
      <p:sp>
        <p:nvSpPr>
          <p:cNvPr id="144" name="Text 142"/>
          <p:cNvSpPr/>
          <p:nvPr/>
        </p:nvSpPr>
        <p:spPr>
          <a:xfrm>
            <a:off x="182880" y="1412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45" name="Text 143"/>
          <p:cNvSpPr/>
          <p:nvPr/>
        </p:nvSpPr>
        <p:spPr>
          <a:xfrm>
            <a:off x="2468880" y="14127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6" name="Text 144"/>
          <p:cNvSpPr/>
          <p:nvPr/>
        </p:nvSpPr>
        <p:spPr>
          <a:xfrm>
            <a:off x="2926080" y="1412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800" dirty="0"/>
          </a:p>
        </p:txBody>
      </p:sp>
      <p:sp>
        <p:nvSpPr>
          <p:cNvPr id="147" name="Text 145"/>
          <p:cNvSpPr/>
          <p:nvPr/>
        </p:nvSpPr>
        <p:spPr>
          <a:xfrm>
            <a:off x="182880" y="144200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 신규 KPI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182880" y="145846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2880" y="145846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82880" y="145846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1828800" y="145846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수소 수출</a:t>
            </a:r>
            <a:endParaRPr lang="en-US" sz="1300" dirty="0"/>
          </a:p>
        </p:txBody>
      </p:sp>
      <p:sp>
        <p:nvSpPr>
          <p:cNvPr id="152" name="Text 150"/>
          <p:cNvSpPr/>
          <p:nvPr/>
        </p:nvSpPr>
        <p:spPr>
          <a:xfrm>
            <a:off x="182880" y="1490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53" name="Text 151"/>
          <p:cNvSpPr/>
          <p:nvPr/>
        </p:nvSpPr>
        <p:spPr>
          <a:xfrm>
            <a:off x="2468880" y="1490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4" name="Text 152"/>
          <p:cNvSpPr/>
          <p:nvPr/>
        </p:nvSpPr>
        <p:spPr>
          <a:xfrm>
            <a:off x="2926080" y="14904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800" dirty="0"/>
          </a:p>
        </p:txBody>
      </p:sp>
      <p:sp>
        <p:nvSpPr>
          <p:cNvPr id="155" name="Text 153"/>
          <p:cNvSpPr/>
          <p:nvPr/>
        </p:nvSpPr>
        <p:spPr>
          <a:xfrm>
            <a:off x="182880" y="151973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 신규 KPI</a:t>
            </a:r>
            <a:endParaRPr lang="en-US" sz="900" dirty="0"/>
          </a:p>
        </p:txBody>
      </p:sp>
      <p:sp>
        <p:nvSpPr>
          <p:cNvPr id="156" name="Shape 154"/>
          <p:cNvSpPr/>
          <p:nvPr/>
        </p:nvSpPr>
        <p:spPr>
          <a:xfrm>
            <a:off x="182880" y="153619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82880" y="153619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82880" y="153619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159" name="Text 157"/>
          <p:cNvSpPr/>
          <p:nvPr/>
        </p:nvSpPr>
        <p:spPr>
          <a:xfrm>
            <a:off x="1828800" y="153619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원유 생산량</a:t>
            </a:r>
            <a:endParaRPr lang="en-US" sz="1300" dirty="0"/>
          </a:p>
        </p:txBody>
      </p:sp>
      <p:sp>
        <p:nvSpPr>
          <p:cNvPr id="160" name="Text 158"/>
          <p:cNvSpPr/>
          <p:nvPr/>
        </p:nvSpPr>
        <p:spPr>
          <a:xfrm>
            <a:off x="182880" y="1568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61" name="Text 159"/>
          <p:cNvSpPr/>
          <p:nvPr/>
        </p:nvSpPr>
        <p:spPr>
          <a:xfrm>
            <a:off x="2468880" y="15681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2" name="Text 160"/>
          <p:cNvSpPr/>
          <p:nvPr/>
        </p:nvSpPr>
        <p:spPr>
          <a:xfrm>
            <a:off x="2926080" y="15681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800" dirty="0"/>
          </a:p>
        </p:txBody>
      </p:sp>
      <p:sp>
        <p:nvSpPr>
          <p:cNvPr id="163" name="Text 161"/>
          <p:cNvSpPr/>
          <p:nvPr/>
        </p:nvSpPr>
        <p:spPr>
          <a:xfrm>
            <a:off x="182880" y="159745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 신규 KPI</a:t>
            </a:r>
            <a:endParaRPr lang="en-US" sz="900" dirty="0"/>
          </a:p>
        </p:txBody>
      </p:sp>
      <p:sp>
        <p:nvSpPr>
          <p:cNvPr id="164" name="Shape 162"/>
          <p:cNvSpPr/>
          <p:nvPr/>
        </p:nvSpPr>
        <p:spPr>
          <a:xfrm>
            <a:off x="182880" y="161391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182880" y="161391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82880" y="161391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167" name="Text 165"/>
          <p:cNvSpPr/>
          <p:nvPr/>
        </p:nvSpPr>
        <p:spPr>
          <a:xfrm>
            <a:off x="1828800" y="161391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가스 생산량</a:t>
            </a:r>
            <a:endParaRPr lang="en-US" sz="1300" dirty="0"/>
          </a:p>
        </p:txBody>
      </p:sp>
      <p:sp>
        <p:nvSpPr>
          <p:cNvPr id="168" name="Text 166"/>
          <p:cNvSpPr/>
          <p:nvPr/>
        </p:nvSpPr>
        <p:spPr>
          <a:xfrm>
            <a:off x="182880" y="16459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69" name="Text 167"/>
          <p:cNvSpPr/>
          <p:nvPr/>
        </p:nvSpPr>
        <p:spPr>
          <a:xfrm>
            <a:off x="2468880" y="164592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0" name="Text 168"/>
          <p:cNvSpPr/>
          <p:nvPr/>
        </p:nvSpPr>
        <p:spPr>
          <a:xfrm>
            <a:off x="2926080" y="16459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800" dirty="0"/>
          </a:p>
        </p:txBody>
      </p:sp>
      <p:sp>
        <p:nvSpPr>
          <p:cNvPr id="171" name="Text 169"/>
          <p:cNvSpPr/>
          <p:nvPr/>
        </p:nvSpPr>
        <p:spPr>
          <a:xfrm>
            <a:off x="182880" y="167518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 신규 KPI</a:t>
            </a:r>
            <a:endParaRPr lang="en-US" sz="900" dirty="0"/>
          </a:p>
        </p:txBody>
      </p:sp>
      <p:sp>
        <p:nvSpPr>
          <p:cNvPr id="172" name="Shape 170"/>
          <p:cNvSpPr/>
          <p:nvPr/>
        </p:nvSpPr>
        <p:spPr>
          <a:xfrm>
            <a:off x="182880" y="169164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82880" y="169164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82880" y="169164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175" name="Text 173"/>
          <p:cNvSpPr/>
          <p:nvPr/>
        </p:nvSpPr>
        <p:spPr>
          <a:xfrm>
            <a:off x="1828800" y="169164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LNG 수입 의존도</a:t>
            </a:r>
            <a:endParaRPr lang="en-US" sz="1300" dirty="0"/>
          </a:p>
        </p:txBody>
      </p:sp>
      <p:sp>
        <p:nvSpPr>
          <p:cNvPr id="176" name="Text 174"/>
          <p:cNvSpPr/>
          <p:nvPr/>
        </p:nvSpPr>
        <p:spPr>
          <a:xfrm>
            <a:off x="182880" y="17236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77" name="Text 175"/>
          <p:cNvSpPr/>
          <p:nvPr/>
        </p:nvSpPr>
        <p:spPr>
          <a:xfrm>
            <a:off x="2468880" y="17236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8" name="Text 176"/>
          <p:cNvSpPr/>
          <p:nvPr/>
        </p:nvSpPr>
        <p:spPr>
          <a:xfrm>
            <a:off x="2926080" y="17236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800" dirty="0"/>
          </a:p>
        </p:txBody>
      </p:sp>
      <p:sp>
        <p:nvSpPr>
          <p:cNvPr id="179" name="Text 177"/>
          <p:cNvSpPr/>
          <p:nvPr/>
        </p:nvSpPr>
        <p:spPr>
          <a:xfrm>
            <a:off x="182880" y="175290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 신규 KPI</a:t>
            </a:r>
            <a:endParaRPr lang="en-US" sz="900" dirty="0"/>
          </a:p>
        </p:txBody>
      </p:sp>
      <p:sp>
        <p:nvSpPr>
          <p:cNvPr id="180" name="Shape 178"/>
          <p:cNvSpPr/>
          <p:nvPr/>
        </p:nvSpPr>
        <p:spPr>
          <a:xfrm>
            <a:off x="182880" y="176936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182880" y="176936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82880" y="176936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183" name="Text 181"/>
          <p:cNvSpPr/>
          <p:nvPr/>
        </p:nvSpPr>
        <p:spPr>
          <a:xfrm>
            <a:off x="1828800" y="176936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도시 폐수처리율</a:t>
            </a:r>
            <a:endParaRPr lang="en-US" sz="1300" dirty="0"/>
          </a:p>
        </p:txBody>
      </p:sp>
      <p:sp>
        <p:nvSpPr>
          <p:cNvPr id="184" name="Text 182"/>
          <p:cNvSpPr/>
          <p:nvPr/>
        </p:nvSpPr>
        <p:spPr>
          <a:xfrm>
            <a:off x="182880" y="18013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85" name="Text 183"/>
          <p:cNvSpPr/>
          <p:nvPr/>
        </p:nvSpPr>
        <p:spPr>
          <a:xfrm>
            <a:off x="2468880" y="180136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6" name="Text 184"/>
          <p:cNvSpPr/>
          <p:nvPr/>
        </p:nvSpPr>
        <p:spPr>
          <a:xfrm>
            <a:off x="2926080" y="18013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800" dirty="0"/>
          </a:p>
        </p:txBody>
      </p:sp>
      <p:sp>
        <p:nvSpPr>
          <p:cNvPr id="187" name="Text 185"/>
          <p:cNvSpPr/>
          <p:nvPr/>
        </p:nvSpPr>
        <p:spPr>
          <a:xfrm>
            <a:off x="182880" y="183062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신규 KPI</a:t>
            </a:r>
            <a:endParaRPr lang="en-US" sz="900" dirty="0"/>
          </a:p>
        </p:txBody>
      </p:sp>
      <p:sp>
        <p:nvSpPr>
          <p:cNvPr id="188" name="Shape 186"/>
          <p:cNvSpPr/>
          <p:nvPr/>
        </p:nvSpPr>
        <p:spPr>
          <a:xfrm>
            <a:off x="182880" y="184708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182880" y="184708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182880" y="184708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191" name="Text 189"/>
          <p:cNvSpPr/>
          <p:nvPr/>
        </p:nvSpPr>
        <p:spPr>
          <a:xfrm>
            <a:off x="1828800" y="184708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신규 WWTP 용량</a:t>
            </a:r>
            <a:endParaRPr lang="en-US" sz="1300" dirty="0"/>
          </a:p>
        </p:txBody>
      </p:sp>
      <p:sp>
        <p:nvSpPr>
          <p:cNvPr id="192" name="Text 190"/>
          <p:cNvSpPr/>
          <p:nvPr/>
        </p:nvSpPr>
        <p:spPr>
          <a:xfrm>
            <a:off x="182880" y="18790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93" name="Text 191"/>
          <p:cNvSpPr/>
          <p:nvPr/>
        </p:nvSpPr>
        <p:spPr>
          <a:xfrm>
            <a:off x="2468880" y="18790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4" name="Text 192"/>
          <p:cNvSpPr/>
          <p:nvPr/>
        </p:nvSpPr>
        <p:spPr>
          <a:xfrm>
            <a:off x="2926080" y="18790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800" dirty="0"/>
          </a:p>
        </p:txBody>
      </p:sp>
      <p:sp>
        <p:nvSpPr>
          <p:cNvPr id="195" name="Text 193"/>
          <p:cNvSpPr/>
          <p:nvPr/>
        </p:nvSpPr>
        <p:spPr>
          <a:xfrm>
            <a:off x="182880" y="190835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신규 KPI</a:t>
            </a:r>
            <a:endParaRPr lang="en-US" sz="900" dirty="0"/>
          </a:p>
        </p:txBody>
      </p:sp>
      <p:sp>
        <p:nvSpPr>
          <p:cNvPr id="196" name="Shape 194"/>
          <p:cNvSpPr/>
          <p:nvPr/>
        </p:nvSpPr>
        <p:spPr>
          <a:xfrm>
            <a:off x="182880" y="192481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82880" y="192481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82880" y="192481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199" name="Text 197"/>
          <p:cNvSpPr/>
          <p:nvPr/>
        </p:nvSpPr>
        <p:spPr>
          <a:xfrm>
            <a:off x="1828800" y="192481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ODA 연계 투자</a:t>
            </a:r>
            <a:endParaRPr lang="en-US" sz="1300" dirty="0"/>
          </a:p>
        </p:txBody>
      </p:sp>
      <p:sp>
        <p:nvSpPr>
          <p:cNvPr id="200" name="Text 198"/>
          <p:cNvSpPr/>
          <p:nvPr/>
        </p:nvSpPr>
        <p:spPr>
          <a:xfrm>
            <a:off x="182880" y="19568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01" name="Text 199"/>
          <p:cNvSpPr/>
          <p:nvPr/>
        </p:nvSpPr>
        <p:spPr>
          <a:xfrm>
            <a:off x="2468880" y="19568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2" name="Text 200"/>
          <p:cNvSpPr/>
          <p:nvPr/>
        </p:nvSpPr>
        <p:spPr>
          <a:xfrm>
            <a:off x="2926080" y="19568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800" dirty="0"/>
          </a:p>
        </p:txBody>
      </p:sp>
      <p:sp>
        <p:nvSpPr>
          <p:cNvPr id="203" name="Text 201"/>
          <p:cNvSpPr/>
          <p:nvPr/>
        </p:nvSpPr>
        <p:spPr>
          <a:xfrm>
            <a:off x="182880" y="198607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신규 KPI</a:t>
            </a:r>
            <a:endParaRPr lang="en-US" sz="900" dirty="0"/>
          </a:p>
        </p:txBody>
      </p:sp>
      <p:sp>
        <p:nvSpPr>
          <p:cNvPr id="204" name="Shape 202"/>
          <p:cNvSpPr/>
          <p:nvPr/>
        </p:nvSpPr>
        <p:spPr>
          <a:xfrm>
            <a:off x="182880" y="200253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182880" y="200253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182880" y="200253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207" name="Text 205"/>
          <p:cNvSpPr/>
          <p:nvPr/>
        </p:nvSpPr>
        <p:spPr>
          <a:xfrm>
            <a:off x="1828800" y="200253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지하수 관리 대수층</a:t>
            </a:r>
            <a:endParaRPr lang="en-US" sz="1300" dirty="0"/>
          </a:p>
        </p:txBody>
      </p:sp>
      <p:sp>
        <p:nvSpPr>
          <p:cNvPr id="208" name="Text 206"/>
          <p:cNvSpPr/>
          <p:nvPr/>
        </p:nvSpPr>
        <p:spPr>
          <a:xfrm>
            <a:off x="182880" y="20345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09" name="Text 207"/>
          <p:cNvSpPr/>
          <p:nvPr/>
        </p:nvSpPr>
        <p:spPr>
          <a:xfrm>
            <a:off x="2468880" y="20345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0" name="Text 208"/>
          <p:cNvSpPr/>
          <p:nvPr/>
        </p:nvSpPr>
        <p:spPr>
          <a:xfrm>
            <a:off x="2926080" y="20345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800" dirty="0"/>
          </a:p>
        </p:txBody>
      </p:sp>
      <p:sp>
        <p:nvSpPr>
          <p:cNvPr id="211" name="Text 209"/>
          <p:cNvSpPr/>
          <p:nvPr/>
        </p:nvSpPr>
        <p:spPr>
          <a:xfrm>
            <a:off x="182880" y="206380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 신규 KPI</a:t>
            </a:r>
            <a:endParaRPr lang="en-US" sz="900" dirty="0"/>
          </a:p>
        </p:txBody>
      </p:sp>
      <p:sp>
        <p:nvSpPr>
          <p:cNvPr id="212" name="Shape 210"/>
          <p:cNvSpPr/>
          <p:nvPr/>
        </p:nvSpPr>
        <p:spPr>
          <a:xfrm>
            <a:off x="182880" y="208026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82880" y="208026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182880" y="20802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215" name="Text 213"/>
          <p:cNvSpPr/>
          <p:nvPr/>
        </p:nvSpPr>
        <p:spPr>
          <a:xfrm>
            <a:off x="1828800" y="208026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중복 댐·저수지 안전진단</a:t>
            </a:r>
            <a:endParaRPr lang="en-US" sz="1300" dirty="0"/>
          </a:p>
        </p:txBody>
      </p:sp>
      <p:sp>
        <p:nvSpPr>
          <p:cNvPr id="216" name="Text 214"/>
          <p:cNvSpPr/>
          <p:nvPr/>
        </p:nvSpPr>
        <p:spPr>
          <a:xfrm>
            <a:off x="182880" y="21122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17" name="Text 215"/>
          <p:cNvSpPr/>
          <p:nvPr/>
        </p:nvSpPr>
        <p:spPr>
          <a:xfrm>
            <a:off x="2468880" y="21122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8" name="Text 216"/>
          <p:cNvSpPr/>
          <p:nvPr/>
        </p:nvSpPr>
        <p:spPr>
          <a:xfrm>
            <a:off x="2926080" y="21122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800" dirty="0"/>
          </a:p>
        </p:txBody>
      </p:sp>
      <p:sp>
        <p:nvSpPr>
          <p:cNvPr id="219" name="Text 217"/>
          <p:cNvSpPr/>
          <p:nvPr/>
        </p:nvSpPr>
        <p:spPr>
          <a:xfrm>
            <a:off x="182880" y="214152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 신규 KPI</a:t>
            </a:r>
            <a:endParaRPr lang="en-US" sz="900" dirty="0"/>
          </a:p>
        </p:txBody>
      </p:sp>
      <p:sp>
        <p:nvSpPr>
          <p:cNvPr id="220" name="Shape 218"/>
          <p:cNvSpPr/>
          <p:nvPr/>
        </p:nvSpPr>
        <p:spPr>
          <a:xfrm>
            <a:off x="182880" y="215798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182880" y="215798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182880" y="21579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223" name="Text 221"/>
          <p:cNvSpPr/>
          <p:nvPr/>
        </p:nvSpPr>
        <p:spPr>
          <a:xfrm>
            <a:off x="1828800" y="215798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홍수 피해 GDP 비중</a:t>
            </a:r>
            <a:endParaRPr lang="en-US" sz="1300" dirty="0"/>
          </a:p>
        </p:txBody>
      </p:sp>
      <p:sp>
        <p:nvSpPr>
          <p:cNvPr id="224" name="Text 222"/>
          <p:cNvSpPr/>
          <p:nvPr/>
        </p:nvSpPr>
        <p:spPr>
          <a:xfrm>
            <a:off x="182880" y="21899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25" name="Text 223"/>
          <p:cNvSpPr/>
          <p:nvPr/>
        </p:nvSpPr>
        <p:spPr>
          <a:xfrm>
            <a:off x="2468880" y="21899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6" name="Text 224"/>
          <p:cNvSpPr/>
          <p:nvPr/>
        </p:nvSpPr>
        <p:spPr>
          <a:xfrm>
            <a:off x="2926080" y="21899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800" dirty="0"/>
          </a:p>
        </p:txBody>
      </p:sp>
      <p:sp>
        <p:nvSpPr>
          <p:cNvPr id="227" name="Text 225"/>
          <p:cNvSpPr/>
          <p:nvPr/>
        </p:nvSpPr>
        <p:spPr>
          <a:xfrm>
            <a:off x="182880" y="221924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 신규 KPI</a:t>
            </a:r>
            <a:endParaRPr lang="en-US" sz="900" dirty="0"/>
          </a:p>
        </p:txBody>
      </p:sp>
      <p:sp>
        <p:nvSpPr>
          <p:cNvPr id="228" name="Shape 226"/>
          <p:cNvSpPr/>
          <p:nvPr/>
        </p:nvSpPr>
        <p:spPr>
          <a:xfrm>
            <a:off x="182880" y="223570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82880" y="223570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182880" y="22357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231" name="Text 229"/>
          <p:cNvSpPr/>
          <p:nvPr/>
        </p:nvSpPr>
        <p:spPr>
          <a:xfrm>
            <a:off x="1828800" y="223570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도시 안전 상수 보급률</a:t>
            </a:r>
            <a:endParaRPr lang="en-US" sz="1300" dirty="0"/>
          </a:p>
        </p:txBody>
      </p:sp>
      <p:sp>
        <p:nvSpPr>
          <p:cNvPr id="232" name="Text 230"/>
          <p:cNvSpPr/>
          <p:nvPr/>
        </p:nvSpPr>
        <p:spPr>
          <a:xfrm>
            <a:off x="182880" y="22677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33" name="Text 231"/>
          <p:cNvSpPr/>
          <p:nvPr/>
        </p:nvSpPr>
        <p:spPr>
          <a:xfrm>
            <a:off x="2468880" y="22677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4" name="Text 232"/>
          <p:cNvSpPr/>
          <p:nvPr/>
        </p:nvSpPr>
        <p:spPr>
          <a:xfrm>
            <a:off x="2926080" y="22677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235" name="Text 233"/>
          <p:cNvSpPr/>
          <p:nvPr/>
        </p:nvSpPr>
        <p:spPr>
          <a:xfrm>
            <a:off x="182880" y="229697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신규 KPI</a:t>
            </a:r>
            <a:endParaRPr lang="en-US" sz="900" dirty="0"/>
          </a:p>
        </p:txBody>
      </p:sp>
      <p:sp>
        <p:nvSpPr>
          <p:cNvPr id="236" name="Shape 234"/>
          <p:cNvSpPr/>
          <p:nvPr/>
        </p:nvSpPr>
        <p:spPr>
          <a:xfrm>
            <a:off x="182880" y="231343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182880" y="231343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182880" y="231343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239" name="Text 237"/>
          <p:cNvSpPr/>
          <p:nvPr/>
        </p:nvSpPr>
        <p:spPr>
          <a:xfrm>
            <a:off x="1828800" y="231343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1인당 공급량</a:t>
            </a:r>
            <a:endParaRPr lang="en-US" sz="1300" dirty="0"/>
          </a:p>
        </p:txBody>
      </p:sp>
      <p:sp>
        <p:nvSpPr>
          <p:cNvPr id="240" name="Text 238"/>
          <p:cNvSpPr/>
          <p:nvPr/>
        </p:nvSpPr>
        <p:spPr>
          <a:xfrm>
            <a:off x="182880" y="23454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41" name="Text 239"/>
          <p:cNvSpPr/>
          <p:nvPr/>
        </p:nvSpPr>
        <p:spPr>
          <a:xfrm>
            <a:off x="2468880" y="23454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2" name="Text 240"/>
          <p:cNvSpPr/>
          <p:nvPr/>
        </p:nvSpPr>
        <p:spPr>
          <a:xfrm>
            <a:off x="2926080" y="23454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800" dirty="0"/>
          </a:p>
        </p:txBody>
      </p:sp>
      <p:sp>
        <p:nvSpPr>
          <p:cNvPr id="243" name="Text 241"/>
          <p:cNvSpPr/>
          <p:nvPr/>
        </p:nvSpPr>
        <p:spPr>
          <a:xfrm>
            <a:off x="182880" y="237469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신규 KPI</a:t>
            </a:r>
            <a:endParaRPr lang="en-US" sz="900" dirty="0"/>
          </a:p>
        </p:txBody>
      </p:sp>
      <p:sp>
        <p:nvSpPr>
          <p:cNvPr id="244" name="Shape 242"/>
          <p:cNvSpPr/>
          <p:nvPr/>
        </p:nvSpPr>
        <p:spPr>
          <a:xfrm>
            <a:off x="182880" y="239115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82880" y="239115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182880" y="239115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247" name="Text 245"/>
          <p:cNvSpPr/>
          <p:nvPr/>
        </p:nvSpPr>
        <p:spPr>
          <a:xfrm>
            <a:off x="1828800" y="239115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누수율</a:t>
            </a:r>
            <a:endParaRPr lang="en-US" sz="1300" dirty="0"/>
          </a:p>
        </p:txBody>
      </p:sp>
      <p:sp>
        <p:nvSpPr>
          <p:cNvPr id="248" name="Text 246"/>
          <p:cNvSpPr/>
          <p:nvPr/>
        </p:nvSpPr>
        <p:spPr>
          <a:xfrm>
            <a:off x="182880" y="24231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49" name="Text 247"/>
          <p:cNvSpPr/>
          <p:nvPr/>
        </p:nvSpPr>
        <p:spPr>
          <a:xfrm>
            <a:off x="2468880" y="24231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0" name="Text 248"/>
          <p:cNvSpPr/>
          <p:nvPr/>
        </p:nvSpPr>
        <p:spPr>
          <a:xfrm>
            <a:off x="2926080" y="2423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800" dirty="0"/>
          </a:p>
        </p:txBody>
      </p:sp>
      <p:sp>
        <p:nvSpPr>
          <p:cNvPr id="251" name="Text 249"/>
          <p:cNvSpPr/>
          <p:nvPr/>
        </p:nvSpPr>
        <p:spPr>
          <a:xfrm>
            <a:off x="182880" y="245242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신규 KPI</a:t>
            </a:r>
            <a:endParaRPr lang="en-US" sz="900" dirty="0"/>
          </a:p>
        </p:txBody>
      </p:sp>
      <p:sp>
        <p:nvSpPr>
          <p:cNvPr id="252" name="Shape 250"/>
          <p:cNvSpPr/>
          <p:nvPr/>
        </p:nvSpPr>
        <p:spPr>
          <a:xfrm>
            <a:off x="182880" y="246888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82880" y="246888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182880" y="246888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255" name="Text 253"/>
          <p:cNvSpPr/>
          <p:nvPr/>
        </p:nvSpPr>
        <p:spPr>
          <a:xfrm>
            <a:off x="1828800" y="246888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도시 폐기물 수거율</a:t>
            </a:r>
            <a:endParaRPr lang="en-US" sz="1300" dirty="0"/>
          </a:p>
        </p:txBody>
      </p:sp>
      <p:sp>
        <p:nvSpPr>
          <p:cNvPr id="256" name="Text 254"/>
          <p:cNvSpPr/>
          <p:nvPr/>
        </p:nvSpPr>
        <p:spPr>
          <a:xfrm>
            <a:off x="182880" y="25008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57" name="Text 255"/>
          <p:cNvSpPr/>
          <p:nvPr/>
        </p:nvSpPr>
        <p:spPr>
          <a:xfrm>
            <a:off x="2468880" y="2500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8" name="Text 256"/>
          <p:cNvSpPr/>
          <p:nvPr/>
        </p:nvSpPr>
        <p:spPr>
          <a:xfrm>
            <a:off x="2926080" y="2500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259" name="Text 257"/>
          <p:cNvSpPr/>
          <p:nvPr/>
        </p:nvSpPr>
        <p:spPr>
          <a:xfrm>
            <a:off x="182880" y="253014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신규 KPI</a:t>
            </a:r>
            <a:endParaRPr lang="en-US" sz="900" dirty="0"/>
          </a:p>
        </p:txBody>
      </p:sp>
      <p:sp>
        <p:nvSpPr>
          <p:cNvPr id="260" name="Shape 258"/>
          <p:cNvSpPr/>
          <p:nvPr/>
        </p:nvSpPr>
        <p:spPr>
          <a:xfrm>
            <a:off x="182880" y="254660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182880" y="254660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62" name="Text 260"/>
          <p:cNvSpPr/>
          <p:nvPr/>
        </p:nvSpPr>
        <p:spPr>
          <a:xfrm>
            <a:off x="182880" y="254660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263" name="Text 261"/>
          <p:cNvSpPr/>
          <p:nvPr/>
        </p:nvSpPr>
        <p:spPr>
          <a:xfrm>
            <a:off x="1828800" y="254660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WtE 소각 비율</a:t>
            </a:r>
            <a:endParaRPr lang="en-US" sz="1300" dirty="0"/>
          </a:p>
        </p:txBody>
      </p:sp>
      <p:sp>
        <p:nvSpPr>
          <p:cNvPr id="264" name="Text 262"/>
          <p:cNvSpPr/>
          <p:nvPr/>
        </p:nvSpPr>
        <p:spPr>
          <a:xfrm>
            <a:off x="182880" y="25786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65" name="Text 263"/>
          <p:cNvSpPr/>
          <p:nvPr/>
        </p:nvSpPr>
        <p:spPr>
          <a:xfrm>
            <a:off x="2468880" y="25786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6" name="Text 264"/>
          <p:cNvSpPr/>
          <p:nvPr/>
        </p:nvSpPr>
        <p:spPr>
          <a:xfrm>
            <a:off x="2926080" y="25786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800" dirty="0"/>
          </a:p>
        </p:txBody>
      </p:sp>
      <p:sp>
        <p:nvSpPr>
          <p:cNvPr id="267" name="Text 265"/>
          <p:cNvSpPr/>
          <p:nvPr/>
        </p:nvSpPr>
        <p:spPr>
          <a:xfrm>
            <a:off x="182880" y="260786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신규 KPI</a:t>
            </a:r>
            <a:endParaRPr lang="en-US" sz="900" dirty="0"/>
          </a:p>
        </p:txBody>
      </p:sp>
      <p:sp>
        <p:nvSpPr>
          <p:cNvPr id="268" name="Shape 266"/>
          <p:cNvSpPr/>
          <p:nvPr/>
        </p:nvSpPr>
        <p:spPr>
          <a:xfrm>
            <a:off x="182880" y="262432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182880" y="262432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182880" y="262432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828800" y="262432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매립 의존율</a:t>
            </a:r>
            <a:endParaRPr lang="en-US" sz="1300" dirty="0"/>
          </a:p>
        </p:txBody>
      </p:sp>
      <p:sp>
        <p:nvSpPr>
          <p:cNvPr id="272" name="Text 270"/>
          <p:cNvSpPr/>
          <p:nvPr/>
        </p:nvSpPr>
        <p:spPr>
          <a:xfrm>
            <a:off x="182880" y="26563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73" name="Text 271"/>
          <p:cNvSpPr/>
          <p:nvPr/>
        </p:nvSpPr>
        <p:spPr>
          <a:xfrm>
            <a:off x="2468880" y="265633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74" name="Text 272"/>
          <p:cNvSpPr/>
          <p:nvPr/>
        </p:nvSpPr>
        <p:spPr>
          <a:xfrm>
            <a:off x="2926080" y="26563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800" dirty="0"/>
          </a:p>
        </p:txBody>
      </p:sp>
      <p:sp>
        <p:nvSpPr>
          <p:cNvPr id="275" name="Text 273"/>
          <p:cNvSpPr/>
          <p:nvPr/>
        </p:nvSpPr>
        <p:spPr>
          <a:xfrm>
            <a:off x="182880" y="268559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신규 KPI</a:t>
            </a:r>
            <a:endParaRPr lang="en-US" sz="900" dirty="0"/>
          </a:p>
        </p:txBody>
      </p:sp>
      <p:sp>
        <p:nvSpPr>
          <p:cNvPr id="276" name="Shape 274"/>
          <p:cNvSpPr/>
          <p:nvPr/>
        </p:nvSpPr>
        <p:spPr>
          <a:xfrm>
            <a:off x="182880" y="270205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182880" y="270205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78" name="Text 276"/>
          <p:cNvSpPr/>
          <p:nvPr/>
        </p:nvSpPr>
        <p:spPr>
          <a:xfrm>
            <a:off x="182880" y="270205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79" name="Text 277"/>
          <p:cNvSpPr/>
          <p:nvPr/>
        </p:nvSpPr>
        <p:spPr>
          <a:xfrm>
            <a:off x="1828800" y="270205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폐수처리 기술 국산화</a:t>
            </a:r>
            <a:endParaRPr lang="en-US" sz="1300" dirty="0"/>
          </a:p>
        </p:txBody>
      </p:sp>
      <p:sp>
        <p:nvSpPr>
          <p:cNvPr id="280" name="Text 278"/>
          <p:cNvSpPr/>
          <p:nvPr/>
        </p:nvSpPr>
        <p:spPr>
          <a:xfrm>
            <a:off x="182880" y="27340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81" name="Text 279"/>
          <p:cNvSpPr/>
          <p:nvPr/>
        </p:nvSpPr>
        <p:spPr>
          <a:xfrm>
            <a:off x="2468880" y="27340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2" name="Text 280"/>
          <p:cNvSpPr/>
          <p:nvPr/>
        </p:nvSpPr>
        <p:spPr>
          <a:xfrm>
            <a:off x="2926080" y="27340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70~80% (2030)</a:t>
            </a:r>
            <a:endParaRPr lang="en-US" sz="1800" dirty="0"/>
          </a:p>
        </p:txBody>
      </p:sp>
      <p:sp>
        <p:nvSpPr>
          <p:cNvPr id="283" name="Text 281"/>
          <p:cNvSpPr/>
          <p:nvPr/>
        </p:nvSpPr>
        <p:spPr>
          <a:xfrm>
            <a:off x="182880" y="276331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 신규 KPI</a:t>
            </a:r>
            <a:endParaRPr lang="en-US" sz="900" dirty="0"/>
          </a:p>
        </p:txBody>
      </p:sp>
      <p:sp>
        <p:nvSpPr>
          <p:cNvPr id="284" name="Shape 282"/>
          <p:cNvSpPr/>
          <p:nvPr/>
        </p:nvSpPr>
        <p:spPr>
          <a:xfrm>
            <a:off x="182880" y="277977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82880" y="277977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86" name="Text 284"/>
          <p:cNvSpPr/>
          <p:nvPr/>
        </p:nvSpPr>
        <p:spPr>
          <a:xfrm>
            <a:off x="182880" y="27797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87" name="Text 285"/>
          <p:cNvSpPr/>
          <p:nvPr/>
        </p:nvSpPr>
        <p:spPr>
          <a:xfrm>
            <a:off x="1828800" y="277977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배기가스 처리 국산화</a:t>
            </a:r>
            <a:endParaRPr lang="en-US" sz="1300" dirty="0"/>
          </a:p>
        </p:txBody>
      </p:sp>
      <p:sp>
        <p:nvSpPr>
          <p:cNvPr id="288" name="Text 286"/>
          <p:cNvSpPr/>
          <p:nvPr/>
        </p:nvSpPr>
        <p:spPr>
          <a:xfrm>
            <a:off x="182880" y="28117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2468880" y="28117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90" name="Text 288"/>
          <p:cNvSpPr/>
          <p:nvPr/>
        </p:nvSpPr>
        <p:spPr>
          <a:xfrm>
            <a:off x="2926080" y="28117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60~70% (2030)</a:t>
            </a:r>
            <a:endParaRPr lang="en-US" sz="1800" dirty="0"/>
          </a:p>
        </p:txBody>
      </p:sp>
      <p:sp>
        <p:nvSpPr>
          <p:cNvPr id="291" name="Text 289"/>
          <p:cNvSpPr/>
          <p:nvPr/>
        </p:nvSpPr>
        <p:spPr>
          <a:xfrm>
            <a:off x="182880" y="284104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 신규 KPI</a:t>
            </a:r>
            <a:endParaRPr lang="en-US" sz="900" dirty="0"/>
          </a:p>
        </p:txBody>
      </p:sp>
      <p:sp>
        <p:nvSpPr>
          <p:cNvPr id="292" name="Shape 290"/>
          <p:cNvSpPr/>
          <p:nvPr/>
        </p:nvSpPr>
        <p:spPr>
          <a:xfrm>
            <a:off x="182880" y="285750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182880" y="285750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182880" y="285750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95" name="Text 293"/>
          <p:cNvSpPr/>
          <p:nvPr/>
        </p:nvSpPr>
        <p:spPr>
          <a:xfrm>
            <a:off x="1828800" y="285750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고형폐기물 처리 국산화</a:t>
            </a:r>
            <a:endParaRPr lang="en-US" sz="1300" dirty="0"/>
          </a:p>
        </p:txBody>
      </p:sp>
      <p:sp>
        <p:nvSpPr>
          <p:cNvPr id="296" name="Text 294"/>
          <p:cNvSpPr/>
          <p:nvPr/>
        </p:nvSpPr>
        <p:spPr>
          <a:xfrm>
            <a:off x="182880" y="28895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297" name="Text 295"/>
          <p:cNvSpPr/>
          <p:nvPr/>
        </p:nvSpPr>
        <p:spPr>
          <a:xfrm>
            <a:off x="2468880" y="288950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98" name="Text 296"/>
          <p:cNvSpPr/>
          <p:nvPr/>
        </p:nvSpPr>
        <p:spPr>
          <a:xfrm>
            <a:off x="2926080" y="2889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50~60% (2030)</a:t>
            </a:r>
            <a:endParaRPr lang="en-US" sz="1800" dirty="0"/>
          </a:p>
        </p:txBody>
      </p:sp>
      <p:sp>
        <p:nvSpPr>
          <p:cNvPr id="299" name="Text 297"/>
          <p:cNvSpPr/>
          <p:nvPr/>
        </p:nvSpPr>
        <p:spPr>
          <a:xfrm>
            <a:off x="182880" y="291876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 신규 KPI</a:t>
            </a:r>
            <a:endParaRPr lang="en-US" sz="900" dirty="0"/>
          </a:p>
        </p:txBody>
      </p:sp>
      <p:sp>
        <p:nvSpPr>
          <p:cNvPr id="300" name="Shape 298"/>
          <p:cNvSpPr/>
          <p:nvPr/>
        </p:nvSpPr>
        <p:spPr>
          <a:xfrm>
            <a:off x="182880" y="293522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182880" y="293522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182880" y="293522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303" name="Text 301"/>
          <p:cNvSpPr/>
          <p:nvPr/>
        </p:nvSpPr>
        <p:spPr>
          <a:xfrm>
            <a:off x="1828800" y="293522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환경 모니터링 장비 국산화</a:t>
            </a:r>
            <a:endParaRPr lang="en-US" sz="1300" dirty="0"/>
          </a:p>
        </p:txBody>
      </p:sp>
      <p:sp>
        <p:nvSpPr>
          <p:cNvPr id="304" name="Text 302"/>
          <p:cNvSpPr/>
          <p:nvPr/>
        </p:nvSpPr>
        <p:spPr>
          <a:xfrm>
            <a:off x="182880" y="29672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05" name="Text 303"/>
          <p:cNvSpPr/>
          <p:nvPr/>
        </p:nvSpPr>
        <p:spPr>
          <a:xfrm>
            <a:off x="2468880" y="29672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06" name="Text 304"/>
          <p:cNvSpPr/>
          <p:nvPr/>
        </p:nvSpPr>
        <p:spPr>
          <a:xfrm>
            <a:off x="2926080" y="29672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(2030)</a:t>
            </a:r>
            <a:endParaRPr lang="en-US" sz="1800" dirty="0"/>
          </a:p>
        </p:txBody>
      </p:sp>
      <p:sp>
        <p:nvSpPr>
          <p:cNvPr id="307" name="Text 305"/>
          <p:cNvSpPr/>
          <p:nvPr/>
        </p:nvSpPr>
        <p:spPr>
          <a:xfrm>
            <a:off x="182880" y="299648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 신규 KPI</a:t>
            </a:r>
            <a:endParaRPr lang="en-US" sz="900" dirty="0"/>
          </a:p>
        </p:txBody>
      </p:sp>
      <p:sp>
        <p:nvSpPr>
          <p:cNvPr id="308" name="Shape 306"/>
          <p:cNvSpPr/>
          <p:nvPr/>
        </p:nvSpPr>
        <p:spPr>
          <a:xfrm>
            <a:off x="182880" y="301294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182880" y="301294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182880" y="301294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311" name="Text 309"/>
          <p:cNvSpPr/>
          <p:nvPr/>
        </p:nvSpPr>
        <p:spPr>
          <a:xfrm>
            <a:off x="1828800" y="301294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재활용 산업단지 파일럿</a:t>
            </a:r>
            <a:endParaRPr lang="en-US" sz="1300" dirty="0"/>
          </a:p>
        </p:txBody>
      </p:sp>
      <p:sp>
        <p:nvSpPr>
          <p:cNvPr id="312" name="Text 310"/>
          <p:cNvSpPr/>
          <p:nvPr/>
        </p:nvSpPr>
        <p:spPr>
          <a:xfrm>
            <a:off x="182880" y="30449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13" name="Text 311"/>
          <p:cNvSpPr/>
          <p:nvPr/>
        </p:nvSpPr>
        <p:spPr>
          <a:xfrm>
            <a:off x="2468880" y="30449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14" name="Text 312"/>
          <p:cNvSpPr/>
          <p:nvPr/>
        </p:nvSpPr>
        <p:spPr>
          <a:xfrm>
            <a:off x="2926080" y="30449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구축 (2027)</a:t>
            </a:r>
            <a:endParaRPr lang="en-US" sz="1800" dirty="0"/>
          </a:p>
        </p:txBody>
      </p:sp>
      <p:sp>
        <p:nvSpPr>
          <p:cNvPr id="315" name="Text 313"/>
          <p:cNvSpPr/>
          <p:nvPr/>
        </p:nvSpPr>
        <p:spPr>
          <a:xfrm>
            <a:off x="182880" y="307421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 신규 KPI</a:t>
            </a:r>
            <a:endParaRPr lang="en-US" sz="900" dirty="0"/>
          </a:p>
        </p:txBody>
      </p:sp>
      <p:sp>
        <p:nvSpPr>
          <p:cNvPr id="316" name="Shape 314"/>
          <p:cNvSpPr/>
          <p:nvPr/>
        </p:nvSpPr>
        <p:spPr>
          <a:xfrm>
            <a:off x="182880" y="309067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182880" y="309067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182880" y="30906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319" name="Text 317"/>
          <p:cNvSpPr/>
          <p:nvPr/>
        </p:nvSpPr>
        <p:spPr>
          <a:xfrm>
            <a:off x="1828800" y="309067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WtE(폐기물 에너지화)</a:t>
            </a:r>
            <a:endParaRPr lang="en-US" sz="1300" dirty="0"/>
          </a:p>
        </p:txBody>
      </p:sp>
      <p:sp>
        <p:nvSpPr>
          <p:cNvPr id="320" name="Text 318"/>
          <p:cNvSpPr/>
          <p:nvPr/>
        </p:nvSpPr>
        <p:spPr>
          <a:xfrm>
            <a:off x="182880" y="31226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21" name="Text 319"/>
          <p:cNvSpPr/>
          <p:nvPr/>
        </p:nvSpPr>
        <p:spPr>
          <a:xfrm>
            <a:off x="2468880" y="312267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22" name="Text 320"/>
          <p:cNvSpPr/>
          <p:nvPr/>
        </p:nvSpPr>
        <p:spPr>
          <a:xfrm>
            <a:off x="2926080" y="31226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2,270MW 확대</a:t>
            </a:r>
            <a:endParaRPr lang="en-US" sz="1800" dirty="0"/>
          </a:p>
        </p:txBody>
      </p:sp>
      <p:sp>
        <p:nvSpPr>
          <p:cNvPr id="323" name="Text 321"/>
          <p:cNvSpPr/>
          <p:nvPr/>
        </p:nvSpPr>
        <p:spPr>
          <a:xfrm>
            <a:off x="182880" y="315193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 신규 KPI</a:t>
            </a:r>
            <a:endParaRPr lang="en-US" sz="900" dirty="0"/>
          </a:p>
        </p:txBody>
      </p:sp>
      <p:sp>
        <p:nvSpPr>
          <p:cNvPr id="324" name="Shape 322"/>
          <p:cNvSpPr/>
          <p:nvPr/>
        </p:nvSpPr>
        <p:spPr>
          <a:xfrm>
            <a:off x="182880" y="316839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182880" y="316839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26" name="Text 324"/>
          <p:cNvSpPr/>
          <p:nvPr/>
        </p:nvSpPr>
        <p:spPr>
          <a:xfrm>
            <a:off x="182880" y="316839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27" name="Text 325"/>
          <p:cNvSpPr/>
          <p:nvPr/>
        </p:nvSpPr>
        <p:spPr>
          <a:xfrm>
            <a:off x="1828800" y="316839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VSIP 단지 수</a:t>
            </a:r>
            <a:endParaRPr lang="en-US" sz="1300" dirty="0"/>
          </a:p>
        </p:txBody>
      </p:sp>
      <p:sp>
        <p:nvSpPr>
          <p:cNvPr id="328" name="Text 326"/>
          <p:cNvSpPr/>
          <p:nvPr/>
        </p:nvSpPr>
        <p:spPr>
          <a:xfrm>
            <a:off x="182880" y="32004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29" name="Text 327"/>
          <p:cNvSpPr/>
          <p:nvPr/>
        </p:nvSpPr>
        <p:spPr>
          <a:xfrm>
            <a:off x="2468880" y="32004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30" name="Text 328"/>
          <p:cNvSpPr/>
          <p:nvPr/>
        </p:nvSpPr>
        <p:spPr>
          <a:xfrm>
            <a:off x="2926080" y="32004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25개 이상</a:t>
            </a:r>
            <a:endParaRPr lang="en-US" sz="1800" dirty="0"/>
          </a:p>
        </p:txBody>
      </p:sp>
      <p:sp>
        <p:nvSpPr>
          <p:cNvPr id="331" name="Text 329"/>
          <p:cNvSpPr/>
          <p:nvPr/>
        </p:nvSpPr>
        <p:spPr>
          <a:xfrm>
            <a:off x="182880" y="322966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32" name="Shape 330"/>
          <p:cNvSpPr/>
          <p:nvPr/>
        </p:nvSpPr>
        <p:spPr>
          <a:xfrm>
            <a:off x="182880" y="324612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182880" y="324612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182880" y="324612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35" name="Text 333"/>
          <p:cNvSpPr/>
          <p:nvPr/>
        </p:nvSpPr>
        <p:spPr>
          <a:xfrm>
            <a:off x="1828800" y="324612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첨단산업 비중</a:t>
            </a:r>
            <a:endParaRPr lang="en-US" sz="1300" dirty="0"/>
          </a:p>
        </p:txBody>
      </p:sp>
      <p:sp>
        <p:nvSpPr>
          <p:cNvPr id="336" name="Text 334"/>
          <p:cNvSpPr/>
          <p:nvPr/>
        </p:nvSpPr>
        <p:spPr>
          <a:xfrm>
            <a:off x="182880" y="32781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37" name="Text 335"/>
          <p:cNvSpPr/>
          <p:nvPr/>
        </p:nvSpPr>
        <p:spPr>
          <a:xfrm>
            <a:off x="2468880" y="32781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38" name="Text 336"/>
          <p:cNvSpPr/>
          <p:nvPr/>
        </p:nvSpPr>
        <p:spPr>
          <a:xfrm>
            <a:off x="2926080" y="32781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이상</a:t>
            </a:r>
            <a:endParaRPr lang="en-US" sz="1800" dirty="0"/>
          </a:p>
        </p:txBody>
      </p:sp>
      <p:sp>
        <p:nvSpPr>
          <p:cNvPr id="339" name="Text 337"/>
          <p:cNvSpPr/>
          <p:nvPr/>
        </p:nvSpPr>
        <p:spPr>
          <a:xfrm>
            <a:off x="182880" y="330738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40" name="Shape 338"/>
          <p:cNvSpPr/>
          <p:nvPr/>
        </p:nvSpPr>
        <p:spPr>
          <a:xfrm>
            <a:off x="182880" y="332384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182880" y="332384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42" name="Text 340"/>
          <p:cNvSpPr/>
          <p:nvPr/>
        </p:nvSpPr>
        <p:spPr>
          <a:xfrm>
            <a:off x="182880" y="332384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43" name="Text 341"/>
          <p:cNvSpPr/>
          <p:nvPr/>
        </p:nvSpPr>
        <p:spPr>
          <a:xfrm>
            <a:off x="1828800" y="332384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FDI 유입</a:t>
            </a:r>
            <a:endParaRPr lang="en-US" sz="1300" dirty="0"/>
          </a:p>
        </p:txBody>
      </p:sp>
      <p:sp>
        <p:nvSpPr>
          <p:cNvPr id="344" name="Text 342"/>
          <p:cNvSpPr/>
          <p:nvPr/>
        </p:nvSpPr>
        <p:spPr>
          <a:xfrm>
            <a:off x="182880" y="33558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45" name="Text 343"/>
          <p:cNvSpPr/>
          <p:nvPr/>
        </p:nvSpPr>
        <p:spPr>
          <a:xfrm>
            <a:off x="2468880" y="33558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6" name="Text 344"/>
          <p:cNvSpPr/>
          <p:nvPr/>
        </p:nvSpPr>
        <p:spPr>
          <a:xfrm>
            <a:off x="2926080" y="33558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$20B 이상</a:t>
            </a:r>
            <a:endParaRPr lang="en-US" sz="1800" dirty="0"/>
          </a:p>
        </p:txBody>
      </p:sp>
      <p:sp>
        <p:nvSpPr>
          <p:cNvPr id="347" name="Text 345"/>
          <p:cNvSpPr/>
          <p:nvPr/>
        </p:nvSpPr>
        <p:spPr>
          <a:xfrm>
            <a:off x="182880" y="338510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48" name="Shape 346"/>
          <p:cNvSpPr/>
          <p:nvPr/>
        </p:nvSpPr>
        <p:spPr>
          <a:xfrm>
            <a:off x="182880" y="340156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182880" y="340156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50" name="Text 348"/>
          <p:cNvSpPr/>
          <p:nvPr/>
        </p:nvSpPr>
        <p:spPr>
          <a:xfrm>
            <a:off x="182880" y="340156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51" name="Text 349"/>
          <p:cNvSpPr/>
          <p:nvPr/>
        </p:nvSpPr>
        <p:spPr>
          <a:xfrm>
            <a:off x="1828800" y="340156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배터리·반도체 거점</a:t>
            </a:r>
            <a:endParaRPr lang="en-US" sz="1300" dirty="0"/>
          </a:p>
        </p:txBody>
      </p:sp>
      <p:sp>
        <p:nvSpPr>
          <p:cNvPr id="352" name="Text 350"/>
          <p:cNvSpPr/>
          <p:nvPr/>
        </p:nvSpPr>
        <p:spPr>
          <a:xfrm>
            <a:off x="182880" y="34335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53" name="Text 351"/>
          <p:cNvSpPr/>
          <p:nvPr/>
        </p:nvSpPr>
        <p:spPr>
          <a:xfrm>
            <a:off x="2468880" y="34335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4" name="Text 352"/>
          <p:cNvSpPr/>
          <p:nvPr/>
        </p:nvSpPr>
        <p:spPr>
          <a:xfrm>
            <a:off x="2926080" y="34335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특화 클러스터 3개</a:t>
            </a:r>
            <a:endParaRPr lang="en-US" sz="1800" dirty="0"/>
          </a:p>
        </p:txBody>
      </p:sp>
      <p:sp>
        <p:nvSpPr>
          <p:cNvPr id="355" name="Text 353"/>
          <p:cNvSpPr/>
          <p:nvPr/>
        </p:nvSpPr>
        <p:spPr>
          <a:xfrm>
            <a:off x="182880" y="346283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56" name="Shape 354"/>
          <p:cNvSpPr/>
          <p:nvPr/>
        </p:nvSpPr>
        <p:spPr>
          <a:xfrm>
            <a:off x="182880" y="347929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182880" y="347929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58" name="Text 356"/>
          <p:cNvSpPr/>
          <p:nvPr/>
        </p:nvSpPr>
        <p:spPr>
          <a:xfrm>
            <a:off x="182880" y="347929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59" name="Text 357"/>
          <p:cNvSpPr/>
          <p:nvPr/>
        </p:nvSpPr>
        <p:spPr>
          <a:xfrm>
            <a:off x="1828800" y="347929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일자리 창출</a:t>
            </a:r>
            <a:endParaRPr lang="en-US" sz="1300" dirty="0"/>
          </a:p>
        </p:txBody>
      </p:sp>
      <p:sp>
        <p:nvSpPr>
          <p:cNvPr id="360" name="Text 358"/>
          <p:cNvSpPr/>
          <p:nvPr/>
        </p:nvSpPr>
        <p:spPr>
          <a:xfrm>
            <a:off x="182880" y="35112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61" name="Text 359"/>
          <p:cNvSpPr/>
          <p:nvPr/>
        </p:nvSpPr>
        <p:spPr>
          <a:xfrm>
            <a:off x="2468880" y="35112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62" name="Text 360"/>
          <p:cNvSpPr/>
          <p:nvPr/>
        </p:nvSpPr>
        <p:spPr>
          <a:xfrm>
            <a:off x="2926080" y="3511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400만 명</a:t>
            </a:r>
            <a:endParaRPr lang="en-US" sz="1800" dirty="0"/>
          </a:p>
        </p:txBody>
      </p:sp>
      <p:sp>
        <p:nvSpPr>
          <p:cNvPr id="363" name="Text 361"/>
          <p:cNvSpPr/>
          <p:nvPr/>
        </p:nvSpPr>
        <p:spPr>
          <a:xfrm>
            <a:off x="182880" y="354055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64" name="Shape 362"/>
          <p:cNvSpPr/>
          <p:nvPr/>
        </p:nvSpPr>
        <p:spPr>
          <a:xfrm>
            <a:off x="182880" y="355701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182880" y="355701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66" name="Text 364"/>
          <p:cNvSpPr/>
          <p:nvPr/>
        </p:nvSpPr>
        <p:spPr>
          <a:xfrm>
            <a:off x="182880" y="355701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67" name="Text 365"/>
          <p:cNvSpPr/>
          <p:nvPr/>
        </p:nvSpPr>
        <p:spPr>
          <a:xfrm>
            <a:off x="1828800" y="355701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하이퐁 신규 단지</a:t>
            </a:r>
            <a:endParaRPr lang="en-US" sz="1300" dirty="0"/>
          </a:p>
        </p:txBody>
      </p:sp>
      <p:sp>
        <p:nvSpPr>
          <p:cNvPr id="368" name="Text 366"/>
          <p:cNvSpPr/>
          <p:nvPr/>
        </p:nvSpPr>
        <p:spPr>
          <a:xfrm>
            <a:off x="182880" y="3589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69" name="Text 367"/>
          <p:cNvSpPr/>
          <p:nvPr/>
        </p:nvSpPr>
        <p:spPr>
          <a:xfrm>
            <a:off x="2468880" y="358902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0" name="Text 368"/>
          <p:cNvSpPr/>
          <p:nvPr/>
        </p:nvSpPr>
        <p:spPr>
          <a:xfrm>
            <a:off x="2926080" y="35890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단지</a:t>
            </a:r>
            <a:endParaRPr lang="en-US" sz="1800" dirty="0"/>
          </a:p>
        </p:txBody>
      </p:sp>
      <p:sp>
        <p:nvSpPr>
          <p:cNvPr id="371" name="Text 369"/>
          <p:cNvSpPr/>
          <p:nvPr/>
        </p:nvSpPr>
        <p:spPr>
          <a:xfrm>
            <a:off x="182880" y="361828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72" name="Shape 370"/>
          <p:cNvSpPr/>
          <p:nvPr/>
        </p:nvSpPr>
        <p:spPr>
          <a:xfrm>
            <a:off x="182880" y="363474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182880" y="363474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74" name="Text 372"/>
          <p:cNvSpPr/>
          <p:nvPr/>
        </p:nvSpPr>
        <p:spPr>
          <a:xfrm>
            <a:off x="182880" y="363474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1828800" y="363474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타이응우옌 확장</a:t>
            </a:r>
            <a:endParaRPr lang="en-US" sz="1300" dirty="0"/>
          </a:p>
        </p:txBody>
      </p:sp>
      <p:sp>
        <p:nvSpPr>
          <p:cNvPr id="376" name="Text 374"/>
          <p:cNvSpPr/>
          <p:nvPr/>
        </p:nvSpPr>
        <p:spPr>
          <a:xfrm>
            <a:off x="182880" y="36667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77" name="Text 375"/>
          <p:cNvSpPr/>
          <p:nvPr/>
        </p:nvSpPr>
        <p:spPr>
          <a:xfrm>
            <a:off x="2468880" y="36667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8" name="Text 376"/>
          <p:cNvSpPr/>
          <p:nvPr/>
        </p:nvSpPr>
        <p:spPr>
          <a:xfrm>
            <a:off x="2926080" y="36667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EV 전환</a:t>
            </a:r>
            <a:endParaRPr lang="en-US" sz="1800" dirty="0"/>
          </a:p>
        </p:txBody>
      </p:sp>
      <p:sp>
        <p:nvSpPr>
          <p:cNvPr id="379" name="Text 377"/>
          <p:cNvSpPr/>
          <p:nvPr/>
        </p:nvSpPr>
        <p:spPr>
          <a:xfrm>
            <a:off x="182880" y="369600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80" name="Shape 378"/>
          <p:cNvSpPr/>
          <p:nvPr/>
        </p:nvSpPr>
        <p:spPr>
          <a:xfrm>
            <a:off x="182880" y="371246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182880" y="371246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82" name="Text 380"/>
          <p:cNvSpPr/>
          <p:nvPr/>
        </p:nvSpPr>
        <p:spPr>
          <a:xfrm>
            <a:off x="182880" y="371246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83" name="Text 381"/>
          <p:cNvSpPr/>
          <p:nvPr/>
        </p:nvSpPr>
        <p:spPr>
          <a:xfrm>
            <a:off x="1828800" y="371246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박장 클러스터</a:t>
            </a:r>
            <a:endParaRPr lang="en-US" sz="1300" dirty="0"/>
          </a:p>
        </p:txBody>
      </p:sp>
      <p:sp>
        <p:nvSpPr>
          <p:cNvPr id="384" name="Text 382"/>
          <p:cNvSpPr/>
          <p:nvPr/>
        </p:nvSpPr>
        <p:spPr>
          <a:xfrm>
            <a:off x="182880" y="37444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85" name="Text 383"/>
          <p:cNvSpPr/>
          <p:nvPr/>
        </p:nvSpPr>
        <p:spPr>
          <a:xfrm>
            <a:off x="2468880" y="374446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86" name="Text 384"/>
          <p:cNvSpPr/>
          <p:nvPr/>
        </p:nvSpPr>
        <p:spPr>
          <a:xfrm>
            <a:off x="2926080" y="37444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반도체 특화</a:t>
            </a:r>
            <a:endParaRPr lang="en-US" sz="1800" dirty="0"/>
          </a:p>
        </p:txBody>
      </p:sp>
      <p:sp>
        <p:nvSpPr>
          <p:cNvPr id="387" name="Text 385"/>
          <p:cNvSpPr/>
          <p:nvPr/>
        </p:nvSpPr>
        <p:spPr>
          <a:xfrm>
            <a:off x="182880" y="377372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88" name="Shape 386"/>
          <p:cNvSpPr/>
          <p:nvPr/>
        </p:nvSpPr>
        <p:spPr>
          <a:xfrm>
            <a:off x="182880" y="379018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182880" y="379018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182880" y="379018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91" name="Text 389"/>
          <p:cNvSpPr/>
          <p:nvPr/>
        </p:nvSpPr>
        <p:spPr>
          <a:xfrm>
            <a:off x="1828800" y="379018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흥옌 신도시</a:t>
            </a:r>
            <a:endParaRPr lang="en-US" sz="1300" dirty="0"/>
          </a:p>
        </p:txBody>
      </p:sp>
      <p:sp>
        <p:nvSpPr>
          <p:cNvPr id="392" name="Text 390"/>
          <p:cNvSpPr/>
          <p:nvPr/>
        </p:nvSpPr>
        <p:spPr>
          <a:xfrm>
            <a:off x="182880" y="38221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393" name="Text 391"/>
          <p:cNvSpPr/>
          <p:nvPr/>
        </p:nvSpPr>
        <p:spPr>
          <a:xfrm>
            <a:off x="2468880" y="38221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94" name="Text 392"/>
          <p:cNvSpPr/>
          <p:nvPr/>
        </p:nvSpPr>
        <p:spPr>
          <a:xfrm>
            <a:off x="2926080" y="3822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395" name="Text 393"/>
          <p:cNvSpPr/>
          <p:nvPr/>
        </p:nvSpPr>
        <p:spPr>
          <a:xfrm>
            <a:off x="182880" y="385145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396" name="Shape 394"/>
          <p:cNvSpPr/>
          <p:nvPr/>
        </p:nvSpPr>
        <p:spPr>
          <a:xfrm>
            <a:off x="182880" y="386791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182880" y="386791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98" name="Text 396"/>
          <p:cNvSpPr/>
          <p:nvPr/>
        </p:nvSpPr>
        <p:spPr>
          <a:xfrm>
            <a:off x="182880" y="386791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399" name="Text 397"/>
          <p:cNvSpPr/>
          <p:nvPr/>
        </p:nvSpPr>
        <p:spPr>
          <a:xfrm>
            <a:off x="1828800" y="386791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환경 기준 강화</a:t>
            </a:r>
            <a:endParaRPr lang="en-US" sz="1300" dirty="0"/>
          </a:p>
        </p:txBody>
      </p:sp>
      <p:sp>
        <p:nvSpPr>
          <p:cNvPr id="400" name="Text 398"/>
          <p:cNvSpPr/>
          <p:nvPr/>
        </p:nvSpPr>
        <p:spPr>
          <a:xfrm>
            <a:off x="182880" y="38999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01" name="Text 399"/>
          <p:cNvSpPr/>
          <p:nvPr/>
        </p:nvSpPr>
        <p:spPr>
          <a:xfrm>
            <a:off x="2468880" y="3899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02" name="Text 400"/>
          <p:cNvSpPr/>
          <p:nvPr/>
        </p:nvSpPr>
        <p:spPr>
          <a:xfrm>
            <a:off x="2926080" y="38999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14001 의무화</a:t>
            </a:r>
            <a:endParaRPr lang="en-US" sz="1800" dirty="0"/>
          </a:p>
        </p:txBody>
      </p:sp>
      <p:sp>
        <p:nvSpPr>
          <p:cNvPr id="403" name="Text 401"/>
          <p:cNvSpPr/>
          <p:nvPr/>
        </p:nvSpPr>
        <p:spPr>
          <a:xfrm>
            <a:off x="182880" y="392917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404" name="Shape 402"/>
          <p:cNvSpPr/>
          <p:nvPr/>
        </p:nvSpPr>
        <p:spPr>
          <a:xfrm>
            <a:off x="182880" y="394563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182880" y="394563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06" name="Text 404"/>
          <p:cNvSpPr/>
          <p:nvPr/>
        </p:nvSpPr>
        <p:spPr>
          <a:xfrm>
            <a:off x="182880" y="394563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407" name="Text 405"/>
          <p:cNvSpPr/>
          <p:nvPr/>
        </p:nvSpPr>
        <p:spPr>
          <a:xfrm>
            <a:off x="1828800" y="394563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신재생에너지 공급</a:t>
            </a:r>
            <a:endParaRPr lang="en-US" sz="1300" dirty="0"/>
          </a:p>
        </p:txBody>
      </p:sp>
      <p:sp>
        <p:nvSpPr>
          <p:cNvPr id="408" name="Text 406"/>
          <p:cNvSpPr/>
          <p:nvPr/>
        </p:nvSpPr>
        <p:spPr>
          <a:xfrm>
            <a:off x="182880" y="39776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09" name="Text 407"/>
          <p:cNvSpPr/>
          <p:nvPr/>
        </p:nvSpPr>
        <p:spPr>
          <a:xfrm>
            <a:off x="2468880" y="39776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10" name="Text 408"/>
          <p:cNvSpPr/>
          <p:nvPr/>
        </p:nvSpPr>
        <p:spPr>
          <a:xfrm>
            <a:off x="2926080" y="39776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RE 달성</a:t>
            </a:r>
            <a:endParaRPr lang="en-US" sz="1800" dirty="0"/>
          </a:p>
        </p:txBody>
      </p:sp>
      <p:sp>
        <p:nvSpPr>
          <p:cNvPr id="411" name="Text 409"/>
          <p:cNvSpPr/>
          <p:nvPr/>
        </p:nvSpPr>
        <p:spPr>
          <a:xfrm>
            <a:off x="182880" y="400690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412" name="Shape 410"/>
          <p:cNvSpPr/>
          <p:nvPr/>
        </p:nvSpPr>
        <p:spPr>
          <a:xfrm>
            <a:off x="182880" y="402336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182880" y="402336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14" name="Text 412"/>
          <p:cNvSpPr/>
          <p:nvPr/>
        </p:nvSpPr>
        <p:spPr>
          <a:xfrm>
            <a:off x="182880" y="40233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415" name="Text 413"/>
          <p:cNvSpPr/>
          <p:nvPr/>
        </p:nvSpPr>
        <p:spPr>
          <a:xfrm>
            <a:off x="1828800" y="402336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스마트 물류 허브</a:t>
            </a:r>
            <a:endParaRPr lang="en-US" sz="1300" dirty="0"/>
          </a:p>
        </p:txBody>
      </p:sp>
      <p:sp>
        <p:nvSpPr>
          <p:cNvPr id="416" name="Text 414"/>
          <p:cNvSpPr/>
          <p:nvPr/>
        </p:nvSpPr>
        <p:spPr>
          <a:xfrm>
            <a:off x="182880" y="40553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17" name="Text 415"/>
          <p:cNvSpPr/>
          <p:nvPr/>
        </p:nvSpPr>
        <p:spPr>
          <a:xfrm>
            <a:off x="2468880" y="40553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18" name="Text 416"/>
          <p:cNvSpPr/>
          <p:nvPr/>
        </p:nvSpPr>
        <p:spPr>
          <a:xfrm>
            <a:off x="2926080" y="40553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허브 구축</a:t>
            </a:r>
            <a:endParaRPr lang="en-US" sz="1800" dirty="0"/>
          </a:p>
        </p:txBody>
      </p:sp>
      <p:sp>
        <p:nvSpPr>
          <p:cNvPr id="419" name="Text 417"/>
          <p:cNvSpPr/>
          <p:nvPr/>
        </p:nvSpPr>
        <p:spPr>
          <a:xfrm>
            <a:off x="182880" y="408462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신규 KPI</a:t>
            </a:r>
            <a:endParaRPr lang="en-US" sz="900" dirty="0"/>
          </a:p>
        </p:txBody>
      </p:sp>
      <p:sp>
        <p:nvSpPr>
          <p:cNvPr id="420" name="Shape 418"/>
          <p:cNvSpPr/>
          <p:nvPr/>
        </p:nvSpPr>
        <p:spPr>
          <a:xfrm>
            <a:off x="182880" y="410108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182880" y="410108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22" name="Text 420"/>
          <p:cNvSpPr/>
          <p:nvPr/>
        </p:nvSpPr>
        <p:spPr>
          <a:xfrm>
            <a:off x="182880" y="41010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423" name="Text 421"/>
          <p:cNvSpPr/>
          <p:nvPr/>
        </p:nvSpPr>
        <p:spPr>
          <a:xfrm>
            <a:off x="1828800" y="410108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고속도로 총연장</a:t>
            </a:r>
            <a:endParaRPr lang="en-US" sz="1300" dirty="0"/>
          </a:p>
        </p:txBody>
      </p:sp>
      <p:sp>
        <p:nvSpPr>
          <p:cNvPr id="424" name="Text 422"/>
          <p:cNvSpPr/>
          <p:nvPr/>
        </p:nvSpPr>
        <p:spPr>
          <a:xfrm>
            <a:off x="182880" y="41330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25" name="Text 423"/>
          <p:cNvSpPr/>
          <p:nvPr/>
        </p:nvSpPr>
        <p:spPr>
          <a:xfrm>
            <a:off x="2468880" y="41330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26" name="Text 424"/>
          <p:cNvSpPr/>
          <p:nvPr/>
        </p:nvSpPr>
        <p:spPr>
          <a:xfrm>
            <a:off x="2926080" y="41330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800" dirty="0"/>
          </a:p>
        </p:txBody>
      </p:sp>
      <p:sp>
        <p:nvSpPr>
          <p:cNvPr id="427" name="Text 425"/>
          <p:cNvSpPr/>
          <p:nvPr/>
        </p:nvSpPr>
        <p:spPr>
          <a:xfrm>
            <a:off x="182880" y="416234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 신규 KPI</a:t>
            </a:r>
            <a:endParaRPr lang="en-US" sz="900" dirty="0"/>
          </a:p>
        </p:txBody>
      </p:sp>
      <p:sp>
        <p:nvSpPr>
          <p:cNvPr id="428" name="Shape 426"/>
          <p:cNvSpPr/>
          <p:nvPr/>
        </p:nvSpPr>
        <p:spPr>
          <a:xfrm>
            <a:off x="182880" y="417880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182880" y="417880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30" name="Text 428"/>
          <p:cNvSpPr/>
          <p:nvPr/>
        </p:nvSpPr>
        <p:spPr>
          <a:xfrm>
            <a:off x="182880" y="41788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431" name="Text 429"/>
          <p:cNvSpPr/>
          <p:nvPr/>
        </p:nvSpPr>
        <p:spPr>
          <a:xfrm>
            <a:off x="1828800" y="417880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롱탄공항 개항</a:t>
            </a:r>
            <a:endParaRPr lang="en-US" sz="1300" dirty="0"/>
          </a:p>
        </p:txBody>
      </p:sp>
      <p:sp>
        <p:nvSpPr>
          <p:cNvPr id="432" name="Text 430"/>
          <p:cNvSpPr/>
          <p:nvPr/>
        </p:nvSpPr>
        <p:spPr>
          <a:xfrm>
            <a:off x="182880" y="42108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33" name="Text 431"/>
          <p:cNvSpPr/>
          <p:nvPr/>
        </p:nvSpPr>
        <p:spPr>
          <a:xfrm>
            <a:off x="2468880" y="42108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34" name="Text 432"/>
          <p:cNvSpPr/>
          <p:nvPr/>
        </p:nvSpPr>
        <p:spPr>
          <a:xfrm>
            <a:off x="2926080" y="42108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800" dirty="0"/>
          </a:p>
        </p:txBody>
      </p:sp>
      <p:sp>
        <p:nvSpPr>
          <p:cNvPr id="435" name="Text 433"/>
          <p:cNvSpPr/>
          <p:nvPr/>
        </p:nvSpPr>
        <p:spPr>
          <a:xfrm>
            <a:off x="182880" y="424007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 신규 KPI</a:t>
            </a:r>
            <a:endParaRPr lang="en-US" sz="900" dirty="0"/>
          </a:p>
        </p:txBody>
      </p:sp>
      <p:sp>
        <p:nvSpPr>
          <p:cNvPr id="436" name="Shape 434"/>
          <p:cNvSpPr/>
          <p:nvPr/>
        </p:nvSpPr>
        <p:spPr>
          <a:xfrm>
            <a:off x="182880" y="425653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182880" y="425653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38" name="Text 436"/>
          <p:cNvSpPr/>
          <p:nvPr/>
        </p:nvSpPr>
        <p:spPr>
          <a:xfrm>
            <a:off x="182880" y="425653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439" name="Text 437"/>
          <p:cNvSpPr/>
          <p:nvPr/>
        </p:nvSpPr>
        <p:spPr>
          <a:xfrm>
            <a:off x="1828800" y="425653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공항 네트워크</a:t>
            </a:r>
            <a:endParaRPr lang="en-US" sz="1300" dirty="0"/>
          </a:p>
        </p:txBody>
      </p:sp>
      <p:sp>
        <p:nvSpPr>
          <p:cNvPr id="440" name="Text 438"/>
          <p:cNvSpPr/>
          <p:nvPr/>
        </p:nvSpPr>
        <p:spPr>
          <a:xfrm>
            <a:off x="182880" y="42885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41" name="Text 439"/>
          <p:cNvSpPr/>
          <p:nvPr/>
        </p:nvSpPr>
        <p:spPr>
          <a:xfrm>
            <a:off x="2468880" y="42885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42" name="Text 440"/>
          <p:cNvSpPr/>
          <p:nvPr/>
        </p:nvSpPr>
        <p:spPr>
          <a:xfrm>
            <a:off x="2926080" y="42885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800" dirty="0"/>
          </a:p>
        </p:txBody>
      </p:sp>
      <p:sp>
        <p:nvSpPr>
          <p:cNvPr id="443" name="Text 441"/>
          <p:cNvSpPr/>
          <p:nvPr/>
        </p:nvSpPr>
        <p:spPr>
          <a:xfrm>
            <a:off x="182880" y="431779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 신규 KPI</a:t>
            </a:r>
            <a:endParaRPr lang="en-US" sz="900" dirty="0"/>
          </a:p>
        </p:txBody>
      </p:sp>
      <p:sp>
        <p:nvSpPr>
          <p:cNvPr id="444" name="Shape 442"/>
          <p:cNvSpPr/>
          <p:nvPr/>
        </p:nvSpPr>
        <p:spPr>
          <a:xfrm>
            <a:off x="182880" y="433425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182880" y="433425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46" name="Text 444"/>
          <p:cNvSpPr/>
          <p:nvPr/>
        </p:nvSpPr>
        <p:spPr>
          <a:xfrm>
            <a:off x="182880" y="433425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447" name="Text 445"/>
          <p:cNvSpPr/>
          <p:nvPr/>
        </p:nvSpPr>
        <p:spPr>
          <a:xfrm>
            <a:off x="1828800" y="433425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항만 처리 용량</a:t>
            </a:r>
            <a:endParaRPr lang="en-US" sz="1300" dirty="0"/>
          </a:p>
        </p:txBody>
      </p:sp>
      <p:sp>
        <p:nvSpPr>
          <p:cNvPr id="448" name="Text 446"/>
          <p:cNvSpPr/>
          <p:nvPr/>
        </p:nvSpPr>
        <p:spPr>
          <a:xfrm>
            <a:off x="182880" y="43662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49" name="Text 447"/>
          <p:cNvSpPr/>
          <p:nvPr/>
        </p:nvSpPr>
        <p:spPr>
          <a:xfrm>
            <a:off x="2468880" y="43662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50" name="Text 448"/>
          <p:cNvSpPr/>
          <p:nvPr/>
        </p:nvSpPr>
        <p:spPr>
          <a:xfrm>
            <a:off x="2926080" y="43662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1,100M 톤/년</a:t>
            </a:r>
            <a:endParaRPr lang="en-US" sz="1800" dirty="0"/>
          </a:p>
        </p:txBody>
      </p:sp>
      <p:sp>
        <p:nvSpPr>
          <p:cNvPr id="451" name="Text 449"/>
          <p:cNvSpPr/>
          <p:nvPr/>
        </p:nvSpPr>
        <p:spPr>
          <a:xfrm>
            <a:off x="182880" y="439552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 신규 KPI</a:t>
            </a:r>
            <a:endParaRPr lang="en-US" sz="900" dirty="0"/>
          </a:p>
        </p:txBody>
      </p:sp>
      <p:sp>
        <p:nvSpPr>
          <p:cNvPr id="452" name="Shape 450"/>
          <p:cNvSpPr/>
          <p:nvPr/>
        </p:nvSpPr>
        <p:spPr>
          <a:xfrm>
            <a:off x="182880" y="441198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182880" y="441198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54" name="Text 452"/>
          <p:cNvSpPr/>
          <p:nvPr/>
        </p:nvSpPr>
        <p:spPr>
          <a:xfrm>
            <a:off x="182880" y="441198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455" name="Text 453"/>
          <p:cNvSpPr/>
          <p:nvPr/>
        </p:nvSpPr>
        <p:spPr>
          <a:xfrm>
            <a:off x="1828800" y="441198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2030년까지 고속도로 760km</a:t>
            </a:r>
            <a:endParaRPr lang="en-US" sz="1300" dirty="0"/>
          </a:p>
        </p:txBody>
      </p:sp>
      <p:sp>
        <p:nvSpPr>
          <p:cNvPr id="456" name="Text 454"/>
          <p:cNvSpPr/>
          <p:nvPr/>
        </p:nvSpPr>
        <p:spPr>
          <a:xfrm>
            <a:off x="182880" y="44439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57" name="Text 455"/>
          <p:cNvSpPr/>
          <p:nvPr/>
        </p:nvSpPr>
        <p:spPr>
          <a:xfrm>
            <a:off x="2468880" y="44439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58" name="Text 456"/>
          <p:cNvSpPr/>
          <p:nvPr/>
        </p:nvSpPr>
        <p:spPr>
          <a:xfrm>
            <a:off x="2926080" y="44439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459" name="Text 457"/>
          <p:cNvSpPr/>
          <p:nvPr/>
        </p:nvSpPr>
        <p:spPr>
          <a:xfrm>
            <a:off x="182880" y="447324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 신규 KPI</a:t>
            </a:r>
            <a:endParaRPr lang="en-US" sz="900" dirty="0"/>
          </a:p>
        </p:txBody>
      </p:sp>
      <p:sp>
        <p:nvSpPr>
          <p:cNvPr id="460" name="Shape 458"/>
          <p:cNvSpPr/>
          <p:nvPr/>
        </p:nvSpPr>
        <p:spPr>
          <a:xfrm>
            <a:off x="182880" y="448970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182880" y="448970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62" name="Text 460"/>
          <p:cNvSpPr/>
          <p:nvPr/>
        </p:nvSpPr>
        <p:spPr>
          <a:xfrm>
            <a:off x="182880" y="448970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463" name="Text 461"/>
          <p:cNvSpPr/>
          <p:nvPr/>
        </p:nvSpPr>
        <p:spPr>
          <a:xfrm>
            <a:off x="1828800" y="448970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메콩 수계 통합 관리</a:t>
            </a:r>
            <a:endParaRPr lang="en-US" sz="1300" dirty="0"/>
          </a:p>
        </p:txBody>
      </p:sp>
      <p:sp>
        <p:nvSpPr>
          <p:cNvPr id="464" name="Text 462"/>
          <p:cNvSpPr/>
          <p:nvPr/>
        </p:nvSpPr>
        <p:spPr>
          <a:xfrm>
            <a:off x="182880" y="45217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65" name="Text 463"/>
          <p:cNvSpPr/>
          <p:nvPr/>
        </p:nvSpPr>
        <p:spPr>
          <a:xfrm>
            <a:off x="2468880" y="45217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66" name="Text 464"/>
          <p:cNvSpPr/>
          <p:nvPr/>
        </p:nvSpPr>
        <p:spPr>
          <a:xfrm>
            <a:off x="2926080" y="45217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467" name="Text 465"/>
          <p:cNvSpPr/>
          <p:nvPr/>
        </p:nvSpPr>
        <p:spPr>
          <a:xfrm>
            <a:off x="182880" y="455096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 신규 KPI</a:t>
            </a:r>
            <a:endParaRPr lang="en-US" sz="900" dirty="0"/>
          </a:p>
        </p:txBody>
      </p:sp>
      <p:sp>
        <p:nvSpPr>
          <p:cNvPr id="468" name="Shape 466"/>
          <p:cNvSpPr/>
          <p:nvPr/>
        </p:nvSpPr>
        <p:spPr>
          <a:xfrm>
            <a:off x="182880" y="456742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182880" y="456742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70" name="Text 468"/>
          <p:cNvSpPr/>
          <p:nvPr/>
        </p:nvSpPr>
        <p:spPr>
          <a:xfrm>
            <a:off x="182880" y="456742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471" name="Text 469"/>
          <p:cNvSpPr/>
          <p:nvPr/>
        </p:nvSpPr>
        <p:spPr>
          <a:xfrm>
            <a:off x="1828800" y="456742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Can Tho 교량 2호 건설</a:t>
            </a:r>
            <a:endParaRPr lang="en-US" sz="1300" dirty="0"/>
          </a:p>
        </p:txBody>
      </p:sp>
      <p:sp>
        <p:nvSpPr>
          <p:cNvPr id="472" name="Text 470"/>
          <p:cNvSpPr/>
          <p:nvPr/>
        </p:nvSpPr>
        <p:spPr>
          <a:xfrm>
            <a:off x="182880" y="4599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73" name="Text 471"/>
          <p:cNvSpPr/>
          <p:nvPr/>
        </p:nvSpPr>
        <p:spPr>
          <a:xfrm>
            <a:off x="2468880" y="459943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74" name="Text 472"/>
          <p:cNvSpPr/>
          <p:nvPr/>
        </p:nvSpPr>
        <p:spPr>
          <a:xfrm>
            <a:off x="2926080" y="4599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475" name="Text 473"/>
          <p:cNvSpPr/>
          <p:nvPr/>
        </p:nvSpPr>
        <p:spPr>
          <a:xfrm>
            <a:off x="182880" y="462869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 신규 KPI</a:t>
            </a:r>
            <a:endParaRPr lang="en-US" sz="900" dirty="0"/>
          </a:p>
        </p:txBody>
      </p:sp>
      <p:sp>
        <p:nvSpPr>
          <p:cNvPr id="476" name="Shape 474"/>
          <p:cNvSpPr/>
          <p:nvPr/>
        </p:nvSpPr>
        <p:spPr>
          <a:xfrm>
            <a:off x="182880" y="464515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182880" y="464515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78" name="Text 476"/>
          <p:cNvSpPr/>
          <p:nvPr/>
        </p:nvSpPr>
        <p:spPr>
          <a:xfrm>
            <a:off x="182880" y="464515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479" name="Text 477"/>
          <p:cNvSpPr/>
          <p:nvPr/>
        </p:nvSpPr>
        <p:spPr>
          <a:xfrm>
            <a:off x="1828800" y="464515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하노이 메트로 목표</a:t>
            </a:r>
            <a:endParaRPr lang="en-US" sz="1300" dirty="0"/>
          </a:p>
        </p:txBody>
      </p:sp>
      <p:sp>
        <p:nvSpPr>
          <p:cNvPr id="480" name="Text 478"/>
          <p:cNvSpPr/>
          <p:nvPr/>
        </p:nvSpPr>
        <p:spPr>
          <a:xfrm>
            <a:off x="182880" y="4677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81" name="Text 479"/>
          <p:cNvSpPr/>
          <p:nvPr/>
        </p:nvSpPr>
        <p:spPr>
          <a:xfrm>
            <a:off x="2468880" y="46771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82" name="Text 480"/>
          <p:cNvSpPr/>
          <p:nvPr/>
        </p:nvSpPr>
        <p:spPr>
          <a:xfrm>
            <a:off x="2926080" y="46771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800" dirty="0"/>
          </a:p>
        </p:txBody>
      </p:sp>
      <p:sp>
        <p:nvSpPr>
          <p:cNvPr id="483" name="Text 481"/>
          <p:cNvSpPr/>
          <p:nvPr/>
        </p:nvSpPr>
        <p:spPr>
          <a:xfrm>
            <a:off x="182880" y="470641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 신규 KPI</a:t>
            </a:r>
            <a:endParaRPr lang="en-US" sz="900" dirty="0"/>
          </a:p>
        </p:txBody>
      </p:sp>
      <p:sp>
        <p:nvSpPr>
          <p:cNvPr id="484" name="Shape 482"/>
          <p:cNvSpPr/>
          <p:nvPr/>
        </p:nvSpPr>
        <p:spPr>
          <a:xfrm>
            <a:off x="182880" y="472287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182880" y="472287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86" name="Text 484"/>
          <p:cNvSpPr/>
          <p:nvPr/>
        </p:nvSpPr>
        <p:spPr>
          <a:xfrm>
            <a:off x="182880" y="47228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487" name="Text 485"/>
          <p:cNvSpPr/>
          <p:nvPr/>
        </p:nvSpPr>
        <p:spPr>
          <a:xfrm>
            <a:off x="1828800" y="472287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호치민 메트로 목표</a:t>
            </a:r>
            <a:endParaRPr lang="en-US" sz="1300" dirty="0"/>
          </a:p>
        </p:txBody>
      </p:sp>
      <p:sp>
        <p:nvSpPr>
          <p:cNvPr id="488" name="Text 486"/>
          <p:cNvSpPr/>
          <p:nvPr/>
        </p:nvSpPr>
        <p:spPr>
          <a:xfrm>
            <a:off x="182880" y="4754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89" name="Text 487"/>
          <p:cNvSpPr/>
          <p:nvPr/>
        </p:nvSpPr>
        <p:spPr>
          <a:xfrm>
            <a:off x="2468880" y="47548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90" name="Text 488"/>
          <p:cNvSpPr/>
          <p:nvPr/>
        </p:nvSpPr>
        <p:spPr>
          <a:xfrm>
            <a:off x="2926080" y="47548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800" dirty="0"/>
          </a:p>
        </p:txBody>
      </p:sp>
      <p:sp>
        <p:nvSpPr>
          <p:cNvPr id="491" name="Text 489"/>
          <p:cNvSpPr/>
          <p:nvPr/>
        </p:nvSpPr>
        <p:spPr>
          <a:xfrm>
            <a:off x="182880" y="478414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 신규 KPI</a:t>
            </a:r>
            <a:endParaRPr lang="en-US" sz="900" dirty="0"/>
          </a:p>
        </p:txBody>
      </p:sp>
      <p:sp>
        <p:nvSpPr>
          <p:cNvPr id="492" name="Shape 490"/>
          <p:cNvSpPr/>
          <p:nvPr/>
        </p:nvSpPr>
        <p:spPr>
          <a:xfrm>
            <a:off x="182880" y="480060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182880" y="480060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94" name="Text 492"/>
          <p:cNvSpPr/>
          <p:nvPr/>
        </p:nvSpPr>
        <p:spPr>
          <a:xfrm>
            <a:off x="182880" y="480060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495" name="Text 493"/>
          <p:cNvSpPr/>
          <p:nvPr/>
        </p:nvSpPr>
        <p:spPr>
          <a:xfrm>
            <a:off x="1828800" y="480060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전국 도시철도 목표</a:t>
            </a:r>
            <a:endParaRPr lang="en-US" sz="1300" dirty="0"/>
          </a:p>
        </p:txBody>
      </p:sp>
      <p:sp>
        <p:nvSpPr>
          <p:cNvPr id="496" name="Text 494"/>
          <p:cNvSpPr/>
          <p:nvPr/>
        </p:nvSpPr>
        <p:spPr>
          <a:xfrm>
            <a:off x="182880" y="4832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497" name="Text 495"/>
          <p:cNvSpPr/>
          <p:nvPr/>
        </p:nvSpPr>
        <p:spPr>
          <a:xfrm>
            <a:off x="2468880" y="483260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98" name="Text 496"/>
          <p:cNvSpPr/>
          <p:nvPr/>
        </p:nvSpPr>
        <p:spPr>
          <a:xfrm>
            <a:off x="2926080" y="48326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800" dirty="0"/>
          </a:p>
        </p:txBody>
      </p:sp>
      <p:sp>
        <p:nvSpPr>
          <p:cNvPr id="499" name="Text 497"/>
          <p:cNvSpPr/>
          <p:nvPr/>
        </p:nvSpPr>
        <p:spPr>
          <a:xfrm>
            <a:off x="182880" y="486186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 신규 KPI</a:t>
            </a:r>
            <a:endParaRPr lang="en-US" sz="900" dirty="0"/>
          </a:p>
        </p:txBody>
      </p:sp>
      <p:sp>
        <p:nvSpPr>
          <p:cNvPr id="500" name="Shape 498"/>
          <p:cNvSpPr/>
          <p:nvPr/>
        </p:nvSpPr>
        <p:spPr>
          <a:xfrm>
            <a:off x="182880" y="487832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182880" y="487832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02" name="Text 500"/>
          <p:cNvSpPr/>
          <p:nvPr/>
        </p:nvSpPr>
        <p:spPr>
          <a:xfrm>
            <a:off x="182880" y="487832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503" name="Text 501"/>
          <p:cNvSpPr/>
          <p:nvPr/>
        </p:nvSpPr>
        <p:spPr>
          <a:xfrm>
            <a:off x="1828800" y="487832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스마트시티 시범 도시</a:t>
            </a:r>
            <a:endParaRPr lang="en-US" sz="1300" dirty="0"/>
          </a:p>
        </p:txBody>
      </p:sp>
      <p:sp>
        <p:nvSpPr>
          <p:cNvPr id="504" name="Text 502"/>
          <p:cNvSpPr/>
          <p:nvPr/>
        </p:nvSpPr>
        <p:spPr>
          <a:xfrm>
            <a:off x="182880" y="4910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05" name="Text 503"/>
          <p:cNvSpPr/>
          <p:nvPr/>
        </p:nvSpPr>
        <p:spPr>
          <a:xfrm>
            <a:off x="2468880" y="49103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06" name="Text 504"/>
          <p:cNvSpPr/>
          <p:nvPr/>
        </p:nvSpPr>
        <p:spPr>
          <a:xfrm>
            <a:off x="2926080" y="4910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800" dirty="0"/>
          </a:p>
        </p:txBody>
      </p:sp>
      <p:sp>
        <p:nvSpPr>
          <p:cNvPr id="507" name="Text 505"/>
          <p:cNvSpPr/>
          <p:nvPr/>
        </p:nvSpPr>
        <p:spPr>
          <a:xfrm>
            <a:off x="182880" y="493958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 신규 KPI</a:t>
            </a:r>
            <a:endParaRPr lang="en-US" sz="900" dirty="0"/>
          </a:p>
        </p:txBody>
      </p:sp>
      <p:sp>
        <p:nvSpPr>
          <p:cNvPr id="508" name="Shape 506"/>
          <p:cNvSpPr/>
          <p:nvPr/>
        </p:nvSpPr>
        <p:spPr>
          <a:xfrm>
            <a:off x="182880" y="495604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182880" y="495604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10" name="Text 508"/>
          <p:cNvSpPr/>
          <p:nvPr/>
        </p:nvSpPr>
        <p:spPr>
          <a:xfrm>
            <a:off x="182880" y="495604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511" name="Text 509"/>
          <p:cNvSpPr/>
          <p:nvPr/>
        </p:nvSpPr>
        <p:spPr>
          <a:xfrm>
            <a:off x="1828800" y="495604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전국 확산</a:t>
            </a:r>
            <a:endParaRPr lang="en-US" sz="1300" dirty="0"/>
          </a:p>
        </p:txBody>
      </p:sp>
      <p:sp>
        <p:nvSpPr>
          <p:cNvPr id="512" name="Text 510"/>
          <p:cNvSpPr/>
          <p:nvPr/>
        </p:nvSpPr>
        <p:spPr>
          <a:xfrm>
            <a:off x="182880" y="49880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13" name="Text 511"/>
          <p:cNvSpPr/>
          <p:nvPr/>
        </p:nvSpPr>
        <p:spPr>
          <a:xfrm>
            <a:off x="2468880" y="49880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14" name="Text 512"/>
          <p:cNvSpPr/>
          <p:nvPr/>
        </p:nvSpPr>
        <p:spPr>
          <a:xfrm>
            <a:off x="2926080" y="4988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800" dirty="0"/>
          </a:p>
        </p:txBody>
      </p:sp>
      <p:sp>
        <p:nvSpPr>
          <p:cNvPr id="515" name="Text 513"/>
          <p:cNvSpPr/>
          <p:nvPr/>
        </p:nvSpPr>
        <p:spPr>
          <a:xfrm>
            <a:off x="182880" y="501731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 신규 KPI</a:t>
            </a:r>
            <a:endParaRPr lang="en-US" sz="900" dirty="0"/>
          </a:p>
        </p:txBody>
      </p:sp>
      <p:sp>
        <p:nvSpPr>
          <p:cNvPr id="516" name="Shape 514"/>
          <p:cNvSpPr/>
          <p:nvPr/>
        </p:nvSpPr>
        <p:spPr>
          <a:xfrm>
            <a:off x="182880" y="503377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182880" y="503377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18" name="Text 516"/>
          <p:cNvSpPr/>
          <p:nvPr/>
        </p:nvSpPr>
        <p:spPr>
          <a:xfrm>
            <a:off x="182880" y="50337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519" name="Text 517"/>
          <p:cNvSpPr/>
          <p:nvPr/>
        </p:nvSpPr>
        <p:spPr>
          <a:xfrm>
            <a:off x="1828800" y="503377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디지털정부 지수</a:t>
            </a:r>
            <a:endParaRPr lang="en-US" sz="1300" dirty="0"/>
          </a:p>
        </p:txBody>
      </p:sp>
      <p:sp>
        <p:nvSpPr>
          <p:cNvPr id="520" name="Text 518"/>
          <p:cNvSpPr/>
          <p:nvPr/>
        </p:nvSpPr>
        <p:spPr>
          <a:xfrm>
            <a:off x="182880" y="50657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21" name="Text 519"/>
          <p:cNvSpPr/>
          <p:nvPr/>
        </p:nvSpPr>
        <p:spPr>
          <a:xfrm>
            <a:off x="2468880" y="506577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22" name="Text 520"/>
          <p:cNvSpPr/>
          <p:nvPr/>
        </p:nvSpPr>
        <p:spPr>
          <a:xfrm>
            <a:off x="2926080" y="50657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800" dirty="0"/>
          </a:p>
        </p:txBody>
      </p:sp>
      <p:sp>
        <p:nvSpPr>
          <p:cNvPr id="523" name="Text 521"/>
          <p:cNvSpPr/>
          <p:nvPr/>
        </p:nvSpPr>
        <p:spPr>
          <a:xfrm>
            <a:off x="182880" y="509503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 신규 KPI</a:t>
            </a:r>
            <a:endParaRPr lang="en-US" sz="900" dirty="0"/>
          </a:p>
        </p:txBody>
      </p:sp>
      <p:sp>
        <p:nvSpPr>
          <p:cNvPr id="524" name="Shape 522"/>
          <p:cNvSpPr/>
          <p:nvPr/>
        </p:nvSpPr>
        <p:spPr>
          <a:xfrm>
            <a:off x="182880" y="511149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182880" y="511149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26" name="Text 524"/>
          <p:cNvSpPr/>
          <p:nvPr/>
        </p:nvSpPr>
        <p:spPr>
          <a:xfrm>
            <a:off x="182880" y="511149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527" name="Text 525"/>
          <p:cNvSpPr/>
          <p:nvPr/>
        </p:nvSpPr>
        <p:spPr>
          <a:xfrm>
            <a:off x="1828800" y="511149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5G 커버리지</a:t>
            </a:r>
            <a:endParaRPr lang="en-US" sz="1300" dirty="0"/>
          </a:p>
        </p:txBody>
      </p:sp>
      <p:sp>
        <p:nvSpPr>
          <p:cNvPr id="528" name="Text 526"/>
          <p:cNvSpPr/>
          <p:nvPr/>
        </p:nvSpPr>
        <p:spPr>
          <a:xfrm>
            <a:off x="182880" y="51435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29" name="Text 527"/>
          <p:cNvSpPr/>
          <p:nvPr/>
        </p:nvSpPr>
        <p:spPr>
          <a:xfrm>
            <a:off x="2468880" y="51435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30" name="Text 528"/>
          <p:cNvSpPr/>
          <p:nvPr/>
        </p:nvSpPr>
        <p:spPr>
          <a:xfrm>
            <a:off x="2926080" y="51435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100% (2030)</a:t>
            </a:r>
            <a:endParaRPr lang="en-US" sz="1800" dirty="0"/>
          </a:p>
        </p:txBody>
      </p:sp>
      <p:sp>
        <p:nvSpPr>
          <p:cNvPr id="531" name="Text 529"/>
          <p:cNvSpPr/>
          <p:nvPr/>
        </p:nvSpPr>
        <p:spPr>
          <a:xfrm>
            <a:off x="182880" y="517276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 신규 KPI</a:t>
            </a:r>
            <a:endParaRPr lang="en-US" sz="900" dirty="0"/>
          </a:p>
        </p:txBody>
      </p:sp>
      <p:sp>
        <p:nvSpPr>
          <p:cNvPr id="532" name="Shape 530"/>
          <p:cNvSpPr/>
          <p:nvPr/>
        </p:nvSpPr>
        <p:spPr>
          <a:xfrm>
            <a:off x="182880" y="518922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182880" y="518922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34" name="Text 532"/>
          <p:cNvSpPr/>
          <p:nvPr/>
        </p:nvSpPr>
        <p:spPr>
          <a:xfrm>
            <a:off x="182880" y="518922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535" name="Text 533"/>
          <p:cNvSpPr/>
          <p:nvPr/>
        </p:nvSpPr>
        <p:spPr>
          <a:xfrm>
            <a:off x="1828800" y="518922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EV 신규 판매 비율</a:t>
            </a:r>
            <a:endParaRPr lang="en-US" sz="1300" dirty="0"/>
          </a:p>
        </p:txBody>
      </p:sp>
      <p:sp>
        <p:nvSpPr>
          <p:cNvPr id="536" name="Text 534"/>
          <p:cNvSpPr/>
          <p:nvPr/>
        </p:nvSpPr>
        <p:spPr>
          <a:xfrm>
            <a:off x="182880" y="52212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37" name="Text 535"/>
          <p:cNvSpPr/>
          <p:nvPr/>
        </p:nvSpPr>
        <p:spPr>
          <a:xfrm>
            <a:off x="2468880" y="5221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38" name="Text 536"/>
          <p:cNvSpPr/>
          <p:nvPr/>
        </p:nvSpPr>
        <p:spPr>
          <a:xfrm>
            <a:off x="2926080" y="52212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800" dirty="0"/>
          </a:p>
        </p:txBody>
      </p:sp>
      <p:sp>
        <p:nvSpPr>
          <p:cNvPr id="539" name="Text 537"/>
          <p:cNvSpPr/>
          <p:nvPr/>
        </p:nvSpPr>
        <p:spPr>
          <a:xfrm>
            <a:off x="182880" y="525048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 신규 KPI</a:t>
            </a:r>
            <a:endParaRPr lang="en-US" sz="900" dirty="0"/>
          </a:p>
        </p:txBody>
      </p:sp>
      <p:sp>
        <p:nvSpPr>
          <p:cNvPr id="540" name="Shape 538"/>
          <p:cNvSpPr/>
          <p:nvPr/>
        </p:nvSpPr>
        <p:spPr>
          <a:xfrm>
            <a:off x="182880" y="526694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182880" y="526694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42" name="Text 540"/>
          <p:cNvSpPr/>
          <p:nvPr/>
        </p:nvSpPr>
        <p:spPr>
          <a:xfrm>
            <a:off x="182880" y="526694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543" name="Text 541"/>
          <p:cNvSpPr/>
          <p:nvPr/>
        </p:nvSpPr>
        <p:spPr>
          <a:xfrm>
            <a:off x="1828800" y="526694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충전 인프라</a:t>
            </a:r>
            <a:endParaRPr lang="en-US" sz="1300" dirty="0"/>
          </a:p>
        </p:txBody>
      </p:sp>
      <p:sp>
        <p:nvSpPr>
          <p:cNvPr id="544" name="Text 542"/>
          <p:cNvSpPr/>
          <p:nvPr/>
        </p:nvSpPr>
        <p:spPr>
          <a:xfrm>
            <a:off x="182880" y="52989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45" name="Text 543"/>
          <p:cNvSpPr/>
          <p:nvPr/>
        </p:nvSpPr>
        <p:spPr>
          <a:xfrm>
            <a:off x="2468880" y="52989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46" name="Text 544"/>
          <p:cNvSpPr/>
          <p:nvPr/>
        </p:nvSpPr>
        <p:spPr>
          <a:xfrm>
            <a:off x="2926080" y="52989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800" dirty="0"/>
          </a:p>
        </p:txBody>
      </p:sp>
      <p:sp>
        <p:nvSpPr>
          <p:cNvPr id="547" name="Text 545"/>
          <p:cNvSpPr/>
          <p:nvPr/>
        </p:nvSpPr>
        <p:spPr>
          <a:xfrm>
            <a:off x="182880" y="532820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 신규 KPI</a:t>
            </a:r>
            <a:endParaRPr lang="en-US" sz="900" dirty="0"/>
          </a:p>
        </p:txBody>
      </p:sp>
      <p:sp>
        <p:nvSpPr>
          <p:cNvPr id="548" name="Shape 546"/>
          <p:cNvSpPr/>
          <p:nvPr/>
        </p:nvSpPr>
        <p:spPr>
          <a:xfrm>
            <a:off x="182880" y="534466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182880" y="534466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50" name="Text 548"/>
          <p:cNvSpPr/>
          <p:nvPr/>
        </p:nvSpPr>
        <p:spPr>
          <a:xfrm>
            <a:off x="182880" y="534466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551" name="Text 549"/>
          <p:cNvSpPr/>
          <p:nvPr/>
        </p:nvSpPr>
        <p:spPr>
          <a:xfrm>
            <a:off x="1828800" y="534466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바이오연료 혼합률</a:t>
            </a:r>
            <a:endParaRPr lang="en-US" sz="1300" dirty="0"/>
          </a:p>
        </p:txBody>
      </p:sp>
      <p:sp>
        <p:nvSpPr>
          <p:cNvPr id="552" name="Text 550"/>
          <p:cNvSpPr/>
          <p:nvPr/>
        </p:nvSpPr>
        <p:spPr>
          <a:xfrm>
            <a:off x="182880" y="53766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53" name="Text 551"/>
          <p:cNvSpPr/>
          <p:nvPr/>
        </p:nvSpPr>
        <p:spPr>
          <a:xfrm>
            <a:off x="2468880" y="53766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54" name="Text 552"/>
          <p:cNvSpPr/>
          <p:nvPr/>
        </p:nvSpPr>
        <p:spPr>
          <a:xfrm>
            <a:off x="2926080" y="53766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800" dirty="0"/>
          </a:p>
        </p:txBody>
      </p:sp>
      <p:sp>
        <p:nvSpPr>
          <p:cNvPr id="555" name="Text 553"/>
          <p:cNvSpPr/>
          <p:nvPr/>
        </p:nvSpPr>
        <p:spPr>
          <a:xfrm>
            <a:off x="182880" y="540593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 신규 KPI</a:t>
            </a:r>
            <a:endParaRPr lang="en-US" sz="900" dirty="0"/>
          </a:p>
        </p:txBody>
      </p:sp>
      <p:sp>
        <p:nvSpPr>
          <p:cNvPr id="556" name="Shape 554"/>
          <p:cNvSpPr/>
          <p:nvPr/>
        </p:nvSpPr>
        <p:spPr>
          <a:xfrm>
            <a:off x="182880" y="542239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182880" y="542239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58" name="Text 556"/>
          <p:cNvSpPr/>
          <p:nvPr/>
        </p:nvSpPr>
        <p:spPr>
          <a:xfrm>
            <a:off x="182880" y="542239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559" name="Text 557"/>
          <p:cNvSpPr/>
          <p:nvPr/>
        </p:nvSpPr>
        <p:spPr>
          <a:xfrm>
            <a:off x="1828800" y="542239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도시개발 총투자</a:t>
            </a:r>
            <a:endParaRPr lang="en-US" sz="1300" dirty="0"/>
          </a:p>
        </p:txBody>
      </p:sp>
      <p:sp>
        <p:nvSpPr>
          <p:cNvPr id="560" name="Text 558"/>
          <p:cNvSpPr/>
          <p:nvPr/>
        </p:nvSpPr>
        <p:spPr>
          <a:xfrm>
            <a:off x="182880" y="54543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61" name="Text 559"/>
          <p:cNvSpPr/>
          <p:nvPr/>
        </p:nvSpPr>
        <p:spPr>
          <a:xfrm>
            <a:off x="2468880" y="54543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62" name="Text 560"/>
          <p:cNvSpPr/>
          <p:nvPr/>
        </p:nvSpPr>
        <p:spPr>
          <a:xfrm>
            <a:off x="2926080" y="54543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800" dirty="0"/>
          </a:p>
        </p:txBody>
      </p:sp>
      <p:sp>
        <p:nvSpPr>
          <p:cNvPr id="563" name="Text 561"/>
          <p:cNvSpPr/>
          <p:nvPr/>
        </p:nvSpPr>
        <p:spPr>
          <a:xfrm>
            <a:off x="182880" y="548365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 신규 KPI</a:t>
            </a:r>
            <a:endParaRPr lang="en-US" sz="900" dirty="0"/>
          </a:p>
        </p:txBody>
      </p:sp>
      <p:sp>
        <p:nvSpPr>
          <p:cNvPr id="564" name="Shape 562"/>
          <p:cNvSpPr/>
          <p:nvPr/>
        </p:nvSpPr>
        <p:spPr>
          <a:xfrm>
            <a:off x="182880" y="550011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182880" y="550011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66" name="Text 564"/>
          <p:cNvSpPr/>
          <p:nvPr/>
        </p:nvSpPr>
        <p:spPr>
          <a:xfrm>
            <a:off x="182880" y="550011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567" name="Text 565"/>
          <p:cNvSpPr/>
          <p:nvPr/>
        </p:nvSpPr>
        <p:spPr>
          <a:xfrm>
            <a:off x="1828800" y="550011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인구 수용 목표</a:t>
            </a:r>
            <a:endParaRPr lang="en-US" sz="1300" dirty="0"/>
          </a:p>
        </p:txBody>
      </p:sp>
      <p:sp>
        <p:nvSpPr>
          <p:cNvPr id="568" name="Text 566"/>
          <p:cNvSpPr/>
          <p:nvPr/>
        </p:nvSpPr>
        <p:spPr>
          <a:xfrm>
            <a:off x="182880" y="55321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69" name="Text 567"/>
          <p:cNvSpPr/>
          <p:nvPr/>
        </p:nvSpPr>
        <p:spPr>
          <a:xfrm>
            <a:off x="2468880" y="553212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70" name="Text 568"/>
          <p:cNvSpPr/>
          <p:nvPr/>
        </p:nvSpPr>
        <p:spPr>
          <a:xfrm>
            <a:off x="2926080" y="55321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800" dirty="0"/>
          </a:p>
        </p:txBody>
      </p:sp>
      <p:sp>
        <p:nvSpPr>
          <p:cNvPr id="571" name="Text 569"/>
          <p:cNvSpPr/>
          <p:nvPr/>
        </p:nvSpPr>
        <p:spPr>
          <a:xfrm>
            <a:off x="182880" y="556138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 신규 KPI</a:t>
            </a:r>
            <a:endParaRPr lang="en-US" sz="900" dirty="0"/>
          </a:p>
        </p:txBody>
      </p:sp>
      <p:sp>
        <p:nvSpPr>
          <p:cNvPr id="572" name="Shape 570"/>
          <p:cNvSpPr/>
          <p:nvPr/>
        </p:nvSpPr>
        <p:spPr>
          <a:xfrm>
            <a:off x="182880" y="557784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182880" y="557784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74" name="Text 572"/>
          <p:cNvSpPr/>
          <p:nvPr/>
        </p:nvSpPr>
        <p:spPr>
          <a:xfrm>
            <a:off x="182880" y="557784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575" name="Text 573"/>
          <p:cNvSpPr/>
          <p:nvPr/>
        </p:nvSpPr>
        <p:spPr>
          <a:xfrm>
            <a:off x="1828800" y="557784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링로드4 완공</a:t>
            </a:r>
            <a:endParaRPr lang="en-US" sz="1300" dirty="0"/>
          </a:p>
        </p:txBody>
      </p:sp>
      <p:sp>
        <p:nvSpPr>
          <p:cNvPr id="576" name="Text 574"/>
          <p:cNvSpPr/>
          <p:nvPr/>
        </p:nvSpPr>
        <p:spPr>
          <a:xfrm>
            <a:off x="182880" y="56098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77" name="Text 575"/>
          <p:cNvSpPr/>
          <p:nvPr/>
        </p:nvSpPr>
        <p:spPr>
          <a:xfrm>
            <a:off x="2468880" y="56098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78" name="Text 576"/>
          <p:cNvSpPr/>
          <p:nvPr/>
        </p:nvSpPr>
        <p:spPr>
          <a:xfrm>
            <a:off x="2926080" y="56098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800" dirty="0"/>
          </a:p>
        </p:txBody>
      </p:sp>
      <p:sp>
        <p:nvSpPr>
          <p:cNvPr id="579" name="Text 577"/>
          <p:cNvSpPr/>
          <p:nvPr/>
        </p:nvSpPr>
        <p:spPr>
          <a:xfrm>
            <a:off x="182880" y="563910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 신규 KPI</a:t>
            </a:r>
            <a:endParaRPr lang="en-US" sz="900" dirty="0"/>
          </a:p>
        </p:txBody>
      </p:sp>
      <p:sp>
        <p:nvSpPr>
          <p:cNvPr id="580" name="Shape 578"/>
          <p:cNvSpPr/>
          <p:nvPr/>
        </p:nvSpPr>
        <p:spPr>
          <a:xfrm>
            <a:off x="182880" y="565556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182880" y="565556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82" name="Text 580"/>
          <p:cNvSpPr/>
          <p:nvPr/>
        </p:nvSpPr>
        <p:spPr>
          <a:xfrm>
            <a:off x="182880" y="565556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583" name="Text 581"/>
          <p:cNvSpPr/>
          <p:nvPr/>
        </p:nvSpPr>
        <p:spPr>
          <a:xfrm>
            <a:off x="1828800" y="565556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입주 기업</a:t>
            </a:r>
            <a:endParaRPr lang="en-US" sz="1300" dirty="0"/>
          </a:p>
        </p:txBody>
      </p:sp>
      <p:sp>
        <p:nvSpPr>
          <p:cNvPr id="584" name="Text 582"/>
          <p:cNvSpPr/>
          <p:nvPr/>
        </p:nvSpPr>
        <p:spPr>
          <a:xfrm>
            <a:off x="182880" y="56875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85" name="Text 583"/>
          <p:cNvSpPr/>
          <p:nvPr/>
        </p:nvSpPr>
        <p:spPr>
          <a:xfrm>
            <a:off x="2468880" y="568756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86" name="Text 584"/>
          <p:cNvSpPr/>
          <p:nvPr/>
        </p:nvSpPr>
        <p:spPr>
          <a:xfrm>
            <a:off x="2926080" y="56875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800" dirty="0"/>
          </a:p>
        </p:txBody>
      </p:sp>
      <p:sp>
        <p:nvSpPr>
          <p:cNvPr id="587" name="Text 585"/>
          <p:cNvSpPr/>
          <p:nvPr/>
        </p:nvSpPr>
        <p:spPr>
          <a:xfrm>
            <a:off x="182880" y="571682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 신규 KPI</a:t>
            </a:r>
            <a:endParaRPr lang="en-US" sz="900" dirty="0"/>
          </a:p>
        </p:txBody>
      </p:sp>
      <p:sp>
        <p:nvSpPr>
          <p:cNvPr id="588" name="Shape 586"/>
          <p:cNvSpPr/>
          <p:nvPr/>
        </p:nvSpPr>
        <p:spPr>
          <a:xfrm>
            <a:off x="182880" y="573328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182880" y="573328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90" name="Text 588"/>
          <p:cNvSpPr/>
          <p:nvPr/>
        </p:nvSpPr>
        <p:spPr>
          <a:xfrm>
            <a:off x="182880" y="573328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591" name="Text 589"/>
          <p:cNvSpPr/>
          <p:nvPr/>
        </p:nvSpPr>
        <p:spPr>
          <a:xfrm>
            <a:off x="1828800" y="573328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연간 매출</a:t>
            </a:r>
            <a:endParaRPr lang="en-US" sz="1300" dirty="0"/>
          </a:p>
        </p:txBody>
      </p:sp>
      <p:sp>
        <p:nvSpPr>
          <p:cNvPr id="592" name="Text 590"/>
          <p:cNvSpPr/>
          <p:nvPr/>
        </p:nvSpPr>
        <p:spPr>
          <a:xfrm>
            <a:off x="182880" y="57652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593" name="Text 591"/>
          <p:cNvSpPr/>
          <p:nvPr/>
        </p:nvSpPr>
        <p:spPr>
          <a:xfrm>
            <a:off x="2468880" y="57652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94" name="Text 592"/>
          <p:cNvSpPr/>
          <p:nvPr/>
        </p:nvSpPr>
        <p:spPr>
          <a:xfrm>
            <a:off x="2926080" y="57652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800" dirty="0"/>
          </a:p>
        </p:txBody>
      </p:sp>
      <p:sp>
        <p:nvSpPr>
          <p:cNvPr id="595" name="Text 593"/>
          <p:cNvSpPr/>
          <p:nvPr/>
        </p:nvSpPr>
        <p:spPr>
          <a:xfrm>
            <a:off x="182880" y="579455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 신규 KPI</a:t>
            </a:r>
            <a:endParaRPr lang="en-US" sz="900" dirty="0"/>
          </a:p>
        </p:txBody>
      </p:sp>
      <p:sp>
        <p:nvSpPr>
          <p:cNvPr id="596" name="Shape 594"/>
          <p:cNvSpPr/>
          <p:nvPr/>
        </p:nvSpPr>
        <p:spPr>
          <a:xfrm>
            <a:off x="182880" y="5811012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182880" y="5811012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98" name="Text 596"/>
          <p:cNvSpPr/>
          <p:nvPr/>
        </p:nvSpPr>
        <p:spPr>
          <a:xfrm>
            <a:off x="182880" y="581101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599" name="Text 597"/>
          <p:cNvSpPr/>
          <p:nvPr/>
        </p:nvSpPr>
        <p:spPr>
          <a:xfrm>
            <a:off x="1828800" y="5811012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고용 인원</a:t>
            </a:r>
            <a:endParaRPr lang="en-US" sz="1300" dirty="0"/>
          </a:p>
        </p:txBody>
      </p:sp>
      <p:sp>
        <p:nvSpPr>
          <p:cNvPr id="600" name="Text 598"/>
          <p:cNvSpPr/>
          <p:nvPr/>
        </p:nvSpPr>
        <p:spPr>
          <a:xfrm>
            <a:off x="182880" y="58430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601" name="Text 599"/>
          <p:cNvSpPr/>
          <p:nvPr/>
        </p:nvSpPr>
        <p:spPr>
          <a:xfrm>
            <a:off x="2468880" y="58430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02" name="Text 600"/>
          <p:cNvSpPr/>
          <p:nvPr/>
        </p:nvSpPr>
        <p:spPr>
          <a:xfrm>
            <a:off x="2926080" y="58430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800" dirty="0"/>
          </a:p>
        </p:txBody>
      </p:sp>
      <p:sp>
        <p:nvSpPr>
          <p:cNvPr id="603" name="Text 601"/>
          <p:cNvSpPr/>
          <p:nvPr/>
        </p:nvSpPr>
        <p:spPr>
          <a:xfrm>
            <a:off x="182880" y="5872276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 신규 KPI</a:t>
            </a:r>
            <a:endParaRPr lang="en-US" sz="900" dirty="0"/>
          </a:p>
        </p:txBody>
      </p:sp>
      <p:sp>
        <p:nvSpPr>
          <p:cNvPr id="604" name="Shape 602"/>
          <p:cNvSpPr/>
          <p:nvPr/>
        </p:nvSpPr>
        <p:spPr>
          <a:xfrm>
            <a:off x="182880" y="5888736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182880" y="588873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06" name="Text 604"/>
          <p:cNvSpPr/>
          <p:nvPr/>
        </p:nvSpPr>
        <p:spPr>
          <a:xfrm>
            <a:off x="182880" y="588873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607" name="Text 605"/>
          <p:cNvSpPr/>
          <p:nvPr/>
        </p:nvSpPr>
        <p:spPr>
          <a:xfrm>
            <a:off x="1828800" y="588873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R&amp;D 투자</a:t>
            </a:r>
            <a:endParaRPr lang="en-US" sz="1300" dirty="0"/>
          </a:p>
        </p:txBody>
      </p:sp>
      <p:sp>
        <p:nvSpPr>
          <p:cNvPr id="608" name="Text 606"/>
          <p:cNvSpPr/>
          <p:nvPr/>
        </p:nvSpPr>
        <p:spPr>
          <a:xfrm>
            <a:off x="182880" y="59207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609" name="Text 607"/>
          <p:cNvSpPr/>
          <p:nvPr/>
        </p:nvSpPr>
        <p:spPr>
          <a:xfrm>
            <a:off x="2468880" y="5920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10" name="Text 608"/>
          <p:cNvSpPr/>
          <p:nvPr/>
        </p:nvSpPr>
        <p:spPr>
          <a:xfrm>
            <a:off x="2926080" y="59207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 2%</a:t>
            </a:r>
            <a:endParaRPr lang="en-US" sz="1800" dirty="0"/>
          </a:p>
        </p:txBody>
      </p:sp>
      <p:sp>
        <p:nvSpPr>
          <p:cNvPr id="611" name="Text 609"/>
          <p:cNvSpPr/>
          <p:nvPr/>
        </p:nvSpPr>
        <p:spPr>
          <a:xfrm>
            <a:off x="182880" y="595000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 신규 KPI</a:t>
            </a:r>
            <a:endParaRPr lang="en-US" sz="900" dirty="0"/>
          </a:p>
        </p:txBody>
      </p:sp>
      <p:sp>
        <p:nvSpPr>
          <p:cNvPr id="612" name="Shape 610"/>
          <p:cNvSpPr/>
          <p:nvPr/>
        </p:nvSpPr>
        <p:spPr>
          <a:xfrm>
            <a:off x="182880" y="596646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182880" y="596646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14" name="Text 612"/>
          <p:cNvSpPr/>
          <p:nvPr/>
        </p:nvSpPr>
        <p:spPr>
          <a:xfrm>
            <a:off x="182880" y="59664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615" name="Text 613"/>
          <p:cNvSpPr/>
          <p:nvPr/>
        </p:nvSpPr>
        <p:spPr>
          <a:xfrm>
            <a:off x="1828800" y="596646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신도시 부지</a:t>
            </a:r>
            <a:endParaRPr lang="en-US" sz="1300" dirty="0"/>
          </a:p>
        </p:txBody>
      </p:sp>
      <p:sp>
        <p:nvSpPr>
          <p:cNvPr id="616" name="Text 614"/>
          <p:cNvSpPr/>
          <p:nvPr/>
        </p:nvSpPr>
        <p:spPr>
          <a:xfrm>
            <a:off x="182880" y="59984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617" name="Text 615"/>
          <p:cNvSpPr/>
          <p:nvPr/>
        </p:nvSpPr>
        <p:spPr>
          <a:xfrm>
            <a:off x="2468880" y="5998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18" name="Text 616"/>
          <p:cNvSpPr/>
          <p:nvPr/>
        </p:nvSpPr>
        <p:spPr>
          <a:xfrm>
            <a:off x="2926080" y="5998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800" dirty="0"/>
          </a:p>
        </p:txBody>
      </p:sp>
      <p:sp>
        <p:nvSpPr>
          <p:cNvPr id="619" name="Text 617"/>
          <p:cNvSpPr/>
          <p:nvPr/>
        </p:nvSpPr>
        <p:spPr>
          <a:xfrm>
            <a:off x="182880" y="602772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 신규 KPI</a:t>
            </a:r>
            <a:endParaRPr lang="en-US" sz="900" dirty="0"/>
          </a:p>
        </p:txBody>
      </p:sp>
      <p:sp>
        <p:nvSpPr>
          <p:cNvPr id="620" name="Shape 618"/>
          <p:cNvSpPr/>
          <p:nvPr/>
        </p:nvSpPr>
        <p:spPr>
          <a:xfrm>
            <a:off x="182880" y="6044184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182880" y="6044184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22" name="Text 620"/>
          <p:cNvSpPr/>
          <p:nvPr/>
        </p:nvSpPr>
        <p:spPr>
          <a:xfrm>
            <a:off x="182880" y="60441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623" name="Text 621"/>
          <p:cNvSpPr/>
          <p:nvPr/>
        </p:nvSpPr>
        <p:spPr>
          <a:xfrm>
            <a:off x="1828800" y="6044184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인구 수용</a:t>
            </a:r>
            <a:endParaRPr lang="en-US" sz="1300" dirty="0"/>
          </a:p>
        </p:txBody>
      </p:sp>
      <p:sp>
        <p:nvSpPr>
          <p:cNvPr id="624" name="Text 622"/>
          <p:cNvSpPr/>
          <p:nvPr/>
        </p:nvSpPr>
        <p:spPr>
          <a:xfrm>
            <a:off x="182880" y="60761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625" name="Text 623"/>
          <p:cNvSpPr/>
          <p:nvPr/>
        </p:nvSpPr>
        <p:spPr>
          <a:xfrm>
            <a:off x="2468880" y="60761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26" name="Text 624"/>
          <p:cNvSpPr/>
          <p:nvPr/>
        </p:nvSpPr>
        <p:spPr>
          <a:xfrm>
            <a:off x="2926080" y="60761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800" dirty="0"/>
          </a:p>
        </p:txBody>
      </p:sp>
      <p:sp>
        <p:nvSpPr>
          <p:cNvPr id="627" name="Text 625"/>
          <p:cNvSpPr/>
          <p:nvPr/>
        </p:nvSpPr>
        <p:spPr>
          <a:xfrm>
            <a:off x="182880" y="6105448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 신규 KPI</a:t>
            </a:r>
            <a:endParaRPr lang="en-US" sz="900" dirty="0"/>
          </a:p>
        </p:txBody>
      </p:sp>
      <p:sp>
        <p:nvSpPr>
          <p:cNvPr id="628" name="Shape 626"/>
          <p:cNvSpPr/>
          <p:nvPr/>
        </p:nvSpPr>
        <p:spPr>
          <a:xfrm>
            <a:off x="182880" y="6121908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182880" y="6121908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30" name="Text 628"/>
          <p:cNvSpPr/>
          <p:nvPr/>
        </p:nvSpPr>
        <p:spPr>
          <a:xfrm>
            <a:off x="182880" y="612190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631" name="Text 629"/>
          <p:cNvSpPr/>
          <p:nvPr/>
        </p:nvSpPr>
        <p:spPr>
          <a:xfrm>
            <a:off x="1828800" y="6121908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투자 규모</a:t>
            </a:r>
            <a:endParaRPr lang="en-US" sz="1300" dirty="0"/>
          </a:p>
        </p:txBody>
      </p:sp>
      <p:sp>
        <p:nvSpPr>
          <p:cNvPr id="632" name="Text 630"/>
          <p:cNvSpPr/>
          <p:nvPr/>
        </p:nvSpPr>
        <p:spPr>
          <a:xfrm>
            <a:off x="182880" y="6153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633" name="Text 631"/>
          <p:cNvSpPr/>
          <p:nvPr/>
        </p:nvSpPr>
        <p:spPr>
          <a:xfrm>
            <a:off x="2468880" y="61539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34" name="Text 632"/>
          <p:cNvSpPr/>
          <p:nvPr/>
        </p:nvSpPr>
        <p:spPr>
          <a:xfrm>
            <a:off x="2926080" y="61539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800" dirty="0"/>
          </a:p>
        </p:txBody>
      </p:sp>
      <p:sp>
        <p:nvSpPr>
          <p:cNvPr id="635" name="Text 633"/>
          <p:cNvSpPr/>
          <p:nvPr/>
        </p:nvSpPr>
        <p:spPr>
          <a:xfrm>
            <a:off x="182880" y="6183172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 신규 KPI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348935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2962656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6583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362102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환경산업 기술 자립화 프로그램. 폐수처리·배기가스·고형폐기물 기술 국산화. 2030년 폐수처리 기술 국산화율 70~80%, 배기가스 처리 60~70% 목표. ⚠ 주의: 인프라 건설 사업이 아닌 MOIT 주관 기술산업 육성 프로그램. 2025년 9월 4일 총리가 환경산업 발전 프로그램(2025~2030)을 승인한 결정으로 즉시 발효. 환경산업을 그린성장 핵심 산업·국가 사회·경제 발전전략의 핵심 구성요소로 격상하고, 향후 별도 ‘환경산업 발전 정부령’ 제정을 위한 법·제도적 토대를 마련하는 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기술 국산화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70~80%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~30%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배기가스 처리 국산화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60~70%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고형폐기물 처리 국산화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50~60%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~20%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VAMM (베트남이륜차제조사협회)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 | 축전지·타이어·윤활유·운송수단 폐기물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Vietnam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호치민시 | 포장재 재활용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 Asia + VietCycle 합작 PET/HDPE 재활용 공장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| 연간 48,000톤 / $50M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자원재활용 산업단지 (KEITI MOU)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| 폐기물 처리 시스템 현대화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다낭 3R 프로젝트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하이쩌우/타인케구 | 109억 동 (2단계)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Thuan Thanh Environment JSC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알루미늄/PET 경질 포장재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 Tan Recycling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롱안성 | PET·HDPE·PP 플라스틱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확충계획으로 2030년까지 신규 송전선 5,000km 증설, 북부 재생에너지를 남부로 수송하는 해저케이블 구축, 스마트그리드 전국 전환이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765kV 신규 노선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스마트그리드 전환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하노이-하이퐁 765kV 송전선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하노이~하이퐁 | $9억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수립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 송전 인프라 확충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라이차우성 | 미정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단계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165/QĐ-TTg(2023) 기반 국가 수소에너지 전략으로, 2030년 그린수소 파일럿(10만톤/년), 2050년 수소 수출국을 목표로 합니다. 재생에너지 잉여전력을 활용한 전해조 설치가 1단계 핵심입니다.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그린수소 생산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수소 수출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 수립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그린수소 파일럿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소규모 실증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예정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단지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25개 이상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운영 (타이빈 신규 착공)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첨단산업 비중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전자·반도체 집중 육성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$20B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$18B 수준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(신규)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| 신규 착공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19번째 VSIP 단지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 하이퐁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1,300 ha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투자 선호 1순위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SDI 배터리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타이응우옌 | EV 배터리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스마트폰→EV 공급망 전환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폭스콘 박장 확장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박장성 | 반도체 부품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 공급망 핵심 거점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인텔 하이퐁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반도체 패키징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외투 반도체 시설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 근거: Resolution 13-NQ/TW (2022) 기간: 2022-2030 주요 목표: 2030년까지 고속도로 760km / 메콩 수계 통합 관리 / Can Tho 교량 2호 건설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고속도로 760km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 사업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유역 전체 | 수자원관리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기후변화 대응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깐터성 | $3.2억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완공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고속도로 남북 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전역 | 760km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목표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876/QĐ-TTg(2022) 기반으로 2030년까지 신규 판매차량 100%를 친환경차로 전환하는 국가 목표입니다. VinFast EV 생산 확대, 충전 인프라 25만 충전소, E10 바이오연료 전국화가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신규 판매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~5,000개소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혼합률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 기업구조 개편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EV 생산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진행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E10 전국 출시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준비 완료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Honda Vietnam EV 인센티브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제안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링로드4 전체 완공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외곽 | 도로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완공 목표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2공항 계획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인근 | 5,000만명/년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계획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상수도 2단계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| $3.2억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입찰 진행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79개 · 프로젝트 105개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2026-05-24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2026-05-24T22:37:02Z</dcterms:created>
  <dcterms:modified xsi:type="dcterms:W3CDTF">2026-05-24T22:37:02Z</dcterms:modified>
</cp:coreProperties>
</file>