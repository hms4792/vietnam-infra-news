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REPORT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627632"/>
            <a:ext cx="50292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7830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인프라 시장 동향 주간 보고서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발행일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05년 26일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96312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기준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96312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72584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마스터플랜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72584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플랜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48856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48856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by Area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566160"/>
            <a:ext cx="269748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인프라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Plans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90672" y="3566160"/>
            <a:ext cx="269748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에너지·전력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90672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Plans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61304" y="3566160"/>
            <a:ext cx="269748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61304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도시·교통·산업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61304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Plans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hms4792.github.io/vietnam-infra-news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마스터플랜 KPI 목표 현황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마스터플랜 · KPI 12개 · 2030 목표 기준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64592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7744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150,489 MW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80,555 MW (2024)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08683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072384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비중 (2030)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45536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30~39%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45536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 (2024)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6475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0176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(2030)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53328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053328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MW (계획 중)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24267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64592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석탄발전 단계적 폐지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7744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2050년 0%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37744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 (2024)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808683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072384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45536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145536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145536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6,000MW → 3배 상향 확정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16475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980176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53328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육상풍력(2030)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53328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38,029 MW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053328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21,880MW (PDP8 원안) 대폭 상향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624267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64592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37744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GW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237744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26,046MW → 대폭 상향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808683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072384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45536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 배터리(2030)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145536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MW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3145536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300MW → 33배 상향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716475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980176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53328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터미널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053328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8개소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6053328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2개소 운영 중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624267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64592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7744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용량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37744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23,900 MW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237744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3,000 MW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808683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072384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145536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LNG 수입량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145536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14백만 톤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3145536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716475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980176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53328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송전선 구축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053328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22,000km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6053328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7624267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달성률 현황 비교 (2025년 기준)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594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94560" y="66751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667512"/>
            <a:ext cx="348935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5943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 / 100%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0698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비중 (2030)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114300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1143000"/>
            <a:ext cx="2962656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10698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 / 100%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" y="15453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(2030)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161848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15453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/ 100%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" y="202082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석탄발전 단계적 폐지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2093976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2093976"/>
            <a:ext cx="65837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20208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 / 100%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" y="24963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2569464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2569464"/>
            <a:ext cx="2304288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0" y="24963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/ 100%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" y="2971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육상풍력(2030)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94560" y="304495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4560" y="3044952"/>
            <a:ext cx="362102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0" y="2971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 / 100%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" y="34472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94560" y="352044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94560" y="3520440"/>
            <a:ext cx="2304288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0" y="3447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/ 100%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2880" y="392277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 배터리(2030)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194560" y="399592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94560" y="3995928"/>
            <a:ext cx="6583680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0" y="39227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/ 100%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환경 인프라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Infrastructure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1085/QĐ-TTg (2016) + QCVN 14:2008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폐수처리 마스터플랜(2021~2030)은 도시 폐수처리율을 2025년 50%, 2030년 85%로 끌어올리는 것을 목표로 한다. 하노이·호치민·다낭 등 주요 도시 권역별 WWTP 신규·확장이 핵심이다. JICA, ADB, KfW 등 다자금융기관 ODA가 투자의 80% 이상을 차지하며, 민관협력(PPP) 확대가 정책 방향이다. 2024년 기준 하노이 폐수처리율은 약 29%로 목표(50%, 2025년)에 크게 못 미치나, 옌짜 WWTP 준공(2025.8)으로 처리 용량이 2배 이상 증가할 전망이...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폐수처리율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~29% → 50% (하노이 옌짜 준공)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WWTP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2,900,000 m³/일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800,000 m³/일 운영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ODA 연계 투자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$2.5B+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JICA $690M (옌짜 준공 확정)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 | 270,000 m³/일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 | 141,000→512,000 m³/일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투득시 (Thu Duc)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(Thu Duc) | 1,100,000 m³/일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탐르엉 (Tham Luong)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(Go Vap) | 131,000→310,000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응우옌루 (Nhieu Loc)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480,000 m³/일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박탕롱-반찌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42,000→116,000 m³/일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손짜 (Son Tra)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| 60,000 m³/일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+ 2개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  |  Decision 1085/QĐ-TTg (2016) + QCVN 14:2008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 — 프로젝트 전체 목록 (10개)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270,000 m³/일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2025.8.19 준공, 북부 최대 시설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141,000→512,000 m³/일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단계적 확장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투득시 (Thu Duc)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(Thu Duc)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1,100,000 m³/일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동남아 최대, MBBR 기술 적용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탐르엉 (Tham Luong)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(Go Vap)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131,000→310,000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 최종 확장 목표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응우옌루 (Nhieu Loc)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480,000 m³/일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완공 예정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박탕롱-반찌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42,000→116,000 m³/일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용량 증설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손짜 (Son Tra)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60,000 m³/일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 지원, 2020년 이후 확장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화쑤언 (Hoa Xuan)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m³/일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 2단계 완공 목표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년짝 (Nhon Trach)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30,000 m³/일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산업단지 연계 하수처리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푸록 (Phu Loc)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65,000 m³/일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바이오필터(Biofilter) 공법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1622/QĐ-TTg (2017)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베트남은 기후변화로 메콩델타 해수 침투, 홍강 유역 가뭄·홍수 교차, 지하수 과잉 채굴 등 복합 수자원 위기에 직면해 있다. 2023년 수자원법 전면 개정으로 유역통합관리(IWRM), 지하수 이용 허가제, 오염자부담 원칙이 강화됐다. ADB·세계은행 지원 하에 메콩델타 수자원 인프라 현대화가 가속 중이다.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27개 완전 관리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관리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완료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완료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 피해 GDP 비중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 미만으로 감소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연평균 1.2%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수자원 현대화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| 대규모 인프라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ADB·세계은행 지원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홍수 관리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| 유역통합관리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환경부 주관, IWRM 적용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MRC 모니터링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| 예측 시스템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홍수·가뭄 조기 경보 체계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Decision 1622/QĐ-TTg (2017)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상수도 개발전략은 2030년 도시 지역 100% 안전 수돗물 보급을 목표로 한다. ADB가 빈증성 바우방(Bau Bang) 정수장 확장($200M+), KfW가 중부 지역 상수도 현대화를 지원 중이다. 민영화(PPP·BOT) 확대로 TDM 수자원(빈증), BWS(호치민) 등 민간 사업자의 역할이 증가하고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수준 (2025)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L/일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L/일 (2025 목표)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이하 (2025 목표)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 | 600,000 m³/일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500,000 m³/일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꺼우도 (Cau Do)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| 250,000 m³/일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(Dong Anh)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150,000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(Dong Nai)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| 200,000 m³/일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(Ninh Thuan)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| 80,000 m³/일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2 (Can Tho 2)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120,000 m³/일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+ 12개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 — 프로젝트 전체 목록 (20개)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600,000 m³/일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및 인근 성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500,000 m³/일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중심부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꺼우도 (Cau Do)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250,000 m³/일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다낭시 전역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(Dong Anh)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신도시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(Dong Nai)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200,000 m³/일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비엔화 및 호치민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(Ninh Thuan)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80,000 m³/일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판랑-탑짬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2 (Can Tho 2)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120,000 m³/일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껀터시 중심권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 (Tay Ninh)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90,000 m³/일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타이닌성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붕따우 (Vung Tau)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m³/일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붕따우시 전역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동탑 (Dong Thap)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동탑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70,000 m³/일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까오라인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1440" y="420624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37160" y="42062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꽝찌 (Quang Tri)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291840" y="420624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37560" y="4206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꽝찌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63440" y="420624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09160" y="42062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75,000 m³/일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492240" y="420624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37960" y="4206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동하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1440" y="455371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7160" y="455371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 (Kien Giang)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291840" y="455371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37560" y="45537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663440" y="455371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09160" y="45537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85,000 m³/일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492240" y="455371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537960" y="455371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락지아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491/QĐ-TTg (2018)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관리 전략은 2030년까지 WtE(폐기물 에너지화) 비율을 50%로 높이고 매립 의존도를 획기적으로 낮추는 것이 핵심이다. 하노이 속선(Soc Son) WtE 발전소 준공(2025.10, 90MW)이 베트남 WtE 전략의 이정표다. EPR(생산자책임재활용) 규정 시행, 재활용 기반 강화가 중기 정책 방향이다.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(2025 목표 수준)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목표 (2025), 속선 WtE 가동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WtE 가동으로 현저히 감소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4,000~5,000 톤/일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10,000 톤/일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4,000 톤/일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| 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 | 600 톤/일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400 톤/일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| 1,000 톤/일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+ 2개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Decision 491/QĐ-TTg (2018)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 — 프로젝트 전체 목록 (10개)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4,000~5,000 톤/일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90MW, 세계 2위 규모, 2025.10 준공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톤/일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위생 매립 및 WtE 전환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톤/일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완공, 대규모 소각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재활용 및 WtE 병행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톤/일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2025.11 가동, 도시폐기물 80% 처리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톤/일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준공, 메콩델타 핵심 WtE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톤/일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2028년 에너지 회수 최적화 목표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쿠찌 (Cu Chi) WtE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톤/일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및 퇴비화 복합 공정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푸꾸옥 (Phu Quoc)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톤/일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도서 지역 특화 소각 및 재활용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탄호아-롱안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롱안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300→500 톤/일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용량 확장 중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1894/QĐ-TTg (2024)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환경산업 기술 자립화 프로그램. 폐수처리·배기가스·고형폐기물 기술 국산화. 2030년 폐수처리 기술 국산화율 70~80%, 배기가스 처리 60~70% 목표. ⚠ 주의: 인프라 건설 사업이 아닌 MOIT 주관 기술산업 육성 프로그램. 2025년 9월 4일 총리가 환경산업 발전 프로그램(2025~2030)을 승인한 결정으로 즉시 발효. 환경산업을 그린성장 핵심 산업·국가 사회·경제 발전전략의 핵심 구성요소로 격상하고, 향후 별도 ‘환경산업 발전 정부령’ 제정을 위한 법·제도적 토대를 마련하는 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기술 국산화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70~80%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기준 ~30%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배기가스 처리 국산화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60~70%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기준 ~25%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고형폐기물 처리 국산화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50~60% (2030)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기준 ~20%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VAMM (베트남이륜차제조사협회)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빈푹성 | 축전지·타이어·윤활유·운송수단 폐기물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Vietnam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호치민시 | 포장재 재활용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ALBA Asia + VietCycle 합작 PET/HDPE 재활용 공장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| 연간 48,000톤 / $50M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한-베 자원재활용 산업단지 (KEITI MOU)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미정 | 폐기물 처리 시스템 현대화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JICA 다낭 3R 프로젝트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다낭시 하이쩌우/타인케구 | 109억 동 (2단계)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Thuan Thanh Environment JSC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알루미늄/PET 경질 포장재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Duy Tan Recycling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롱안성 | PET·HDPE·PP 플라스틱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Decision 1894/QĐ-TTg (2024)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에너지·전력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Power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500/QĐ-TTg (2023) + Decision 768/QĐ-TTg (2024 개정)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— 베트남 8차 전력개발계획. 2030년까지 발전설비 150GW (재생 50% 이상), 2050년 567~635GW (재생 67~71%) 목표. 2025년 4월 Decision 768로 개정되어 GDP 7%→10% 상향에 따른 전력수요 재계산, 해상풍력 6→17GW 3배 상향, 석탄발전 단계적 폐지 가속, 원자력 재개(닌투언 1·2호기) 반영. 하위 플랜: VN-PWR-PDP8-RENEWABLE (해상풍력·태양광), VN-PWR-PDP8-LNG (LNG 인수보장), VN-PWR-PDP8-...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150,489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80,555 MW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비중 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30~39%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(2030)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MW (계획 중)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통합 마스터 시나리오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$135B 투자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하위 3개 플랜 통합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Decision 500/QĐ-TTg (2023) + Decision 768/QĐ-TTg (2024 개정)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4월 Decision 768로 PDP8이 전면 개정됐다. GDP 성장률 목표 7%→10% 상향이 전력 수요 재계산을 촉발했으며, 해상풍력 목표가 3배 가까이 늘었다. Decree 57(DPPA·직접전력구매계약) 시행으로 RE100 기업의 재생에너지 직구매가 가능해졌다. 2030년까지 총 투자 $134.7B 규모다.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6,000MW → 3배 상향 확정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육상풍력(2030)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38,029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21,880MW (PDP8 원안) 대폭 상향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GW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26,046MW → 대폭 상향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Zone 1~6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연안 | 17,032 MW (2030)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Equinox/Orsted/Viet Dragon 입찰 준비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태양광 단지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73 GW (2030 누적)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FiT→경쟁입찰 전환 추진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 배터리 저장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10,000 MW (2030)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대폭 상향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DPPA 직접구매 시장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시장 개방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삼성·인텔 등 RE100 계약 추진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100(2025)은 LNG 발전사업의 최소 연간 발전량 65% 인수를 보장하는 정부 보증을 법제화해 외국인 투자자의 진입 장벽을 크게 낮췄다. 닌투언LNG 복합터미널, 박류-탄호아 LNG 등 대형 프로젝트가 FID(최종투자결정) 단계에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터미널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2개소 운영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23,900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3,000 MW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LNG 수입량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14백만 톤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LNG 복합터미널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LNG 허브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 단계 추진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박류-탄호아 LNG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탄호아성 | 대규모 LNG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 단계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티바이 LNG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| LNG 터미널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2023년 운영 개시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 LNG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까마우성 | LNG 발전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가스전 연계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송배전망 확충계획으로 2030년까지 신규 송전선 5,000km 증설, 북부 재생에너지를 남부로 수송하는 해저케이블 구축, 스마트그리드 전국 전환이 3대 과제입니다.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송전선 구축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22,000km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765kV 신규 노선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1개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스마트그리드 전환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파일럿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하노이-하이퐁 765kV 송전선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하노이~하이퐁 | $9억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 수립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라이차우 송전 인프라 확충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라이차우성 | 미정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 단계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정치국 결의(Resolution 70)로 2010년 중단된 원자력 재개 추진이 공식화됐다. 닌투언 1호기(러시아 Rosatom, 2,000MW)와 2호기(일본 ADB 컨소시엄) 개발 재개가 확정됐으며, 소형모듈원전(SMR) 도입도 검토 중이다. 에너지 안보·탄소중립 이중 과제 대응이 배경이다.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발전 용량(2035)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MW (2035 목표)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추가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Rosatom, 재개 확정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MW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컨소시엄, 협의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 (Rosatom)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러시아 기술, 2025 재개 확정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 (Japan)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ADB 컨소시엄, 협의 진행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SMR 소형모듈원전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검토 중 | 미정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2040년대 도입 검토 중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165/QĐ-TTg(2023) 기반 국가 수소에너지 전략으로, 2030년 그린수소 파일럿(10만톤/년), 2050년 수소 수출국을 목표로 합니다. 재생에너지 잉여전력을 활용한 전해조 설치가 1단계 핵심입니다.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그린수소 생산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100,000톤/년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수소 수출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2050년 수출국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로드맵 수립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그린수소 파일럿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소규모 실증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예정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893/QĐ-TTg (2023)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석유가스공사(PVN)는 바흐호(Bach Ho)·람손(Rang Dong) 등 노후 유전 생산 감소에 대응해 심해 탐사(113·115·129 블록)와 LNG 공급망 구축을 병행 추진 중이다. 국내 가스전(Ca Mau·Nam Con Son)을 LNG 발전소와 연계하는 통합 공급망이 핵심 전략이다.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원유 생산량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8~10백만 톤/년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11백만 톤/년 (유지 목표)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생산량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13~15억 m³/년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10억 m³/년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의존도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가스 우선 활용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톤/년 수입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바흐호 유전 (Bach Ho)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해상 | 원유 생산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노후화 대응, 심해 탐사 병행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113·115·129 블록 탐사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심해 | 탐사 단계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PVN 주도, 국제 컨소시엄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 가스전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까마우성 해상 | 국내 공급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발전소 연계 통합 공급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남콘손 파이프라인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남부 해상 | 파이프라인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육상 이송 핵심 인프라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&amp; Gas  |  Decision 893/QĐ-TTg (2023)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도시·교통·산업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&amp; Transport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607161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1081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6000" y="610819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654710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5836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286000" y="658368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326/QĐ-TTg (2022) + 외국인 투자 유치 전략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클러스터(하이퐁·박닌·타이응우옌·박장·흥옌)는 삼성·LG·인텔·폭스콘 등 글로벌 전자·반도체 공급망의 핵심 기지다. VSIP(베트남-싱가포르 산업단지)는 19개 단지를 운영 중이며, 타이빈성 신규 착공으로 확장 중이다. 2025~2030년 반도체·배터리·첨단제조 클러스터 집중 육성이 정책 방향이다.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단지 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25개 이상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운영 (타이빈 신규 착공)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첨단산업 비중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이상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전자·반도체 집중 육성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FDI 유입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 $20B 이상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$18B 수준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타이빈 (신규)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타이빈성 | 신규 착공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19번째 VSIP 단지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C 하이퐁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| 1,300 ha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외국인 투자 선호 1순위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 SDI 배터리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타이응우옌 | EV 배터리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스마트폰→EV 공급망 전환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폭스콘 박장 확장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박장성 | 반도체 부품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애플 공급망 핵심 거점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인텔 하이퐁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| 반도체 패키징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외투 반도체 시설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Decision 326/QĐ-TTg (2022) + 외국인 투자 유치 전략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1412/QĐ-TTg (2021)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교통인프라 마스터플랜은 2030년 고속도로 5,000km, 항구·공항 대규모 확충을 목표로 한다. 롱탄 국제공항($18B, 4단계)은 핵심 메가프로젝트로 2026년 1단계 개항이 목전이다. 하노이 링로드4, 호치민 링로드3·고가도로, 라크후옌 항구 확장이 병행 추진 중이다. PPP(BOT) 방식 확대로 민간 참여가 증가하고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고속도로 총연장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km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1,892 km (2025 실적)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롱탄공항 개항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 PAX/년 (1단계)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2026.06 상업운항 목표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공항 네트워크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공항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22개 운영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 국제공항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동나이성 | 25M PAX (1단계)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2026.06 개항 목표, $18B (4단계)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(호치민)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광역 | 200km, $5.4B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병행도로 2026.6 개통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(하노이)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113km, $3.6B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착공 진행 중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라크후옌 항구 2단계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| 심해 컨테이너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국제 화물 허브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메트로 1호선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19.7km, 14역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2024.12 개통 완료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Decision 1412/QĐ-TTg (2021)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13-NQ/TW (2022)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델타 인프라 개발 계획 2030 근거: Resolution 13-NQ/TW (2022) 기간: 2022-2030 주요 목표: 2030년까지 고속도로 760km / 메콩 수계 통합 관리 / Can Tho 교량 2호 건설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고속도로 760km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수계 통합 관리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Tho 교량 2호 건설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수계 통합 관리 사업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유역 전체 | 수자원관리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기후변화 대응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Tho 교량 2호 건설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깐터성 | $3.2억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완공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고속도로 남북 축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전역 | 760km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목표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Resolution 13-NQ/TW (2022)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하노이와 호치민은 각각 2030년까지 메트로 15개·8개 노선 완성을 목표로 하지만 재원조달·용지보상·기술역량 부족으로 지연이 상시적이다. 하노이 2A(껫린~하동)·3(못처~하노이역 부분) 운영 중이고, 1·2B·4호선이 건설 중이다. 호치민 1호선(벤탄~수오이티엔)은 2024년 말 개통됐다.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메트로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15개 노선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2A·3호선 운영, 1·2B 건설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메트로 목표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 노선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1호선 2024.12 개통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도시철도 목표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46개 노선 3,045km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5개 노선 운영/건설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2A (껫린~하동)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13km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중 (2021)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3 (못처~하노이역)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부분 운영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중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1호선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38.7km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건설 중, 2027 목표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2B·4호선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계획 중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 이후 단계별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1호선 (벤탄~수오이티엔)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19.7km, 14역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2024.12 개통, 운영 중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40680" y="4233672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13832" y="426110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2호선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513832" y="44714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11.3km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513832" y="461772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건설 중, ODA 확보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950/QĐ-TTg (2018)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스마트시티 국가전략. 2025년까지 6개 핵심도시(하노이·호치민·다낭·껀터·하이퐁·후에) 스마트시티 시범 모델 완성, 2030년까지 전국 30개 도시로 확산. 디지털 정부, IoT 도시 인프라, AI 교통관제, 스마트 미터링 등 6개 핵심 분야. 한국 KOICA·KIND·KT·SK텔레콤·LG CNS 등 ICT 기업 진출 활발. 2024년 디지털전환 로드맵(Decision 749) 통합으로 가속.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시범 도시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(2025)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(2024 진행 중)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확산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디지털정부 지수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50 (UN EGDI)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86위 (2024)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스마트시티 통합운영센터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| $50M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가동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IoT 통합 플랫폼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HCMC | $200M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전환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AI 교통관제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Nang | $30M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KT 협력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Decision 950/QĐ-TTg (2018)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876/QĐ-TTg(2022) 기반으로 2030년까지 신규 판매차량 100%를 친환경차로 전환하는 국가 목표입니다. VinFast EV 생산 확대, 충전 인프라 25만 충전소, E10 바이오연료 전국화가 3대 과제입니다.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신규 판매 비율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 인프라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25만 충전소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~5,000개소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바이오연료 혼합률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E10 100% 보급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파일럿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VinFast 기업구조 개편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EV 생산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진행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바이오연료 E10 전국 출시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정책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준비 완료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Honda Vietnam EV 인센티브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정책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제안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12월 Decision 1668로 확정된 하노이 도시개발 마스터플랜 2045/2065는 9×9×9 다핵다중심 클러스터 모델을 적용해 5대 도시권·7개 위성도시를 체계화한다. 총 투자 $2.5T(2026~2045), 인구 2045년 최대 16M 수용이 목표다. 링로드4(113km, $3.6B) 착공이 서막이며, 홍강 양안 신도시, 또리히강 정화, 15개 메트로 노선이 핵심이다.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도시개발 총투자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$2.5T (2026~2045)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1668 확정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 목표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16M명 (2045)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8.5M명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완공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전체 완공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착공 진행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링로드4 전체 완공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외곽 | 도로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완공 목표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2공항 계획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인근 | 5,000만명/년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계획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상수도 2단계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| $3.2억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입찰 진행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서부 1,586ha 국가 하이테크파크. ICT·반도체·바이오·R&amp;D 클러스터로 육성. 삼성·인텔·FPT·LG·VinFast 입주. 2023년 11월 하노이 인민위 이관으로 인허가 가속. KIST(한국과학기술연구원) Vietnam Campus, 베트남-한국 R&amp;D 센터 등 한국 협력 거점. 2030년까지 입주기업 800개, 매출 $30B 목표.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입주 기업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800개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113개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매출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$30B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$1.6B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고용 인원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15만명 (2030)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2.5만명 (2024)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R&amp;D Center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$220M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가동, 동남아 최대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KIST Vietnam Campus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$70M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KIST 분원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FPT Software HQ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30,000명 수용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서비스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Hanwha Aerospace 위성 R&amp;D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검토 중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협력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2045/2065 하위 — 북부 동아인(Dong Anh) 신도시. 하노이 북부 노이바이 공항 인근 4,200ha 부지, 인구 30~40만 수용 신도시 개발. Sumitomo(일본)·BRG Group(베트남) 합작 BRG-Sumitomo Smart City($4B), Vingroup Co Loa Smart City 등 대형 프로젝트 추진. 2045년 인구 87만 목표.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신도시 부지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4,200 ha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계획·인허가 단계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30~40만 (2045)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4.2만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 규모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$4B+ (BRG-Sumitomo)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단계별 진입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BRG-Sumitomo Smart City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272 ha / $4B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ODA + 민간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Vingroup Co Loa Smart City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385 ha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Vingroup 자체개발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Exhibition Center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90 ha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개관 목표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 MI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Report Pipeline · SA-8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마스터플랜 · KPI 79개 · 프로젝트 105개 — knowledge_index 기반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토요일 KST 22:00 자동 생성 — Claude Haiku AI 기사 분석 연계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(사업 개요 고정) + Layer 2 (AI 동적 분석) 이중 레이어 구조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하이라이트 = KPI 변동 자동 감지 · 이메일 자동 첨부 발송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대시보드: hms4792.github.io/vietnam-infra-news/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 Infrastructure MI Weekly Report 2026-05-26</dc:title>
  <dc:subject>Vietnam Infrastructure Market Intelligence</dc:subject>
  <dc:creator>Claude SA-8 Auto-Report</dc:creator>
  <cp:lastModifiedBy>Claude SA-8 Auto-Report</cp:lastModifiedBy>
  <cp:revision>1</cp:revision>
  <dcterms:created xsi:type="dcterms:W3CDTF">2026-05-26T14:29:49Z</dcterms:created>
  <dcterms:modified xsi:type="dcterms:W3CDTF">2026-05-26T14:29:49Z</dcterms:modified>
</cp:coreProperties>
</file>