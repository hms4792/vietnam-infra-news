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05년 31일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150,489 MW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80,555 MW (2024)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석탄발전 단계적 폐지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2050년 0%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 (2024)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배터리(2030)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MW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300MW → 33배 상향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송전선 구축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22,000km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348935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2962656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석탄발전 단계적 폐지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65837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2304288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362102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3520440"/>
            <a:ext cx="2304288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배터리(2030)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1085/QĐ-TTg (2016) + QCVN 14:2008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마스터플랜(2021~2030)은 도시 폐수처리율을 2025년 50%, 2030년 85%로 끌어올리는 것을 목표로 한다. 하노이·호치민·다낭 등 주요 도시 권역별 WWTP 신규·확장이 핵심이다. JICA, ADB, KfW 등 다자금융기관 ODA가 투자의 80% 이상을 차지하며, 민관협력(PPP) 확대가 정책 방향이다. 2024년 기준 하노이 폐수처리율은 약 29%로 목표(50%, 2025년)에 크게 못 미치나, 옌짜 WWTP 준공(2025.8)으로 처리 용량이 2배 이상 증가할 전망이...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 → 50% (하노이 옌짜 준공)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운영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 연계 투자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$2.5B+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$690M (옌짜 준공 확정)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141,000→512,000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 | 1,100,000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 | 131,000→310,000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480,000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42,000→116,000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60,000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Decision 1085/QĐ-TTg (2016) + QCVN 14:2008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 — 프로젝트 전체 목록 (10개)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준공, 북부 최대 시설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141,000→512,000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단계적 확장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최대, MBBR 기술 적용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131,000→310,000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최종 확장 목표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완공 예정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42,000→116,000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용량 증설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 지원, 2020년 이후 확장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화쑤언 (Hoa Xuan)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2단계 완공 목표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년짝 (Nhon Trach)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연계 하수처리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푸록 (Phu Loc)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바이오필터(Biofilter) 공법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1622/QĐ-TTg (2017)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베트남은 기후변화로 메콩델타 해수 침투, 홍강 유역 가뭄·홍수 교차, 지하수 과잉 채굴 등 복합 수자원 위기에 직면해 있다. 2023년 수자원법 전면 개정으로 유역통합관리(IWRM), 지하수 이용 허가제, 오염자부담 원칙이 강화됐다. ADB·세계은행 지원 하에 메콩델타 수자원 인프라 현대화가 가속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1.2%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Decision 1622/QĐ-TTg (2017)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개발전략은 2030년 도시 지역 100% 안전 수돗물 보급을 목표로 한다. ADB가 빈증성 바우방(Bau Bang) 정수장 확장($200M+), KfW가 중부 지역 상수도 현대화를 지원 중이다. 민영화(PPP·BOT) 확대로 TDM 수자원(빈증), BWS(호치민) 등 민간 사업자의 역할이 증가하고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250,000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| 200,000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| 80,000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120,000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 — 프로젝트 전체 목록 (20개)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전역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신도시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비엔화 및 호치민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판랑-탑짬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껀터시 중심권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 (Tay Ninh)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타이닌성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 (Vung Tau)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붕따우시 전역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 (Dong Thap)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까오라인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 (Quang Tri)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 m³/일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동하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 (Kien Giang)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 m³/일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락지아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전략은 2030년까지 WtE(폐기물 에너지화) 비율을 50%로 높이고 매립 의존도를 획기적으로 낮추는 것이 핵심이다. 하노이 속선(Soc Son) WtE 발전소 준공(2025.10, 90MW)이 베트남 WtE 전략의 이정표다. EPR(생산자책임재활용) 규정 시행, 재활용 기반 강화가 중기 정책 방향이다.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 WtE 가동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4,000~5,000 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491/QĐ-TTg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4,000~5,000 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90MW, 세계 2위 규모, 2025.10 준공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1894/QĐ-TTg (2024)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환경산업 육성 프로그램(2025~2030, 결정문 1894/QĐ-TTg)은 환경산업을 독자적인 경제 부문으로 육성하고 녹색 전환과 순환경제를 촉진하는 것을 목표로 한다. 2026년 현재 국가 환경산업 센터 구축 및 재활용 산업단지(IP) 개발을 위한 법적 기틀이 마련 중이다. 한국 등 해외 협력을 통한 자원순환형 산업단지 도입이 추진되고 있으며, 확장된 생산자 책임(EPR) 제도의 의무 재활용 대상 확대 및 환경보호법 개정이 본 플랜의 강력한 실행 동력으로 작용하고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하수처리 기술 및 장비 국내 수요 충족률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70%~80%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배출가스/폐가스 처리 기술 및 장비 국내 수요 충족률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60%~70%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고형 및 유해 폐기물 수거·운반 국내 수요 충족률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50%~60%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스타비안 플라스틱 재활용 복합단지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응이선 경제구역 (Nghi Son EZ) | 17,000 톤/년 (rPET 칩 생산)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4Q 착공, 2027년 1Q 상업가동 예정. Starlinger(오스트리아)·A…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자원순환형 산업단지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반하 북송구 (Bắc Sông Cầu) | 약 200 ha 규모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환경부-베트남 MAE MoU 체결(2024.7). KEITI 마스터플랜 수립 중. 산…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비와세-시티오일필드 RGO 화학재활용 공장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빈증성 고형폐기물 처리단지 | 폐플라스틱→산업용 정제유 (RGO) 추출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시티오일필드 저온촉매분해 기술 적용. EPR 연계 가공시설 기초공사 진행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남빈증 폐기물 에너지화(WtE)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빈증성 남부 처리지구 | 퇴비화 840톤/일 + WtE 소각 200톤/일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 2,000만 달러 차관 승인 완료. 소각로 가동 준비 단계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환경산업 혁신 센터 구축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(주요 하이테크 경제구역·대학 내) | 환경산업 보육 네트워크 구성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연구·전환·혁신 센터 건립 및 vườn ươm(보육네트워크) 운영 계획 확정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1894/QĐ-TTg (2024)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500/QĐ-TTg (2023) + Decision 768/QĐ-TTg (2024 개정)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— 베트남 8차 전력개발계획. 2030년까지 발전설비 150GW (재생 50% 이상), 2050년 567~635GW (재생 67~71%) 목표. 2025년 4월 Decision 768로 개정되어 GDP 7%→10% 상향에 따른 전력수요 재계산, 해상풍력 6→17GW 3배 상향, 석탄발전 단계적 폐지 가속, 원자력 재개(닌투언 1·2호기) 반영. 하위 플랜: VN-PWR-PDP8-RENEWABLE (해상풍력·태양광), VN-PWR-PDP8-LNG (LNG 인수보장), VN-PWR-PDP8-...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150,489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80,555 MW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통합 마스터 시나리오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$135B 투자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하위 3개 플랜 통합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Decision 500/QĐ-TTg (2023) + Decision 768/QĐ-TTg (2024 개정)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4월 Decision 768로 PDP8이 전면 개정됐다. GDP 성장률 목표 7%→10% 상향이 전력 수요 재계산을 촉발했으며, 해상풍력 목표가 3배 가까이 늘었다. Decree 57(DPPA·직접전력구매계약) 시행으로 RE100 기업의 재생에너지 직구매가 가능해졌다. 2030년까지 총 투자 $134.7B 규모다.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Equinox/Orsted/Viet Dragon 입찰 준비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태양광 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73 GW (2030 누적)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FiT→경쟁입찰 전환 추진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 저장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10,000 MW (2030)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대폭 상향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DPPA 직접구매 시장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시장 개방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삼성·인텔 등 RE100 계약 추진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100(2025)은 LNG 발전사업의 최소 연간 발전량 65% 인수를 보장하는 정부 보증을 법제화해 외국인 투자자의 진입 장벽을 크게 낮췄다. 닌투언LNG 복합터미널, 박류-탄호아 LNG 등 대형 프로젝트가 FID(최종투자결정) 단계에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LNG 복합터미널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LNG 허브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 추진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박류-탄호아 LNG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| 대규모 LNG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LNG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| LNG 발전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가스전 연계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송배전망 확충계획으로 2030년까지 신규 송전선 5,000km 증설, 북부 재생에너지를 남부로 수송하는 해저케이블 구축, 스마트그리드 전국 전환이 3대 과제입니다.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송전선 구축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765kV 신규 노선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스마트그리드 전환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하노이-하이퐁 765kV 송전선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하노이~하이퐁 | $9억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수립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라이차우 송전 인프라 확충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라이차우성 | 미정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정치국 결의(Resolution 70)로 2010년 중단된 원자력 재개 추진이 공식화됐다. 닌투언 1호기(러시아 Rosatom, 2,000MW)와 2호기(일본 ADB 컨소시엄) 개발 재개가 확정됐으며, 소형모듈원전(SMR) 도입도 검토 중이다. 에너지 안보·탄소중립 이중 과제 대응이 배경이다.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Rosatom, 재개 확정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컨소시엄, 협의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(Rosatom)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러시아 기술, 2025 재개 확정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 (Japan)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ADB 컨소시엄, 협의 진행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SMR 소형모듈원전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중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2040년대 도입 검토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165/QĐ-TTg(2023) 기반 국가 수소에너지 전략으로, 2030년 그린수소 파일럿(10만톤/년), 2050년 수소 수출국을 목표로 합니다. 재생에너지 잉여전력을 활용한 전해조 설치가 1단계 핵심입니다.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그린수소 생산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100,000톤/년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수소 수출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2050년 수출국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로드맵 수립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그린수소 파일럿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소규모 실증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예정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893/QĐ-TTg (2023)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석유가스공사(PVN)는 바흐호(Bach Ho)·람손(Rang Dong) 등 노후 유전 생산 감소에 대응해 심해 탐사(113·115·129 블록)와 LNG 공급망 구축을 병행 추진 중이다. 국내 가스전(Ca Mau·Nam Con Son)을 LNG 발전소와 연계하는 통합 공급망이 핵심 전략이다.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생산량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13~15억 m³/년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10억 m³/년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의존도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가스 우선 활용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톤/년 수입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113·115·129 블록 탐사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심해 | 탐사 단계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PVN 주도, 국제 컨소시엄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가스전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해상 | 국내 공급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발전소 연계 통합 공급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남콘손 파이프라인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남부 해상 | 파이프라인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육상 이송 핵심 인프라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Decision 893/QĐ-TTg (2023)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654710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836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0" y="658368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326/QĐ-TTg (2022) + 외국인 투자 유치 전략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클러스터(하이퐁·박닌·타이응우옌·박장·흥옌)는 삼성·LG·인텔·폭스콘 등 글로벌 전자·반도체 공급망의 핵심 기지다. VSIP(베트남-싱가포르 산업단지)는 19개 단지를 운영 중이며, 타이빈성 신규 착공으로 확장 중이다. 2025~2030년 반도체·배터리·첨단제조 클러스터 집중 육성이 정책 방향이다.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산업용지 총 공급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28,000 ha 이상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23,990 ha (2025년 4분기, +42.8% YoY)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평균 입주율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이상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65.74% (박닌 74.1%, 하노이 100%)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FDI 유치 (베트남 전체)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$200억/년 이상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$276억 (2025년, 5년 최고) / 2026년 1~4월 $74억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옌퐁 II 산업단지 (Yen Phong II)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옌퐁 | 1,200 ha (공업 1,000 ha + 도시 200 ha)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 (Vietnam-Singapore IP)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투선 | 700 ha (산업+주거 복합)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타이빈 (VSIP Thai Binh)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타이빈성 타이투이 구 | 333 ha / $221M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랑선 (VSIP Lang Son)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랑선성 후루 구 | 600 ha / $250M (3개 phase)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흥옌·하이퐁·하이즈엉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흥옌·하이퐁·하이즈엉 (북부 3개 성) | 미정 (MoU 체결)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존슨헬스텍 투안타인 2공장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투안타인 I IP | 20 ha / $100M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기아빈 국제공항 개발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기아빈 | 산업단지 물류 연계 인프라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Decision 326/QĐ-TTg (2022) + 외국인 투자 유치 전략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 — 프로젝트 전체 목록 (9개)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옌퐁 II 산업단지 (Yen Phong II)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옌퐁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 ha (공업 1,000 ha + 도시 200 ha)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위성 공장 허브. 3개 구역(A/B/C) 운영 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 (Vietnam-Singapore IP)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투선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ha (산업+주거 복합)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캐논·파나소닉·삼성·LG·폭스콘 입주. DPPA 계약 추진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타이빈 (VSIP Thai Binh)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타이빈성 타이투이 구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333 ha / $221M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전자부품·정밀기계·신재생에너지 대상. 2026년 산업용지 인도 예정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랑선 (VSIP Lang Son)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랑선성 후루 구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ha / $250M (3개 phase)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1phase 2025년 3Q 완공, 2phase 2026년 9월 완공 예정. 4만명 고용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흥옌·하이퐁·하이즈엉 확장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흥옌·하이퐁·하이즈엉 (북부 3개 성)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 (MoU 체결)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Becamex IDC-Sembcorp Development 4개 MoU. 녹색 산업단지 계…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존슨헬스텍 투안타인 2공장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투안타인 I IP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ha / $100M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1Q 착공, 2026년 가동 예정. 2,000~3,000명 고용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기아빈 국제공항 개발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기아빈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물류 연계 인프라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물류 허브 재편 핵심. 2026년 개발 추진 중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딥씨 하이퐁 산업단지 (DEEP C)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하이퐁시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중공업·자동차 특화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빈패스트(VinFast) 입주. 항만 직접 연계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삼성전자 반도체 후공정 테스트 공장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$15억 투자 / DRAM·NAND 후공정 테스트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11월 가동 예정. 북부 반도체 공급망 고도화 핵심 (Gemini 검색 기반)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1412/QĐ-TTg (2021)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5,000km, 항구·공항 대규모 확충을 목표로 한다. 롱탄 국제공항($18B, 4단계)은 핵심 메가프로젝트로 2026년 1단계 개항이 목전이다. 하노이 링로드4, 호치민 링로드3·고가도로, 라크후옌 항구 확장이 병행 추진 중이다. PPP(BOT) 방식 확대로 민간 참여가 증가하고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 상업운항 목표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공항 네트워크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공항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22개 운영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 개항 목표, $18B (4단계)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(호치민)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| 200km, $5.4B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병행도로 2026.6 개통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(하노이)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라크후옌 항구 2단계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심해 컨테이너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국제 화물 허브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1호선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 개통 완료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Decision 1412/QĐ-TTg (2021)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13-NQ/TW (2022)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델타 인프라 개발 계획 2030 근거: Resolution 13-NQ/TW (2022) 기간: 2022-2030 주요 목표: 2030년까지 고속도로 760km / 메콩 수계 통합 관리 / Can Tho 교량 2호 건설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고속도로 760km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수계 통합 관리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교량 2호 건설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수계 통합 관리 사업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유역 전체 | 수자원관리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기후변화 대응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교량 2호 건설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깐터성 | $3.2억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완공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고속도로 남북 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전역 | 760km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Resolution 13-NQ/TW (2022)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하노이와 호치민은 각각 2030년까지 메트로 15개·8개 노선 완성을 목표로 하지만 재원조달·용지보상·기술역량 부족으로 지연이 상시적이다. 하노이 2A(껫린~하동)·3(못처~하노이역 부분) 운영 중이고, 1·2B·4호선이 건설 중이다. 호치민 1호선(벤탄~수오이티엔)은 2024년 말 개통됐다.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15개 노선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운영, 1·2B 건설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노선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1호선 2024.12 개통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도시철도 목표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46개 노선 3,045km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5개 노선 운영/건설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2A (껫린~하동)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13km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 (2021)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3 (못처~하노이역)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부분 운영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1호선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38.7km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중, 2027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2B·4호선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계획 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 이후 단계별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1호선 (벤탄~수오이티엔)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 개통, 운영 중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중, ODA 확보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스마트시티 국가전략. 2025년까지 6개 핵심도시(하노이·호치민·다낭·껀터·하이퐁·후에) 스마트시티 시범 모델 완성, 2030년까지 전국 30개 도시로 확산. 디지털 정부, IoT 도시 인프라, AI 교통관제, 스마트 미터링 등 6개 핵심 분야. 한국 KOICA·KIND·KT·SK텔레콤·LG CNS 등 ICT 기업 진출 활발. 2024년 디지털전환 로드맵(Decision 749) 통합으로 가속.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시범 도시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(2024 진행 중)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확산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디지털정부 지수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(UN EGDI)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86위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스마트시티 통합운영센터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| $50M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가동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AI 교통관제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Nang | $30M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 협력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Decision 950/QĐ-TTg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876/QĐ-TTg(2022) 기반으로 2030년까지 신규 판매차량 100%를 친환경차로 전환하는 국가 목표입니다. VinFast EV 생산 확대, 충전 인프라 25만 충전소, E10 바이오연료 전국화가 3대 과제입니다.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신규 판매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인프라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25만 충전소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~5,000개소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바이오연료 혼합률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E10 100% 보급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VinFast 기업구조 개편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EV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진행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바이오연료 E10 전국 출시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정책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준비 완료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Honda Vietnam EV 인센티브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정책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제안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12월 Decision 1668로 확정된 하노이 도시개발 마스터플랜 2045/2065는 9×9×9 다핵다중심 클러스터 모델을 적용해 5대 도시권·7개 위성도시를 체계화한다. 총 투자 $2.5T(2026~2045), 인구 2045년 최대 16M 수용이 목표다. 링로드4(113km, $3.6B) 착공이 서막이며, 홍강 양안 신도시, 또리히강 정화, 15개 메트로 노선이 핵심이다.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도시개발 총투자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$2.5T (2026~2045)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전체 완공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링로드4 전체 완공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외곽 | 도로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완공 목표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2공항 계획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인근 | 5,000만명/년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계획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상수도 2단계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| $3.2억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입찰 진행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1,586ha 국가 하이테크파크. ICT·반도체·바이오·R&amp;D 클러스터로 육성. 삼성·인텔·FPT·LG·VinFast 입주. 2023년 11월 하노이 인민위 이관으로 인허가 가속. KIST(한국과학기술연구원) Vietnam Campus, 베트남-한국 R&amp;D 센터 등 한국 협력 거점. 2030년까지 입주기업 800개, 매출 $30B 목표.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기업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113개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매출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$30B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$1.6B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고용 인원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15만명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2.5만명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R&amp;D Center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$220M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가동, 동남아 최대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KIST Vietnam Campus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$70M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KIST 분원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FPT Software HQ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30,000명 수용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서비스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Hanwha Aerospace 위성 R&amp;D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검토 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협력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 하위 — 북부 동아인(Dong Anh) 신도시. 하노이 북부 노이바이 공항 인근 4,200ha 부지, 인구 30~40만 수용 신도시 개발. Sumitomo(일본)·BRG Group(베트남) 합작 BRG-Sumitomo Smart City($4B), Vingroup Co Loa Smart City 등 대형 프로젝트 추진. 2045년 인구 87만 목표.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신도시 부지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 ha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계획·인허가 단계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규모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$4B+ (BRG-Sumitomo)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진입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BRG-Sumitomo Smart City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272 ha / $4B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ODA + 민간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 Co Loa Smart City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385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 자체개발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Exhibition Center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90 ha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개관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72개 · 프로젝트 106개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2026-05-31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2026-05-31T13:38:25Z</dcterms:created>
  <dcterms:modified xsi:type="dcterms:W3CDTF">2026-05-31T13:38:25Z</dcterms:modified>
</cp:coreProperties>
</file>