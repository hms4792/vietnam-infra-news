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Text 1"/>
          <p:cNvSpPr/>
          <p:nvPr/>
        </p:nvSpPr>
        <p:spPr>
          <a:xfrm>
            <a:off x="320040" y="228600"/>
            <a:ext cx="8503920" cy="685800"/>
          </a:xfrm>
          <a:prstGeom prst="rect">
            <a:avLst/>
          </a:prstGeom>
          <a:noFill/>
          <a:ln/>
        </p:spPr>
        <p:txBody>
          <a:bodyPr wrap="square" rtlCol="0" anchor="ctr"/>
          <a:lstStyle/>
          <a:p>
            <a:pPr indent="0" marL="0">
              <a:buNone/>
            </a:pPr>
            <a:r>
              <a:rPr lang="en-US" sz="3800" b="1" spc="200" kern="0" dirty="0">
                <a:solidFill>
                  <a:srgbClr val="FFFFFF"/>
                </a:solidFill>
                <a:latin typeface="Arial Black" pitchFamily="34" charset="0"/>
                <a:ea typeface="Arial Black" pitchFamily="34" charset="-122"/>
                <a:cs typeface="Arial Black" pitchFamily="34" charset="-120"/>
              </a:rPr>
              <a:t>VIETNAM INFRASTRUCTURE</a:t>
            </a:r>
            <a:endParaRPr lang="en-US" sz="3800" dirty="0"/>
          </a:p>
        </p:txBody>
      </p:sp>
      <p:sp>
        <p:nvSpPr>
          <p:cNvPr id="4" name="Text 2"/>
          <p:cNvSpPr/>
          <p:nvPr/>
        </p:nvSpPr>
        <p:spPr>
          <a:xfrm>
            <a:off x="320040" y="960120"/>
            <a:ext cx="8503920" cy="411480"/>
          </a:xfrm>
          <a:prstGeom prst="rect">
            <a:avLst/>
          </a:prstGeom>
          <a:noFill/>
          <a:ln/>
        </p:spPr>
        <p:txBody>
          <a:bodyPr wrap="square" rtlCol="0" anchor="ctr"/>
          <a:lstStyle/>
          <a:p>
            <a:pPr indent="0" marL="0">
              <a:buNone/>
            </a:pPr>
            <a:r>
              <a:rPr lang="en-US" sz="2000" b="1" spc="200" kern="0" dirty="0">
                <a:solidFill>
                  <a:srgbClr val="0D9488"/>
                </a:solidFill>
                <a:latin typeface="Arial" pitchFamily="34" charset="0"/>
                <a:ea typeface="Arial" pitchFamily="34" charset="-122"/>
                <a:cs typeface="Arial" pitchFamily="34" charset="-120"/>
              </a:rPr>
              <a:t>MARKET INTELLIGENCE REPORT</a:t>
            </a:r>
            <a:endParaRPr lang="en-US" sz="2000" dirty="0"/>
          </a:p>
        </p:txBody>
      </p:sp>
      <p:sp>
        <p:nvSpPr>
          <p:cNvPr id="5" name="Shape 3"/>
          <p:cNvSpPr/>
          <p:nvPr/>
        </p:nvSpPr>
        <p:spPr>
          <a:xfrm>
            <a:off x="320040" y="1627632"/>
            <a:ext cx="5029200" cy="0"/>
          </a:xfrm>
          <a:prstGeom prst="line">
            <a:avLst/>
          </a:prstGeom>
          <a:noFill/>
          <a:ln w="31750">
            <a:solidFill>
              <a:srgbClr val="0D9488"/>
            </a:solidFill>
            <a:prstDash val="solid"/>
          </a:ln>
        </p:spPr>
      </p:sp>
      <p:sp>
        <p:nvSpPr>
          <p:cNvPr id="6" name="Text 4"/>
          <p:cNvSpPr/>
          <p:nvPr/>
        </p:nvSpPr>
        <p:spPr>
          <a:xfrm>
            <a:off x="320040" y="1783080"/>
            <a:ext cx="8503920" cy="411480"/>
          </a:xfrm>
          <a:prstGeom prst="rect">
            <a:avLst/>
          </a:prstGeom>
          <a:noFill/>
          <a:ln/>
        </p:spPr>
        <p:txBody>
          <a:bodyPr wrap="square" rtlCol="0" anchor="ctr"/>
          <a:lstStyle/>
          <a:p>
            <a:pPr indent="0" marL="0">
              <a:buNone/>
            </a:pPr>
            <a:r>
              <a:rPr lang="en-US" sz="1600" i="1" dirty="0">
                <a:solidFill>
                  <a:srgbClr val="AADDFF"/>
                </a:solidFill>
                <a:latin typeface="Arial" pitchFamily="34" charset="0"/>
                <a:ea typeface="Arial" pitchFamily="34" charset="-122"/>
                <a:cs typeface="Arial" pitchFamily="34" charset="-120"/>
              </a:rPr>
              <a:t>베트남 인프라 시장 동향 주간 보고서</a:t>
            </a:r>
            <a:endParaRPr lang="en-US" sz="1600" dirty="0"/>
          </a:p>
        </p:txBody>
      </p:sp>
      <p:sp>
        <p:nvSpPr>
          <p:cNvPr id="7" name="Shape 5"/>
          <p:cNvSpPr/>
          <p:nvPr/>
        </p:nvSpPr>
        <p:spPr>
          <a:xfrm>
            <a:off x="320040" y="2377440"/>
            <a:ext cx="2103120" cy="658368"/>
          </a:xfrm>
          <a:prstGeom prst="rect">
            <a:avLst/>
          </a:prstGeom>
          <a:solidFill>
            <a:srgbClr val="1A3A5C"/>
          </a:solidFill>
          <a:ln w="12700">
            <a:solidFill>
              <a:srgbClr val="0D9488"/>
            </a:solidFill>
            <a:prstDash val="solid"/>
          </a:ln>
        </p:spPr>
      </p:sp>
      <p:sp>
        <p:nvSpPr>
          <p:cNvPr id="8" name="Text 6"/>
          <p:cNvSpPr/>
          <p:nvPr/>
        </p:nvSpPr>
        <p:spPr>
          <a:xfrm>
            <a:off x="320040"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발행일</a:t>
            </a:r>
            <a:endParaRPr lang="en-US" sz="900" dirty="0"/>
          </a:p>
        </p:txBody>
      </p:sp>
      <p:sp>
        <p:nvSpPr>
          <p:cNvPr id="9" name="Text 7"/>
          <p:cNvSpPr/>
          <p:nvPr/>
        </p:nvSpPr>
        <p:spPr>
          <a:xfrm>
            <a:off x="320040"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2026년 10년 24일</a:t>
            </a:r>
            <a:endParaRPr lang="en-US" sz="1300" dirty="0"/>
          </a:p>
        </p:txBody>
      </p:sp>
      <p:sp>
        <p:nvSpPr>
          <p:cNvPr id="10" name="Shape 8"/>
          <p:cNvSpPr/>
          <p:nvPr/>
        </p:nvSpPr>
        <p:spPr>
          <a:xfrm>
            <a:off x="2496312" y="2377440"/>
            <a:ext cx="2103120" cy="658368"/>
          </a:xfrm>
          <a:prstGeom prst="rect">
            <a:avLst/>
          </a:prstGeom>
          <a:solidFill>
            <a:srgbClr val="1A3A5C"/>
          </a:solidFill>
          <a:ln w="12700">
            <a:solidFill>
              <a:srgbClr val="0D9488"/>
            </a:solidFill>
            <a:prstDash val="solid"/>
          </a:ln>
        </p:spPr>
      </p:sp>
      <p:sp>
        <p:nvSpPr>
          <p:cNvPr id="11" name="Text 9"/>
          <p:cNvSpPr/>
          <p:nvPr/>
        </p:nvSpPr>
        <p:spPr>
          <a:xfrm>
            <a:off x="2496312"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분석 기준</a:t>
            </a:r>
            <a:endParaRPr lang="en-US" sz="900" dirty="0"/>
          </a:p>
        </p:txBody>
      </p:sp>
      <p:sp>
        <p:nvSpPr>
          <p:cNvPr id="12" name="Text 10"/>
          <p:cNvSpPr/>
          <p:nvPr/>
        </p:nvSpPr>
        <p:spPr>
          <a:xfrm>
            <a:off x="2496312"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v2.x</a:t>
            </a:r>
            <a:endParaRPr lang="en-US" sz="1300" dirty="0"/>
          </a:p>
        </p:txBody>
      </p:sp>
      <p:sp>
        <p:nvSpPr>
          <p:cNvPr id="13" name="Shape 11"/>
          <p:cNvSpPr/>
          <p:nvPr/>
        </p:nvSpPr>
        <p:spPr>
          <a:xfrm>
            <a:off x="4672584" y="2377440"/>
            <a:ext cx="2103120" cy="658368"/>
          </a:xfrm>
          <a:prstGeom prst="rect">
            <a:avLst/>
          </a:prstGeom>
          <a:solidFill>
            <a:srgbClr val="1A3A5C"/>
          </a:solidFill>
          <a:ln w="12700">
            <a:solidFill>
              <a:srgbClr val="0D9488"/>
            </a:solidFill>
            <a:prstDash val="solid"/>
          </a:ln>
        </p:spPr>
      </p:sp>
      <p:sp>
        <p:nvSpPr>
          <p:cNvPr id="14" name="Text 12"/>
          <p:cNvSpPr/>
          <p:nvPr/>
        </p:nvSpPr>
        <p:spPr>
          <a:xfrm>
            <a:off x="4672584"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마스터플랜</a:t>
            </a:r>
            <a:endParaRPr lang="en-US" sz="900" dirty="0"/>
          </a:p>
        </p:txBody>
      </p:sp>
      <p:sp>
        <p:nvSpPr>
          <p:cNvPr id="15" name="Text 13"/>
          <p:cNvSpPr/>
          <p:nvPr/>
        </p:nvSpPr>
        <p:spPr>
          <a:xfrm>
            <a:off x="4672584"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19개 플랜</a:t>
            </a:r>
            <a:endParaRPr lang="en-US" sz="1300" dirty="0"/>
          </a:p>
        </p:txBody>
      </p:sp>
      <p:sp>
        <p:nvSpPr>
          <p:cNvPr id="16" name="Shape 14"/>
          <p:cNvSpPr/>
          <p:nvPr/>
        </p:nvSpPr>
        <p:spPr>
          <a:xfrm>
            <a:off x="6848856" y="2377440"/>
            <a:ext cx="2103120" cy="658368"/>
          </a:xfrm>
          <a:prstGeom prst="rect">
            <a:avLst/>
          </a:prstGeom>
          <a:solidFill>
            <a:srgbClr val="1A3A5C"/>
          </a:solidFill>
          <a:ln w="12700">
            <a:solidFill>
              <a:srgbClr val="0D9488"/>
            </a:solidFill>
            <a:prstDash val="solid"/>
          </a:ln>
        </p:spPr>
      </p:sp>
      <p:sp>
        <p:nvSpPr>
          <p:cNvPr id="17" name="Text 15"/>
          <p:cNvSpPr/>
          <p:nvPr/>
        </p:nvSpPr>
        <p:spPr>
          <a:xfrm>
            <a:off x="6848856" y="2414016"/>
            <a:ext cx="2103120" cy="201168"/>
          </a:xfrm>
          <a:prstGeom prst="rect">
            <a:avLst/>
          </a:prstGeom>
          <a:noFill/>
          <a:ln/>
        </p:spPr>
        <p:txBody>
          <a:bodyPr wrap="square" rtlCol="0" anchor="ctr"/>
          <a:lstStyle/>
          <a:p>
            <a:pPr algn="ctr" indent="0" marL="0">
              <a:buNone/>
            </a:pPr>
            <a:r>
              <a:rPr lang="en-US" sz="900" b="1" dirty="0">
                <a:solidFill>
                  <a:srgbClr val="0D9488"/>
                </a:solidFill>
                <a:latin typeface="Arial" pitchFamily="34" charset="0"/>
                <a:ea typeface="Arial" pitchFamily="34" charset="-122"/>
                <a:cs typeface="Arial" pitchFamily="34" charset="-120"/>
              </a:rPr>
              <a:t>AI 분석</a:t>
            </a:r>
            <a:endParaRPr lang="en-US" sz="900" dirty="0"/>
          </a:p>
        </p:txBody>
      </p:sp>
      <p:sp>
        <p:nvSpPr>
          <p:cNvPr id="18" name="Text 16"/>
          <p:cNvSpPr/>
          <p:nvPr/>
        </p:nvSpPr>
        <p:spPr>
          <a:xfrm>
            <a:off x="6848856" y="2633472"/>
            <a:ext cx="2103120" cy="329184"/>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Claude Haiku</a:t>
            </a:r>
            <a:endParaRPr lang="en-US" sz="1300" dirty="0"/>
          </a:p>
        </p:txBody>
      </p:sp>
      <p:sp>
        <p:nvSpPr>
          <p:cNvPr id="19" name="Text 17"/>
          <p:cNvSpPr/>
          <p:nvPr/>
        </p:nvSpPr>
        <p:spPr>
          <a:xfrm>
            <a:off x="320040" y="324612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Coverage by Area</a:t>
            </a:r>
            <a:endParaRPr lang="en-US" sz="1100" dirty="0"/>
          </a:p>
        </p:txBody>
      </p:sp>
      <p:sp>
        <p:nvSpPr>
          <p:cNvPr id="20" name="Shape 18"/>
          <p:cNvSpPr/>
          <p:nvPr/>
        </p:nvSpPr>
        <p:spPr>
          <a:xfrm>
            <a:off x="320040" y="3566160"/>
            <a:ext cx="2697480" cy="594360"/>
          </a:xfrm>
          <a:prstGeom prst="rect">
            <a:avLst/>
          </a:prstGeom>
          <a:solidFill>
            <a:srgbClr val="059669"/>
          </a:solidFill>
          <a:ln w="12700">
            <a:solidFill>
              <a:srgbClr val="059669"/>
            </a:solidFill>
            <a:prstDash val="solid"/>
          </a:ln>
        </p:spPr>
      </p:sp>
      <p:sp>
        <p:nvSpPr>
          <p:cNvPr id="21" name="Text 19"/>
          <p:cNvSpPr/>
          <p:nvPr/>
        </p:nvSpPr>
        <p:spPr>
          <a:xfrm>
            <a:off x="320040"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환경 인프라</a:t>
            </a:r>
            <a:endParaRPr lang="en-US" sz="1400" dirty="0"/>
          </a:p>
        </p:txBody>
      </p:sp>
      <p:sp>
        <p:nvSpPr>
          <p:cNvPr id="22" name="Text 20"/>
          <p:cNvSpPr/>
          <p:nvPr/>
        </p:nvSpPr>
        <p:spPr>
          <a:xfrm>
            <a:off x="320040"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6 Plans</a:t>
            </a:r>
            <a:endParaRPr lang="en-US" sz="1100" dirty="0"/>
          </a:p>
        </p:txBody>
      </p:sp>
      <p:sp>
        <p:nvSpPr>
          <p:cNvPr id="23" name="Shape 21"/>
          <p:cNvSpPr/>
          <p:nvPr/>
        </p:nvSpPr>
        <p:spPr>
          <a:xfrm>
            <a:off x="3090672" y="3566160"/>
            <a:ext cx="2697480" cy="594360"/>
          </a:xfrm>
          <a:prstGeom prst="rect">
            <a:avLst/>
          </a:prstGeom>
          <a:solidFill>
            <a:srgbClr val="D97706"/>
          </a:solidFill>
          <a:ln w="12700">
            <a:solidFill>
              <a:srgbClr val="D97706"/>
            </a:solidFill>
            <a:prstDash val="solid"/>
          </a:ln>
        </p:spPr>
      </p:sp>
      <p:sp>
        <p:nvSpPr>
          <p:cNvPr id="24" name="Text 22"/>
          <p:cNvSpPr/>
          <p:nvPr/>
        </p:nvSpPr>
        <p:spPr>
          <a:xfrm>
            <a:off x="3090672"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에너지·전력</a:t>
            </a:r>
            <a:endParaRPr lang="en-US" sz="1400" dirty="0"/>
          </a:p>
        </p:txBody>
      </p:sp>
      <p:sp>
        <p:nvSpPr>
          <p:cNvPr id="25" name="Text 23"/>
          <p:cNvSpPr/>
          <p:nvPr/>
        </p:nvSpPr>
        <p:spPr>
          <a:xfrm>
            <a:off x="3090672"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5 Plans</a:t>
            </a:r>
            <a:endParaRPr lang="en-US" sz="1100" dirty="0"/>
          </a:p>
        </p:txBody>
      </p:sp>
      <p:sp>
        <p:nvSpPr>
          <p:cNvPr id="26" name="Shape 24"/>
          <p:cNvSpPr/>
          <p:nvPr/>
        </p:nvSpPr>
        <p:spPr>
          <a:xfrm>
            <a:off x="5861304" y="3566160"/>
            <a:ext cx="2697480" cy="594360"/>
          </a:xfrm>
          <a:prstGeom prst="rect">
            <a:avLst/>
          </a:prstGeom>
          <a:solidFill>
            <a:srgbClr val="2563EB"/>
          </a:solidFill>
          <a:ln w="12700">
            <a:solidFill>
              <a:srgbClr val="2563EB"/>
            </a:solidFill>
            <a:prstDash val="solid"/>
          </a:ln>
        </p:spPr>
      </p:sp>
      <p:sp>
        <p:nvSpPr>
          <p:cNvPr id="27" name="Text 25"/>
          <p:cNvSpPr/>
          <p:nvPr/>
        </p:nvSpPr>
        <p:spPr>
          <a:xfrm>
            <a:off x="5861304" y="3621024"/>
            <a:ext cx="2697480" cy="27432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도시·교통·산업</a:t>
            </a:r>
            <a:endParaRPr lang="en-US" sz="1400" dirty="0"/>
          </a:p>
        </p:txBody>
      </p:sp>
      <p:sp>
        <p:nvSpPr>
          <p:cNvPr id="28" name="Text 26"/>
          <p:cNvSpPr/>
          <p:nvPr/>
        </p:nvSpPr>
        <p:spPr>
          <a:xfrm>
            <a:off x="5861304" y="3895344"/>
            <a:ext cx="2697480" cy="201168"/>
          </a:xfrm>
          <a:prstGeom prst="rect">
            <a:avLst/>
          </a:prstGeom>
          <a:noFill/>
          <a:ln/>
        </p:spPr>
        <p:txBody>
          <a:bodyPr wrap="square" rtlCol="0" anchor="ctr"/>
          <a:lstStyle/>
          <a:p>
            <a:pPr algn="ctr" indent="0" marL="0">
              <a:buNone/>
            </a:pPr>
            <a:r>
              <a:rPr lang="en-US" sz="1100" dirty="0">
                <a:solidFill>
                  <a:srgbClr val="FFFFFF"/>
                </a:solidFill>
                <a:latin typeface="Arial" pitchFamily="34" charset="0"/>
                <a:ea typeface="Arial" pitchFamily="34" charset="-122"/>
                <a:cs typeface="Arial" pitchFamily="34" charset="-120"/>
              </a:rPr>
              <a:t>8 Plans</a:t>
            </a:r>
            <a:endParaRPr lang="en-US" sz="1100" dirty="0"/>
          </a:p>
        </p:txBody>
      </p:sp>
      <p:sp>
        <p:nvSpPr>
          <p:cNvPr id="29" name="Text 27"/>
          <p:cNvSpPr/>
          <p:nvPr/>
        </p:nvSpPr>
        <p:spPr>
          <a:xfrm>
            <a:off x="320040" y="4846320"/>
            <a:ext cx="8503920" cy="228600"/>
          </a:xfrm>
          <a:prstGeom prst="rect">
            <a:avLst/>
          </a:prstGeom>
          <a:noFill/>
          <a:ln/>
        </p:spPr>
        <p:txBody>
          <a:bodyPr wrap="square" rtlCol="0" anchor="ctr"/>
          <a:lstStyle/>
          <a:p>
            <a:pPr indent="0" marL="0">
              <a:buNone/>
            </a:pPr>
            <a:r>
              <a:rPr lang="en-US" sz="900" dirty="0">
                <a:solidFill>
                  <a:srgbClr val="4A7FA5"/>
                </a:solidFill>
                <a:latin typeface="Arial" pitchFamily="34" charset="0"/>
                <a:ea typeface="Arial" pitchFamily="34" charset="-122"/>
                <a:cs typeface="Arial" pitchFamily="34" charset="-120"/>
              </a:rPr>
              <a:t>hms4792.github.io/vietnam-infra-news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54864"/>
            <a:ext cx="64008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전체 마스터플랜 KPI 목표 현황</a:t>
            </a:r>
            <a:endParaRPr lang="en-US" sz="2000" dirty="0"/>
          </a:p>
        </p:txBody>
      </p:sp>
      <p:sp>
        <p:nvSpPr>
          <p:cNvPr id="4" name="Text 2"/>
          <p:cNvSpPr/>
          <p:nvPr/>
        </p:nvSpPr>
        <p:spPr>
          <a:xfrm>
            <a:off x="6400800" y="91440"/>
            <a:ext cx="2560320" cy="320040"/>
          </a:xfrm>
          <a:prstGeom prst="rect">
            <a:avLst/>
          </a:prstGeom>
          <a:noFill/>
          <a:ln/>
        </p:spPr>
        <p:txBody>
          <a:bodyPr wrap="square" rtlCol="0" anchor="ctr"/>
          <a:lstStyle/>
          <a:p>
            <a:pPr algn="r" indent="0" marL="0">
              <a:buNone/>
            </a:pPr>
            <a:r>
              <a:rPr lang="en-US" sz="900" dirty="0">
                <a:solidFill>
                  <a:srgbClr val="AADDFF"/>
                </a:solidFill>
                <a:latin typeface="Arial" pitchFamily="34" charset="0"/>
                <a:ea typeface="Arial" pitchFamily="34" charset="-122"/>
                <a:cs typeface="Arial" pitchFamily="34" charset="-120"/>
              </a:rPr>
              <a:t>19개 마스터플랜 · KPI 12개 · 2030 목표 기준</a:t>
            </a:r>
            <a:endParaRPr lang="en-US" sz="900" dirty="0"/>
          </a:p>
        </p:txBody>
      </p:sp>
      <p:sp>
        <p:nvSpPr>
          <p:cNvPr id="5" name="Shape 3"/>
          <p:cNvSpPr/>
          <p:nvPr/>
        </p:nvSpPr>
        <p:spPr>
          <a:xfrm>
            <a:off x="164592" y="566928"/>
            <a:ext cx="2834640" cy="822960"/>
          </a:xfrm>
          <a:prstGeom prst="rect">
            <a:avLst/>
          </a:prstGeom>
          <a:solidFill>
            <a:srgbClr val="F8F9FA"/>
          </a:solidFill>
          <a:ln w="12700">
            <a:solidFill>
              <a:srgbClr val="E2E8F0"/>
            </a:solidFill>
            <a:prstDash val="solid"/>
          </a:ln>
        </p:spPr>
      </p:sp>
      <p:sp>
        <p:nvSpPr>
          <p:cNvPr id="6" name="Text 4"/>
          <p:cNvSpPr/>
          <p:nvPr/>
        </p:nvSpPr>
        <p:spPr>
          <a:xfrm>
            <a:off x="237744"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7" name="Text 5"/>
          <p:cNvSpPr/>
          <p:nvPr/>
        </p:nvSpPr>
        <p:spPr>
          <a:xfrm>
            <a:off x="237744"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a:t>
            </a:r>
            <a:endParaRPr lang="en-US" sz="1800" dirty="0"/>
          </a:p>
        </p:txBody>
      </p:sp>
      <p:sp>
        <p:nvSpPr>
          <p:cNvPr id="8" name="Text 6"/>
          <p:cNvSpPr/>
          <p:nvPr/>
        </p:nvSpPr>
        <p:spPr>
          <a:xfrm>
            <a:off x="237744"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9" name="Shape 7"/>
          <p:cNvSpPr/>
          <p:nvPr/>
        </p:nvSpPr>
        <p:spPr>
          <a:xfrm>
            <a:off x="1808683" y="768096"/>
            <a:ext cx="1077163" cy="329184"/>
          </a:xfrm>
          <a:prstGeom prst="rect">
            <a:avLst/>
          </a:prstGeom>
          <a:solidFill>
            <a:srgbClr val="E2E8F0"/>
          </a:solidFill>
          <a:ln w="12700">
            <a:solidFill>
              <a:srgbClr val="E2E8F0"/>
            </a:solidFill>
            <a:prstDash val="solid"/>
          </a:ln>
        </p:spPr>
      </p:sp>
      <p:sp>
        <p:nvSpPr>
          <p:cNvPr id="10" name="Text 8"/>
          <p:cNvSpPr/>
          <p:nvPr/>
        </p:nvSpPr>
        <p:spPr>
          <a:xfrm>
            <a:off x="1808683"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(2025 목표 수준)</a:t>
            </a:r>
            <a:endParaRPr lang="en-US" sz="1100" dirty="0"/>
          </a:p>
        </p:txBody>
      </p:sp>
      <p:sp>
        <p:nvSpPr>
          <p:cNvPr id="11" name="Text 9"/>
          <p:cNvSpPr/>
          <p:nvPr/>
        </p:nvSpPr>
        <p:spPr>
          <a:xfrm>
            <a:off x="1808683"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2" name="Shape 10"/>
          <p:cNvSpPr/>
          <p:nvPr/>
        </p:nvSpPr>
        <p:spPr>
          <a:xfrm>
            <a:off x="3072384" y="566928"/>
            <a:ext cx="2834640" cy="822960"/>
          </a:xfrm>
          <a:prstGeom prst="rect">
            <a:avLst/>
          </a:prstGeom>
          <a:solidFill>
            <a:srgbClr val="F8F9FA"/>
          </a:solidFill>
          <a:ln w="12700">
            <a:solidFill>
              <a:srgbClr val="E2E8F0"/>
            </a:solidFill>
            <a:prstDash val="solid"/>
          </a:ln>
        </p:spPr>
      </p:sp>
      <p:sp>
        <p:nvSpPr>
          <p:cNvPr id="13" name="Text 11"/>
          <p:cNvSpPr/>
          <p:nvPr/>
        </p:nvSpPr>
        <p:spPr>
          <a:xfrm>
            <a:off x="3145536"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14" name="Text 12"/>
          <p:cNvSpPr/>
          <p:nvPr/>
        </p:nvSpPr>
        <p:spPr>
          <a:xfrm>
            <a:off x="3145536"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50%</a:t>
            </a:r>
            <a:endParaRPr lang="en-US" sz="1800" dirty="0"/>
          </a:p>
        </p:txBody>
      </p:sp>
      <p:sp>
        <p:nvSpPr>
          <p:cNvPr id="15" name="Text 13"/>
          <p:cNvSpPr/>
          <p:nvPr/>
        </p:nvSpPr>
        <p:spPr>
          <a:xfrm>
            <a:off x="3145536"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16" name="Shape 14"/>
          <p:cNvSpPr/>
          <p:nvPr/>
        </p:nvSpPr>
        <p:spPr>
          <a:xfrm>
            <a:off x="4716475" y="768096"/>
            <a:ext cx="1077163" cy="329184"/>
          </a:xfrm>
          <a:prstGeom prst="rect">
            <a:avLst/>
          </a:prstGeom>
          <a:solidFill>
            <a:srgbClr val="E2E8F0"/>
          </a:solidFill>
          <a:ln w="12700">
            <a:solidFill>
              <a:srgbClr val="E2E8F0"/>
            </a:solidFill>
            <a:prstDash val="solid"/>
          </a:ln>
        </p:spPr>
      </p:sp>
      <p:sp>
        <p:nvSpPr>
          <p:cNvPr id="17" name="Text 15"/>
          <p:cNvSpPr/>
          <p:nvPr/>
        </p:nvSpPr>
        <p:spPr>
          <a:xfrm>
            <a:off x="4716475"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1100" dirty="0"/>
          </a:p>
        </p:txBody>
      </p:sp>
      <p:sp>
        <p:nvSpPr>
          <p:cNvPr id="18" name="Text 16"/>
          <p:cNvSpPr/>
          <p:nvPr/>
        </p:nvSpPr>
        <p:spPr>
          <a:xfrm>
            <a:off x="4716475"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19" name="Shape 17"/>
          <p:cNvSpPr/>
          <p:nvPr/>
        </p:nvSpPr>
        <p:spPr>
          <a:xfrm>
            <a:off x="5980176" y="566928"/>
            <a:ext cx="2834640" cy="822960"/>
          </a:xfrm>
          <a:prstGeom prst="rect">
            <a:avLst/>
          </a:prstGeom>
          <a:solidFill>
            <a:srgbClr val="F8F9FA"/>
          </a:solidFill>
          <a:ln w="12700">
            <a:solidFill>
              <a:srgbClr val="E2E8F0"/>
            </a:solidFill>
            <a:prstDash val="solid"/>
          </a:ln>
        </p:spPr>
      </p:sp>
      <p:sp>
        <p:nvSpPr>
          <p:cNvPr id="20" name="Text 18"/>
          <p:cNvSpPr/>
          <p:nvPr/>
        </p:nvSpPr>
        <p:spPr>
          <a:xfrm>
            <a:off x="6053328" y="612648"/>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1" name="Text 19"/>
          <p:cNvSpPr/>
          <p:nvPr/>
        </p:nvSpPr>
        <p:spPr>
          <a:xfrm>
            <a:off x="6053328" y="768096"/>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30% 이하</a:t>
            </a:r>
            <a:endParaRPr lang="en-US" sz="1800" dirty="0"/>
          </a:p>
        </p:txBody>
      </p:sp>
      <p:sp>
        <p:nvSpPr>
          <p:cNvPr id="22" name="Text 20"/>
          <p:cNvSpPr/>
          <p:nvPr/>
        </p:nvSpPr>
        <p:spPr>
          <a:xfrm>
            <a:off x="6053328" y="1097280"/>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23" name="Shape 21"/>
          <p:cNvSpPr/>
          <p:nvPr/>
        </p:nvSpPr>
        <p:spPr>
          <a:xfrm>
            <a:off x="7624267" y="768096"/>
            <a:ext cx="1077163" cy="329184"/>
          </a:xfrm>
          <a:prstGeom prst="rect">
            <a:avLst/>
          </a:prstGeom>
          <a:solidFill>
            <a:srgbClr val="E2E8F0"/>
          </a:solidFill>
          <a:ln w="12700">
            <a:solidFill>
              <a:srgbClr val="E2E8F0"/>
            </a:solidFill>
            <a:prstDash val="solid"/>
          </a:ln>
        </p:spPr>
      </p:sp>
      <p:sp>
        <p:nvSpPr>
          <p:cNvPr id="24" name="Text 22"/>
          <p:cNvSpPr/>
          <p:nvPr/>
        </p:nvSpPr>
        <p:spPr>
          <a:xfrm>
            <a:off x="7624267" y="768096"/>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속선·다프억 WtE 가동으로 현저히 감소 중</a:t>
            </a:r>
            <a:endParaRPr lang="en-US" sz="1100" dirty="0"/>
          </a:p>
        </p:txBody>
      </p:sp>
      <p:sp>
        <p:nvSpPr>
          <p:cNvPr id="25" name="Text 23"/>
          <p:cNvSpPr/>
          <p:nvPr/>
        </p:nvSpPr>
        <p:spPr>
          <a:xfrm>
            <a:off x="7624267" y="1097280"/>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26" name="Shape 24"/>
          <p:cNvSpPr/>
          <p:nvPr/>
        </p:nvSpPr>
        <p:spPr>
          <a:xfrm>
            <a:off x="164592" y="1463040"/>
            <a:ext cx="2834640" cy="822960"/>
          </a:xfrm>
          <a:prstGeom prst="rect">
            <a:avLst/>
          </a:prstGeom>
          <a:solidFill>
            <a:srgbClr val="F8F9FA"/>
          </a:solidFill>
          <a:ln w="12700">
            <a:solidFill>
              <a:srgbClr val="E2E8F0"/>
            </a:solidFill>
            <a:prstDash val="solid"/>
          </a:ln>
        </p:spPr>
      </p:sp>
      <p:sp>
        <p:nvSpPr>
          <p:cNvPr id="27" name="Text 25"/>
          <p:cNvSpPr/>
          <p:nvPr/>
        </p:nvSpPr>
        <p:spPr>
          <a:xfrm>
            <a:off x="237744"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28" name="Text 26"/>
          <p:cNvSpPr/>
          <p:nvPr/>
        </p:nvSpPr>
        <p:spPr>
          <a:xfrm>
            <a:off x="237744"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전국 27개 완전 관리</a:t>
            </a:r>
            <a:endParaRPr lang="en-US" sz="1800" dirty="0"/>
          </a:p>
        </p:txBody>
      </p:sp>
      <p:sp>
        <p:nvSpPr>
          <p:cNvPr id="29" name="Text 27"/>
          <p:cNvSpPr/>
          <p:nvPr/>
        </p:nvSpPr>
        <p:spPr>
          <a:xfrm>
            <a:off x="237744"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0" name="Shape 28"/>
          <p:cNvSpPr/>
          <p:nvPr/>
        </p:nvSpPr>
        <p:spPr>
          <a:xfrm>
            <a:off x="1808683" y="1664208"/>
            <a:ext cx="1077163" cy="329184"/>
          </a:xfrm>
          <a:prstGeom prst="rect">
            <a:avLst/>
          </a:prstGeom>
          <a:solidFill>
            <a:srgbClr val="E2E8F0"/>
          </a:solidFill>
          <a:ln w="12700">
            <a:solidFill>
              <a:srgbClr val="E2E8F0"/>
            </a:solidFill>
            <a:prstDash val="solid"/>
          </a:ln>
        </p:spPr>
      </p:sp>
      <p:sp>
        <p:nvSpPr>
          <p:cNvPr id="31" name="Text 29"/>
          <p:cNvSpPr/>
          <p:nvPr/>
        </p:nvSpPr>
        <p:spPr>
          <a:xfrm>
            <a:off x="1808683"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12개 관리 중</a:t>
            </a:r>
            <a:endParaRPr lang="en-US" sz="1100" dirty="0"/>
          </a:p>
        </p:txBody>
      </p:sp>
      <p:sp>
        <p:nvSpPr>
          <p:cNvPr id="32" name="Text 30"/>
          <p:cNvSpPr/>
          <p:nvPr/>
        </p:nvSpPr>
        <p:spPr>
          <a:xfrm>
            <a:off x="1808683"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33" name="Shape 31"/>
          <p:cNvSpPr/>
          <p:nvPr/>
        </p:nvSpPr>
        <p:spPr>
          <a:xfrm>
            <a:off x="3072384" y="1463040"/>
            <a:ext cx="2834640" cy="822960"/>
          </a:xfrm>
          <a:prstGeom prst="rect">
            <a:avLst/>
          </a:prstGeom>
          <a:solidFill>
            <a:srgbClr val="F8F9FA"/>
          </a:solidFill>
          <a:ln w="12700">
            <a:solidFill>
              <a:srgbClr val="E2E8F0"/>
            </a:solidFill>
            <a:prstDash val="solid"/>
          </a:ln>
        </p:spPr>
      </p:sp>
      <p:sp>
        <p:nvSpPr>
          <p:cNvPr id="34" name="Text 32"/>
          <p:cNvSpPr/>
          <p:nvPr/>
        </p:nvSpPr>
        <p:spPr>
          <a:xfrm>
            <a:off x="3145536"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35" name="Text 33"/>
          <p:cNvSpPr/>
          <p:nvPr/>
        </p:nvSpPr>
        <p:spPr>
          <a:xfrm>
            <a:off x="3145536"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완료</a:t>
            </a:r>
            <a:endParaRPr lang="en-US" sz="1800" dirty="0"/>
          </a:p>
        </p:txBody>
      </p:sp>
      <p:sp>
        <p:nvSpPr>
          <p:cNvPr id="36" name="Text 34"/>
          <p:cNvSpPr/>
          <p:nvPr/>
        </p:nvSpPr>
        <p:spPr>
          <a:xfrm>
            <a:off x="3145536"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37" name="Shape 35"/>
          <p:cNvSpPr/>
          <p:nvPr/>
        </p:nvSpPr>
        <p:spPr>
          <a:xfrm>
            <a:off x="4716475" y="1664208"/>
            <a:ext cx="1077163" cy="329184"/>
          </a:xfrm>
          <a:prstGeom prst="rect">
            <a:avLst/>
          </a:prstGeom>
          <a:solidFill>
            <a:srgbClr val="E2E8F0"/>
          </a:solidFill>
          <a:ln w="12700">
            <a:solidFill>
              <a:srgbClr val="E2E8F0"/>
            </a:solidFill>
            <a:prstDash val="solid"/>
          </a:ln>
        </p:spPr>
      </p:sp>
      <p:sp>
        <p:nvSpPr>
          <p:cNvPr id="38" name="Text 36"/>
          <p:cNvSpPr/>
          <p:nvPr/>
        </p:nvSpPr>
        <p:spPr>
          <a:xfrm>
            <a:off x="4716475"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65% 완료</a:t>
            </a:r>
            <a:endParaRPr lang="en-US" sz="1100" dirty="0"/>
          </a:p>
        </p:txBody>
      </p:sp>
      <p:sp>
        <p:nvSpPr>
          <p:cNvPr id="39" name="Text 37"/>
          <p:cNvSpPr/>
          <p:nvPr/>
        </p:nvSpPr>
        <p:spPr>
          <a:xfrm>
            <a:off x="4716475"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0" name="Shape 38"/>
          <p:cNvSpPr/>
          <p:nvPr/>
        </p:nvSpPr>
        <p:spPr>
          <a:xfrm>
            <a:off x="5980176" y="1463040"/>
            <a:ext cx="2834640" cy="822960"/>
          </a:xfrm>
          <a:prstGeom prst="rect">
            <a:avLst/>
          </a:prstGeom>
          <a:solidFill>
            <a:srgbClr val="F8F9FA"/>
          </a:solidFill>
          <a:ln w="12700">
            <a:solidFill>
              <a:srgbClr val="E2E8F0"/>
            </a:solidFill>
            <a:prstDash val="solid"/>
          </a:ln>
        </p:spPr>
      </p:sp>
      <p:sp>
        <p:nvSpPr>
          <p:cNvPr id="41" name="Text 39"/>
          <p:cNvSpPr/>
          <p:nvPr/>
        </p:nvSpPr>
        <p:spPr>
          <a:xfrm>
            <a:off x="6053328" y="1508760"/>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42" name="Text 40"/>
          <p:cNvSpPr/>
          <p:nvPr/>
        </p:nvSpPr>
        <p:spPr>
          <a:xfrm>
            <a:off x="6053328" y="1664208"/>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통합 관리 체계 수립</a:t>
            </a:r>
            <a:endParaRPr lang="en-US" sz="1800" dirty="0"/>
          </a:p>
        </p:txBody>
      </p:sp>
      <p:sp>
        <p:nvSpPr>
          <p:cNvPr id="43" name="Text 41"/>
          <p:cNvSpPr/>
          <p:nvPr/>
        </p:nvSpPr>
        <p:spPr>
          <a:xfrm>
            <a:off x="6053328" y="1993392"/>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44" name="Shape 42"/>
          <p:cNvSpPr/>
          <p:nvPr/>
        </p:nvSpPr>
        <p:spPr>
          <a:xfrm>
            <a:off x="7624267" y="1664208"/>
            <a:ext cx="1077163" cy="329184"/>
          </a:xfrm>
          <a:prstGeom prst="rect">
            <a:avLst/>
          </a:prstGeom>
          <a:solidFill>
            <a:srgbClr val="E2E8F0"/>
          </a:solidFill>
          <a:ln w="12700">
            <a:solidFill>
              <a:srgbClr val="E2E8F0"/>
            </a:solidFill>
            <a:prstDash val="solid"/>
          </a:ln>
        </p:spPr>
      </p:sp>
      <p:sp>
        <p:nvSpPr>
          <p:cNvPr id="45" name="Text 43"/>
          <p:cNvSpPr/>
          <p:nvPr/>
        </p:nvSpPr>
        <p:spPr>
          <a:xfrm>
            <a:off x="7624267" y="1664208"/>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2026 건기 관측 40~70km 도달</a:t>
            </a:r>
            <a:endParaRPr lang="en-US" sz="1100" dirty="0"/>
          </a:p>
        </p:txBody>
      </p:sp>
      <p:sp>
        <p:nvSpPr>
          <p:cNvPr id="46" name="Text 44"/>
          <p:cNvSpPr/>
          <p:nvPr/>
        </p:nvSpPr>
        <p:spPr>
          <a:xfrm>
            <a:off x="7624267" y="1993392"/>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47" name="Shape 45"/>
          <p:cNvSpPr/>
          <p:nvPr/>
        </p:nvSpPr>
        <p:spPr>
          <a:xfrm>
            <a:off x="164592" y="2359152"/>
            <a:ext cx="2834640" cy="822960"/>
          </a:xfrm>
          <a:prstGeom prst="rect">
            <a:avLst/>
          </a:prstGeom>
          <a:solidFill>
            <a:srgbClr val="F8F9FA"/>
          </a:solidFill>
          <a:ln w="12700">
            <a:solidFill>
              <a:srgbClr val="E2E8F0"/>
            </a:solidFill>
            <a:prstDash val="solid"/>
          </a:ln>
        </p:spPr>
      </p:sp>
      <p:sp>
        <p:nvSpPr>
          <p:cNvPr id="48" name="Text 46"/>
          <p:cNvSpPr/>
          <p:nvPr/>
        </p:nvSpPr>
        <p:spPr>
          <a:xfrm>
            <a:off x="237744"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49" name="Text 47"/>
          <p:cNvSpPr/>
          <p:nvPr/>
        </p:nvSpPr>
        <p:spPr>
          <a:xfrm>
            <a:off x="237744"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100% (전 도시, 2025)</a:t>
            </a:r>
            <a:endParaRPr lang="en-US" sz="1800" dirty="0"/>
          </a:p>
        </p:txBody>
      </p:sp>
      <p:sp>
        <p:nvSpPr>
          <p:cNvPr id="50" name="Text 48"/>
          <p:cNvSpPr/>
          <p:nvPr/>
        </p:nvSpPr>
        <p:spPr>
          <a:xfrm>
            <a:off x="237744"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1" name="Shape 49"/>
          <p:cNvSpPr/>
          <p:nvPr/>
        </p:nvSpPr>
        <p:spPr>
          <a:xfrm>
            <a:off x="1808683" y="2560320"/>
            <a:ext cx="1077163" cy="329184"/>
          </a:xfrm>
          <a:prstGeom prst="rect">
            <a:avLst/>
          </a:prstGeom>
          <a:solidFill>
            <a:srgbClr val="E2E8F0"/>
          </a:solidFill>
          <a:ln w="12700">
            <a:solidFill>
              <a:srgbClr val="E2E8F0"/>
            </a:solidFill>
            <a:prstDash val="solid"/>
          </a:ln>
        </p:spPr>
      </p:sp>
      <p:sp>
        <p:nvSpPr>
          <p:cNvPr id="52" name="Text 50"/>
          <p:cNvSpPr/>
          <p:nvPr/>
        </p:nvSpPr>
        <p:spPr>
          <a:xfrm>
            <a:off x="1808683"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95% 수준 (2025)</a:t>
            </a:r>
            <a:endParaRPr lang="en-US" sz="1100" dirty="0"/>
          </a:p>
        </p:txBody>
      </p:sp>
      <p:sp>
        <p:nvSpPr>
          <p:cNvPr id="53" name="Text 51"/>
          <p:cNvSpPr/>
          <p:nvPr/>
        </p:nvSpPr>
        <p:spPr>
          <a:xfrm>
            <a:off x="1808683"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54" name="Shape 52"/>
          <p:cNvSpPr/>
          <p:nvPr/>
        </p:nvSpPr>
        <p:spPr>
          <a:xfrm>
            <a:off x="3072384" y="2359152"/>
            <a:ext cx="2834640" cy="822960"/>
          </a:xfrm>
          <a:prstGeom prst="rect">
            <a:avLst/>
          </a:prstGeom>
          <a:solidFill>
            <a:srgbClr val="F8F9FA"/>
          </a:solidFill>
          <a:ln w="12700">
            <a:solidFill>
              <a:srgbClr val="E2E8F0"/>
            </a:solidFill>
            <a:prstDash val="solid"/>
          </a:ln>
        </p:spPr>
      </p:sp>
      <p:sp>
        <p:nvSpPr>
          <p:cNvPr id="55" name="Text 53"/>
          <p:cNvSpPr/>
          <p:nvPr/>
        </p:nvSpPr>
        <p:spPr>
          <a:xfrm>
            <a:off x="3145536"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56" name="Text 54"/>
          <p:cNvSpPr/>
          <p:nvPr/>
        </p:nvSpPr>
        <p:spPr>
          <a:xfrm>
            <a:off x="3145536"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150 L/일 (평균 목표) / 120 L/일(2502호 명시치)</a:t>
            </a:r>
            <a:endParaRPr lang="en-US" sz="1800" dirty="0"/>
          </a:p>
        </p:txBody>
      </p:sp>
      <p:sp>
        <p:nvSpPr>
          <p:cNvPr id="57" name="Text 55"/>
          <p:cNvSpPr/>
          <p:nvPr/>
        </p:nvSpPr>
        <p:spPr>
          <a:xfrm>
            <a:off x="3145536"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58" name="Shape 56"/>
          <p:cNvSpPr/>
          <p:nvPr/>
        </p:nvSpPr>
        <p:spPr>
          <a:xfrm>
            <a:off x="4716475" y="2560320"/>
            <a:ext cx="1077163" cy="329184"/>
          </a:xfrm>
          <a:prstGeom prst="rect">
            <a:avLst/>
          </a:prstGeom>
          <a:solidFill>
            <a:srgbClr val="E2E8F0"/>
          </a:solidFill>
          <a:ln w="12700">
            <a:solidFill>
              <a:srgbClr val="E2E8F0"/>
            </a:solidFill>
            <a:prstDash val="solid"/>
          </a:ln>
        </p:spPr>
      </p:sp>
      <p:sp>
        <p:nvSpPr>
          <p:cNvPr id="59" name="Text 57"/>
          <p:cNvSpPr/>
          <p:nvPr/>
        </p:nvSpPr>
        <p:spPr>
          <a:xfrm>
            <a:off x="4716475"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120 L/일 (2025 목표)</a:t>
            </a:r>
            <a:endParaRPr lang="en-US" sz="1100" dirty="0"/>
          </a:p>
        </p:txBody>
      </p:sp>
      <p:sp>
        <p:nvSpPr>
          <p:cNvPr id="60" name="Text 58"/>
          <p:cNvSpPr/>
          <p:nvPr/>
        </p:nvSpPr>
        <p:spPr>
          <a:xfrm>
            <a:off x="4716475"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1" name="Shape 59"/>
          <p:cNvSpPr/>
          <p:nvPr/>
        </p:nvSpPr>
        <p:spPr>
          <a:xfrm>
            <a:off x="5980176" y="2359152"/>
            <a:ext cx="2834640" cy="822960"/>
          </a:xfrm>
          <a:prstGeom prst="rect">
            <a:avLst/>
          </a:prstGeom>
          <a:solidFill>
            <a:srgbClr val="F8F9FA"/>
          </a:solidFill>
          <a:ln w="12700">
            <a:solidFill>
              <a:srgbClr val="E2E8F0"/>
            </a:solidFill>
            <a:prstDash val="solid"/>
          </a:ln>
        </p:spPr>
      </p:sp>
      <p:sp>
        <p:nvSpPr>
          <p:cNvPr id="62" name="Text 60"/>
          <p:cNvSpPr/>
          <p:nvPr/>
        </p:nvSpPr>
        <p:spPr>
          <a:xfrm>
            <a:off x="6053328" y="2404872"/>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63" name="Text 61"/>
          <p:cNvSpPr/>
          <p:nvPr/>
        </p:nvSpPr>
        <p:spPr>
          <a:xfrm>
            <a:off x="6053328" y="2560320"/>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15% 이하 (2급 이상 도시, 2025)</a:t>
            </a:r>
            <a:endParaRPr lang="en-US" sz="1800" dirty="0"/>
          </a:p>
        </p:txBody>
      </p:sp>
      <p:sp>
        <p:nvSpPr>
          <p:cNvPr id="64" name="Text 62"/>
          <p:cNvSpPr/>
          <p:nvPr/>
        </p:nvSpPr>
        <p:spPr>
          <a:xfrm>
            <a:off x="6053328" y="2889504"/>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65" name="Shape 63"/>
          <p:cNvSpPr/>
          <p:nvPr/>
        </p:nvSpPr>
        <p:spPr>
          <a:xfrm>
            <a:off x="7624267" y="2560320"/>
            <a:ext cx="1077163" cy="329184"/>
          </a:xfrm>
          <a:prstGeom prst="rect">
            <a:avLst/>
          </a:prstGeom>
          <a:solidFill>
            <a:srgbClr val="E2E8F0"/>
          </a:solidFill>
          <a:ln w="12700">
            <a:solidFill>
              <a:srgbClr val="E2E8F0"/>
            </a:solidFill>
            <a:prstDash val="solid"/>
          </a:ln>
        </p:spPr>
      </p:sp>
      <p:sp>
        <p:nvSpPr>
          <p:cNvPr id="66" name="Text 64"/>
          <p:cNvSpPr/>
          <p:nvPr/>
        </p:nvSpPr>
        <p:spPr>
          <a:xfrm>
            <a:off x="7624267" y="2560320"/>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 이하 (2025 목표)</a:t>
            </a:r>
            <a:endParaRPr lang="en-US" sz="1100" dirty="0"/>
          </a:p>
        </p:txBody>
      </p:sp>
      <p:sp>
        <p:nvSpPr>
          <p:cNvPr id="67" name="Text 65"/>
          <p:cNvSpPr/>
          <p:nvPr/>
        </p:nvSpPr>
        <p:spPr>
          <a:xfrm>
            <a:off x="7624267" y="2889504"/>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68" name="Shape 66"/>
          <p:cNvSpPr/>
          <p:nvPr/>
        </p:nvSpPr>
        <p:spPr>
          <a:xfrm>
            <a:off x="164592" y="3255264"/>
            <a:ext cx="2834640" cy="822960"/>
          </a:xfrm>
          <a:prstGeom prst="rect">
            <a:avLst/>
          </a:prstGeom>
          <a:solidFill>
            <a:srgbClr val="F8F9FA"/>
          </a:solidFill>
          <a:ln w="12700">
            <a:solidFill>
              <a:srgbClr val="E2E8F0"/>
            </a:solidFill>
            <a:prstDash val="solid"/>
          </a:ln>
        </p:spPr>
      </p:sp>
      <p:sp>
        <p:nvSpPr>
          <p:cNvPr id="69" name="Text 67"/>
          <p:cNvSpPr/>
          <p:nvPr/>
        </p:nvSpPr>
        <p:spPr>
          <a:xfrm>
            <a:off x="237744"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70" name="Text 68"/>
          <p:cNvSpPr/>
          <p:nvPr/>
        </p:nvSpPr>
        <p:spPr>
          <a:xfrm>
            <a:off x="237744"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85% (2030)</a:t>
            </a:r>
            <a:endParaRPr lang="en-US" sz="1800" dirty="0"/>
          </a:p>
        </p:txBody>
      </p:sp>
      <p:sp>
        <p:nvSpPr>
          <p:cNvPr id="71" name="Text 69"/>
          <p:cNvSpPr/>
          <p:nvPr/>
        </p:nvSpPr>
        <p:spPr>
          <a:xfrm>
            <a:off x="237744"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2" name="Shape 70"/>
          <p:cNvSpPr/>
          <p:nvPr/>
        </p:nvSpPr>
        <p:spPr>
          <a:xfrm>
            <a:off x="1808683" y="3456432"/>
            <a:ext cx="1077163" cy="329184"/>
          </a:xfrm>
          <a:prstGeom prst="rect">
            <a:avLst/>
          </a:prstGeom>
          <a:solidFill>
            <a:srgbClr val="E2E8F0"/>
          </a:solidFill>
          <a:ln w="12700">
            <a:solidFill>
              <a:srgbClr val="E2E8F0"/>
            </a:solidFill>
            <a:prstDash val="solid"/>
          </a:ln>
        </p:spPr>
      </p:sp>
      <p:sp>
        <p:nvSpPr>
          <p:cNvPr id="73" name="Text 71"/>
          <p:cNvSpPr/>
          <p:nvPr/>
        </p:nvSpPr>
        <p:spPr>
          <a:xfrm>
            <a:off x="1808683"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목표 50%</a:t>
            </a:r>
            <a:endParaRPr lang="en-US" sz="1100" dirty="0"/>
          </a:p>
        </p:txBody>
      </p:sp>
      <p:sp>
        <p:nvSpPr>
          <p:cNvPr id="74" name="Text 72"/>
          <p:cNvSpPr/>
          <p:nvPr/>
        </p:nvSpPr>
        <p:spPr>
          <a:xfrm>
            <a:off x="1808683"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75" name="Shape 73"/>
          <p:cNvSpPr/>
          <p:nvPr/>
        </p:nvSpPr>
        <p:spPr>
          <a:xfrm>
            <a:off x="3072384" y="3255264"/>
            <a:ext cx="2834640" cy="822960"/>
          </a:xfrm>
          <a:prstGeom prst="rect">
            <a:avLst/>
          </a:prstGeom>
          <a:solidFill>
            <a:srgbClr val="F8F9FA"/>
          </a:solidFill>
          <a:ln w="12700">
            <a:solidFill>
              <a:srgbClr val="E2E8F0"/>
            </a:solidFill>
            <a:prstDash val="solid"/>
          </a:ln>
        </p:spPr>
      </p:sp>
      <p:sp>
        <p:nvSpPr>
          <p:cNvPr id="76" name="Text 74"/>
          <p:cNvSpPr/>
          <p:nvPr/>
        </p:nvSpPr>
        <p:spPr>
          <a:xfrm>
            <a:off x="3145536"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77" name="Text 75"/>
          <p:cNvSpPr/>
          <p:nvPr/>
        </p:nvSpPr>
        <p:spPr>
          <a:xfrm>
            <a:off x="3145536"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2,900,000 m³/일</a:t>
            </a:r>
            <a:endParaRPr lang="en-US" sz="1800" dirty="0"/>
          </a:p>
        </p:txBody>
      </p:sp>
      <p:sp>
        <p:nvSpPr>
          <p:cNvPr id="78" name="Text 76"/>
          <p:cNvSpPr/>
          <p:nvPr/>
        </p:nvSpPr>
        <p:spPr>
          <a:xfrm>
            <a:off x="3145536"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79" name="Shape 77"/>
          <p:cNvSpPr/>
          <p:nvPr/>
        </p:nvSpPr>
        <p:spPr>
          <a:xfrm>
            <a:off x="4716475" y="3456432"/>
            <a:ext cx="1077163" cy="329184"/>
          </a:xfrm>
          <a:prstGeom prst="rect">
            <a:avLst/>
          </a:prstGeom>
          <a:solidFill>
            <a:srgbClr val="E2E8F0"/>
          </a:solidFill>
          <a:ln w="12700">
            <a:solidFill>
              <a:srgbClr val="E2E8F0"/>
            </a:solidFill>
            <a:prstDash val="solid"/>
          </a:ln>
        </p:spPr>
      </p:sp>
      <p:sp>
        <p:nvSpPr>
          <p:cNvPr id="80" name="Text 78"/>
          <p:cNvSpPr/>
          <p:nvPr/>
        </p:nvSpPr>
        <p:spPr>
          <a:xfrm>
            <a:off x="4716475"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약 800,000 m³/일 기존 운영 + 옌짜 270,000 m³/일 가동</a:t>
            </a:r>
            <a:endParaRPr lang="en-US" sz="1100" dirty="0"/>
          </a:p>
        </p:txBody>
      </p:sp>
      <p:sp>
        <p:nvSpPr>
          <p:cNvPr id="81" name="Text 79"/>
          <p:cNvSpPr/>
          <p:nvPr/>
        </p:nvSpPr>
        <p:spPr>
          <a:xfrm>
            <a:off x="4716475"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
        <p:nvSpPr>
          <p:cNvPr id="82" name="Shape 80"/>
          <p:cNvSpPr/>
          <p:nvPr/>
        </p:nvSpPr>
        <p:spPr>
          <a:xfrm>
            <a:off x="5980176" y="3255264"/>
            <a:ext cx="2834640" cy="822960"/>
          </a:xfrm>
          <a:prstGeom prst="rect">
            <a:avLst/>
          </a:prstGeom>
          <a:solidFill>
            <a:srgbClr val="F8F9FA"/>
          </a:solidFill>
          <a:ln w="12700">
            <a:solidFill>
              <a:srgbClr val="E2E8F0"/>
            </a:solidFill>
            <a:prstDash val="solid"/>
          </a:ln>
        </p:spPr>
      </p:sp>
      <p:sp>
        <p:nvSpPr>
          <p:cNvPr id="83" name="Text 81"/>
          <p:cNvSpPr/>
          <p:nvPr/>
        </p:nvSpPr>
        <p:spPr>
          <a:xfrm>
            <a:off x="6053328" y="3300984"/>
            <a:ext cx="2688336" cy="18288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84" name="Text 82"/>
          <p:cNvSpPr/>
          <p:nvPr/>
        </p:nvSpPr>
        <p:spPr>
          <a:xfrm>
            <a:off x="6053328" y="3456432"/>
            <a:ext cx="1559052" cy="329184"/>
          </a:xfrm>
          <a:prstGeom prst="rect">
            <a:avLst/>
          </a:prstGeom>
          <a:noFill/>
          <a:ln/>
        </p:spPr>
        <p:txBody>
          <a:bodyPr wrap="square" rtlCol="0" anchor="ctr"/>
          <a:lstStyle/>
          <a:p>
            <a:pPr indent="0" marL="0">
              <a:buNone/>
            </a:pPr>
            <a:r>
              <a:rPr lang="en-US" sz="1800" b="1" dirty="0">
                <a:solidFill>
                  <a:srgbClr val="0D9488"/>
                </a:solidFill>
                <a:latin typeface="Arial" pitchFamily="34" charset="0"/>
                <a:ea typeface="Arial" pitchFamily="34" charset="-122"/>
                <a:cs typeface="Arial" pitchFamily="34" charset="-120"/>
              </a:rPr>
              <a:t>70~80% (2030)</a:t>
            </a:r>
            <a:endParaRPr lang="en-US" sz="1800" dirty="0"/>
          </a:p>
        </p:txBody>
      </p:sp>
      <p:sp>
        <p:nvSpPr>
          <p:cNvPr id="85" name="Text 83"/>
          <p:cNvSpPr/>
          <p:nvPr/>
        </p:nvSpPr>
        <p:spPr>
          <a:xfrm>
            <a:off x="6053328" y="3785616"/>
            <a:ext cx="1417320" cy="182880"/>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목표</a:t>
            </a:r>
            <a:endParaRPr lang="en-US" sz="800" dirty="0"/>
          </a:p>
        </p:txBody>
      </p:sp>
      <p:sp>
        <p:nvSpPr>
          <p:cNvPr id="86" name="Shape 84"/>
          <p:cNvSpPr/>
          <p:nvPr/>
        </p:nvSpPr>
        <p:spPr>
          <a:xfrm>
            <a:off x="7624267" y="3456432"/>
            <a:ext cx="1077163" cy="329184"/>
          </a:xfrm>
          <a:prstGeom prst="rect">
            <a:avLst/>
          </a:prstGeom>
          <a:solidFill>
            <a:srgbClr val="E2E8F0"/>
          </a:solidFill>
          <a:ln w="12700">
            <a:solidFill>
              <a:srgbClr val="E2E8F0"/>
            </a:solidFill>
            <a:prstDash val="solid"/>
          </a:ln>
        </p:spPr>
      </p:sp>
      <p:sp>
        <p:nvSpPr>
          <p:cNvPr id="87" name="Text 85"/>
          <p:cNvSpPr/>
          <p:nvPr/>
        </p:nvSpPr>
        <p:spPr>
          <a:xfrm>
            <a:off x="7624267" y="3456432"/>
            <a:ext cx="1077163" cy="329184"/>
          </a:xfrm>
          <a:prstGeom prst="rect">
            <a:avLst/>
          </a:prstGeom>
          <a:noFill/>
          <a:ln/>
        </p:spPr>
        <p:txBody>
          <a:bodyPr wrap="square" rtlCol="0" anchor="ctr"/>
          <a:lstStyle/>
          <a:p>
            <a:pPr algn="ctr" indent="0" marL="0">
              <a:buNone/>
            </a:pPr>
            <a:r>
              <a:rPr lang="en-US" sz="1100" dirty="0">
                <a:solidFill>
                  <a:srgbClr val="1A1A1A"/>
                </a:solidFill>
                <a:latin typeface="Arial" pitchFamily="34" charset="0"/>
                <a:ea typeface="Arial" pitchFamily="34" charset="-122"/>
                <a:cs typeface="Arial" pitchFamily="34" charset="-120"/>
              </a:rPr>
              <a:t>2025년 기준 ~30%</a:t>
            </a:r>
            <a:endParaRPr lang="en-US" sz="1100" dirty="0"/>
          </a:p>
        </p:txBody>
      </p:sp>
      <p:sp>
        <p:nvSpPr>
          <p:cNvPr id="88" name="Text 86"/>
          <p:cNvSpPr/>
          <p:nvPr/>
        </p:nvSpPr>
        <p:spPr>
          <a:xfrm>
            <a:off x="7624267" y="3785616"/>
            <a:ext cx="1077163" cy="18288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현황</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C2340"/>
          </a:solidFill>
          <a:ln w="12700">
            <a:solidFill>
              <a:srgbClr val="0C2340"/>
            </a:solidFill>
            <a:prstDash val="solid"/>
          </a:ln>
        </p:spPr>
      </p:sp>
      <p:sp>
        <p:nvSpPr>
          <p:cNvPr id="3" name="Text 1"/>
          <p:cNvSpPr/>
          <p:nvPr/>
        </p:nvSpPr>
        <p:spPr>
          <a:xfrm>
            <a:off x="274320" y="73152"/>
            <a:ext cx="8229600" cy="36576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KPI 달성률 현황 비교 (2025년 기준)</a:t>
            </a:r>
            <a:endParaRPr lang="en-US" sz="2000" dirty="0"/>
          </a:p>
        </p:txBody>
      </p:sp>
      <p:sp>
        <p:nvSpPr>
          <p:cNvPr id="4" name="Text 2"/>
          <p:cNvSpPr/>
          <p:nvPr/>
        </p:nvSpPr>
        <p:spPr>
          <a:xfrm>
            <a:off x="182880" y="59436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폐기물 수거율</a:t>
            </a:r>
            <a:endParaRPr lang="en-US" sz="1100" dirty="0"/>
          </a:p>
        </p:txBody>
      </p:sp>
      <p:sp>
        <p:nvSpPr>
          <p:cNvPr id="5" name="Shape 3"/>
          <p:cNvSpPr/>
          <p:nvPr/>
        </p:nvSpPr>
        <p:spPr>
          <a:xfrm>
            <a:off x="2194560" y="667512"/>
            <a:ext cx="6583680" cy="237744"/>
          </a:xfrm>
          <a:prstGeom prst="rect">
            <a:avLst/>
          </a:prstGeom>
          <a:solidFill>
            <a:srgbClr val="E2E8F0"/>
          </a:solidFill>
          <a:ln w="12700">
            <a:solidFill>
              <a:srgbClr val="E2E8F0"/>
            </a:solidFill>
            <a:prstDash val="solid"/>
          </a:ln>
        </p:spPr>
      </p:sp>
      <p:sp>
        <p:nvSpPr>
          <p:cNvPr id="6" name="Shape 4"/>
          <p:cNvSpPr/>
          <p:nvPr/>
        </p:nvSpPr>
        <p:spPr>
          <a:xfrm>
            <a:off x="2194560" y="667512"/>
            <a:ext cx="6254496" cy="237744"/>
          </a:xfrm>
          <a:prstGeom prst="rect">
            <a:avLst/>
          </a:prstGeom>
          <a:solidFill>
            <a:srgbClr val="059669"/>
          </a:solidFill>
          <a:ln w="12700">
            <a:solidFill>
              <a:srgbClr val="059669"/>
            </a:solidFill>
            <a:prstDash val="solid"/>
          </a:ln>
        </p:spPr>
      </p:sp>
      <p:sp>
        <p:nvSpPr>
          <p:cNvPr id="7" name="Text 5"/>
          <p:cNvSpPr/>
          <p:nvPr/>
        </p:nvSpPr>
        <p:spPr>
          <a:xfrm>
            <a:off x="8869680" y="59436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8" name="Text 6"/>
          <p:cNvSpPr/>
          <p:nvPr/>
        </p:nvSpPr>
        <p:spPr>
          <a:xfrm>
            <a:off x="182880" y="106984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WtE 소각 비율</a:t>
            </a:r>
            <a:endParaRPr lang="en-US" sz="1100" dirty="0"/>
          </a:p>
        </p:txBody>
      </p:sp>
      <p:sp>
        <p:nvSpPr>
          <p:cNvPr id="9" name="Shape 7"/>
          <p:cNvSpPr/>
          <p:nvPr/>
        </p:nvSpPr>
        <p:spPr>
          <a:xfrm>
            <a:off x="2194560" y="1143000"/>
            <a:ext cx="6583680" cy="237744"/>
          </a:xfrm>
          <a:prstGeom prst="rect">
            <a:avLst/>
          </a:prstGeom>
          <a:solidFill>
            <a:srgbClr val="E2E8F0"/>
          </a:solidFill>
          <a:ln w="12700">
            <a:solidFill>
              <a:srgbClr val="E2E8F0"/>
            </a:solidFill>
            <a:prstDash val="solid"/>
          </a:ln>
        </p:spPr>
      </p:sp>
      <p:sp>
        <p:nvSpPr>
          <p:cNvPr id="10" name="Shape 8"/>
          <p:cNvSpPr/>
          <p:nvPr/>
        </p:nvSpPr>
        <p:spPr>
          <a:xfrm>
            <a:off x="2194560" y="1143000"/>
            <a:ext cx="3950208" cy="237744"/>
          </a:xfrm>
          <a:prstGeom prst="rect">
            <a:avLst/>
          </a:prstGeom>
          <a:solidFill>
            <a:srgbClr val="0D9488"/>
          </a:solidFill>
          <a:ln w="12700">
            <a:solidFill>
              <a:srgbClr val="0D9488"/>
            </a:solidFill>
            <a:prstDash val="solid"/>
          </a:ln>
        </p:spPr>
      </p:sp>
      <p:sp>
        <p:nvSpPr>
          <p:cNvPr id="11" name="Text 9"/>
          <p:cNvSpPr/>
          <p:nvPr/>
        </p:nvSpPr>
        <p:spPr>
          <a:xfrm>
            <a:off x="8869680" y="106984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60% / 100%</a:t>
            </a:r>
            <a:endParaRPr lang="en-US" sz="1000" dirty="0"/>
          </a:p>
        </p:txBody>
      </p:sp>
      <p:sp>
        <p:nvSpPr>
          <p:cNvPr id="12" name="Text 10"/>
          <p:cNvSpPr/>
          <p:nvPr/>
        </p:nvSpPr>
        <p:spPr>
          <a:xfrm>
            <a:off x="182880" y="154533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매립 의존율</a:t>
            </a:r>
            <a:endParaRPr lang="en-US" sz="1100" dirty="0"/>
          </a:p>
        </p:txBody>
      </p:sp>
      <p:sp>
        <p:nvSpPr>
          <p:cNvPr id="13" name="Shape 11"/>
          <p:cNvSpPr/>
          <p:nvPr/>
        </p:nvSpPr>
        <p:spPr>
          <a:xfrm>
            <a:off x="2194560" y="1618488"/>
            <a:ext cx="6583680" cy="237744"/>
          </a:xfrm>
          <a:prstGeom prst="rect">
            <a:avLst/>
          </a:prstGeom>
          <a:solidFill>
            <a:srgbClr val="E2E8F0"/>
          </a:solidFill>
          <a:ln w="12700">
            <a:solidFill>
              <a:srgbClr val="E2E8F0"/>
            </a:solidFill>
            <a:prstDash val="solid"/>
          </a:ln>
        </p:spPr>
      </p:sp>
      <p:sp>
        <p:nvSpPr>
          <p:cNvPr id="14" name="Text 12"/>
          <p:cNvSpPr/>
          <p:nvPr/>
        </p:nvSpPr>
        <p:spPr>
          <a:xfrm>
            <a:off x="8869680" y="154533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0% / 100%</a:t>
            </a:r>
            <a:endParaRPr lang="en-US" sz="1000" dirty="0"/>
          </a:p>
        </p:txBody>
      </p:sp>
      <p:sp>
        <p:nvSpPr>
          <p:cNvPr id="15" name="Text 13"/>
          <p:cNvSpPr/>
          <p:nvPr/>
        </p:nvSpPr>
        <p:spPr>
          <a:xfrm>
            <a:off x="182880" y="2020824"/>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지하수 관리 대수층</a:t>
            </a:r>
            <a:endParaRPr lang="en-US" sz="1100" dirty="0"/>
          </a:p>
        </p:txBody>
      </p:sp>
      <p:sp>
        <p:nvSpPr>
          <p:cNvPr id="16" name="Shape 14"/>
          <p:cNvSpPr/>
          <p:nvPr/>
        </p:nvSpPr>
        <p:spPr>
          <a:xfrm>
            <a:off x="2194560" y="2093976"/>
            <a:ext cx="6583680" cy="237744"/>
          </a:xfrm>
          <a:prstGeom prst="rect">
            <a:avLst/>
          </a:prstGeom>
          <a:solidFill>
            <a:srgbClr val="E2E8F0"/>
          </a:solidFill>
          <a:ln w="12700">
            <a:solidFill>
              <a:srgbClr val="E2E8F0"/>
            </a:solidFill>
            <a:prstDash val="solid"/>
          </a:ln>
        </p:spPr>
      </p:sp>
      <p:sp>
        <p:nvSpPr>
          <p:cNvPr id="17" name="Shape 15"/>
          <p:cNvSpPr/>
          <p:nvPr/>
        </p:nvSpPr>
        <p:spPr>
          <a:xfrm>
            <a:off x="2194560" y="2093976"/>
            <a:ext cx="2896819" cy="237744"/>
          </a:xfrm>
          <a:prstGeom prst="rect">
            <a:avLst/>
          </a:prstGeom>
          <a:solidFill>
            <a:srgbClr val="D4A017"/>
          </a:solidFill>
          <a:ln w="12700">
            <a:solidFill>
              <a:srgbClr val="D4A017"/>
            </a:solidFill>
            <a:prstDash val="solid"/>
          </a:ln>
        </p:spPr>
      </p:sp>
      <p:sp>
        <p:nvSpPr>
          <p:cNvPr id="18" name="Text 16"/>
          <p:cNvSpPr/>
          <p:nvPr/>
        </p:nvSpPr>
        <p:spPr>
          <a:xfrm>
            <a:off x="8869680" y="2020824"/>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44% / 100%</a:t>
            </a:r>
            <a:endParaRPr lang="en-US" sz="1000" dirty="0"/>
          </a:p>
        </p:txBody>
      </p:sp>
      <p:sp>
        <p:nvSpPr>
          <p:cNvPr id="19" name="Text 17"/>
          <p:cNvSpPr/>
          <p:nvPr/>
        </p:nvSpPr>
        <p:spPr>
          <a:xfrm>
            <a:off x="182880" y="2496312"/>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중복 댐·저수지 안전진단</a:t>
            </a:r>
            <a:endParaRPr lang="en-US" sz="1100" dirty="0"/>
          </a:p>
        </p:txBody>
      </p:sp>
      <p:sp>
        <p:nvSpPr>
          <p:cNvPr id="20" name="Shape 18"/>
          <p:cNvSpPr/>
          <p:nvPr/>
        </p:nvSpPr>
        <p:spPr>
          <a:xfrm>
            <a:off x="2194560" y="2569464"/>
            <a:ext cx="6583680" cy="237744"/>
          </a:xfrm>
          <a:prstGeom prst="rect">
            <a:avLst/>
          </a:prstGeom>
          <a:solidFill>
            <a:srgbClr val="E2E8F0"/>
          </a:solidFill>
          <a:ln w="12700">
            <a:solidFill>
              <a:srgbClr val="E2E8F0"/>
            </a:solidFill>
            <a:prstDash val="solid"/>
          </a:ln>
        </p:spPr>
      </p:sp>
      <p:sp>
        <p:nvSpPr>
          <p:cNvPr id="21" name="Shape 19"/>
          <p:cNvSpPr/>
          <p:nvPr/>
        </p:nvSpPr>
        <p:spPr>
          <a:xfrm>
            <a:off x="2194560" y="2569464"/>
            <a:ext cx="4279392" cy="237744"/>
          </a:xfrm>
          <a:prstGeom prst="rect">
            <a:avLst/>
          </a:prstGeom>
          <a:solidFill>
            <a:srgbClr val="0D9488"/>
          </a:solidFill>
          <a:ln w="12700">
            <a:solidFill>
              <a:srgbClr val="0D9488"/>
            </a:solidFill>
            <a:prstDash val="solid"/>
          </a:ln>
        </p:spPr>
      </p:sp>
      <p:sp>
        <p:nvSpPr>
          <p:cNvPr id="22" name="Text 20"/>
          <p:cNvSpPr/>
          <p:nvPr/>
        </p:nvSpPr>
        <p:spPr>
          <a:xfrm>
            <a:off x="8869680" y="2496312"/>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65% / 100%</a:t>
            </a:r>
            <a:endParaRPr lang="en-US" sz="1000" dirty="0"/>
          </a:p>
        </p:txBody>
      </p:sp>
      <p:sp>
        <p:nvSpPr>
          <p:cNvPr id="23" name="Text 21"/>
          <p:cNvSpPr/>
          <p:nvPr/>
        </p:nvSpPr>
        <p:spPr>
          <a:xfrm>
            <a:off x="182880" y="2971800"/>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메콩델타 건기 염수침투 거리 (4‰ 염분경계선)</a:t>
            </a:r>
            <a:endParaRPr lang="en-US" sz="1100" dirty="0"/>
          </a:p>
        </p:txBody>
      </p:sp>
      <p:sp>
        <p:nvSpPr>
          <p:cNvPr id="24" name="Shape 22"/>
          <p:cNvSpPr/>
          <p:nvPr/>
        </p:nvSpPr>
        <p:spPr>
          <a:xfrm>
            <a:off x="2194560" y="3044952"/>
            <a:ext cx="6583680" cy="237744"/>
          </a:xfrm>
          <a:prstGeom prst="rect">
            <a:avLst/>
          </a:prstGeom>
          <a:solidFill>
            <a:srgbClr val="E2E8F0"/>
          </a:solidFill>
          <a:ln w="12700">
            <a:solidFill>
              <a:srgbClr val="E2E8F0"/>
            </a:solidFill>
            <a:prstDash val="solid"/>
          </a:ln>
        </p:spPr>
      </p:sp>
      <p:sp>
        <p:nvSpPr>
          <p:cNvPr id="25" name="Shape 23"/>
          <p:cNvSpPr/>
          <p:nvPr/>
        </p:nvSpPr>
        <p:spPr>
          <a:xfrm>
            <a:off x="2194560" y="3044952"/>
            <a:ext cx="6583680" cy="237744"/>
          </a:xfrm>
          <a:prstGeom prst="rect">
            <a:avLst/>
          </a:prstGeom>
          <a:solidFill>
            <a:srgbClr val="059669"/>
          </a:solidFill>
          <a:ln w="12700">
            <a:solidFill>
              <a:srgbClr val="059669"/>
            </a:solidFill>
            <a:prstDash val="solid"/>
          </a:ln>
        </p:spPr>
      </p:sp>
      <p:sp>
        <p:nvSpPr>
          <p:cNvPr id="26" name="Text 24"/>
          <p:cNvSpPr/>
          <p:nvPr/>
        </p:nvSpPr>
        <p:spPr>
          <a:xfrm>
            <a:off x="8869680" y="2971800"/>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100% / 100%</a:t>
            </a:r>
            <a:endParaRPr lang="en-US" sz="1000" dirty="0"/>
          </a:p>
        </p:txBody>
      </p:sp>
      <p:sp>
        <p:nvSpPr>
          <p:cNvPr id="27" name="Text 25"/>
          <p:cNvSpPr/>
          <p:nvPr/>
        </p:nvSpPr>
        <p:spPr>
          <a:xfrm>
            <a:off x="182880" y="3447288"/>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도시 안전 상수 보급률</a:t>
            </a:r>
            <a:endParaRPr lang="en-US" sz="1100" dirty="0"/>
          </a:p>
        </p:txBody>
      </p:sp>
      <p:sp>
        <p:nvSpPr>
          <p:cNvPr id="28" name="Shape 26"/>
          <p:cNvSpPr/>
          <p:nvPr/>
        </p:nvSpPr>
        <p:spPr>
          <a:xfrm>
            <a:off x="2194560" y="3520440"/>
            <a:ext cx="6583680" cy="237744"/>
          </a:xfrm>
          <a:prstGeom prst="rect">
            <a:avLst/>
          </a:prstGeom>
          <a:solidFill>
            <a:srgbClr val="E2E8F0"/>
          </a:solidFill>
          <a:ln w="12700">
            <a:solidFill>
              <a:srgbClr val="E2E8F0"/>
            </a:solidFill>
            <a:prstDash val="solid"/>
          </a:ln>
        </p:spPr>
      </p:sp>
      <p:sp>
        <p:nvSpPr>
          <p:cNvPr id="29" name="Shape 27"/>
          <p:cNvSpPr/>
          <p:nvPr/>
        </p:nvSpPr>
        <p:spPr>
          <a:xfrm>
            <a:off x="2194560" y="3520440"/>
            <a:ext cx="6254496" cy="237744"/>
          </a:xfrm>
          <a:prstGeom prst="rect">
            <a:avLst/>
          </a:prstGeom>
          <a:solidFill>
            <a:srgbClr val="059669"/>
          </a:solidFill>
          <a:ln w="12700">
            <a:solidFill>
              <a:srgbClr val="059669"/>
            </a:solidFill>
            <a:prstDash val="solid"/>
          </a:ln>
        </p:spPr>
      </p:sp>
      <p:sp>
        <p:nvSpPr>
          <p:cNvPr id="30" name="Text 28"/>
          <p:cNvSpPr/>
          <p:nvPr/>
        </p:nvSpPr>
        <p:spPr>
          <a:xfrm>
            <a:off x="8869680" y="3447288"/>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95% / 100%</a:t>
            </a:r>
            <a:endParaRPr lang="en-US" sz="1000" dirty="0"/>
          </a:p>
        </p:txBody>
      </p:sp>
      <p:sp>
        <p:nvSpPr>
          <p:cNvPr id="31" name="Text 29"/>
          <p:cNvSpPr/>
          <p:nvPr/>
        </p:nvSpPr>
        <p:spPr>
          <a:xfrm>
            <a:off x="182880" y="3922776"/>
            <a:ext cx="2011680" cy="384048"/>
          </a:xfrm>
          <a:prstGeom prst="rect">
            <a:avLst/>
          </a:prstGeom>
          <a:noFill/>
          <a:ln/>
        </p:spPr>
        <p:txBody>
          <a:bodyPr wrap="square" rtlCol="0" anchor="ctr"/>
          <a:lstStyle/>
          <a:p>
            <a:pPr indent="0" marL="0">
              <a:buNone/>
            </a:pPr>
            <a:r>
              <a:rPr lang="en-US" sz="1100" dirty="0">
                <a:solidFill>
                  <a:srgbClr val="1A1A1A"/>
                </a:solidFill>
                <a:latin typeface="Arial" pitchFamily="34" charset="0"/>
                <a:ea typeface="Arial" pitchFamily="34" charset="-122"/>
                <a:cs typeface="Arial" pitchFamily="34" charset="-120"/>
              </a:rPr>
              <a:t>1인당 공급량</a:t>
            </a:r>
            <a:endParaRPr lang="en-US" sz="1100" dirty="0"/>
          </a:p>
        </p:txBody>
      </p:sp>
      <p:sp>
        <p:nvSpPr>
          <p:cNvPr id="32" name="Shape 30"/>
          <p:cNvSpPr/>
          <p:nvPr/>
        </p:nvSpPr>
        <p:spPr>
          <a:xfrm>
            <a:off x="2194560" y="3995928"/>
            <a:ext cx="6583680" cy="237744"/>
          </a:xfrm>
          <a:prstGeom prst="rect">
            <a:avLst/>
          </a:prstGeom>
          <a:solidFill>
            <a:srgbClr val="E2E8F0"/>
          </a:solidFill>
          <a:ln w="12700">
            <a:solidFill>
              <a:srgbClr val="E2E8F0"/>
            </a:solidFill>
            <a:prstDash val="solid"/>
          </a:ln>
        </p:spPr>
      </p:sp>
      <p:sp>
        <p:nvSpPr>
          <p:cNvPr id="33" name="Shape 31"/>
          <p:cNvSpPr/>
          <p:nvPr/>
        </p:nvSpPr>
        <p:spPr>
          <a:xfrm>
            <a:off x="2194560" y="3995928"/>
            <a:ext cx="5266944" cy="237744"/>
          </a:xfrm>
          <a:prstGeom prst="rect">
            <a:avLst/>
          </a:prstGeom>
          <a:solidFill>
            <a:srgbClr val="059669"/>
          </a:solidFill>
          <a:ln w="12700">
            <a:solidFill>
              <a:srgbClr val="059669"/>
            </a:solidFill>
            <a:prstDash val="solid"/>
          </a:ln>
        </p:spPr>
      </p:sp>
      <p:sp>
        <p:nvSpPr>
          <p:cNvPr id="34" name="Text 32"/>
          <p:cNvSpPr/>
          <p:nvPr/>
        </p:nvSpPr>
        <p:spPr>
          <a:xfrm>
            <a:off x="8869680" y="3922776"/>
            <a:ext cx="1371600" cy="384048"/>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80% / 100%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59669"/>
          </a:solidFill>
          <a:ln w="12700">
            <a:solidFill>
              <a:srgbClr val="059669"/>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환경 인프라</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059669"/>
                </a:solidFill>
                <a:latin typeface="Arial" pitchFamily="34" charset="0"/>
                <a:ea typeface="Arial" pitchFamily="34" charset="-122"/>
                <a:cs typeface="Arial" pitchFamily="34" charset="-120"/>
              </a:rPr>
              <a:t>Environment Infrastructure</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059669"/>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VN-SWM-NATIONAL-2030</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전국 고형폐기물 통합관리 국가전략 2025/2050</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059669"/>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VN-WAT-RESOURCES</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수자원법 2023 + 국가 수자원 전략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059669"/>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VN-WAT-URBAN</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상수도 개발전략 2030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059669"/>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VN-WW-2030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폐수처리 인프라 국가 마스터플랜 2021~2030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059669"/>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VN-ENV-IND-1894</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환경산업 개발프로그램 (Decision 1894)</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059669"/>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VN-ENV-NATURA</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자연환경 보전 전략 2030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VN-SWM-NATIONAL-2030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전국 고형폐기물 통합관리 국가전략 2025/2050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491/QD-TTg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고형폐기물 관리 전략(Decision 491/QD-TTg, 2018.5.7, 2009년 결정 2149/QD-TTg 대체) [확인됨]은 2030년까지 WtE(폐기물 에너지화) 비율을 50%로 높이고 매립 의존도를 획기적으로 낮추는 것이 핵심이다. 하노이 속선(Soc Son) WtE 발전소를 둘러싼 '2022년 가동설'과 '2025.10 준공설'은 단계별 건설 시점 차이로 확인되었으며, 1호기(15MW) 가동을 시작으로 2025.10.13 하노이시 주관으로 전체 시설(총 90MW, 5,000톤/...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폐기물 수거율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(2025 목표 수준)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WtE 소각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50%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30% 목표 (2025), 속선(90MW, 5,000톤/일 전체가동 확인)·남선 WtE 가동으로 상승 중</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매립 의존율</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30% 이하</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속선·다프억 WtE 가동으로 현저히 감소 중</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속선 (Soc Son) WtE</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(속선현) | 총 90MW (1호기15MW+2호기30MW+3호기45MW), 5,000톤/일</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다프억 (Da Phuoc)</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10,000 톤/일</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남선 (Nam Son) WtE</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4,000 톤/일</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빈즈엉 처리장</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빈즈엉 | 1,500 톤/일</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푸손 (Phu Son)</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트어티엔후에 | 600 톤/일</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타일라이 (Thoi Lai)</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껀터 | 400 톤/일</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박닌 WtE (VSIP)</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 | 1,000 톤/일</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+ 6개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Solid Waste  |  환경 인프라 (Environment)  |  Decision 491/QD-TTg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VN-SWM-NATIONAL-2030 — 프로젝트 전체 목록 (14개)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속선 (Soc Son) WtE</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(속선현)</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총 90MW (1호기15MW+2호기30MW+3호기45MW), 5,000톤/일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운영사 티엔이하노이. 1호기 2022.7 최초 전력망연계, 202…</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다프억 (Da Phuoc)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10,000 톤/일</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위생 매립 및 WtE 전환 중</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남선 (Nam Son) WtE</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4,000 톤/일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2025년 완공, 대규모 소각</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 처리장</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빈즈엉</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1,500 톤/일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재활용 및 WtE 병행</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푸손 (Phu Son)</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트어티엔후에</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600 톤/일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2025.11 가동, 도시폐기물 80% 처리</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타일라이 (Thoi Lai)</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껀터</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400 톤/일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2024년 준공, 메콩델타 핵심 WtE</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 WtE (VSIP)</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1,000 톤/일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2028년 에너지 회수 최적화 목표</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쿠찌 (Cu Chi) WtE</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2,000 톤/일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WtE 및 퇴비화 복합 공정</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푸꾸옥 (Phu Quoc)</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끼엔장</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500 톤/일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도서 지역 특화 소각 및 재활용</a:t>
            </a:r>
            <a:endParaRPr lang="en-US" sz="900" dirty="0"/>
          </a:p>
        </p:txBody>
      </p:sp>
      <p:sp>
        <p:nvSpPr>
          <p:cNvPr id="84" name="Shape 82"/>
          <p:cNvSpPr/>
          <p:nvPr/>
        </p:nvSpPr>
        <p:spPr>
          <a:xfrm>
            <a:off x="91440" y="3858768"/>
            <a:ext cx="3200400" cy="329184"/>
          </a:xfrm>
          <a:prstGeom prst="rect">
            <a:avLst/>
          </a:prstGeom>
          <a:solidFill>
            <a:srgbClr val="FFFFFF"/>
          </a:solidFill>
          <a:ln w="12700">
            <a:solidFill>
              <a:srgbClr val="E2E8F0"/>
            </a:solidFill>
            <a:prstDash val="solid"/>
          </a:ln>
        </p:spPr>
      </p:sp>
      <p:sp>
        <p:nvSpPr>
          <p:cNvPr id="85" name="Text 83"/>
          <p:cNvSpPr/>
          <p:nvPr/>
        </p:nvSpPr>
        <p:spPr>
          <a:xfrm>
            <a:off x="137160" y="385876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탄호아-롱안</a:t>
            </a:r>
            <a:endParaRPr lang="en-US" sz="900" dirty="0"/>
          </a:p>
        </p:txBody>
      </p:sp>
      <p:sp>
        <p:nvSpPr>
          <p:cNvPr id="86" name="Shape 84"/>
          <p:cNvSpPr/>
          <p:nvPr/>
        </p:nvSpPr>
        <p:spPr>
          <a:xfrm>
            <a:off x="3291840" y="3858768"/>
            <a:ext cx="1371600" cy="329184"/>
          </a:xfrm>
          <a:prstGeom prst="rect">
            <a:avLst/>
          </a:prstGeom>
          <a:solidFill>
            <a:srgbClr val="FFFFFF"/>
          </a:solidFill>
          <a:ln w="12700">
            <a:solidFill>
              <a:srgbClr val="E2E8F0"/>
            </a:solidFill>
            <a:prstDash val="solid"/>
          </a:ln>
        </p:spPr>
      </p:sp>
      <p:sp>
        <p:nvSpPr>
          <p:cNvPr id="87" name="Text 85"/>
          <p:cNvSpPr/>
          <p:nvPr/>
        </p:nvSpPr>
        <p:spPr>
          <a:xfrm>
            <a:off x="3337560" y="385876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a:t>
            </a:r>
            <a:endParaRPr lang="en-US" sz="900" dirty="0"/>
          </a:p>
        </p:txBody>
      </p:sp>
      <p:sp>
        <p:nvSpPr>
          <p:cNvPr id="88" name="Shape 86"/>
          <p:cNvSpPr/>
          <p:nvPr/>
        </p:nvSpPr>
        <p:spPr>
          <a:xfrm>
            <a:off x="4663440" y="3858768"/>
            <a:ext cx="1828800" cy="329184"/>
          </a:xfrm>
          <a:prstGeom prst="rect">
            <a:avLst/>
          </a:prstGeom>
          <a:solidFill>
            <a:srgbClr val="FFFFFF"/>
          </a:solidFill>
          <a:ln w="12700">
            <a:solidFill>
              <a:srgbClr val="E2E8F0"/>
            </a:solidFill>
            <a:prstDash val="solid"/>
          </a:ln>
        </p:spPr>
      </p:sp>
      <p:sp>
        <p:nvSpPr>
          <p:cNvPr id="89" name="Text 87"/>
          <p:cNvSpPr/>
          <p:nvPr/>
        </p:nvSpPr>
        <p:spPr>
          <a:xfrm>
            <a:off x="4709160" y="385876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300→500 톤/일</a:t>
            </a:r>
            <a:endParaRPr lang="en-US" sz="900" dirty="0"/>
          </a:p>
        </p:txBody>
      </p:sp>
      <p:sp>
        <p:nvSpPr>
          <p:cNvPr id="90" name="Shape 88"/>
          <p:cNvSpPr/>
          <p:nvPr/>
        </p:nvSpPr>
        <p:spPr>
          <a:xfrm>
            <a:off x="6492240" y="3858768"/>
            <a:ext cx="2560320" cy="329184"/>
          </a:xfrm>
          <a:prstGeom prst="rect">
            <a:avLst/>
          </a:prstGeom>
          <a:solidFill>
            <a:srgbClr val="FFFFFF"/>
          </a:solidFill>
          <a:ln w="12700">
            <a:solidFill>
              <a:srgbClr val="E2E8F0"/>
            </a:solidFill>
            <a:prstDash val="solid"/>
          </a:ln>
        </p:spPr>
      </p:sp>
      <p:sp>
        <p:nvSpPr>
          <p:cNvPr id="91" name="Text 89"/>
          <p:cNvSpPr/>
          <p:nvPr/>
        </p:nvSpPr>
        <p:spPr>
          <a:xfrm>
            <a:off x="6537960" y="385876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용량 확장 중</a:t>
            </a:r>
            <a:endParaRPr lang="en-US" sz="900" dirty="0"/>
          </a:p>
        </p:txBody>
      </p:sp>
      <p:sp>
        <p:nvSpPr>
          <p:cNvPr id="92" name="Shape 90"/>
          <p:cNvSpPr/>
          <p:nvPr/>
        </p:nvSpPr>
        <p:spPr>
          <a:xfrm>
            <a:off x="91440" y="4206240"/>
            <a:ext cx="3200400" cy="329184"/>
          </a:xfrm>
          <a:prstGeom prst="rect">
            <a:avLst/>
          </a:prstGeom>
          <a:solidFill>
            <a:srgbClr val="F8F9FA"/>
          </a:solidFill>
          <a:ln w="12700">
            <a:solidFill>
              <a:srgbClr val="E2E8F0"/>
            </a:solidFill>
            <a:prstDash val="solid"/>
          </a:ln>
        </p:spPr>
      </p:sp>
      <p:sp>
        <p:nvSpPr>
          <p:cNvPr id="93" name="Text 91"/>
          <p:cNvSpPr/>
          <p:nvPr/>
        </p:nvSpPr>
        <p:spPr>
          <a:xfrm>
            <a:off x="137160" y="420624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차우파 (Chau Pha) WtE 신규</a:t>
            </a:r>
            <a:endParaRPr lang="en-US" sz="900" dirty="0"/>
          </a:p>
        </p:txBody>
      </p:sp>
      <p:sp>
        <p:nvSpPr>
          <p:cNvPr id="94" name="Shape 92"/>
          <p:cNvSpPr/>
          <p:nvPr/>
        </p:nvSpPr>
        <p:spPr>
          <a:xfrm>
            <a:off x="3291840" y="4206240"/>
            <a:ext cx="1371600" cy="329184"/>
          </a:xfrm>
          <a:prstGeom prst="rect">
            <a:avLst/>
          </a:prstGeom>
          <a:solidFill>
            <a:srgbClr val="F8F9FA"/>
          </a:solidFill>
          <a:ln w="12700">
            <a:solidFill>
              <a:srgbClr val="E2E8F0"/>
            </a:solidFill>
            <a:prstDash val="solid"/>
          </a:ln>
        </p:spPr>
      </p:sp>
      <p:sp>
        <p:nvSpPr>
          <p:cNvPr id="95" name="Text 93"/>
          <p:cNvSpPr/>
          <p:nvPr/>
        </p:nvSpPr>
        <p:spPr>
          <a:xfrm>
            <a:off x="3337560" y="420624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바리아붕따우</a:t>
            </a:r>
            <a:endParaRPr lang="en-US" sz="900" dirty="0"/>
          </a:p>
        </p:txBody>
      </p:sp>
      <p:sp>
        <p:nvSpPr>
          <p:cNvPr id="96" name="Shape 94"/>
          <p:cNvSpPr/>
          <p:nvPr/>
        </p:nvSpPr>
        <p:spPr>
          <a:xfrm>
            <a:off x="4663440" y="4206240"/>
            <a:ext cx="1828800" cy="329184"/>
          </a:xfrm>
          <a:prstGeom prst="rect">
            <a:avLst/>
          </a:prstGeom>
          <a:solidFill>
            <a:srgbClr val="F8F9FA"/>
          </a:solidFill>
          <a:ln w="12700">
            <a:solidFill>
              <a:srgbClr val="E2E8F0"/>
            </a:solidFill>
            <a:prstDash val="solid"/>
          </a:ln>
        </p:spPr>
      </p:sp>
      <p:sp>
        <p:nvSpPr>
          <p:cNvPr id="97" name="Text 95"/>
          <p:cNvSpPr/>
          <p:nvPr/>
        </p:nvSpPr>
        <p:spPr>
          <a:xfrm>
            <a:off x="4709160" y="420624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부지 5ha+</a:t>
            </a:r>
            <a:endParaRPr lang="en-US" sz="900" dirty="0"/>
          </a:p>
        </p:txBody>
      </p:sp>
      <p:sp>
        <p:nvSpPr>
          <p:cNvPr id="98" name="Shape 96"/>
          <p:cNvSpPr/>
          <p:nvPr/>
        </p:nvSpPr>
        <p:spPr>
          <a:xfrm>
            <a:off x="6492240" y="4206240"/>
            <a:ext cx="2560320" cy="329184"/>
          </a:xfrm>
          <a:prstGeom prst="rect">
            <a:avLst/>
          </a:prstGeom>
          <a:solidFill>
            <a:srgbClr val="F8F9FA"/>
          </a:solidFill>
          <a:ln w="12700">
            <a:solidFill>
              <a:srgbClr val="E2E8F0"/>
            </a:solidFill>
            <a:prstDash val="solid"/>
          </a:ln>
        </p:spPr>
      </p:sp>
      <p:sp>
        <p:nvSpPr>
          <p:cNvPr id="99" name="Text 97"/>
          <p:cNvSpPr/>
          <p:nvPr/>
        </p:nvSpPr>
        <p:spPr>
          <a:xfrm>
            <a:off x="6537960" y="420624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경쟁입찰 투자자 선정, 49년 임대</a:t>
            </a:r>
            <a:endParaRPr lang="en-US" sz="900" dirty="0"/>
          </a:p>
        </p:txBody>
      </p:sp>
      <p:sp>
        <p:nvSpPr>
          <p:cNvPr id="100" name="Shape 98"/>
          <p:cNvSpPr/>
          <p:nvPr/>
        </p:nvSpPr>
        <p:spPr>
          <a:xfrm>
            <a:off x="91440" y="4553712"/>
            <a:ext cx="3200400" cy="329184"/>
          </a:xfrm>
          <a:prstGeom prst="rect">
            <a:avLst/>
          </a:prstGeom>
          <a:solidFill>
            <a:srgbClr val="FFFFFF"/>
          </a:solidFill>
          <a:ln w="12700">
            <a:solidFill>
              <a:srgbClr val="E2E8F0"/>
            </a:solidFill>
            <a:prstDash val="solid"/>
          </a:ln>
        </p:spPr>
      </p:sp>
      <p:sp>
        <p:nvSpPr>
          <p:cNvPr id="101" name="Text 99"/>
          <p:cNvSpPr/>
          <p:nvPr/>
        </p:nvSpPr>
        <p:spPr>
          <a:xfrm>
            <a:off x="137160" y="455371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AMACCAO-Thanh Cong 2호기</a:t>
            </a:r>
            <a:endParaRPr lang="en-US" sz="900" dirty="0"/>
          </a:p>
        </p:txBody>
      </p:sp>
      <p:sp>
        <p:nvSpPr>
          <p:cNvPr id="102" name="Shape 100"/>
          <p:cNvSpPr/>
          <p:nvPr/>
        </p:nvSpPr>
        <p:spPr>
          <a:xfrm>
            <a:off x="3291840" y="4553712"/>
            <a:ext cx="1371600" cy="329184"/>
          </a:xfrm>
          <a:prstGeom prst="rect">
            <a:avLst/>
          </a:prstGeom>
          <a:solidFill>
            <a:srgbClr val="FFFFFF"/>
          </a:solidFill>
          <a:ln w="12700">
            <a:solidFill>
              <a:srgbClr val="E2E8F0"/>
            </a:solidFill>
            <a:prstDash val="solid"/>
          </a:ln>
        </p:spPr>
      </p:sp>
      <p:sp>
        <p:nvSpPr>
          <p:cNvPr id="103" name="Text 101"/>
          <p:cNvSpPr/>
          <p:nvPr/>
        </p:nvSpPr>
        <p:spPr>
          <a:xfrm>
            <a:off x="3337560" y="455371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(쑤언선)</a:t>
            </a:r>
            <a:endParaRPr lang="en-US" sz="900" dirty="0"/>
          </a:p>
        </p:txBody>
      </p:sp>
      <p:sp>
        <p:nvSpPr>
          <p:cNvPr id="104" name="Shape 102"/>
          <p:cNvSpPr/>
          <p:nvPr/>
        </p:nvSpPr>
        <p:spPr>
          <a:xfrm>
            <a:off x="4663440" y="4553712"/>
            <a:ext cx="1828800" cy="329184"/>
          </a:xfrm>
          <a:prstGeom prst="rect">
            <a:avLst/>
          </a:prstGeom>
          <a:solidFill>
            <a:srgbClr val="FFFFFF"/>
          </a:solidFill>
          <a:ln w="12700">
            <a:solidFill>
              <a:srgbClr val="E2E8F0"/>
            </a:solidFill>
            <a:prstDash val="solid"/>
          </a:ln>
        </p:spPr>
      </p:sp>
      <p:sp>
        <p:nvSpPr>
          <p:cNvPr id="105" name="Text 103"/>
          <p:cNvSpPr/>
          <p:nvPr/>
        </p:nvSpPr>
        <p:spPr>
          <a:xfrm>
            <a:off x="4709160" y="455371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세라핀 1호기(37MW) 인접</a:t>
            </a:r>
            <a:endParaRPr lang="en-US" sz="900" dirty="0"/>
          </a:p>
        </p:txBody>
      </p:sp>
      <p:sp>
        <p:nvSpPr>
          <p:cNvPr id="106" name="Shape 104"/>
          <p:cNvSpPr/>
          <p:nvPr/>
        </p:nvSpPr>
        <p:spPr>
          <a:xfrm>
            <a:off x="6492240" y="4553712"/>
            <a:ext cx="2560320" cy="329184"/>
          </a:xfrm>
          <a:prstGeom prst="rect">
            <a:avLst/>
          </a:prstGeom>
          <a:solidFill>
            <a:srgbClr val="FFFFFF"/>
          </a:solidFill>
          <a:ln w="12700">
            <a:solidFill>
              <a:srgbClr val="E2E8F0"/>
            </a:solidFill>
            <a:prstDash val="solid"/>
          </a:ln>
        </p:spPr>
      </p:sp>
      <p:sp>
        <p:nvSpPr>
          <p:cNvPr id="107" name="Text 105"/>
          <p:cNvSpPr/>
          <p:nvPr/>
        </p:nvSpPr>
        <p:spPr>
          <a:xfrm>
            <a:off x="6537960" y="455371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[Cowork 팩트체크] 2026.6월 착공 보도</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VN-WAT-RESOURCES</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수자원법 2023 + 국가 수자원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Law 28/2023/QH15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2023년 11월 27일 전면 개정된 수자원법(Law 28/2023/QH15, 2024.7.1 발효) [확인됨]은 유역통합관리(IWRM), 행정수단에서 경제수단(수자원이용료·로열티)으로의 전환, 하천 최소유량 규정, '죽은 강'(또리히·뉴에·다이강 등) 복원 조항, 지하수 취수 허가제 의무화를 골자로 한다. 메콩델타 건기 염수침투 심화 대응을 위해 정부는 2026.6.26 결의 166/NQ-CP를 발표해 메콩델타 지반침하·홍수·가뭄·염해 대응 국가실행계획(~2035)을 수립했다.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지하수 관리 대수층</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전국 27개 완전 관리</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12개 관리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중복 댐·저수지 안전진단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완료</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65% 완료</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건기 염수침투 거리 (4‰ 염분경계선)</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통합 관리 체계 수립</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 건기 관측 40~70km 도달</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수자원 현대화</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 대규모 통합 수자원 인프라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ADB·세계은행 지원</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홍강 유역 홍수 관리</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홍강 유역 | 유역통합관리</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환경부 주관</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메콩강 MRC 모니터링</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메콩강 | 예측 및 조기 경보 시스템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홍수·가뭄 조기 경보 체계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죽은 강(Dead River) 복원 사업</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(또리히강·뉴에강·다이강) | 수질 정화 및 생태 복원</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Law 28/2023/QH15 신규 복원 조항 근거</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메콩델타 국가실행계획 (Nghị quyết 166/NQ-CP)</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메콩델타 전역 | 국가행동계획</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2026.6.26 발표, 2035년까지</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Law 28/2023/QH15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VN-WAT-URBAN</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상수도 개발전략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2502/QD-TTg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상수도 분야 실제 근거법령은 Decision 2502/QD-TTg(2016.12.22, '베트남 도시·산업단지 상수도 개발방향 조정', 2009년 결정 1929/QD-TTg 대체) [확인됨]입니다. 이 결정문은 2025년까지 전 도시지역 100% 상수도 보급, 2급 이상 도시 비수익수(NRW) 15% 이하 달성을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안전 상수 보급률</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100% (전 도시, 2025)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95% 수준 (2025)</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1인당 공급량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150 L/일 (평균 목표) / 120 L/일(2502호 명시치)</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120 L/일 (2025 목표)</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누수율(NRW)</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15% 이하 (2급 이상 도시, 2025)</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 이하 (2025 목표)</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송다 (Song Da)</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화빈 | 600,000 m³/일</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및 인근 성 핵심 광역망</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 (Thu Duc)</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500,000 m³/일</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호치민 중심부 급수망</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꺼우도 (Cau Do)</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 | 250,000 m³/일</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다낭시 전역 주요 수완</a:t>
            </a:r>
            <a:endParaRPr lang="en-US" sz="800" dirty="0"/>
          </a:p>
        </p:txBody>
      </p:sp>
      <p:sp>
        <p:nvSpPr>
          <p:cNvPr id="42" name="Shape 40"/>
          <p:cNvSpPr/>
          <p:nvPr/>
        </p:nvSpPr>
        <p:spPr>
          <a:xfrm>
            <a:off x="5440680" y="2916936"/>
            <a:ext cx="3566160" cy="621792"/>
          </a:xfrm>
          <a:prstGeom prst="rect">
            <a:avLst/>
          </a:prstGeom>
          <a:solidFill>
            <a:srgbClr val="FFFFFF"/>
          </a:solidFill>
          <a:ln w="12700">
            <a:solidFill>
              <a:srgbClr val="E2E8F0"/>
            </a:solidFill>
            <a:prstDash val="solid"/>
          </a:ln>
        </p:spPr>
      </p:sp>
      <p:sp>
        <p:nvSpPr>
          <p:cNvPr id="43" name="Text 4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동아인 (Dong Anh)</a:t>
            </a:r>
            <a:endParaRPr lang="en-US" sz="1000" dirty="0"/>
          </a:p>
        </p:txBody>
      </p:sp>
      <p:sp>
        <p:nvSpPr>
          <p:cNvPr id="44" name="Text 4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150,000 m³/일</a:t>
            </a:r>
            <a:endParaRPr lang="en-US" sz="900" dirty="0"/>
          </a:p>
        </p:txBody>
      </p:sp>
      <p:sp>
        <p:nvSpPr>
          <p:cNvPr id="45" name="Text 4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하노이 북부 신도시 연계</a:t>
            </a:r>
            <a:endParaRPr lang="en-US" sz="800" dirty="0"/>
          </a:p>
        </p:txBody>
      </p:sp>
      <p:sp>
        <p:nvSpPr>
          <p:cNvPr id="46" name="Shape 44"/>
          <p:cNvSpPr/>
          <p:nvPr/>
        </p:nvSpPr>
        <p:spPr>
          <a:xfrm>
            <a:off x="5440680" y="3575304"/>
            <a:ext cx="3566160" cy="621792"/>
          </a:xfrm>
          <a:prstGeom prst="rect">
            <a:avLst/>
          </a:prstGeom>
          <a:solidFill>
            <a:srgbClr val="F8F9FA"/>
          </a:solidFill>
          <a:ln w="12700">
            <a:solidFill>
              <a:srgbClr val="E2E8F0"/>
            </a:solidFill>
            <a:prstDash val="solid"/>
          </a:ln>
        </p:spPr>
      </p:sp>
      <p:sp>
        <p:nvSpPr>
          <p:cNvPr id="47" name="Text 45"/>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빈증 (Binh Duong) 투저우못</a:t>
            </a:r>
            <a:endParaRPr lang="en-US" sz="1000" dirty="0"/>
          </a:p>
        </p:txBody>
      </p:sp>
      <p:sp>
        <p:nvSpPr>
          <p:cNvPr id="48" name="Text 46"/>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빈증성 | 120,000 m³/일 증설</a:t>
            </a:r>
            <a:endParaRPr lang="en-US" sz="900" dirty="0"/>
          </a:p>
        </p:txBody>
      </p:sp>
      <p:sp>
        <p:nvSpPr>
          <p:cNvPr id="49" name="Text 47"/>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059669"/>
                </a:solidFill>
                <a:latin typeface="Arial" pitchFamily="34" charset="0"/>
                <a:ea typeface="Arial" pitchFamily="34" charset="-122"/>
                <a:cs typeface="Arial" pitchFamily="34" charset="-120"/>
              </a:rPr>
              <a:t>투저우못 확장 공사</a:t>
            </a:r>
            <a:endParaRPr lang="en-US" sz="800" dirty="0"/>
          </a:p>
        </p:txBody>
      </p:sp>
      <p:sp>
        <p:nvSpPr>
          <p:cNvPr id="50" name="Shape 48"/>
          <p:cNvSpPr/>
          <p:nvPr/>
        </p:nvSpPr>
        <p:spPr>
          <a:xfrm>
            <a:off x="0" y="4914900"/>
            <a:ext cx="9144000" cy="228600"/>
          </a:xfrm>
          <a:prstGeom prst="rect">
            <a:avLst/>
          </a:prstGeom>
          <a:solidFill>
            <a:srgbClr val="E2E8F0"/>
          </a:solidFill>
          <a:ln w="12700">
            <a:solidFill>
              <a:srgbClr val="E2E8F0"/>
            </a:solidFill>
            <a:prstDash val="solid"/>
          </a:ln>
        </p:spPr>
      </p:sp>
      <p:sp>
        <p:nvSpPr>
          <p:cNvPr id="51" name="Text 49"/>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Water Supply/Drainage  |  환경 인프라 (Environment)  |  Decision 2502/QD-TTg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059669"/>
          </a:solidFill>
          <a:ln w="12700">
            <a:solidFill>
              <a:srgbClr val="059669"/>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VN-WW-2030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폐수처리 인프라 국가 마스터플랜 2021~2030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589/QD-TTg (2016.4.6)</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국가 폐수처리 마스터플랜(Decision 589/QD-TTg 2016.4.6) [확인됨]은 도시 폐수처리율을 2025년 50%, 2030년 85%로 끌어올리는 것을 목표로 한다. 하노이 옌짜(Yen Xa) WWTP(27만㎥/일)가 2025년 8월 준공되어 또리히강 정화가 본격화되었고, 호치민 빈흥(Binh Hung) 2단계(46.9만㎥/일)가 2024년 준공되었다. 2026년 7월 호치민시는 2026-2030 최우선 투자 대상 4대 하수처리장(탐르엉-벤깟 2단계, 박사이공 2, 남사이공 1단계,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 폐수처리율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85%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목표 50%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신규 WWTP 용량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059669"/>
                </a:solidFill>
                <a:latin typeface="Arial" pitchFamily="34" charset="0"/>
                <a:ea typeface="Arial" pitchFamily="34" charset="-122"/>
                <a:cs typeface="Arial" pitchFamily="34" charset="-120"/>
              </a:rPr>
              <a:t>2,900,000 m³/일</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800,000 m³/일 기존 운영 + 옌짜 270,000 m³/일 가동</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48863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옌짜 (Yen Xa)</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(Thanh Tri) | 270,000 m³/일</a:t>
            </a:r>
            <a:endParaRPr lang="en-US" sz="900" dirty="0"/>
          </a:p>
        </p:txBody>
      </p:sp>
      <p:sp>
        <p:nvSpPr>
          <p:cNvPr id="28" name="Shape 26"/>
          <p:cNvSpPr/>
          <p:nvPr/>
        </p:nvSpPr>
        <p:spPr>
          <a:xfrm>
            <a:off x="5440680" y="1467041"/>
            <a:ext cx="3566160" cy="488632"/>
          </a:xfrm>
          <a:prstGeom prst="rect">
            <a:avLst/>
          </a:prstGeom>
          <a:solidFill>
            <a:srgbClr val="FFFFFF"/>
          </a:solidFill>
          <a:ln w="12700">
            <a:solidFill>
              <a:srgbClr val="E2E8F0"/>
            </a:solidFill>
            <a:prstDash val="solid"/>
          </a:ln>
        </p:spPr>
      </p:sp>
      <p:sp>
        <p:nvSpPr>
          <p:cNvPr id="29" name="Text 27"/>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호아이득 (Hoai Duc)</a:t>
            </a:r>
            <a:endParaRPr lang="en-US" sz="1000" dirty="0"/>
          </a:p>
        </p:txBody>
      </p:sp>
      <p:sp>
        <p:nvSpPr>
          <p:cNvPr id="30" name="Text 28"/>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$16.5M 규모</a:t>
            </a:r>
            <a:endParaRPr lang="en-US" sz="900" dirty="0"/>
          </a:p>
        </p:txBody>
      </p:sp>
      <p:sp>
        <p:nvSpPr>
          <p:cNvPr id="31" name="Shape 29"/>
          <p:cNvSpPr/>
          <p:nvPr/>
        </p:nvSpPr>
        <p:spPr>
          <a:xfrm>
            <a:off x="5440680" y="1992249"/>
            <a:ext cx="3566160" cy="488632"/>
          </a:xfrm>
          <a:prstGeom prst="rect">
            <a:avLst/>
          </a:prstGeom>
          <a:solidFill>
            <a:srgbClr val="F8F9FA"/>
          </a:solidFill>
          <a:ln w="12700">
            <a:solidFill>
              <a:srgbClr val="E2E8F0"/>
            </a:solidFill>
            <a:prstDash val="solid"/>
          </a:ln>
        </p:spPr>
      </p:sp>
      <p:sp>
        <p:nvSpPr>
          <p:cNvPr id="32" name="Text 30"/>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빈흥 (Binh Hung)</a:t>
            </a:r>
            <a:endParaRPr lang="en-US" sz="1000" dirty="0"/>
          </a:p>
        </p:txBody>
      </p:sp>
      <p:sp>
        <p:nvSpPr>
          <p:cNvPr id="33" name="Text 31"/>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(Binh Chanh) | 469,000 m³/일 (최종 512,000 m³/일)</a:t>
            </a:r>
            <a:endParaRPr lang="en-US" sz="900" dirty="0"/>
          </a:p>
        </p:txBody>
      </p:sp>
      <p:sp>
        <p:nvSpPr>
          <p:cNvPr id="34" name="Shape 32"/>
          <p:cNvSpPr/>
          <p:nvPr/>
        </p:nvSpPr>
        <p:spPr>
          <a:xfrm>
            <a:off x="5440680" y="2517458"/>
            <a:ext cx="3566160" cy="488632"/>
          </a:xfrm>
          <a:prstGeom prst="rect">
            <a:avLst/>
          </a:prstGeom>
          <a:solidFill>
            <a:srgbClr val="FFFFFF"/>
          </a:solidFill>
          <a:ln w="12700">
            <a:solidFill>
              <a:srgbClr val="E2E8F0"/>
            </a:solidFill>
            <a:prstDash val="solid"/>
          </a:ln>
        </p:spPr>
      </p:sp>
      <p:sp>
        <p:nvSpPr>
          <p:cNvPr id="35" name="Text 33"/>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투득시 (Thu Duc) WWTP</a:t>
            </a:r>
            <a:endParaRPr lang="en-US" sz="1000" dirty="0"/>
          </a:p>
        </p:txBody>
      </p:sp>
      <p:sp>
        <p:nvSpPr>
          <p:cNvPr id="36" name="Text 34"/>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(Thu Duc) | 1,100,000 m³/일</a:t>
            </a:r>
            <a:endParaRPr lang="en-US" sz="900" dirty="0"/>
          </a:p>
        </p:txBody>
      </p:sp>
      <p:sp>
        <p:nvSpPr>
          <p:cNvPr id="37" name="Shape 35"/>
          <p:cNvSpPr/>
          <p:nvPr/>
        </p:nvSpPr>
        <p:spPr>
          <a:xfrm>
            <a:off x="5440680" y="3042666"/>
            <a:ext cx="3566160" cy="488632"/>
          </a:xfrm>
          <a:prstGeom prst="rect">
            <a:avLst/>
          </a:prstGeom>
          <a:solidFill>
            <a:srgbClr val="F8F9FA"/>
          </a:solidFill>
          <a:ln w="12700">
            <a:solidFill>
              <a:srgbClr val="E2E8F0"/>
            </a:solidFill>
            <a:prstDash val="solid"/>
          </a:ln>
        </p:spPr>
      </p:sp>
      <p:sp>
        <p:nvSpPr>
          <p:cNvPr id="38" name="Text 36"/>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탐르엉 (Tham Luong)</a:t>
            </a:r>
            <a:endParaRPr lang="en-US" sz="1000" dirty="0"/>
          </a:p>
        </p:txBody>
      </p:sp>
      <p:sp>
        <p:nvSpPr>
          <p:cNvPr id="39" name="Text 37"/>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(Go Vap) | 131,000→310,000 m³/일</a:t>
            </a:r>
            <a:endParaRPr lang="en-US" sz="900" dirty="0"/>
          </a:p>
        </p:txBody>
      </p:sp>
      <p:sp>
        <p:nvSpPr>
          <p:cNvPr id="40" name="Shape 38"/>
          <p:cNvSpPr/>
          <p:nvPr/>
        </p:nvSpPr>
        <p:spPr>
          <a:xfrm>
            <a:off x="5440680" y="3567874"/>
            <a:ext cx="3566160" cy="488632"/>
          </a:xfrm>
          <a:prstGeom prst="rect">
            <a:avLst/>
          </a:prstGeom>
          <a:solidFill>
            <a:srgbClr val="FFFFFF"/>
          </a:solidFill>
          <a:ln w="12700">
            <a:solidFill>
              <a:srgbClr val="E2E8F0"/>
            </a:solidFill>
            <a:prstDash val="solid"/>
          </a:ln>
        </p:spPr>
      </p:sp>
      <p:sp>
        <p:nvSpPr>
          <p:cNvPr id="41" name="Text 39"/>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탐르엉-벤깟 하수처리장 (2단계)</a:t>
            </a:r>
            <a:endParaRPr lang="en-US" sz="1000" dirty="0"/>
          </a:p>
        </p:txBody>
      </p:sp>
      <p:sp>
        <p:nvSpPr>
          <p:cNvPr id="42" name="Text 40"/>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(안푸동) | 230,000 m³/일</a:t>
            </a:r>
            <a:endParaRPr lang="en-US" sz="900" dirty="0"/>
          </a:p>
        </p:txBody>
      </p:sp>
      <p:sp>
        <p:nvSpPr>
          <p:cNvPr id="43" name="Shape 41"/>
          <p:cNvSpPr/>
          <p:nvPr/>
        </p:nvSpPr>
        <p:spPr>
          <a:xfrm>
            <a:off x="5440680" y="4093083"/>
            <a:ext cx="3566160" cy="488632"/>
          </a:xfrm>
          <a:prstGeom prst="rect">
            <a:avLst/>
          </a:prstGeom>
          <a:solidFill>
            <a:srgbClr val="F8F9FA"/>
          </a:solidFill>
          <a:ln w="12700">
            <a:solidFill>
              <a:srgbClr val="E2E8F0"/>
            </a:solidFill>
            <a:prstDash val="solid"/>
          </a:ln>
        </p:spPr>
      </p:sp>
      <p:sp>
        <p:nvSpPr>
          <p:cNvPr id="44" name="Text 42"/>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박사이공 2 하수처리장</a:t>
            </a:r>
            <a:endParaRPr lang="en-US" sz="1000" dirty="0"/>
          </a:p>
        </p:txBody>
      </p:sp>
      <p:sp>
        <p:nvSpPr>
          <p:cNvPr id="45" name="Text 43"/>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140,000 m³/일</a:t>
            </a:r>
            <a:endParaRPr lang="en-US" sz="900" dirty="0"/>
          </a:p>
        </p:txBody>
      </p:sp>
      <p:sp>
        <p:nvSpPr>
          <p:cNvPr id="46" name="Text 44"/>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47" name="Shape 45"/>
          <p:cNvSpPr/>
          <p:nvPr/>
        </p:nvSpPr>
        <p:spPr>
          <a:xfrm>
            <a:off x="0" y="4914900"/>
            <a:ext cx="9144000" cy="228600"/>
          </a:xfrm>
          <a:prstGeom prst="rect">
            <a:avLst/>
          </a:prstGeom>
          <a:solidFill>
            <a:srgbClr val="E2E8F0"/>
          </a:solidFill>
          <a:ln w="12700">
            <a:solidFill>
              <a:srgbClr val="E2E8F0"/>
            </a:solidFill>
            <a:prstDash val="solid"/>
          </a:ln>
        </p:spPr>
      </p:sp>
      <p:sp>
        <p:nvSpPr>
          <p:cNvPr id="48" name="Text 4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Waste Water  |  환경 인프라 (Environment)  |  Decision 589/QD-TTg (2016.4.6)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VN-WW-2030 — 프로젝트 전체 목록 (9개)</a:t>
            </a:r>
            <a:endParaRPr lang="en-US" sz="1500" dirty="0"/>
          </a:p>
        </p:txBody>
      </p:sp>
      <p:sp>
        <p:nvSpPr>
          <p:cNvPr id="4" name="Shape 2"/>
          <p:cNvSpPr/>
          <p:nvPr/>
        </p:nvSpPr>
        <p:spPr>
          <a:xfrm>
            <a:off x="91440" y="457200"/>
            <a:ext cx="3200400" cy="274320"/>
          </a:xfrm>
          <a:prstGeom prst="rect">
            <a:avLst/>
          </a:prstGeom>
          <a:solidFill>
            <a:srgbClr val="059669"/>
          </a:solidFill>
          <a:ln w="12700">
            <a:solidFill>
              <a:srgbClr val="059669"/>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059669"/>
          </a:solidFill>
          <a:ln w="12700">
            <a:solidFill>
              <a:srgbClr val="059669"/>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059669"/>
          </a:solidFill>
          <a:ln w="12700">
            <a:solidFill>
              <a:srgbClr val="059669"/>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059669"/>
          </a:solidFill>
          <a:ln w="12700">
            <a:solidFill>
              <a:srgbClr val="059669"/>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옌짜 (Yen Xa)</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 (Thanh Tri)</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270,000 m³/일</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2025.8.19 준공 완료, 북부 최대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호아이득 (Hoai Duc)</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하노이</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$16.5M 규모</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2026~2029년 구축 승인</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빈흥 (Binh Hung)</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(Binh Chanh)</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469,000 m³/일 (최종 512,000 m³/일)</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2024.8.30 준공식 완료 (VND 1조 투자)</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투득시 (Thu Duc) WWTP</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(Thu Duc)</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1,100,000 m³/일</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동남아 최대 규모 대형 기획</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탐르엉 (Tham Luong)</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(Go Vap)</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131,000→310,000 m³/일</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2030년 최종 확장 목표</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탐르엉-벤깟 하수처리장 (2단계)</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(안푸동)</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230,000 m³/일</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우선순위 확정</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박사이공 2 하수처리장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140,000 m³/일</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동부 확장지구 핵심</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남사이공 하수처리 (1단계)</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132,000 m³/일</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냐베 분지 전담</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북서부 하수처리장</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 (떤안호이)</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280,000 m³/일</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HCMC 2026-2030 급속 도시화 구역 전담</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VN-ENV-IND-1894</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환경산업 개발프로그램 (Decision 1894)</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1894/QD-TTg (2025.9.4)</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환경산업 기술 자립화 프로그램. 폐수처리·배기가스·고형폐기물 기술 국산화를 골자로 하며 2030년 폐수처리 기술 국산화율 70~80%, 배기가스 처리 60~70%를 목표로 합니다. 2025년 9월 4일 총리가 환경산업 발전 프로그램(2025~2030)을 승인(Decision 1894/QD-TTg)하여 발효되었습니다. 순환경제, 녹색전환, 넷제로 2050 이행을 위한 핵심 전략 산업입니다. 스타비안(Stavian) 재활용 단지(타인호아 응이선 경제구역, rPET 연 1.7만 톤)가 IRC 승...</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폐수처리 기술 국산화</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70~80%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~30%</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배기가스 처리 국산화</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60~70%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~25%</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고형폐기물 처리 국산화</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50~60% (2030)</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2025년 기준 ~20%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VAMM (베트남이륜차제조사협회) EPR 재활용</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빈푹성 | 축전지·타이어·윤활유 폐기물 처리</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PRO Vietnam 포장재 재활용</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호치민시 | 플라스틱/포장재 자원 순환</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ALBA Asia + VietCycle 합작 PET/HDPE 공장</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베트남 남부 | 연간 48,000톤 / $50M</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한-베 자원재활용 산업단지 (KEITI MOU)</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미정 | 폐기물 자원화 솔루션</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JICA 다낭 3R 프로젝트</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다낭시 | 109억 동 (2단계)</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Thuan Thanh Environment JSC</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알루미늄/PET 경질 포장재</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Duy Tan Recycling 시설 확장</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롱안성 | 현재 연 6만 톤 → 연 10만 톤 확장</a:t>
            </a:r>
            <a:endParaRPr lang="en-US" sz="900" dirty="0"/>
          </a:p>
        </p:txBody>
      </p:sp>
      <p:sp>
        <p:nvSpPr>
          <p:cNvPr id="51" name="Text 49"/>
          <p:cNvSpPr/>
          <p:nvPr/>
        </p:nvSpPr>
        <p:spPr>
          <a:xfrm>
            <a:off x="5440680" y="4887468"/>
            <a:ext cx="3566160" cy="201168"/>
          </a:xfrm>
          <a:prstGeom prst="rect">
            <a:avLst/>
          </a:prstGeom>
          <a:noFill/>
          <a:ln/>
        </p:spPr>
        <p:txBody>
          <a:bodyPr wrap="square" rtlCol="0" anchor="ctr"/>
          <a:lstStyle/>
          <a:p>
            <a:pPr algn="ctr" indent="0" marL="0">
              <a:buNone/>
            </a:pPr>
            <a:r>
              <a:rPr lang="en-US" sz="900" i="1" dirty="0">
                <a:solidFill>
                  <a:srgbClr val="64748B"/>
                </a:solidFill>
                <a:latin typeface="Arial" pitchFamily="34" charset="0"/>
                <a:ea typeface="Arial" pitchFamily="34" charset="-122"/>
                <a:cs typeface="Arial" pitchFamily="34" charset="-120"/>
              </a:rPr>
              <a:t>+ 1개 추가 프로젝트 (상세 보고서 참조)</a:t>
            </a:r>
            <a:endParaRPr lang="en-US" sz="900" dirty="0"/>
          </a:p>
        </p:txBody>
      </p:sp>
      <p:sp>
        <p:nvSpPr>
          <p:cNvPr id="52" name="Shape 50"/>
          <p:cNvSpPr/>
          <p:nvPr/>
        </p:nvSpPr>
        <p:spPr>
          <a:xfrm>
            <a:off x="0" y="4914900"/>
            <a:ext cx="9144000" cy="228600"/>
          </a:xfrm>
          <a:prstGeom prst="rect">
            <a:avLst/>
          </a:prstGeom>
          <a:solidFill>
            <a:srgbClr val="E2E8F0"/>
          </a:solidFill>
          <a:ln w="12700">
            <a:solidFill>
              <a:srgbClr val="E2E8F0"/>
            </a:solidFill>
            <a:prstDash val="solid"/>
          </a:ln>
        </p:spPr>
      </p:sp>
      <p:sp>
        <p:nvSpPr>
          <p:cNvPr id="53" name="Text 5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1894/QD-TTg (2025.9.4)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11480"/>
          </a:xfrm>
          <a:prstGeom prst="rect">
            <a:avLst/>
          </a:prstGeom>
          <a:solidFill>
            <a:srgbClr val="0C2340"/>
          </a:solidFill>
          <a:ln w="12700">
            <a:solidFill>
              <a:srgbClr val="0C2340"/>
            </a:solidFill>
            <a:prstDash val="solid"/>
          </a:ln>
        </p:spPr>
      </p:sp>
      <p:sp>
        <p:nvSpPr>
          <p:cNvPr id="3" name="Text 1"/>
          <p:cNvSpPr/>
          <p:nvPr/>
        </p:nvSpPr>
        <p:spPr>
          <a:xfrm>
            <a:off x="182880" y="45720"/>
            <a:ext cx="8778240" cy="347472"/>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VN-ENV-IND-1894 — 프로젝트 전체 목록 (9개)</a:t>
            </a:r>
            <a:endParaRPr lang="en-US" sz="1500" dirty="0"/>
          </a:p>
        </p:txBody>
      </p:sp>
      <p:sp>
        <p:nvSpPr>
          <p:cNvPr id="4" name="Shape 2"/>
          <p:cNvSpPr/>
          <p:nvPr/>
        </p:nvSpPr>
        <p:spPr>
          <a:xfrm>
            <a:off x="91440" y="457200"/>
            <a:ext cx="3200400" cy="274320"/>
          </a:xfrm>
          <a:prstGeom prst="rect">
            <a:avLst/>
          </a:prstGeom>
          <a:solidFill>
            <a:srgbClr val="2563EB"/>
          </a:solidFill>
          <a:ln w="12700">
            <a:solidFill>
              <a:srgbClr val="2563EB"/>
            </a:solidFill>
            <a:prstDash val="solid"/>
          </a:ln>
        </p:spPr>
      </p:sp>
      <p:sp>
        <p:nvSpPr>
          <p:cNvPr id="5" name="Text 3"/>
          <p:cNvSpPr/>
          <p:nvPr/>
        </p:nvSpPr>
        <p:spPr>
          <a:xfrm>
            <a:off x="137160" y="457200"/>
            <a:ext cx="31089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프로젝트명</a:t>
            </a:r>
            <a:endParaRPr lang="en-US" sz="1000" dirty="0"/>
          </a:p>
        </p:txBody>
      </p:sp>
      <p:sp>
        <p:nvSpPr>
          <p:cNvPr id="6" name="Shape 4"/>
          <p:cNvSpPr/>
          <p:nvPr/>
        </p:nvSpPr>
        <p:spPr>
          <a:xfrm>
            <a:off x="3291840" y="457200"/>
            <a:ext cx="1371600" cy="274320"/>
          </a:xfrm>
          <a:prstGeom prst="rect">
            <a:avLst/>
          </a:prstGeom>
          <a:solidFill>
            <a:srgbClr val="2563EB"/>
          </a:solidFill>
          <a:ln w="12700">
            <a:solidFill>
              <a:srgbClr val="2563EB"/>
            </a:solidFill>
            <a:prstDash val="solid"/>
          </a:ln>
        </p:spPr>
      </p:sp>
      <p:sp>
        <p:nvSpPr>
          <p:cNvPr id="7" name="Text 5"/>
          <p:cNvSpPr/>
          <p:nvPr/>
        </p:nvSpPr>
        <p:spPr>
          <a:xfrm>
            <a:off x="3337560" y="457200"/>
            <a:ext cx="12801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위치</a:t>
            </a:r>
            <a:endParaRPr lang="en-US" sz="1000" dirty="0"/>
          </a:p>
        </p:txBody>
      </p:sp>
      <p:sp>
        <p:nvSpPr>
          <p:cNvPr id="8" name="Shape 6"/>
          <p:cNvSpPr/>
          <p:nvPr/>
        </p:nvSpPr>
        <p:spPr>
          <a:xfrm>
            <a:off x="4663440" y="457200"/>
            <a:ext cx="1828800" cy="274320"/>
          </a:xfrm>
          <a:prstGeom prst="rect">
            <a:avLst/>
          </a:prstGeom>
          <a:solidFill>
            <a:srgbClr val="2563EB"/>
          </a:solidFill>
          <a:ln w="12700">
            <a:solidFill>
              <a:srgbClr val="2563EB"/>
            </a:solidFill>
            <a:prstDash val="solid"/>
          </a:ln>
        </p:spPr>
      </p:sp>
      <p:sp>
        <p:nvSpPr>
          <p:cNvPr id="9" name="Text 7"/>
          <p:cNvSpPr/>
          <p:nvPr/>
        </p:nvSpPr>
        <p:spPr>
          <a:xfrm>
            <a:off x="4709160" y="457200"/>
            <a:ext cx="173736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규모/용량</a:t>
            </a:r>
            <a:endParaRPr lang="en-US" sz="1000" dirty="0"/>
          </a:p>
        </p:txBody>
      </p:sp>
      <p:sp>
        <p:nvSpPr>
          <p:cNvPr id="10" name="Shape 8"/>
          <p:cNvSpPr/>
          <p:nvPr/>
        </p:nvSpPr>
        <p:spPr>
          <a:xfrm>
            <a:off x="6492240" y="457200"/>
            <a:ext cx="2560320" cy="274320"/>
          </a:xfrm>
          <a:prstGeom prst="rect">
            <a:avLst/>
          </a:prstGeom>
          <a:solidFill>
            <a:srgbClr val="2563EB"/>
          </a:solidFill>
          <a:ln w="12700">
            <a:solidFill>
              <a:srgbClr val="2563EB"/>
            </a:solidFill>
            <a:prstDash val="solid"/>
          </a:ln>
        </p:spPr>
      </p:sp>
      <p:sp>
        <p:nvSpPr>
          <p:cNvPr id="11" name="Text 9"/>
          <p:cNvSpPr/>
          <p:nvPr/>
        </p:nvSpPr>
        <p:spPr>
          <a:xfrm>
            <a:off x="6537960" y="457200"/>
            <a:ext cx="2468880" cy="27432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비고</a:t>
            </a:r>
            <a:endParaRPr lang="en-US" sz="1000" dirty="0"/>
          </a:p>
        </p:txBody>
      </p:sp>
      <p:sp>
        <p:nvSpPr>
          <p:cNvPr id="12" name="Shape 10"/>
          <p:cNvSpPr/>
          <p:nvPr/>
        </p:nvSpPr>
        <p:spPr>
          <a:xfrm>
            <a:off x="91440" y="731520"/>
            <a:ext cx="3200400" cy="329184"/>
          </a:xfrm>
          <a:prstGeom prst="rect">
            <a:avLst/>
          </a:prstGeom>
          <a:solidFill>
            <a:srgbClr val="F8F9FA"/>
          </a:solidFill>
          <a:ln w="12700">
            <a:solidFill>
              <a:srgbClr val="E2E8F0"/>
            </a:solidFill>
            <a:prstDash val="solid"/>
          </a:ln>
        </p:spPr>
      </p:sp>
      <p:sp>
        <p:nvSpPr>
          <p:cNvPr id="13" name="Text 11"/>
          <p:cNvSpPr/>
          <p:nvPr/>
        </p:nvSpPr>
        <p:spPr>
          <a:xfrm>
            <a:off x="137160" y="73152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VAMM (베트남이륜차제조사협회) EPR 재활용</a:t>
            </a:r>
            <a:endParaRPr lang="en-US" sz="900" dirty="0"/>
          </a:p>
        </p:txBody>
      </p:sp>
      <p:sp>
        <p:nvSpPr>
          <p:cNvPr id="14" name="Shape 12"/>
          <p:cNvSpPr/>
          <p:nvPr/>
        </p:nvSpPr>
        <p:spPr>
          <a:xfrm>
            <a:off x="3291840" y="731520"/>
            <a:ext cx="1371600" cy="329184"/>
          </a:xfrm>
          <a:prstGeom prst="rect">
            <a:avLst/>
          </a:prstGeom>
          <a:solidFill>
            <a:srgbClr val="F8F9FA"/>
          </a:solidFill>
          <a:ln w="12700">
            <a:solidFill>
              <a:srgbClr val="E2E8F0"/>
            </a:solidFill>
            <a:prstDash val="solid"/>
          </a:ln>
        </p:spPr>
      </p:sp>
      <p:sp>
        <p:nvSpPr>
          <p:cNvPr id="15" name="Text 13"/>
          <p:cNvSpPr/>
          <p:nvPr/>
        </p:nvSpPr>
        <p:spPr>
          <a:xfrm>
            <a:off x="3337560" y="73152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16" name="Shape 14"/>
          <p:cNvSpPr/>
          <p:nvPr/>
        </p:nvSpPr>
        <p:spPr>
          <a:xfrm>
            <a:off x="4663440" y="731520"/>
            <a:ext cx="1828800" cy="329184"/>
          </a:xfrm>
          <a:prstGeom prst="rect">
            <a:avLst/>
          </a:prstGeom>
          <a:solidFill>
            <a:srgbClr val="F8F9FA"/>
          </a:solidFill>
          <a:ln w="12700">
            <a:solidFill>
              <a:srgbClr val="E2E8F0"/>
            </a:solidFill>
            <a:prstDash val="solid"/>
          </a:ln>
        </p:spPr>
      </p:sp>
      <p:sp>
        <p:nvSpPr>
          <p:cNvPr id="17" name="Text 15"/>
          <p:cNvSpPr/>
          <p:nvPr/>
        </p:nvSpPr>
        <p:spPr>
          <a:xfrm>
            <a:off x="4709160" y="73152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축전지·타이어·윤활유 폐기물 처리</a:t>
            </a:r>
            <a:endParaRPr lang="en-US" sz="900" dirty="0"/>
          </a:p>
        </p:txBody>
      </p:sp>
      <p:sp>
        <p:nvSpPr>
          <p:cNvPr id="18" name="Shape 16"/>
          <p:cNvSpPr/>
          <p:nvPr/>
        </p:nvSpPr>
        <p:spPr>
          <a:xfrm>
            <a:off x="6492240" y="731520"/>
            <a:ext cx="2560320" cy="329184"/>
          </a:xfrm>
          <a:prstGeom prst="rect">
            <a:avLst/>
          </a:prstGeom>
          <a:solidFill>
            <a:srgbClr val="F8F9FA"/>
          </a:solidFill>
          <a:ln w="12700">
            <a:solidFill>
              <a:srgbClr val="E2E8F0"/>
            </a:solidFill>
            <a:prstDash val="solid"/>
          </a:ln>
        </p:spPr>
      </p:sp>
      <p:sp>
        <p:nvSpPr>
          <p:cNvPr id="19" name="Text 17"/>
          <p:cNvSpPr/>
          <p:nvPr/>
        </p:nvSpPr>
        <p:spPr>
          <a:xfrm>
            <a:off x="6537960" y="73152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EPR 위임 재활용 수행 기관</a:t>
            </a:r>
            <a:endParaRPr lang="en-US" sz="900" dirty="0"/>
          </a:p>
        </p:txBody>
      </p:sp>
      <p:sp>
        <p:nvSpPr>
          <p:cNvPr id="20" name="Shape 18"/>
          <p:cNvSpPr/>
          <p:nvPr/>
        </p:nvSpPr>
        <p:spPr>
          <a:xfrm>
            <a:off x="91440" y="1078992"/>
            <a:ext cx="3200400" cy="329184"/>
          </a:xfrm>
          <a:prstGeom prst="rect">
            <a:avLst/>
          </a:prstGeom>
          <a:solidFill>
            <a:srgbClr val="FFFFFF"/>
          </a:solidFill>
          <a:ln w="12700">
            <a:solidFill>
              <a:srgbClr val="E2E8F0"/>
            </a:solidFill>
            <a:prstDash val="solid"/>
          </a:ln>
        </p:spPr>
      </p:sp>
      <p:sp>
        <p:nvSpPr>
          <p:cNvPr id="21" name="Text 19"/>
          <p:cNvSpPr/>
          <p:nvPr/>
        </p:nvSpPr>
        <p:spPr>
          <a:xfrm>
            <a:off x="137160" y="107899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PRO Vietnam 포장재 재활용</a:t>
            </a:r>
            <a:endParaRPr lang="en-US" sz="900" dirty="0"/>
          </a:p>
        </p:txBody>
      </p:sp>
      <p:sp>
        <p:nvSpPr>
          <p:cNvPr id="22" name="Shape 20"/>
          <p:cNvSpPr/>
          <p:nvPr/>
        </p:nvSpPr>
        <p:spPr>
          <a:xfrm>
            <a:off x="3291840" y="1078992"/>
            <a:ext cx="1371600" cy="329184"/>
          </a:xfrm>
          <a:prstGeom prst="rect">
            <a:avLst/>
          </a:prstGeom>
          <a:solidFill>
            <a:srgbClr val="FFFFFF"/>
          </a:solidFill>
          <a:ln w="12700">
            <a:solidFill>
              <a:srgbClr val="E2E8F0"/>
            </a:solidFill>
            <a:prstDash val="solid"/>
          </a:ln>
        </p:spPr>
      </p:sp>
      <p:sp>
        <p:nvSpPr>
          <p:cNvPr id="23" name="Text 21"/>
          <p:cNvSpPr/>
          <p:nvPr/>
        </p:nvSpPr>
        <p:spPr>
          <a:xfrm>
            <a:off x="3337560" y="107899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호치민시</a:t>
            </a:r>
            <a:endParaRPr lang="en-US" sz="900" dirty="0"/>
          </a:p>
        </p:txBody>
      </p:sp>
      <p:sp>
        <p:nvSpPr>
          <p:cNvPr id="24" name="Shape 22"/>
          <p:cNvSpPr/>
          <p:nvPr/>
        </p:nvSpPr>
        <p:spPr>
          <a:xfrm>
            <a:off x="4663440" y="1078992"/>
            <a:ext cx="1828800" cy="329184"/>
          </a:xfrm>
          <a:prstGeom prst="rect">
            <a:avLst/>
          </a:prstGeom>
          <a:solidFill>
            <a:srgbClr val="FFFFFF"/>
          </a:solidFill>
          <a:ln w="12700">
            <a:solidFill>
              <a:srgbClr val="E2E8F0"/>
            </a:solidFill>
            <a:prstDash val="solid"/>
          </a:ln>
        </p:spPr>
      </p:sp>
      <p:sp>
        <p:nvSpPr>
          <p:cNvPr id="25" name="Text 23"/>
          <p:cNvSpPr/>
          <p:nvPr/>
        </p:nvSpPr>
        <p:spPr>
          <a:xfrm>
            <a:off x="4709160" y="107899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플라스틱/포장재 자원 순환</a:t>
            </a:r>
            <a:endParaRPr lang="en-US" sz="900" dirty="0"/>
          </a:p>
        </p:txBody>
      </p:sp>
      <p:sp>
        <p:nvSpPr>
          <p:cNvPr id="26" name="Shape 24"/>
          <p:cNvSpPr/>
          <p:nvPr/>
        </p:nvSpPr>
        <p:spPr>
          <a:xfrm>
            <a:off x="6492240" y="1078992"/>
            <a:ext cx="2560320" cy="329184"/>
          </a:xfrm>
          <a:prstGeom prst="rect">
            <a:avLst/>
          </a:prstGeom>
          <a:solidFill>
            <a:srgbClr val="FFFFFF"/>
          </a:solidFill>
          <a:ln w="12700">
            <a:solidFill>
              <a:srgbClr val="E2E8F0"/>
            </a:solidFill>
            <a:prstDash val="solid"/>
          </a:ln>
        </p:spPr>
      </p:sp>
      <p:sp>
        <p:nvSpPr>
          <p:cNvPr id="27" name="Text 25"/>
          <p:cNvSpPr/>
          <p:nvPr/>
        </p:nvSpPr>
        <p:spPr>
          <a:xfrm>
            <a:off x="6537960" y="107899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위임 재활용 연합체</a:t>
            </a:r>
            <a:endParaRPr lang="en-US" sz="900" dirty="0"/>
          </a:p>
        </p:txBody>
      </p:sp>
      <p:sp>
        <p:nvSpPr>
          <p:cNvPr id="28" name="Shape 26"/>
          <p:cNvSpPr/>
          <p:nvPr/>
        </p:nvSpPr>
        <p:spPr>
          <a:xfrm>
            <a:off x="91440" y="1426464"/>
            <a:ext cx="3200400" cy="329184"/>
          </a:xfrm>
          <a:prstGeom prst="rect">
            <a:avLst/>
          </a:prstGeom>
          <a:solidFill>
            <a:srgbClr val="F8F9FA"/>
          </a:solidFill>
          <a:ln w="12700">
            <a:solidFill>
              <a:srgbClr val="E2E8F0"/>
            </a:solidFill>
            <a:prstDash val="solid"/>
          </a:ln>
        </p:spPr>
      </p:sp>
      <p:sp>
        <p:nvSpPr>
          <p:cNvPr id="29" name="Text 27"/>
          <p:cNvSpPr/>
          <p:nvPr/>
        </p:nvSpPr>
        <p:spPr>
          <a:xfrm>
            <a:off x="137160" y="142646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ALBA Asia + VietCycle 합작 PET/HDPE 공장</a:t>
            </a:r>
            <a:endParaRPr lang="en-US" sz="900" dirty="0"/>
          </a:p>
        </p:txBody>
      </p:sp>
      <p:sp>
        <p:nvSpPr>
          <p:cNvPr id="30" name="Shape 28"/>
          <p:cNvSpPr/>
          <p:nvPr/>
        </p:nvSpPr>
        <p:spPr>
          <a:xfrm>
            <a:off x="3291840" y="1426464"/>
            <a:ext cx="1371600" cy="329184"/>
          </a:xfrm>
          <a:prstGeom prst="rect">
            <a:avLst/>
          </a:prstGeom>
          <a:solidFill>
            <a:srgbClr val="F8F9FA"/>
          </a:solidFill>
          <a:ln w="12700">
            <a:solidFill>
              <a:srgbClr val="E2E8F0"/>
            </a:solidFill>
            <a:prstDash val="solid"/>
          </a:ln>
        </p:spPr>
      </p:sp>
      <p:sp>
        <p:nvSpPr>
          <p:cNvPr id="31" name="Text 29"/>
          <p:cNvSpPr/>
          <p:nvPr/>
        </p:nvSpPr>
        <p:spPr>
          <a:xfrm>
            <a:off x="3337560" y="142646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베트남 남부</a:t>
            </a:r>
            <a:endParaRPr lang="en-US" sz="900" dirty="0"/>
          </a:p>
        </p:txBody>
      </p:sp>
      <p:sp>
        <p:nvSpPr>
          <p:cNvPr id="32" name="Shape 30"/>
          <p:cNvSpPr/>
          <p:nvPr/>
        </p:nvSpPr>
        <p:spPr>
          <a:xfrm>
            <a:off x="4663440" y="1426464"/>
            <a:ext cx="1828800" cy="329184"/>
          </a:xfrm>
          <a:prstGeom prst="rect">
            <a:avLst/>
          </a:prstGeom>
          <a:solidFill>
            <a:srgbClr val="F8F9FA"/>
          </a:solidFill>
          <a:ln w="12700">
            <a:solidFill>
              <a:srgbClr val="E2E8F0"/>
            </a:solidFill>
            <a:prstDash val="solid"/>
          </a:ln>
        </p:spPr>
      </p:sp>
      <p:sp>
        <p:nvSpPr>
          <p:cNvPr id="33" name="Text 31"/>
          <p:cNvSpPr/>
          <p:nvPr/>
        </p:nvSpPr>
        <p:spPr>
          <a:xfrm>
            <a:off x="4709160" y="142646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연간 48,000톤 / $50M</a:t>
            </a:r>
            <a:endParaRPr lang="en-US" sz="900" dirty="0"/>
          </a:p>
        </p:txBody>
      </p:sp>
      <p:sp>
        <p:nvSpPr>
          <p:cNvPr id="34" name="Shape 32"/>
          <p:cNvSpPr/>
          <p:nvPr/>
        </p:nvSpPr>
        <p:spPr>
          <a:xfrm>
            <a:off x="6492240" y="1426464"/>
            <a:ext cx="2560320" cy="329184"/>
          </a:xfrm>
          <a:prstGeom prst="rect">
            <a:avLst/>
          </a:prstGeom>
          <a:solidFill>
            <a:srgbClr val="F8F9FA"/>
          </a:solidFill>
          <a:ln w="12700">
            <a:solidFill>
              <a:srgbClr val="E2E8F0"/>
            </a:solidFill>
            <a:prstDash val="solid"/>
          </a:ln>
        </p:spPr>
      </p:sp>
      <p:sp>
        <p:nvSpPr>
          <p:cNvPr id="35" name="Text 33"/>
          <p:cNvSpPr/>
          <p:nvPr/>
        </p:nvSpPr>
        <p:spPr>
          <a:xfrm>
            <a:off x="6537960" y="142646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독일 ALBA 그룹 협력 기술</a:t>
            </a:r>
            <a:endParaRPr lang="en-US" sz="900" dirty="0"/>
          </a:p>
        </p:txBody>
      </p:sp>
      <p:sp>
        <p:nvSpPr>
          <p:cNvPr id="36" name="Shape 34"/>
          <p:cNvSpPr/>
          <p:nvPr/>
        </p:nvSpPr>
        <p:spPr>
          <a:xfrm>
            <a:off x="91440" y="1773936"/>
            <a:ext cx="3200400" cy="329184"/>
          </a:xfrm>
          <a:prstGeom prst="rect">
            <a:avLst/>
          </a:prstGeom>
          <a:solidFill>
            <a:srgbClr val="FFFFFF"/>
          </a:solidFill>
          <a:ln w="12700">
            <a:solidFill>
              <a:srgbClr val="E2E8F0"/>
            </a:solidFill>
            <a:prstDash val="solid"/>
          </a:ln>
        </p:spPr>
      </p:sp>
      <p:sp>
        <p:nvSpPr>
          <p:cNvPr id="37" name="Text 35"/>
          <p:cNvSpPr/>
          <p:nvPr/>
        </p:nvSpPr>
        <p:spPr>
          <a:xfrm>
            <a:off x="137160" y="177393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한-베 자원재활용 산업단지 (KEITI MOU)</a:t>
            </a:r>
            <a:endParaRPr lang="en-US" sz="900" dirty="0"/>
          </a:p>
        </p:txBody>
      </p:sp>
      <p:sp>
        <p:nvSpPr>
          <p:cNvPr id="38" name="Shape 36"/>
          <p:cNvSpPr/>
          <p:nvPr/>
        </p:nvSpPr>
        <p:spPr>
          <a:xfrm>
            <a:off x="3291840" y="1773936"/>
            <a:ext cx="1371600" cy="329184"/>
          </a:xfrm>
          <a:prstGeom prst="rect">
            <a:avLst/>
          </a:prstGeom>
          <a:solidFill>
            <a:srgbClr val="FFFFFF"/>
          </a:solidFill>
          <a:ln w="12700">
            <a:solidFill>
              <a:srgbClr val="E2E8F0"/>
            </a:solidFill>
            <a:prstDash val="solid"/>
          </a:ln>
        </p:spPr>
      </p:sp>
      <p:sp>
        <p:nvSpPr>
          <p:cNvPr id="39" name="Text 37"/>
          <p:cNvSpPr/>
          <p:nvPr/>
        </p:nvSpPr>
        <p:spPr>
          <a:xfrm>
            <a:off x="3337560" y="177393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미정</a:t>
            </a:r>
            <a:endParaRPr lang="en-US" sz="900" dirty="0"/>
          </a:p>
        </p:txBody>
      </p:sp>
      <p:sp>
        <p:nvSpPr>
          <p:cNvPr id="40" name="Shape 38"/>
          <p:cNvSpPr/>
          <p:nvPr/>
        </p:nvSpPr>
        <p:spPr>
          <a:xfrm>
            <a:off x="4663440" y="1773936"/>
            <a:ext cx="1828800" cy="329184"/>
          </a:xfrm>
          <a:prstGeom prst="rect">
            <a:avLst/>
          </a:prstGeom>
          <a:solidFill>
            <a:srgbClr val="FFFFFF"/>
          </a:solidFill>
          <a:ln w="12700">
            <a:solidFill>
              <a:srgbClr val="E2E8F0"/>
            </a:solidFill>
            <a:prstDash val="solid"/>
          </a:ln>
        </p:spPr>
      </p:sp>
      <p:sp>
        <p:nvSpPr>
          <p:cNvPr id="41" name="Text 39"/>
          <p:cNvSpPr/>
          <p:nvPr/>
        </p:nvSpPr>
        <p:spPr>
          <a:xfrm>
            <a:off x="4709160" y="177393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폐기물 자원화 솔루션</a:t>
            </a:r>
            <a:endParaRPr lang="en-US" sz="900" dirty="0"/>
          </a:p>
        </p:txBody>
      </p:sp>
      <p:sp>
        <p:nvSpPr>
          <p:cNvPr id="42" name="Shape 40"/>
          <p:cNvSpPr/>
          <p:nvPr/>
        </p:nvSpPr>
        <p:spPr>
          <a:xfrm>
            <a:off x="6492240" y="1773936"/>
            <a:ext cx="2560320" cy="329184"/>
          </a:xfrm>
          <a:prstGeom prst="rect">
            <a:avLst/>
          </a:prstGeom>
          <a:solidFill>
            <a:srgbClr val="FFFFFF"/>
          </a:solidFill>
          <a:ln w="12700">
            <a:solidFill>
              <a:srgbClr val="E2E8F0"/>
            </a:solidFill>
            <a:prstDash val="solid"/>
          </a:ln>
        </p:spPr>
      </p:sp>
      <p:sp>
        <p:nvSpPr>
          <p:cNvPr id="43" name="Text 41"/>
          <p:cNvSpPr/>
          <p:nvPr/>
        </p:nvSpPr>
        <p:spPr>
          <a:xfrm>
            <a:off x="6537960" y="177393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2024.7 MOU / 한국 환경부·KEITI 공동</a:t>
            </a:r>
            <a:endParaRPr lang="en-US" sz="900" dirty="0"/>
          </a:p>
        </p:txBody>
      </p:sp>
      <p:sp>
        <p:nvSpPr>
          <p:cNvPr id="44" name="Shape 42"/>
          <p:cNvSpPr/>
          <p:nvPr/>
        </p:nvSpPr>
        <p:spPr>
          <a:xfrm>
            <a:off x="91440" y="2121408"/>
            <a:ext cx="3200400" cy="329184"/>
          </a:xfrm>
          <a:prstGeom prst="rect">
            <a:avLst/>
          </a:prstGeom>
          <a:solidFill>
            <a:srgbClr val="F8F9FA"/>
          </a:solidFill>
          <a:ln w="12700">
            <a:solidFill>
              <a:srgbClr val="E2E8F0"/>
            </a:solidFill>
            <a:prstDash val="solid"/>
          </a:ln>
        </p:spPr>
      </p:sp>
      <p:sp>
        <p:nvSpPr>
          <p:cNvPr id="45" name="Text 43"/>
          <p:cNvSpPr/>
          <p:nvPr/>
        </p:nvSpPr>
        <p:spPr>
          <a:xfrm>
            <a:off x="137160" y="2121408"/>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JICA 다낭 3R 프로젝트</a:t>
            </a:r>
            <a:endParaRPr lang="en-US" sz="900" dirty="0"/>
          </a:p>
        </p:txBody>
      </p:sp>
      <p:sp>
        <p:nvSpPr>
          <p:cNvPr id="46" name="Shape 44"/>
          <p:cNvSpPr/>
          <p:nvPr/>
        </p:nvSpPr>
        <p:spPr>
          <a:xfrm>
            <a:off x="3291840" y="2121408"/>
            <a:ext cx="1371600" cy="329184"/>
          </a:xfrm>
          <a:prstGeom prst="rect">
            <a:avLst/>
          </a:prstGeom>
          <a:solidFill>
            <a:srgbClr val="F8F9FA"/>
          </a:solidFill>
          <a:ln w="12700">
            <a:solidFill>
              <a:srgbClr val="E2E8F0"/>
            </a:solidFill>
            <a:prstDash val="solid"/>
          </a:ln>
        </p:spPr>
      </p:sp>
      <p:sp>
        <p:nvSpPr>
          <p:cNvPr id="47" name="Text 45"/>
          <p:cNvSpPr/>
          <p:nvPr/>
        </p:nvSpPr>
        <p:spPr>
          <a:xfrm>
            <a:off x="3337560" y="2121408"/>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다낭시</a:t>
            </a:r>
            <a:endParaRPr lang="en-US" sz="900" dirty="0"/>
          </a:p>
        </p:txBody>
      </p:sp>
      <p:sp>
        <p:nvSpPr>
          <p:cNvPr id="48" name="Shape 46"/>
          <p:cNvSpPr/>
          <p:nvPr/>
        </p:nvSpPr>
        <p:spPr>
          <a:xfrm>
            <a:off x="4663440" y="2121408"/>
            <a:ext cx="1828800" cy="329184"/>
          </a:xfrm>
          <a:prstGeom prst="rect">
            <a:avLst/>
          </a:prstGeom>
          <a:solidFill>
            <a:srgbClr val="F8F9FA"/>
          </a:solidFill>
          <a:ln w="12700">
            <a:solidFill>
              <a:srgbClr val="E2E8F0"/>
            </a:solidFill>
            <a:prstDash val="solid"/>
          </a:ln>
        </p:spPr>
      </p:sp>
      <p:sp>
        <p:nvSpPr>
          <p:cNvPr id="49" name="Text 47"/>
          <p:cNvSpPr/>
          <p:nvPr/>
        </p:nvSpPr>
        <p:spPr>
          <a:xfrm>
            <a:off x="4709160" y="2121408"/>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109억 동 (2단계)</a:t>
            </a:r>
            <a:endParaRPr lang="en-US" sz="900" dirty="0"/>
          </a:p>
        </p:txBody>
      </p:sp>
      <p:sp>
        <p:nvSpPr>
          <p:cNvPr id="50" name="Shape 48"/>
          <p:cNvSpPr/>
          <p:nvPr/>
        </p:nvSpPr>
        <p:spPr>
          <a:xfrm>
            <a:off x="6492240" y="2121408"/>
            <a:ext cx="2560320" cy="329184"/>
          </a:xfrm>
          <a:prstGeom prst="rect">
            <a:avLst/>
          </a:prstGeom>
          <a:solidFill>
            <a:srgbClr val="F8F9FA"/>
          </a:solidFill>
          <a:ln w="12700">
            <a:solidFill>
              <a:srgbClr val="E2E8F0"/>
            </a:solidFill>
            <a:prstDash val="solid"/>
          </a:ln>
        </p:spPr>
      </p:sp>
      <p:sp>
        <p:nvSpPr>
          <p:cNvPr id="51" name="Text 49"/>
          <p:cNvSpPr/>
          <p:nvPr/>
        </p:nvSpPr>
        <p:spPr>
          <a:xfrm>
            <a:off x="6537960" y="2121408"/>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일본 ODA 지원 사업 준공</a:t>
            </a:r>
            <a:endParaRPr lang="en-US" sz="900" dirty="0"/>
          </a:p>
        </p:txBody>
      </p:sp>
      <p:sp>
        <p:nvSpPr>
          <p:cNvPr id="52" name="Shape 50"/>
          <p:cNvSpPr/>
          <p:nvPr/>
        </p:nvSpPr>
        <p:spPr>
          <a:xfrm>
            <a:off x="91440" y="2468880"/>
            <a:ext cx="3200400" cy="329184"/>
          </a:xfrm>
          <a:prstGeom prst="rect">
            <a:avLst/>
          </a:prstGeom>
          <a:solidFill>
            <a:srgbClr val="FFFFFF"/>
          </a:solidFill>
          <a:ln w="12700">
            <a:solidFill>
              <a:srgbClr val="E2E8F0"/>
            </a:solidFill>
            <a:prstDash val="solid"/>
          </a:ln>
        </p:spPr>
      </p:sp>
      <p:sp>
        <p:nvSpPr>
          <p:cNvPr id="53" name="Text 51"/>
          <p:cNvSpPr/>
          <p:nvPr/>
        </p:nvSpPr>
        <p:spPr>
          <a:xfrm>
            <a:off x="137160" y="2468880"/>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Thuan Thanh Environment JSC</a:t>
            </a:r>
            <a:endParaRPr lang="en-US" sz="900" dirty="0"/>
          </a:p>
        </p:txBody>
      </p:sp>
      <p:sp>
        <p:nvSpPr>
          <p:cNvPr id="54" name="Shape 52"/>
          <p:cNvSpPr/>
          <p:nvPr/>
        </p:nvSpPr>
        <p:spPr>
          <a:xfrm>
            <a:off x="3291840" y="2468880"/>
            <a:ext cx="1371600" cy="329184"/>
          </a:xfrm>
          <a:prstGeom prst="rect">
            <a:avLst/>
          </a:prstGeom>
          <a:solidFill>
            <a:srgbClr val="FFFFFF"/>
          </a:solidFill>
          <a:ln w="12700">
            <a:solidFill>
              <a:srgbClr val="E2E8F0"/>
            </a:solidFill>
            <a:prstDash val="solid"/>
          </a:ln>
        </p:spPr>
      </p:sp>
      <p:sp>
        <p:nvSpPr>
          <p:cNvPr id="55" name="Text 53"/>
          <p:cNvSpPr/>
          <p:nvPr/>
        </p:nvSpPr>
        <p:spPr>
          <a:xfrm>
            <a:off x="3337560" y="2468880"/>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박닌성</a:t>
            </a:r>
            <a:endParaRPr lang="en-US" sz="900" dirty="0"/>
          </a:p>
        </p:txBody>
      </p:sp>
      <p:sp>
        <p:nvSpPr>
          <p:cNvPr id="56" name="Shape 54"/>
          <p:cNvSpPr/>
          <p:nvPr/>
        </p:nvSpPr>
        <p:spPr>
          <a:xfrm>
            <a:off x="4663440" y="2468880"/>
            <a:ext cx="1828800" cy="329184"/>
          </a:xfrm>
          <a:prstGeom prst="rect">
            <a:avLst/>
          </a:prstGeom>
          <a:solidFill>
            <a:srgbClr val="FFFFFF"/>
          </a:solidFill>
          <a:ln w="12700">
            <a:solidFill>
              <a:srgbClr val="E2E8F0"/>
            </a:solidFill>
            <a:prstDash val="solid"/>
          </a:ln>
        </p:spPr>
      </p:sp>
      <p:sp>
        <p:nvSpPr>
          <p:cNvPr id="57" name="Text 55"/>
          <p:cNvSpPr/>
          <p:nvPr/>
        </p:nvSpPr>
        <p:spPr>
          <a:xfrm>
            <a:off x="4709160" y="2468880"/>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알루미늄/PET 경질 포장재</a:t>
            </a:r>
            <a:endParaRPr lang="en-US" sz="900" dirty="0"/>
          </a:p>
        </p:txBody>
      </p:sp>
      <p:sp>
        <p:nvSpPr>
          <p:cNvPr id="58" name="Shape 56"/>
          <p:cNvSpPr/>
          <p:nvPr/>
        </p:nvSpPr>
        <p:spPr>
          <a:xfrm>
            <a:off x="6492240" y="2468880"/>
            <a:ext cx="2560320" cy="329184"/>
          </a:xfrm>
          <a:prstGeom prst="rect">
            <a:avLst/>
          </a:prstGeom>
          <a:solidFill>
            <a:srgbClr val="FFFFFF"/>
          </a:solidFill>
          <a:ln w="12700">
            <a:solidFill>
              <a:srgbClr val="E2E8F0"/>
            </a:solidFill>
            <a:prstDash val="solid"/>
          </a:ln>
        </p:spPr>
      </p:sp>
      <p:sp>
        <p:nvSpPr>
          <p:cNvPr id="59" name="Text 57"/>
          <p:cNvSpPr/>
          <p:nvPr/>
        </p:nvSpPr>
        <p:spPr>
          <a:xfrm>
            <a:off x="6537960" y="2468880"/>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북부 주요 재활용 수행 업체</a:t>
            </a:r>
            <a:endParaRPr lang="en-US" sz="900" dirty="0"/>
          </a:p>
        </p:txBody>
      </p:sp>
      <p:sp>
        <p:nvSpPr>
          <p:cNvPr id="60" name="Shape 58"/>
          <p:cNvSpPr/>
          <p:nvPr/>
        </p:nvSpPr>
        <p:spPr>
          <a:xfrm>
            <a:off x="91440" y="2816352"/>
            <a:ext cx="3200400" cy="329184"/>
          </a:xfrm>
          <a:prstGeom prst="rect">
            <a:avLst/>
          </a:prstGeom>
          <a:solidFill>
            <a:srgbClr val="F8F9FA"/>
          </a:solidFill>
          <a:ln w="12700">
            <a:solidFill>
              <a:srgbClr val="E2E8F0"/>
            </a:solidFill>
            <a:prstDash val="solid"/>
          </a:ln>
        </p:spPr>
      </p:sp>
      <p:sp>
        <p:nvSpPr>
          <p:cNvPr id="61" name="Text 59"/>
          <p:cNvSpPr/>
          <p:nvPr/>
        </p:nvSpPr>
        <p:spPr>
          <a:xfrm>
            <a:off x="137160" y="2816352"/>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Duy Tan Recycling 시설 확장</a:t>
            </a:r>
            <a:endParaRPr lang="en-US" sz="900" dirty="0"/>
          </a:p>
        </p:txBody>
      </p:sp>
      <p:sp>
        <p:nvSpPr>
          <p:cNvPr id="62" name="Shape 60"/>
          <p:cNvSpPr/>
          <p:nvPr/>
        </p:nvSpPr>
        <p:spPr>
          <a:xfrm>
            <a:off x="3291840" y="2816352"/>
            <a:ext cx="1371600" cy="329184"/>
          </a:xfrm>
          <a:prstGeom prst="rect">
            <a:avLst/>
          </a:prstGeom>
          <a:solidFill>
            <a:srgbClr val="F8F9FA"/>
          </a:solidFill>
          <a:ln w="12700">
            <a:solidFill>
              <a:srgbClr val="E2E8F0"/>
            </a:solidFill>
            <a:prstDash val="solid"/>
          </a:ln>
        </p:spPr>
      </p:sp>
      <p:sp>
        <p:nvSpPr>
          <p:cNvPr id="63" name="Text 61"/>
          <p:cNvSpPr/>
          <p:nvPr/>
        </p:nvSpPr>
        <p:spPr>
          <a:xfrm>
            <a:off x="3337560" y="2816352"/>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롱안성</a:t>
            </a:r>
            <a:endParaRPr lang="en-US" sz="900" dirty="0"/>
          </a:p>
        </p:txBody>
      </p:sp>
      <p:sp>
        <p:nvSpPr>
          <p:cNvPr id="64" name="Shape 62"/>
          <p:cNvSpPr/>
          <p:nvPr/>
        </p:nvSpPr>
        <p:spPr>
          <a:xfrm>
            <a:off x="4663440" y="2816352"/>
            <a:ext cx="1828800" cy="329184"/>
          </a:xfrm>
          <a:prstGeom prst="rect">
            <a:avLst/>
          </a:prstGeom>
          <a:solidFill>
            <a:srgbClr val="F8F9FA"/>
          </a:solidFill>
          <a:ln w="12700">
            <a:solidFill>
              <a:srgbClr val="E2E8F0"/>
            </a:solidFill>
            <a:prstDash val="solid"/>
          </a:ln>
        </p:spPr>
      </p:sp>
      <p:sp>
        <p:nvSpPr>
          <p:cNvPr id="65" name="Text 63"/>
          <p:cNvSpPr/>
          <p:nvPr/>
        </p:nvSpPr>
        <p:spPr>
          <a:xfrm>
            <a:off x="4709160" y="2816352"/>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현재 연 6만 톤 → 연 10만 톤 확장</a:t>
            </a:r>
            <a:endParaRPr lang="en-US" sz="900" dirty="0"/>
          </a:p>
        </p:txBody>
      </p:sp>
      <p:sp>
        <p:nvSpPr>
          <p:cNvPr id="66" name="Shape 64"/>
          <p:cNvSpPr/>
          <p:nvPr/>
        </p:nvSpPr>
        <p:spPr>
          <a:xfrm>
            <a:off x="6492240" y="2816352"/>
            <a:ext cx="2560320" cy="329184"/>
          </a:xfrm>
          <a:prstGeom prst="rect">
            <a:avLst/>
          </a:prstGeom>
          <a:solidFill>
            <a:srgbClr val="F8F9FA"/>
          </a:solidFill>
          <a:ln w="12700">
            <a:solidFill>
              <a:srgbClr val="E2E8F0"/>
            </a:solidFill>
            <a:prstDash val="solid"/>
          </a:ln>
        </p:spPr>
      </p:sp>
      <p:sp>
        <p:nvSpPr>
          <p:cNvPr id="67" name="Text 65"/>
          <p:cNvSpPr/>
          <p:nvPr/>
        </p:nvSpPr>
        <p:spPr>
          <a:xfrm>
            <a:off x="6537960" y="2816352"/>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12개국 수출 레퍼런스 보유, 확장 추진</a:t>
            </a:r>
            <a:endParaRPr lang="en-US" sz="900" dirty="0"/>
          </a:p>
        </p:txBody>
      </p:sp>
      <p:sp>
        <p:nvSpPr>
          <p:cNvPr id="68" name="Shape 66"/>
          <p:cNvSpPr/>
          <p:nvPr/>
        </p:nvSpPr>
        <p:spPr>
          <a:xfrm>
            <a:off x="91440" y="3163824"/>
            <a:ext cx="3200400" cy="329184"/>
          </a:xfrm>
          <a:prstGeom prst="rect">
            <a:avLst/>
          </a:prstGeom>
          <a:solidFill>
            <a:srgbClr val="FFFFFF"/>
          </a:solidFill>
          <a:ln w="12700">
            <a:solidFill>
              <a:srgbClr val="E2E8F0"/>
            </a:solidFill>
            <a:prstDash val="solid"/>
          </a:ln>
        </p:spPr>
      </p:sp>
      <p:sp>
        <p:nvSpPr>
          <p:cNvPr id="69" name="Text 67"/>
          <p:cNvSpPr/>
          <p:nvPr/>
        </p:nvSpPr>
        <p:spPr>
          <a:xfrm>
            <a:off x="137160" y="3163824"/>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Mien Dong Environment JSC</a:t>
            </a:r>
            <a:endParaRPr lang="en-US" sz="900" dirty="0"/>
          </a:p>
        </p:txBody>
      </p:sp>
      <p:sp>
        <p:nvSpPr>
          <p:cNvPr id="70" name="Shape 68"/>
          <p:cNvSpPr/>
          <p:nvPr/>
        </p:nvSpPr>
        <p:spPr>
          <a:xfrm>
            <a:off x="3291840" y="3163824"/>
            <a:ext cx="1371600" cy="329184"/>
          </a:xfrm>
          <a:prstGeom prst="rect">
            <a:avLst/>
          </a:prstGeom>
          <a:solidFill>
            <a:srgbClr val="FFFFFF"/>
          </a:solidFill>
          <a:ln w="12700">
            <a:solidFill>
              <a:srgbClr val="E2E8F0"/>
            </a:solidFill>
            <a:prstDash val="solid"/>
          </a:ln>
        </p:spPr>
      </p:sp>
      <p:sp>
        <p:nvSpPr>
          <p:cNvPr id="71" name="Text 69"/>
          <p:cNvSpPr/>
          <p:nvPr/>
        </p:nvSpPr>
        <p:spPr>
          <a:xfrm>
            <a:off x="3337560" y="3163824"/>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빈푹성</a:t>
            </a:r>
            <a:endParaRPr lang="en-US" sz="900" dirty="0"/>
          </a:p>
        </p:txBody>
      </p:sp>
      <p:sp>
        <p:nvSpPr>
          <p:cNvPr id="72" name="Shape 70"/>
          <p:cNvSpPr/>
          <p:nvPr/>
        </p:nvSpPr>
        <p:spPr>
          <a:xfrm>
            <a:off x="4663440" y="3163824"/>
            <a:ext cx="1828800" cy="329184"/>
          </a:xfrm>
          <a:prstGeom prst="rect">
            <a:avLst/>
          </a:prstGeom>
          <a:solidFill>
            <a:srgbClr val="FFFFFF"/>
          </a:solidFill>
          <a:ln w="12700">
            <a:solidFill>
              <a:srgbClr val="E2E8F0"/>
            </a:solidFill>
            <a:prstDash val="solid"/>
          </a:ln>
        </p:spPr>
      </p:sp>
      <p:sp>
        <p:nvSpPr>
          <p:cNvPr id="73" name="Text 71"/>
          <p:cNvSpPr/>
          <p:nvPr/>
        </p:nvSpPr>
        <p:spPr>
          <a:xfrm>
            <a:off x="4709160" y="3163824"/>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축전지·전자 폐기물 처리</a:t>
            </a:r>
            <a:endParaRPr lang="en-US" sz="900" dirty="0"/>
          </a:p>
        </p:txBody>
      </p:sp>
      <p:sp>
        <p:nvSpPr>
          <p:cNvPr id="74" name="Shape 72"/>
          <p:cNvSpPr/>
          <p:nvPr/>
        </p:nvSpPr>
        <p:spPr>
          <a:xfrm>
            <a:off x="6492240" y="3163824"/>
            <a:ext cx="2560320" cy="329184"/>
          </a:xfrm>
          <a:prstGeom prst="rect">
            <a:avLst/>
          </a:prstGeom>
          <a:solidFill>
            <a:srgbClr val="FFFFFF"/>
          </a:solidFill>
          <a:ln w="12700">
            <a:solidFill>
              <a:srgbClr val="E2E8F0"/>
            </a:solidFill>
            <a:prstDash val="solid"/>
          </a:ln>
        </p:spPr>
      </p:sp>
      <p:sp>
        <p:nvSpPr>
          <p:cNvPr id="75" name="Text 73"/>
          <p:cNvSpPr/>
          <p:nvPr/>
        </p:nvSpPr>
        <p:spPr>
          <a:xfrm>
            <a:off x="6537960" y="3163824"/>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전자/산업 폐기물 재활용</a:t>
            </a:r>
            <a:endParaRPr lang="en-US" sz="900" dirty="0"/>
          </a:p>
        </p:txBody>
      </p:sp>
      <p:sp>
        <p:nvSpPr>
          <p:cNvPr id="76" name="Shape 74"/>
          <p:cNvSpPr/>
          <p:nvPr/>
        </p:nvSpPr>
        <p:spPr>
          <a:xfrm>
            <a:off x="91440" y="3511296"/>
            <a:ext cx="3200400" cy="329184"/>
          </a:xfrm>
          <a:prstGeom prst="rect">
            <a:avLst/>
          </a:prstGeom>
          <a:solidFill>
            <a:srgbClr val="F8F9FA"/>
          </a:solidFill>
          <a:ln w="12700">
            <a:solidFill>
              <a:srgbClr val="E2E8F0"/>
            </a:solidFill>
            <a:prstDash val="solid"/>
          </a:ln>
        </p:spPr>
      </p:sp>
      <p:sp>
        <p:nvSpPr>
          <p:cNvPr id="77" name="Text 75"/>
          <p:cNvSpPr/>
          <p:nvPr/>
        </p:nvSpPr>
        <p:spPr>
          <a:xfrm>
            <a:off x="137160" y="3511296"/>
            <a:ext cx="31089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Stavian Plastic Recycling Complex</a:t>
            </a:r>
            <a:endParaRPr lang="en-US" sz="900" dirty="0"/>
          </a:p>
        </p:txBody>
      </p:sp>
      <p:sp>
        <p:nvSpPr>
          <p:cNvPr id="78" name="Shape 76"/>
          <p:cNvSpPr/>
          <p:nvPr/>
        </p:nvSpPr>
        <p:spPr>
          <a:xfrm>
            <a:off x="3291840" y="3511296"/>
            <a:ext cx="1371600" cy="329184"/>
          </a:xfrm>
          <a:prstGeom prst="rect">
            <a:avLst/>
          </a:prstGeom>
          <a:solidFill>
            <a:srgbClr val="F8F9FA"/>
          </a:solidFill>
          <a:ln w="12700">
            <a:solidFill>
              <a:srgbClr val="E2E8F0"/>
            </a:solidFill>
            <a:prstDash val="solid"/>
          </a:ln>
        </p:spPr>
      </p:sp>
      <p:sp>
        <p:nvSpPr>
          <p:cNvPr id="79" name="Text 77"/>
          <p:cNvSpPr/>
          <p:nvPr/>
        </p:nvSpPr>
        <p:spPr>
          <a:xfrm>
            <a:off x="3337560" y="3511296"/>
            <a:ext cx="12801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타인호아성 응이선 경제구역 (CN2-1)</a:t>
            </a:r>
            <a:endParaRPr lang="en-US" sz="900" dirty="0"/>
          </a:p>
        </p:txBody>
      </p:sp>
      <p:sp>
        <p:nvSpPr>
          <p:cNvPr id="80" name="Shape 78"/>
          <p:cNvSpPr/>
          <p:nvPr/>
        </p:nvSpPr>
        <p:spPr>
          <a:xfrm>
            <a:off x="4663440" y="3511296"/>
            <a:ext cx="1828800" cy="329184"/>
          </a:xfrm>
          <a:prstGeom prst="rect">
            <a:avLst/>
          </a:prstGeom>
          <a:solidFill>
            <a:srgbClr val="F8F9FA"/>
          </a:solidFill>
          <a:ln w="12700">
            <a:solidFill>
              <a:srgbClr val="E2E8F0"/>
            </a:solidFill>
            <a:prstDash val="solid"/>
          </a:ln>
        </p:spPr>
      </p:sp>
      <p:sp>
        <p:nvSpPr>
          <p:cNvPr id="81" name="Text 79"/>
          <p:cNvSpPr/>
          <p:nvPr/>
        </p:nvSpPr>
        <p:spPr>
          <a:xfrm>
            <a:off x="4709160" y="3511296"/>
            <a:ext cx="173736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1단계 연 약 17,000톤</a:t>
            </a:r>
            <a:endParaRPr lang="en-US" sz="900" dirty="0"/>
          </a:p>
        </p:txBody>
      </p:sp>
      <p:sp>
        <p:nvSpPr>
          <p:cNvPr id="82" name="Shape 80"/>
          <p:cNvSpPr/>
          <p:nvPr/>
        </p:nvSpPr>
        <p:spPr>
          <a:xfrm>
            <a:off x="6492240" y="3511296"/>
            <a:ext cx="2560320" cy="329184"/>
          </a:xfrm>
          <a:prstGeom prst="rect">
            <a:avLst/>
          </a:prstGeom>
          <a:solidFill>
            <a:srgbClr val="F8F9FA"/>
          </a:solidFill>
          <a:ln w="12700">
            <a:solidFill>
              <a:srgbClr val="E2E8F0"/>
            </a:solidFill>
            <a:prstDash val="solid"/>
          </a:ln>
        </p:spPr>
      </p:sp>
      <p:sp>
        <p:nvSpPr>
          <p:cNvPr id="83" name="Text 81"/>
          <p:cNvSpPr/>
          <p:nvPr/>
        </p:nvSpPr>
        <p:spPr>
          <a:xfrm>
            <a:off x="6537960" y="3511296"/>
            <a:ext cx="2468880" cy="329184"/>
          </a:xfrm>
          <a:prstGeom prst="rect">
            <a:avLst/>
          </a:prstGeom>
          <a:noFill/>
          <a:ln/>
        </p:spPr>
        <p:txBody>
          <a:bodyPr wrap="square" rtlCol="0" anchor="ctr"/>
          <a:lstStyle/>
          <a:p>
            <a:pPr indent="0" marL="0">
              <a:buNone/>
            </a:pPr>
            <a:r>
              <a:rPr lang="en-US" sz="900" dirty="0">
                <a:solidFill>
                  <a:srgbClr val="1A1A1A"/>
                </a:solidFill>
                <a:latin typeface="Arial" pitchFamily="34" charset="0"/>
                <a:ea typeface="Arial" pitchFamily="34" charset="-122"/>
                <a:cs typeface="Arial" pitchFamily="34" charset="-120"/>
              </a:rPr>
              <a:t>2025.7.24 IRC 승인, 2027.Q1 가동 목표</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VN-ENV-NATURA</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자연환경 보전 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149/QD-TTg (2022.1.28)</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베트남 생물다양성 보전 + 자연자원 지속가능 이용 국가전략(Decision 149/QD-TTg, 2022.1.28) [확인됨]. 2030년까지 보호구역 9% (육상)/3-5% (해양) 확대, 적색목록종 복원, Cat Tien NP·Phong Nha-Ke Bang 등 국립공원 운영 강화를 목표로 합니다.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육상 보호구역 비율</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9%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7.6% (2024)</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해양 보호구역 비율</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3~5% (2030)</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0.24% (2024)</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Cat Tien 국립공원 보전 프로젝트</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Nai | 72,000 ha</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WWF·USAID 지원</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Phong Nha-Ke Bang World Heritage</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Quang Binh | 123,000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UNESCO 등재 관리 사업</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GEF-7 Biodiversity Project</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5개 지역 | $15M</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GEF/UNDP 공동 시행</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Environment  |  환경 인프라 (Environment)  |  Decision 149/QD-TTg (2022.1.28)</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D97706"/>
          </a:solidFill>
          <a:ln w="12700">
            <a:solidFill>
              <a:srgbClr val="D97706"/>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에너지·전력</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D97706"/>
                </a:solidFill>
                <a:latin typeface="Arial" pitchFamily="34" charset="0"/>
                <a:ea typeface="Arial" pitchFamily="34" charset="-122"/>
                <a:cs typeface="Arial" pitchFamily="34" charset="-120"/>
              </a:rPr>
              <a:t>Energy &amp; Power</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D97706"/>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(통합)</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D97706"/>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VN-PWR-PDP8-LNG</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LNG 발전 인수보장 + 닌투언 LNG 허브</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D97706"/>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VN-PWR-PDP8-NUCLEAR</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원자력 재개 — Resolution 70-NQ/TW (2025) / 닌투언 1·2호기</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D97706"/>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VN-PWR-PDP8-RENEWABLE</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전력개발계획 PDP8 개정 — 해상풍력·태양광·DPPA</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D97706"/>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VN-OG-2030</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석유·가스 개발전략 2030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(통합)</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500/QD-TTg (2023.5.15) + 768 (2025.4.15)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PDP8 — 베트남 8차 전력개발계획. Decision 768/QD-TTg 개정으로 2030년 총 발전설비 목표가 183~236GW로 상향되었습니다. 2025년말 실적은 EVN 발표 기준 87,600MW(아세안 2위)이며 2026년 상반기 발전량은 1,715억 kWh(+9.85% YoY)를 기록했습니다.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총 발전설비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183,291~236,363 MW (약183~236GW)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87,600 MW (2025년말 EVN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재생에너지 비중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30~39%</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12.9% (2026 상반기 발전믹스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남북 전력 밸런스 개선용 500kV 3선</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초고압망 | 500kV 초고압 송전 (HVAC)</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남북 전력 불균형 극복 완공</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Nhon Trach 3 &amp; 4</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1,624MW</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 Power 주도 베트남 최초 대형 LNG 가동 임박</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LNG Quang Trach II</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꽝빈성 | 1,500MW</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정부공문 54/TB-VPCP에 따라 석탄에서 전환</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빈떤 III (Vinh Tan III) 석탄화력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빈투언성 | 1,980MW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자금조달 난항으로 지연 프로젝트 지정</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500/QD-TTg (2023.5.15) + 768 (2025.4.15)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VN-PWR-PDP8-LNG</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LNG 발전 인수보장 + 닌투언 LNG 허브</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Decree 100/2025/ND-CP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Decree 100/2025/ND-CP(2025.5.8) [확인됨]은 수입 LNG 발전사업의 최소 장기 인수량(Qc)을 다년 평균발전량 대비 65% 이상으로 보장하고, 최대 10년간 요금 전가 메커니즘을 법제화했습니다. 대형 하이퐁 LNG(4.8GW) 사업은 빈그룹의 공식 철회 제안으로 재생에너지 전환이 논의 중이나, 응에안성 Quynh Lap LNG(1.5GW, SK Innovation 컨소시엄)는 공식 착공을 완료했습니다.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LNG 발전 용량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22,524 MW (PDP8 개정치)</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3,000 MW 운영 중</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최소 장기 인수량(Qc)</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65% (COD 후 최대 10년)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100 시행으로 법제화 완료</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까나 (Ca Na) LNG 1단계</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1,500MW, 약 US$21.3억</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2026.4.10 Trung Nam-Sideros 투자계약, EIA 심사 중</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티바이 (Thi Vai) LNG Terminal</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바리아붕따우 | 연 100만 톤 → 300만 톤 확장</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베트남 최초 LNG 터미널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응에안성 Quynh Lap LNG</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응에안성 | 1,500MW급, US$23억</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SK Innovation-PV Power 컨소시엄 수주 및 착공</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하이퐁 LNG 발전소 사업</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 | 4.8GW</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빈그룹 개발 철회 제안 및 BESS 하이브리드 전환 검토</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Decree 100/2025/ND-CP</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VN-PWR-PDP8-NUCLEAR</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원자력 재개 — Resolution 70-NQ/TW (2025) / 닌투언 1·2호기</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70-NQ/TW (2025.8.20) / Law on Atomic Energy No. 11/2025/QH15</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8월 정치국 결의(Resolution 70-NQ/TW)로 원자력 재개 추진이 공식화됐다. 2026년 7월 16일 범정부 회의에서 닌투언 원전 사업을 닌투언 1(EVN 주도), 닌투언 2(Petrovietnam 주도), 이주 보상 사업 등 3개 독립 프로젝트로 분할 개편을 승인했습니다. 닌투언 1호기는 러시아 로사톰(Rosatom)과, 닌투언 2호기는 KEPCO-PVN 예비 합의를 바탕으로 협의가 가속화되고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원자력 발전 용량 (2035)</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4,000 MW (2035 목표)</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768 신규 반영</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1호기 (Ninh Thuan 1)</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EVN 주도 독립 프로젝트 분할, Rosatom 협정</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2호기 (Ninh Thuan 2)</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2,000 MW</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Petrovietnam 주도 분할, KEPCO 예비 협의</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닌투언 원전 부지 보상 및 주민 이주 독립 프로젝트</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닌투언성 | N/A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독립 트랙 분리 승인, 부지 보상 74.6% 진행</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SMR 소형모듈원전 도입 검토</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검토지 | 10~15기 분산배치 검토</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2040년대 청정 분산 전원 로드맵</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Resolution 70-NQ/TW (2025.8.20) / Law on Atomic Energy No. 11/2025/QH15</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VN-PWR-PDP8-RENEWABLE</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전력개발계획 PDP8 개정 — 해상풍력·태양광·DPPA</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768/QD-TTg / Decree 243/2026/ND-CP</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2025년 4월 Decision 768로 PDP8이 전면 개정되며 해상풍력 목표가 대폭 늘었습니다. 2026년 6월 26일 발효된 Decree 243/2026/ND-CP를 통해 DPPA 참여 범위에 산업단지 소매업자, 데이터 센터, 전기차 충전소가 정식 편입되었으며, 자가소비형 루프탑 태양광 잉여전력(50% 초과분)의 그리드 판매 유예기간은 2030년 12월 31일 일몰제(Sunset Clause)로 확정되었습니다.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해상풍력 (2030)</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17,032 MW</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272/2026 시행 요건 반영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태양광 (2030)</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73 GW</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26,046MW → 대폭 상향</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DPPA 가동</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제도 본격 확산</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Decree 243 발효로 데이터센터/산단 소매업자 전면 허용</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62179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해상풍력 Zone 1~6</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남중국해 연안 | 17,032 MW (2030)</a:t>
            </a:r>
            <a:endParaRPr lang="en-US" sz="900" dirty="0"/>
          </a:p>
        </p:txBody>
      </p:sp>
      <p:sp>
        <p:nvSpPr>
          <p:cNvPr id="33" name="Text 3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272/2026 적용 대상 (MW당 10억동 자기자본)</a:t>
            </a:r>
            <a:endParaRPr lang="en-US" sz="800" dirty="0"/>
          </a:p>
        </p:txBody>
      </p:sp>
      <p:sp>
        <p:nvSpPr>
          <p:cNvPr id="34" name="Shape 32"/>
          <p:cNvSpPr/>
          <p:nvPr/>
        </p:nvSpPr>
        <p:spPr>
          <a:xfrm>
            <a:off x="5440680" y="1600200"/>
            <a:ext cx="3566160" cy="621792"/>
          </a:xfrm>
          <a:prstGeom prst="rect">
            <a:avLst/>
          </a:prstGeom>
          <a:solidFill>
            <a:srgbClr val="FFFFFF"/>
          </a:solidFill>
          <a:ln w="12700">
            <a:solidFill>
              <a:srgbClr val="E2E8F0"/>
            </a:solidFill>
            <a:prstDash val="solid"/>
          </a:ln>
        </p:spPr>
      </p:sp>
      <p:sp>
        <p:nvSpPr>
          <p:cNvPr id="35" name="Text 3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SEVT-TTC 득후에2 태양광 DPPA</a:t>
            </a:r>
            <a:endParaRPr lang="en-US" sz="1000" dirty="0"/>
          </a:p>
        </p:txBody>
      </p:sp>
      <p:sp>
        <p:nvSpPr>
          <p:cNvPr id="36" name="Text 3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떠이닌성 | 49MWp (41.4MWac)</a:t>
            </a:r>
            <a:endParaRPr lang="en-US" sz="900" dirty="0"/>
          </a:p>
        </p:txBody>
      </p:sp>
      <p:sp>
        <p:nvSpPr>
          <p:cNvPr id="37" name="Text 3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삼성전자 현지법인 SEVT-TTC 계약, 베트남 1호 상업 DPPA</a:t>
            </a:r>
            <a:endParaRPr lang="en-US" sz="800" dirty="0"/>
          </a:p>
        </p:txBody>
      </p:sp>
      <p:sp>
        <p:nvSpPr>
          <p:cNvPr id="38" name="Shape 36"/>
          <p:cNvSpPr/>
          <p:nvPr/>
        </p:nvSpPr>
        <p:spPr>
          <a:xfrm>
            <a:off x="5440680" y="2258568"/>
            <a:ext cx="3566160" cy="621792"/>
          </a:xfrm>
          <a:prstGeom prst="rect">
            <a:avLst/>
          </a:prstGeom>
          <a:solidFill>
            <a:srgbClr val="F8F9FA"/>
          </a:solidFill>
          <a:ln w="12700">
            <a:solidFill>
              <a:srgbClr val="E2E8F0"/>
            </a:solidFill>
            <a:prstDash val="solid"/>
          </a:ln>
        </p:spPr>
      </p:sp>
      <p:sp>
        <p:nvSpPr>
          <p:cNvPr id="39" name="Text 3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산업단지 및 데이터센터 대상 신규 DPPA 직접거래</a:t>
            </a:r>
            <a:endParaRPr lang="en-US" sz="1000" dirty="0"/>
          </a:p>
        </p:txBody>
      </p:sp>
      <p:sp>
        <p:nvSpPr>
          <p:cNvPr id="40" name="Text 3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전국 주요 산단 | 민간 주도 5GW 목표</a:t>
            </a:r>
            <a:endParaRPr lang="en-US" sz="900" dirty="0"/>
          </a:p>
        </p:txBody>
      </p:sp>
      <p:sp>
        <p:nvSpPr>
          <p:cNvPr id="41" name="Text 3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Decree 243/2026/ND-CP 개정안 수혜 타겟 망 가동</a:t>
            </a:r>
            <a:endParaRPr lang="en-US" sz="800" dirty="0"/>
          </a:p>
        </p:txBody>
      </p:sp>
      <p:sp>
        <p:nvSpPr>
          <p:cNvPr id="42" name="Shape 40"/>
          <p:cNvSpPr/>
          <p:nvPr/>
        </p:nvSpPr>
        <p:spPr>
          <a:xfrm>
            <a:off x="0" y="4914900"/>
            <a:ext cx="9144000" cy="228600"/>
          </a:xfrm>
          <a:prstGeom prst="rect">
            <a:avLst/>
          </a:prstGeom>
          <a:solidFill>
            <a:srgbClr val="E2E8F0"/>
          </a:solidFill>
          <a:ln w="12700">
            <a:solidFill>
              <a:srgbClr val="E2E8F0"/>
            </a:solidFill>
            <a:prstDash val="solid"/>
          </a:ln>
        </p:spPr>
      </p:sp>
      <p:sp>
        <p:nvSpPr>
          <p:cNvPr id="43" name="Text 4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Power  |  에너지·전력 (Energy &amp; Power)  |  Decision 768/QD-TTg / Decree 243/2026/ND-CP</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D97706"/>
          </a:solidFill>
          <a:ln w="12700">
            <a:solidFill>
              <a:srgbClr val="D97706"/>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VN-OG-2030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석유·가스 개발전략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1640/QD-TTg</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석유·가스 개발 전략(Decision 1640/QD-TTg, 2017.10.12) [확인됨]은 국내 유전 생산량 유지와 LNG 수입 인프라 확충, 다운스트림 석유화학 산업 육성이 목표다. 바리아-붕따우 성에 위치한 티바이 LNG 터미널이 2026년 300만 톤으로 확장되면서 남부 산업단지 발전용 가스 공급에 핵심적인 역할을 수행 중이다. 석유화학 분야에서는 타이응우옌 성에 연산 50만 톤 규모의 메탄올 생산 플랜트가 착공되었다.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원유 생산량 (내수)</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연 900만 톤 유지</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900만 톤 (2025 목표)</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천연가스 생산량</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D97706"/>
                </a:solidFill>
                <a:latin typeface="Arial" pitchFamily="34" charset="0"/>
                <a:ea typeface="Arial" pitchFamily="34" charset="-122"/>
                <a:cs typeface="Arial" pitchFamily="34" charset="-120"/>
              </a:rPr>
              <a:t>연 100억㎥ (2025)</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90억㎥ (2025 목표)</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티바이 (Thi Vai) LNG 터미널 확장</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바리아-붕따우 | 연 100만 톤 → 300만 톤</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남부 핵심 LNG 터미널</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까마우 (Ca Mau) 가스-전력-비료 복합단지</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까마우성 | 가스 발전 1,500MW, 비료 연 80만 톤</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PVN 주도 통합 복합단지</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타이응우옌 메탄올 플랜트</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타이응우옌성 | 연 50만 톤 메탄올 생산</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D97706"/>
                </a:solidFill>
                <a:latin typeface="Arial" pitchFamily="34" charset="0"/>
                <a:ea typeface="Arial" pitchFamily="34" charset="-122"/>
                <a:cs typeface="Arial" pitchFamily="34" charset="-120"/>
              </a:rPr>
              <a:t>PVN 연계 다운스트림 사업</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Oil &amp; Gas  |  에너지·전력 (Energy &amp; Power)  |  Decision 1640/QD-TTg</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563EB"/>
          </a:solidFill>
          <a:ln w="12700">
            <a:solidFill>
              <a:srgbClr val="2563EB"/>
            </a:solidFill>
            <a:prstDash val="solid"/>
          </a:ln>
        </p:spPr>
      </p:sp>
      <p:sp>
        <p:nvSpPr>
          <p:cNvPr id="3" name="Text 1"/>
          <p:cNvSpPr/>
          <p:nvPr/>
        </p:nvSpPr>
        <p:spPr>
          <a:xfrm>
            <a:off x="457200" y="731520"/>
            <a:ext cx="8229600" cy="100584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도시·교통·산업</a:t>
            </a:r>
            <a:endParaRPr lang="en-US" sz="4800" dirty="0"/>
          </a:p>
        </p:txBody>
      </p:sp>
      <p:sp>
        <p:nvSpPr>
          <p:cNvPr id="4" name="Text 2"/>
          <p:cNvSpPr/>
          <p:nvPr/>
        </p:nvSpPr>
        <p:spPr>
          <a:xfrm>
            <a:off x="457200" y="1737360"/>
            <a:ext cx="8229600" cy="457200"/>
          </a:xfrm>
          <a:prstGeom prst="rect">
            <a:avLst/>
          </a:prstGeom>
          <a:noFill/>
          <a:ln/>
        </p:spPr>
        <p:txBody>
          <a:bodyPr wrap="square" rtlCol="0" anchor="ctr"/>
          <a:lstStyle/>
          <a:p>
            <a:pPr indent="0" marL="0">
              <a:buNone/>
            </a:pPr>
            <a:r>
              <a:rPr lang="en-US" sz="2200" dirty="0">
                <a:solidFill>
                  <a:srgbClr val="2563EB"/>
                </a:solidFill>
                <a:latin typeface="Arial" pitchFamily="34" charset="0"/>
                <a:ea typeface="Arial" pitchFamily="34" charset="-122"/>
                <a:cs typeface="Arial" pitchFamily="34" charset="-120"/>
              </a:rPr>
              <a:t>Urban &amp; Transport</a:t>
            </a:r>
            <a:endParaRPr lang="en-US" sz="2200" dirty="0"/>
          </a:p>
        </p:txBody>
      </p:sp>
      <p:sp>
        <p:nvSpPr>
          <p:cNvPr id="5" name="Text 3"/>
          <p:cNvSpPr/>
          <p:nvPr/>
        </p:nvSpPr>
        <p:spPr>
          <a:xfrm>
            <a:off x="457200" y="2423160"/>
            <a:ext cx="2743200" cy="27432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포함 마스터플랜</a:t>
            </a:r>
            <a:endParaRPr lang="en-US" sz="1100" dirty="0"/>
          </a:p>
        </p:txBody>
      </p:sp>
      <p:sp>
        <p:nvSpPr>
          <p:cNvPr id="6" name="Shape 4"/>
          <p:cNvSpPr/>
          <p:nvPr/>
        </p:nvSpPr>
        <p:spPr>
          <a:xfrm>
            <a:off x="457200" y="2743200"/>
            <a:ext cx="8229600" cy="384048"/>
          </a:xfrm>
          <a:prstGeom prst="rect">
            <a:avLst/>
          </a:prstGeom>
          <a:solidFill>
            <a:srgbClr val="132038"/>
          </a:solidFill>
          <a:ln w="12700">
            <a:solidFill>
              <a:srgbClr val="2563EB"/>
            </a:solidFill>
            <a:prstDash val="solid"/>
          </a:ln>
        </p:spPr>
      </p:sp>
      <p:sp>
        <p:nvSpPr>
          <p:cNvPr id="7" name="Text 5"/>
          <p:cNvSpPr/>
          <p:nvPr/>
        </p:nvSpPr>
        <p:spPr>
          <a:xfrm>
            <a:off x="548640" y="277977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VN-HAN-URBAN-2045</a:t>
            </a:r>
            <a:endParaRPr lang="en-US" sz="900" dirty="0"/>
          </a:p>
        </p:txBody>
      </p:sp>
      <p:sp>
        <p:nvSpPr>
          <p:cNvPr id="8" name="Text 6"/>
          <p:cNvSpPr/>
          <p:nvPr/>
        </p:nvSpPr>
        <p:spPr>
          <a:xfrm>
            <a:off x="2286000" y="277977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하노이 도시개발 마스터플랜 2045/2065</a:t>
            </a:r>
            <a:endParaRPr lang="en-US" sz="1000" dirty="0"/>
          </a:p>
        </p:txBody>
      </p:sp>
      <p:sp>
        <p:nvSpPr>
          <p:cNvPr id="9" name="Shape 7"/>
          <p:cNvSpPr/>
          <p:nvPr/>
        </p:nvSpPr>
        <p:spPr>
          <a:xfrm>
            <a:off x="457200" y="3218688"/>
            <a:ext cx="8229600" cy="384048"/>
          </a:xfrm>
          <a:prstGeom prst="rect">
            <a:avLst/>
          </a:prstGeom>
          <a:solidFill>
            <a:srgbClr val="132038"/>
          </a:solidFill>
          <a:ln w="12700">
            <a:solidFill>
              <a:srgbClr val="2563EB"/>
            </a:solidFill>
            <a:prstDash val="solid"/>
          </a:ln>
        </p:spPr>
      </p:sp>
      <p:sp>
        <p:nvSpPr>
          <p:cNvPr id="10" name="Text 8"/>
          <p:cNvSpPr/>
          <p:nvPr/>
        </p:nvSpPr>
        <p:spPr>
          <a:xfrm>
            <a:off x="548640" y="325526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VN-IP-NORTH-2030</a:t>
            </a:r>
            <a:endParaRPr lang="en-US" sz="900" dirty="0"/>
          </a:p>
        </p:txBody>
      </p:sp>
      <p:sp>
        <p:nvSpPr>
          <p:cNvPr id="11" name="Text 9"/>
          <p:cNvSpPr/>
          <p:nvPr/>
        </p:nvSpPr>
        <p:spPr>
          <a:xfrm>
            <a:off x="2286000" y="325526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북부 산업단지 개발계획 2030</a:t>
            </a:r>
            <a:endParaRPr lang="en-US" sz="1000" dirty="0"/>
          </a:p>
        </p:txBody>
      </p:sp>
      <p:sp>
        <p:nvSpPr>
          <p:cNvPr id="12" name="Shape 10"/>
          <p:cNvSpPr/>
          <p:nvPr/>
        </p:nvSpPr>
        <p:spPr>
          <a:xfrm>
            <a:off x="457200" y="3694176"/>
            <a:ext cx="8229600" cy="384048"/>
          </a:xfrm>
          <a:prstGeom prst="rect">
            <a:avLst/>
          </a:prstGeom>
          <a:solidFill>
            <a:srgbClr val="132038"/>
          </a:solidFill>
          <a:ln w="12700">
            <a:solidFill>
              <a:srgbClr val="2563EB"/>
            </a:solidFill>
            <a:prstDash val="solid"/>
          </a:ln>
        </p:spPr>
      </p:sp>
      <p:sp>
        <p:nvSpPr>
          <p:cNvPr id="13" name="Text 11"/>
          <p:cNvSpPr/>
          <p:nvPr/>
        </p:nvSpPr>
        <p:spPr>
          <a:xfrm>
            <a:off x="548640" y="373075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VN-TRAN-2055</a:t>
            </a:r>
            <a:endParaRPr lang="en-US" sz="900" dirty="0"/>
          </a:p>
        </p:txBody>
      </p:sp>
      <p:sp>
        <p:nvSpPr>
          <p:cNvPr id="14" name="Text 12"/>
          <p:cNvSpPr/>
          <p:nvPr/>
        </p:nvSpPr>
        <p:spPr>
          <a:xfrm>
            <a:off x="2286000" y="373075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교통인프라 마스터플랜 2021~2030, Vision 2050</a:t>
            </a:r>
            <a:endParaRPr lang="en-US" sz="1000" dirty="0"/>
          </a:p>
        </p:txBody>
      </p:sp>
      <p:sp>
        <p:nvSpPr>
          <p:cNvPr id="15" name="Shape 13"/>
          <p:cNvSpPr/>
          <p:nvPr/>
        </p:nvSpPr>
        <p:spPr>
          <a:xfrm>
            <a:off x="457200" y="4169664"/>
            <a:ext cx="8229600" cy="384048"/>
          </a:xfrm>
          <a:prstGeom prst="rect">
            <a:avLst/>
          </a:prstGeom>
          <a:solidFill>
            <a:srgbClr val="132038"/>
          </a:solidFill>
          <a:ln w="12700">
            <a:solidFill>
              <a:srgbClr val="2563EB"/>
            </a:solidFill>
            <a:prstDash val="solid"/>
          </a:ln>
        </p:spPr>
      </p:sp>
      <p:sp>
        <p:nvSpPr>
          <p:cNvPr id="16" name="Text 14"/>
          <p:cNvSpPr/>
          <p:nvPr/>
        </p:nvSpPr>
        <p:spPr>
          <a:xfrm>
            <a:off x="548640" y="4206240"/>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VN-URB-METRO-2030</a:t>
            </a:r>
            <a:endParaRPr lang="en-US" sz="900" dirty="0"/>
          </a:p>
        </p:txBody>
      </p:sp>
      <p:sp>
        <p:nvSpPr>
          <p:cNvPr id="17" name="Text 15"/>
          <p:cNvSpPr/>
          <p:nvPr/>
        </p:nvSpPr>
        <p:spPr>
          <a:xfrm>
            <a:off x="2286000" y="4206240"/>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도시철도 국가전략 2030</a:t>
            </a:r>
            <a:endParaRPr lang="en-US" sz="1000" dirty="0"/>
          </a:p>
        </p:txBody>
      </p:sp>
      <p:sp>
        <p:nvSpPr>
          <p:cNvPr id="18" name="Shape 16"/>
          <p:cNvSpPr/>
          <p:nvPr/>
        </p:nvSpPr>
        <p:spPr>
          <a:xfrm>
            <a:off x="457200" y="4645152"/>
            <a:ext cx="8229600" cy="384048"/>
          </a:xfrm>
          <a:prstGeom prst="rect">
            <a:avLst/>
          </a:prstGeom>
          <a:solidFill>
            <a:srgbClr val="132038"/>
          </a:solidFill>
          <a:ln w="12700">
            <a:solidFill>
              <a:srgbClr val="2563EB"/>
            </a:solidFill>
            <a:prstDash val="solid"/>
          </a:ln>
        </p:spPr>
      </p:sp>
      <p:sp>
        <p:nvSpPr>
          <p:cNvPr id="19" name="Text 17"/>
          <p:cNvSpPr/>
          <p:nvPr/>
        </p:nvSpPr>
        <p:spPr>
          <a:xfrm>
            <a:off x="548640" y="4681728"/>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VN-HAN-DONG-ANH</a:t>
            </a:r>
            <a:endParaRPr lang="en-US" sz="900" dirty="0"/>
          </a:p>
        </p:txBody>
      </p:sp>
      <p:sp>
        <p:nvSpPr>
          <p:cNvPr id="20" name="Text 18"/>
          <p:cNvSpPr/>
          <p:nvPr/>
        </p:nvSpPr>
        <p:spPr>
          <a:xfrm>
            <a:off x="2286000" y="4681728"/>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동아인 스마트시티 (Dong Anh Smart City)</a:t>
            </a:r>
            <a:endParaRPr lang="en-US" sz="1000" dirty="0"/>
          </a:p>
        </p:txBody>
      </p:sp>
      <p:sp>
        <p:nvSpPr>
          <p:cNvPr id="21" name="Shape 19"/>
          <p:cNvSpPr/>
          <p:nvPr/>
        </p:nvSpPr>
        <p:spPr>
          <a:xfrm>
            <a:off x="457200" y="5120640"/>
            <a:ext cx="8229600" cy="384048"/>
          </a:xfrm>
          <a:prstGeom prst="rect">
            <a:avLst/>
          </a:prstGeom>
          <a:solidFill>
            <a:srgbClr val="132038"/>
          </a:solidFill>
          <a:ln w="12700">
            <a:solidFill>
              <a:srgbClr val="2563EB"/>
            </a:solidFill>
            <a:prstDash val="solid"/>
          </a:ln>
        </p:spPr>
      </p:sp>
      <p:sp>
        <p:nvSpPr>
          <p:cNvPr id="22" name="Text 20"/>
          <p:cNvSpPr/>
          <p:nvPr/>
        </p:nvSpPr>
        <p:spPr>
          <a:xfrm>
            <a:off x="548640" y="5157216"/>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VN-HAN-HOA-LAC</a:t>
            </a:r>
            <a:endParaRPr lang="en-US" sz="900" dirty="0"/>
          </a:p>
        </p:txBody>
      </p:sp>
      <p:sp>
        <p:nvSpPr>
          <p:cNvPr id="23" name="Text 21"/>
          <p:cNvSpPr/>
          <p:nvPr/>
        </p:nvSpPr>
        <p:spPr>
          <a:xfrm>
            <a:off x="2286000" y="5157216"/>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호아락 하이테크파크</a:t>
            </a:r>
            <a:endParaRPr lang="en-US" sz="1000" dirty="0"/>
          </a:p>
        </p:txBody>
      </p:sp>
      <p:sp>
        <p:nvSpPr>
          <p:cNvPr id="24" name="Shape 22"/>
          <p:cNvSpPr/>
          <p:nvPr/>
        </p:nvSpPr>
        <p:spPr>
          <a:xfrm>
            <a:off x="457200" y="5596128"/>
            <a:ext cx="8229600" cy="384048"/>
          </a:xfrm>
          <a:prstGeom prst="rect">
            <a:avLst/>
          </a:prstGeom>
          <a:solidFill>
            <a:srgbClr val="132038"/>
          </a:solidFill>
          <a:ln w="12700">
            <a:solidFill>
              <a:srgbClr val="2563EB"/>
            </a:solidFill>
            <a:prstDash val="solid"/>
          </a:ln>
        </p:spPr>
      </p:sp>
      <p:sp>
        <p:nvSpPr>
          <p:cNvPr id="25" name="Text 23"/>
          <p:cNvSpPr/>
          <p:nvPr/>
        </p:nvSpPr>
        <p:spPr>
          <a:xfrm>
            <a:off x="548640" y="5632704"/>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VN-HOUSING-2030</a:t>
            </a:r>
            <a:endParaRPr lang="en-US" sz="900" dirty="0"/>
          </a:p>
        </p:txBody>
      </p:sp>
      <p:sp>
        <p:nvSpPr>
          <p:cNvPr id="26" name="Text 24"/>
          <p:cNvSpPr/>
          <p:nvPr/>
        </p:nvSpPr>
        <p:spPr>
          <a:xfrm>
            <a:off x="2286000" y="5632704"/>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국가 주택 개발 계획 2030</a:t>
            </a:r>
            <a:endParaRPr lang="en-US" sz="1000" dirty="0"/>
          </a:p>
        </p:txBody>
      </p:sp>
      <p:sp>
        <p:nvSpPr>
          <p:cNvPr id="27" name="Shape 25"/>
          <p:cNvSpPr/>
          <p:nvPr/>
        </p:nvSpPr>
        <p:spPr>
          <a:xfrm>
            <a:off x="457200" y="6071616"/>
            <a:ext cx="8229600" cy="384048"/>
          </a:xfrm>
          <a:prstGeom prst="rect">
            <a:avLst/>
          </a:prstGeom>
          <a:solidFill>
            <a:srgbClr val="132038"/>
          </a:solidFill>
          <a:ln w="12700">
            <a:solidFill>
              <a:srgbClr val="2563EB"/>
            </a:solidFill>
            <a:prstDash val="solid"/>
          </a:ln>
        </p:spPr>
      </p:sp>
      <p:sp>
        <p:nvSpPr>
          <p:cNvPr id="28" name="Text 26"/>
          <p:cNvSpPr/>
          <p:nvPr/>
        </p:nvSpPr>
        <p:spPr>
          <a:xfrm>
            <a:off x="548640" y="6108192"/>
            <a:ext cx="1645920" cy="292608"/>
          </a:xfrm>
          <a:prstGeom prst="rect">
            <a:avLst/>
          </a:prstGeom>
          <a:noFill/>
          <a:ln/>
        </p:spPr>
        <p:txBody>
          <a:bodyPr wrap="square" rtlCol="0" anchor="ctr"/>
          <a:lstStyle/>
          <a:p>
            <a:pPr indent="0" marL="0">
              <a:buNone/>
            </a:pPr>
            <a:r>
              <a:rPr lang="en-US" sz="900" b="1" dirty="0">
                <a:solidFill>
                  <a:srgbClr val="2563EB"/>
                </a:solidFill>
                <a:latin typeface="Arial" pitchFamily="34" charset="0"/>
                <a:ea typeface="Arial" pitchFamily="34" charset="-122"/>
                <a:cs typeface="Arial" pitchFamily="34" charset="-120"/>
              </a:rPr>
              <a:t>VN-SMART-2025</a:t>
            </a:r>
            <a:endParaRPr lang="en-US" sz="900" dirty="0"/>
          </a:p>
        </p:txBody>
      </p:sp>
      <p:sp>
        <p:nvSpPr>
          <p:cNvPr id="29" name="Text 27"/>
          <p:cNvSpPr/>
          <p:nvPr/>
        </p:nvSpPr>
        <p:spPr>
          <a:xfrm>
            <a:off x="2286000" y="6108192"/>
            <a:ext cx="6309360" cy="292608"/>
          </a:xfrm>
          <a:prstGeom prst="rect">
            <a:avLst/>
          </a:prstGeom>
          <a:noFill/>
          <a:ln/>
        </p:spPr>
        <p:txBody>
          <a:bodyPr wrap="square" rtlCol="0" anchor="ctr"/>
          <a:lstStyle/>
          <a:p>
            <a:pPr indent="0" marL="0">
              <a:buNone/>
            </a:pPr>
            <a:r>
              <a:rPr lang="en-US" sz="1000" dirty="0">
                <a:solidFill>
                  <a:srgbClr val="FFFFFF"/>
                </a:solidFill>
                <a:latin typeface="Arial" pitchFamily="34" charset="0"/>
                <a:ea typeface="Arial" pitchFamily="34" charset="-122"/>
                <a:cs typeface="Arial" pitchFamily="34" charset="-120"/>
              </a:rPr>
              <a:t>스마트시티 국가전략 2025</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VN-HAN-URBAN-2045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하노이 도시개발 마스터플랜 2045/2065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1668/QD-TTg (2024.12.27)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Decision 1668로 확정된 하노이 도시개발 마스터플랜은 2045년 1,500만 수용을 목표로 다핵다중심 도시구상을 추진합니다. 링로드4(113km, $3.6B)가 진행 중이나, 민자(PPP) 방식 3구간은 자본조달 부진으로 완공 일정이 재조정(2027년말 전체완공)되었습니다.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도시개발 총투자</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$2.5T (2026~2045)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Decision 1668 확정</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링로드4 완공</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2027년말 전체 완공</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PPP 3구간 자본조달 약 2% 지연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링로드4 (Ring Road 4)</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113km, $3.6B</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PPP구간 자본조달 지연 대응 패스트트랙 재조정</a:t>
            </a:r>
            <a:endParaRPr lang="en-US" sz="800" dirty="0"/>
          </a:p>
        </p:txBody>
      </p:sp>
      <p:sp>
        <p:nvSpPr>
          <p:cNvPr id="29" name="Shape 27"/>
          <p:cNvSpPr/>
          <p:nvPr/>
        </p:nvSpPr>
        <p:spPr>
          <a:xfrm>
            <a:off x="0" y="4914900"/>
            <a:ext cx="9144000" cy="228600"/>
          </a:xfrm>
          <a:prstGeom prst="rect">
            <a:avLst/>
          </a:prstGeom>
          <a:solidFill>
            <a:srgbClr val="E2E8F0"/>
          </a:solidFill>
          <a:ln w="12700">
            <a:solidFill>
              <a:srgbClr val="E2E8F0"/>
            </a:solidFill>
            <a:prstDash val="solid"/>
          </a:ln>
        </p:spPr>
      </p:sp>
      <p:sp>
        <p:nvSpPr>
          <p:cNvPr id="30" name="Text 2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1668/QD-TTg (2024.12.27)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VN-IP-NORTH-2030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북부 산업단지 개발계획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No. 368/QD-TTg &amp; Decree No. 35/2022/ND-CP (개정안)</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북부 산업단지 클러스터(하이퐁, 박닌, 타이응우옌, 박장, 흥옌)는 글로벌 전자 및 반도체 공급망의 핵심 전초 기지입니다. 2026년 2분기 기준 북부권 산업용지 총 공급량은 25,200ha를 돌파(+15.7% YoY)했으며, 임대형 공장(RBF) 가동률은 86%의 높은 수준을 유지하고 있습니다. 정부는 시행령 제35/2022/ND-CP호 개정 및 Circular 05/2025/TT-BKHDT 지침을 통해 친환경·생태산단(Eco-IP) 및 기술 혁신 생태계 산단에 대한 맞춤형 인센티브를 강화하고 ...</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북부권 총 산업용지 공급량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25,000 ha 이상 (2026)</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25,200 ha (2026 Q2 실적, 하이퐁 26%, 박닌 21%)</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임대형 공장(RBF)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85% 이상 유지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86% (2026 Q2 기준)</a:t>
            </a:r>
            <a:endParaRPr lang="en-US" sz="900" dirty="0"/>
          </a:p>
        </p:txBody>
      </p:sp>
      <p:sp>
        <p:nvSpPr>
          <p:cNvPr id="23" name="Shape 21"/>
          <p:cNvSpPr/>
          <p:nvPr/>
        </p:nvSpPr>
        <p:spPr>
          <a:xfrm>
            <a:off x="3511296" y="2651760"/>
            <a:ext cx="1700784" cy="749808"/>
          </a:xfrm>
          <a:prstGeom prst="rect">
            <a:avLst/>
          </a:prstGeom>
          <a:solidFill>
            <a:srgbClr val="FFFFFF"/>
          </a:solidFill>
          <a:ln w="12700">
            <a:solidFill>
              <a:srgbClr val="E2E8F0"/>
            </a:solidFill>
            <a:prstDash val="solid"/>
          </a:ln>
        </p:spPr>
      </p:sp>
      <p:sp>
        <p:nvSpPr>
          <p:cNvPr id="24" name="Text 22"/>
          <p:cNvSpPr/>
          <p:nvPr/>
        </p:nvSpPr>
        <p:spPr>
          <a:xfrm>
            <a:off x="3566160"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삼성그룹 북부 누적/신규 투자</a:t>
            </a:r>
            <a:endParaRPr lang="en-US" sz="900" dirty="0"/>
          </a:p>
        </p:txBody>
      </p:sp>
      <p:sp>
        <p:nvSpPr>
          <p:cNvPr id="25" name="Text 23"/>
          <p:cNvSpPr/>
          <p:nvPr/>
        </p:nvSpPr>
        <p:spPr>
          <a:xfrm>
            <a:off x="3566160"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AI/반도체 부가가치 확대</a:t>
            </a:r>
            <a:endParaRPr lang="en-US" sz="1600" dirty="0"/>
          </a:p>
        </p:txBody>
      </p:sp>
      <p:sp>
        <p:nvSpPr>
          <p:cNvPr id="26" name="Shape 24"/>
          <p:cNvSpPr/>
          <p:nvPr/>
        </p:nvSpPr>
        <p:spPr>
          <a:xfrm>
            <a:off x="3566160" y="3136392"/>
            <a:ext cx="1591056" cy="201168"/>
          </a:xfrm>
          <a:prstGeom prst="rect">
            <a:avLst/>
          </a:prstGeom>
          <a:solidFill>
            <a:srgbClr val="E2E8F0"/>
          </a:solidFill>
          <a:ln w="12700">
            <a:solidFill>
              <a:srgbClr val="E2E8F0"/>
            </a:solidFill>
            <a:prstDash val="solid"/>
          </a:ln>
        </p:spPr>
      </p:sp>
      <p:sp>
        <p:nvSpPr>
          <p:cNvPr id="27" name="Text 25"/>
          <p:cNvSpPr/>
          <p:nvPr/>
        </p:nvSpPr>
        <p:spPr>
          <a:xfrm>
            <a:off x="3566160"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타이응우옌 18.4억 달러 추가 투자 확정 (2026.10)</a:t>
            </a:r>
            <a:endParaRPr lang="en-US" sz="900" dirty="0"/>
          </a:p>
        </p:txBody>
      </p:sp>
      <p:sp>
        <p:nvSpPr>
          <p:cNvPr id="28" name="Shape 26"/>
          <p:cNvSpPr/>
          <p:nvPr/>
        </p:nvSpPr>
        <p:spPr>
          <a:xfrm>
            <a:off x="5440680" y="685800"/>
            <a:ext cx="3566160" cy="256032"/>
          </a:xfrm>
          <a:prstGeom prst="rect">
            <a:avLst/>
          </a:prstGeom>
          <a:solidFill>
            <a:srgbClr val="0C2340"/>
          </a:solidFill>
          <a:ln w="12700">
            <a:solidFill>
              <a:srgbClr val="0C2340"/>
            </a:solidFill>
            <a:prstDash val="solid"/>
          </a:ln>
        </p:spPr>
      </p:sp>
      <p:sp>
        <p:nvSpPr>
          <p:cNvPr id="29" name="Text 2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30" name="Shape 28"/>
          <p:cNvSpPr/>
          <p:nvPr/>
        </p:nvSpPr>
        <p:spPr>
          <a:xfrm>
            <a:off x="5440680" y="941832"/>
            <a:ext cx="3566160" cy="488632"/>
          </a:xfrm>
          <a:prstGeom prst="rect">
            <a:avLst/>
          </a:prstGeom>
          <a:solidFill>
            <a:srgbClr val="F8F9FA"/>
          </a:solidFill>
          <a:ln w="12700">
            <a:solidFill>
              <a:srgbClr val="E2E8F0"/>
            </a:solidFill>
            <a:prstDash val="solid"/>
          </a:ln>
        </p:spPr>
      </p:sp>
      <p:sp>
        <p:nvSpPr>
          <p:cNvPr id="31" name="Text 2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VSIP 박닌</a:t>
            </a:r>
            <a:endParaRPr lang="en-US" sz="1000" dirty="0"/>
          </a:p>
        </p:txBody>
      </p:sp>
      <p:sp>
        <p:nvSpPr>
          <p:cNvPr id="32" name="Text 3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700 ha</a:t>
            </a:r>
            <a:endParaRPr lang="en-US" sz="900" dirty="0"/>
          </a:p>
        </p:txBody>
      </p:sp>
      <p:sp>
        <p:nvSpPr>
          <p:cNvPr id="33" name="Shape 31"/>
          <p:cNvSpPr/>
          <p:nvPr/>
        </p:nvSpPr>
        <p:spPr>
          <a:xfrm>
            <a:off x="5440680" y="1467041"/>
            <a:ext cx="3566160" cy="488632"/>
          </a:xfrm>
          <a:prstGeom prst="rect">
            <a:avLst/>
          </a:prstGeom>
          <a:solidFill>
            <a:srgbClr val="FFFFFF"/>
          </a:solidFill>
          <a:ln w="12700">
            <a:solidFill>
              <a:srgbClr val="E2E8F0"/>
            </a:solidFill>
            <a:prstDash val="solid"/>
          </a:ln>
        </p:spPr>
      </p:sp>
      <p:sp>
        <p:nvSpPr>
          <p:cNvPr id="34" name="Text 32"/>
          <p:cNvSpPr/>
          <p:nvPr/>
        </p:nvSpPr>
        <p:spPr>
          <a:xfrm>
            <a:off x="5513832" y="1494473"/>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DEEP C 하이퐁 콤플렉스</a:t>
            </a:r>
            <a:endParaRPr lang="en-US" sz="1000" dirty="0"/>
          </a:p>
        </p:txBody>
      </p:sp>
      <p:sp>
        <p:nvSpPr>
          <p:cNvPr id="35" name="Text 33"/>
          <p:cNvSpPr/>
          <p:nvPr/>
        </p:nvSpPr>
        <p:spPr>
          <a:xfrm>
            <a:off x="5513832" y="1704785"/>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3,400 ha (산단 5개 + 항만 6개)</a:t>
            </a:r>
            <a:endParaRPr lang="en-US" sz="900" dirty="0"/>
          </a:p>
        </p:txBody>
      </p:sp>
      <p:sp>
        <p:nvSpPr>
          <p:cNvPr id="36" name="Shape 34"/>
          <p:cNvSpPr/>
          <p:nvPr/>
        </p:nvSpPr>
        <p:spPr>
          <a:xfrm>
            <a:off x="5440680" y="1992249"/>
            <a:ext cx="3566160" cy="488632"/>
          </a:xfrm>
          <a:prstGeom prst="rect">
            <a:avLst/>
          </a:prstGeom>
          <a:solidFill>
            <a:srgbClr val="F8F9FA"/>
          </a:solidFill>
          <a:ln w="12700">
            <a:solidFill>
              <a:srgbClr val="E2E8F0"/>
            </a:solidFill>
            <a:prstDash val="solid"/>
          </a:ln>
        </p:spPr>
      </p:sp>
      <p:sp>
        <p:nvSpPr>
          <p:cNvPr id="37" name="Text 35"/>
          <p:cNvSpPr/>
          <p:nvPr/>
        </p:nvSpPr>
        <p:spPr>
          <a:xfrm>
            <a:off x="5513832" y="2019681"/>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박닌 반도체·전자 클러스터</a:t>
            </a:r>
            <a:endParaRPr lang="en-US" sz="1000" dirty="0"/>
          </a:p>
        </p:txBody>
      </p:sp>
      <p:sp>
        <p:nvSpPr>
          <p:cNvPr id="38" name="Text 36"/>
          <p:cNvSpPr/>
          <p:nvPr/>
        </p:nvSpPr>
        <p:spPr>
          <a:xfrm>
            <a:off x="5513832" y="2229993"/>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박닌성 | 누적 투자 약 $232억</a:t>
            </a:r>
            <a:endParaRPr lang="en-US" sz="900" dirty="0"/>
          </a:p>
        </p:txBody>
      </p:sp>
      <p:sp>
        <p:nvSpPr>
          <p:cNvPr id="39" name="Shape 37"/>
          <p:cNvSpPr/>
          <p:nvPr/>
        </p:nvSpPr>
        <p:spPr>
          <a:xfrm>
            <a:off x="5440680" y="2517458"/>
            <a:ext cx="3566160" cy="488632"/>
          </a:xfrm>
          <a:prstGeom prst="rect">
            <a:avLst/>
          </a:prstGeom>
          <a:solidFill>
            <a:srgbClr val="FFFFFF"/>
          </a:solidFill>
          <a:ln w="12700">
            <a:solidFill>
              <a:srgbClr val="E2E8F0"/>
            </a:solidFill>
            <a:prstDash val="solid"/>
          </a:ln>
        </p:spPr>
      </p:sp>
      <p:sp>
        <p:nvSpPr>
          <p:cNvPr id="40" name="Text 38"/>
          <p:cNvSpPr/>
          <p:nvPr/>
        </p:nvSpPr>
        <p:spPr>
          <a:xfrm>
            <a:off x="5513832" y="2544889"/>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폭스콘 박장 확장 프로젝트</a:t>
            </a:r>
            <a:endParaRPr lang="en-US" sz="1000" dirty="0"/>
          </a:p>
        </p:txBody>
      </p:sp>
      <p:sp>
        <p:nvSpPr>
          <p:cNvPr id="41" name="Text 39"/>
          <p:cNvSpPr/>
          <p:nvPr/>
        </p:nvSpPr>
        <p:spPr>
          <a:xfrm>
            <a:off x="5513832" y="2755201"/>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박장성 | 반도체 부품 및 모듈 생산</a:t>
            </a:r>
            <a:endParaRPr lang="en-US" sz="900" dirty="0"/>
          </a:p>
        </p:txBody>
      </p:sp>
      <p:sp>
        <p:nvSpPr>
          <p:cNvPr id="42" name="Shape 40"/>
          <p:cNvSpPr/>
          <p:nvPr/>
        </p:nvSpPr>
        <p:spPr>
          <a:xfrm>
            <a:off x="5440680" y="3042666"/>
            <a:ext cx="3566160" cy="488632"/>
          </a:xfrm>
          <a:prstGeom prst="rect">
            <a:avLst/>
          </a:prstGeom>
          <a:solidFill>
            <a:srgbClr val="F8F9FA"/>
          </a:solidFill>
          <a:ln w="12700">
            <a:solidFill>
              <a:srgbClr val="E2E8F0"/>
            </a:solidFill>
            <a:prstDash val="solid"/>
          </a:ln>
        </p:spPr>
      </p:sp>
      <p:sp>
        <p:nvSpPr>
          <p:cNvPr id="43" name="Text 41"/>
          <p:cNvSpPr/>
          <p:nvPr/>
        </p:nvSpPr>
        <p:spPr>
          <a:xfrm>
            <a:off x="5513832" y="307009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인텔 하이퐁</a:t>
            </a:r>
            <a:endParaRPr lang="en-US" sz="1000" dirty="0"/>
          </a:p>
        </p:txBody>
      </p:sp>
      <p:sp>
        <p:nvSpPr>
          <p:cNvPr id="44" name="Text 42"/>
          <p:cNvSpPr/>
          <p:nvPr/>
        </p:nvSpPr>
        <p:spPr>
          <a:xfrm>
            <a:off x="5513832" y="328041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반도체 조립/테스트(ATP)</a:t>
            </a:r>
            <a:endParaRPr lang="en-US" sz="900" dirty="0"/>
          </a:p>
        </p:txBody>
      </p:sp>
      <p:sp>
        <p:nvSpPr>
          <p:cNvPr id="45" name="Shape 43"/>
          <p:cNvSpPr/>
          <p:nvPr/>
        </p:nvSpPr>
        <p:spPr>
          <a:xfrm>
            <a:off x="5440680" y="3567874"/>
            <a:ext cx="3566160" cy="488632"/>
          </a:xfrm>
          <a:prstGeom prst="rect">
            <a:avLst/>
          </a:prstGeom>
          <a:solidFill>
            <a:srgbClr val="FFFFFF"/>
          </a:solidFill>
          <a:ln w="12700">
            <a:solidFill>
              <a:srgbClr val="E2E8F0"/>
            </a:solidFill>
            <a:prstDash val="solid"/>
          </a:ln>
        </p:spPr>
      </p:sp>
      <p:sp>
        <p:nvSpPr>
          <p:cNvPr id="46" name="Text 44"/>
          <p:cNvSpPr/>
          <p:nvPr/>
        </p:nvSpPr>
        <p:spPr>
          <a:xfrm>
            <a:off x="5513832" y="359530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삼성 타이응우옌 반도체/AI 생산 라인 확충</a:t>
            </a:r>
            <a:endParaRPr lang="en-US" sz="1000" dirty="0"/>
          </a:p>
        </p:txBody>
      </p:sp>
      <p:sp>
        <p:nvSpPr>
          <p:cNvPr id="47" name="Text 45"/>
          <p:cNvSpPr/>
          <p:nvPr/>
        </p:nvSpPr>
        <p:spPr>
          <a:xfrm>
            <a:off x="5513832" y="380561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타이응우옌성 | 18.4억 달러 신규 투자</a:t>
            </a:r>
            <a:endParaRPr lang="en-US" sz="900" dirty="0"/>
          </a:p>
        </p:txBody>
      </p:sp>
      <p:sp>
        <p:nvSpPr>
          <p:cNvPr id="48" name="Shape 46"/>
          <p:cNvSpPr/>
          <p:nvPr/>
        </p:nvSpPr>
        <p:spPr>
          <a:xfrm>
            <a:off x="5440680" y="4093083"/>
            <a:ext cx="3566160" cy="488632"/>
          </a:xfrm>
          <a:prstGeom prst="rect">
            <a:avLst/>
          </a:prstGeom>
          <a:solidFill>
            <a:srgbClr val="F8F9FA"/>
          </a:solidFill>
          <a:ln w="12700">
            <a:solidFill>
              <a:srgbClr val="E2E8F0"/>
            </a:solidFill>
            <a:prstDash val="solid"/>
          </a:ln>
        </p:spPr>
      </p:sp>
      <p:sp>
        <p:nvSpPr>
          <p:cNvPr id="49" name="Text 47"/>
          <p:cNvSpPr/>
          <p:nvPr/>
        </p:nvSpPr>
        <p:spPr>
          <a:xfrm>
            <a:off x="5513832" y="4120515"/>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안팟 5 (An Phat 5) 하이테크 산업단지</a:t>
            </a:r>
            <a:endParaRPr lang="en-US" sz="1000" dirty="0"/>
          </a:p>
        </p:txBody>
      </p:sp>
      <p:sp>
        <p:nvSpPr>
          <p:cNvPr id="50" name="Text 48"/>
          <p:cNvSpPr/>
          <p:nvPr/>
        </p:nvSpPr>
        <p:spPr>
          <a:xfrm>
            <a:off x="5513832" y="4330827"/>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(Cam Giang) | 150 ha</a:t>
            </a:r>
            <a:endParaRPr lang="en-US" sz="900" dirty="0"/>
          </a:p>
        </p:txBody>
      </p:sp>
      <p:sp>
        <p:nvSpPr>
          <p:cNvPr id="51" name="Shape 49"/>
          <p:cNvSpPr/>
          <p:nvPr/>
        </p:nvSpPr>
        <p:spPr>
          <a:xfrm>
            <a:off x="0" y="4914900"/>
            <a:ext cx="9144000" cy="228600"/>
          </a:xfrm>
          <a:prstGeom prst="rect">
            <a:avLst/>
          </a:prstGeom>
          <a:solidFill>
            <a:srgbClr val="E2E8F0"/>
          </a:solidFill>
          <a:ln w="12700">
            <a:solidFill>
              <a:srgbClr val="E2E8F0"/>
            </a:solidFill>
            <a:prstDash val="solid"/>
          </a:ln>
        </p:spPr>
      </p:sp>
      <p:sp>
        <p:nvSpPr>
          <p:cNvPr id="52" name="Text 5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No. 368/QD-TTg &amp; Decree No. 35/2022/ND-CP (개정안)</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VN-TRAN-2055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교통인프라 마스터플랜 2021~2030, Vision 2050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1454/QD-TTg (2021.9.1)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교통인프라 마스터플랜은 2030년 고속도로 5,000km 완성을 목표로 합니다. 롱탄 국제공항의 상업개항 목표가 당초 2026.6월에서 2026.12월로 연기됐으며, 호치민 링로드3 역시 2028년 전체완공으로 목표가 순연 제안되었습니다.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고속도로 총연장</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5,000 km</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1,892 km (2025 실적)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롱탄공항 개항</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25M PAX/년 (1단계)</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2026.12월 상업개항으로 연기</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롱탄 국제공항</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동나이성 | 25M PAX (1단계)</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개항 2026.12월로 연기 (ACV 보도)</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링로드3 (Vành đai 3, 호치민 광역)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광역 | 전체 76km</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2028년 전체 완공/2029 정산 재조정 제안</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라크후옌 항구 2단계</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하이퐁시 | 심해 컨테이너 터미널</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국제 물류 허브 인프라</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호치민-롱탄 고속도로 확장</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호치민-동나이 | 4→8~10차로 확장</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XL01공구 60%+, XL02공구 55% 진척</a:t>
            </a:r>
            <a:endParaRPr lang="en-US" sz="800" dirty="0"/>
          </a:p>
        </p:txBody>
      </p:sp>
      <p:sp>
        <p:nvSpPr>
          <p:cNvPr id="41" name="Shape 39"/>
          <p:cNvSpPr/>
          <p:nvPr/>
        </p:nvSpPr>
        <p:spPr>
          <a:xfrm>
            <a:off x="0" y="4914900"/>
            <a:ext cx="9144000" cy="228600"/>
          </a:xfrm>
          <a:prstGeom prst="rect">
            <a:avLst/>
          </a:prstGeom>
          <a:solidFill>
            <a:srgbClr val="E2E8F0"/>
          </a:solidFill>
          <a:ln w="12700">
            <a:solidFill>
              <a:srgbClr val="E2E8F0"/>
            </a:solidFill>
            <a:prstDash val="solid"/>
          </a:ln>
        </p:spPr>
      </p:sp>
      <p:sp>
        <p:nvSpPr>
          <p:cNvPr id="42" name="Text 40"/>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Transport  |  도시·교통·산업 (Urban &amp; Transport)  |  Decision 1454/QD-TTg (2021.9.1)</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VN-URB-METRO-2030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도시철도 국가전략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Resolution 188/2025/QH15 / Politburo Conclusion 49-KL/TW</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국회 특례결의 188/2025/QH15로 재원조달·설계·TOD 수의계약 특례가 확립됐습니다. 하노이 5개 노선(1, 2, 8, 10, 14호선) 신설이 가속화되며, 호치민 메트로 2호선(벤탄-탐루옹)은 2026년 1월 55.1조 동의 예산을 투입해 본격적인 기공에 돌입했습니다.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메트로 목표</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15~17개 노선</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2A·3호선 부분 운영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메트로 목표</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8개 노선</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1호선 2024.12 개통 완료, 2호선 착공</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2A (껫린~하동)</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13km</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운영 중 (2021~)</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3 (못처~하노이역)</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 부분 운영</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지상구간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1호선 (벤탄~수오이티엔)</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19.7km, 14역</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2024.12 개통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2호선 (벤탄~탐르엉)</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호치민 | 11.3km</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EPC계약 완료, 2026.7.2 ST10 팜반동 지하벽 착공</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신규 5대 도시철도 (1, 2, 8, 10, 14호선)</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하노이 광역 | 미정</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Resolution 188 수의계약 특례 1호 적용</a:t>
            </a:r>
            <a:endParaRPr lang="en-US" sz="800" dirty="0"/>
          </a:p>
        </p:txBody>
      </p:sp>
      <p:sp>
        <p:nvSpPr>
          <p:cNvPr id="45" name="Shape 43"/>
          <p:cNvSpPr/>
          <p:nvPr/>
        </p:nvSpPr>
        <p:spPr>
          <a:xfrm>
            <a:off x="0" y="4914900"/>
            <a:ext cx="9144000" cy="228600"/>
          </a:xfrm>
          <a:prstGeom prst="rect">
            <a:avLst/>
          </a:prstGeom>
          <a:solidFill>
            <a:srgbClr val="E2E8F0"/>
          </a:solidFill>
          <a:ln w="12700">
            <a:solidFill>
              <a:srgbClr val="E2E8F0"/>
            </a:solidFill>
            <a:prstDash val="solid"/>
          </a:ln>
        </p:spPr>
      </p:sp>
      <p:sp>
        <p:nvSpPr>
          <p:cNvPr id="46" name="Text 44"/>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Resolution 188/2025/QH15 / Politburo Conclusion 49-KL/TW</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VN-HAN-DONG-ANH</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동아인 스마트시티 (Dong Anh Smart City)</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Urban Master Plan 2045 — Dong Anh North Urban Cluster</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도시개발 마스터플랜 2045/2065 하위 — 북부 동아인(Dong Anh) 신도시. BRG-Sumitomo 합작 North Hanoi Smart City(108층 푸엉짝 타워 포함, $4.2B) 프로젝트가 2025년 8월 실질 착공을 거쳐 시공 가속화 지시를 받았습니다. Vinhomes Co Loa(Vinhomes Global Gate) 신도시 조성도 병행 추진 중입니다.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인구 수용</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30~40만 (2045)</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4.2만 (2024)</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North Hanoi Smart City (BRG-Sumitomo, 108층 Phuong Trach Tower 포함)</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약 $4.2B</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Sumitomo+BRG 합작, 2025.8 실질 착공 가속화</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Co Loa (Vinhomes Global Gate 브랜드)</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385 ha</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대형 신도시 브랜드 프로젝트</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Exhibition Center</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Dong Anh | 90 ha</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2027 개관 목표 대형 전시장</a:t>
            </a:r>
            <a:endParaRPr lang="en-US" sz="800" dirty="0"/>
          </a:p>
        </p:txBody>
      </p:sp>
      <p:sp>
        <p:nvSpPr>
          <p:cNvPr id="32" name="Shape 30"/>
          <p:cNvSpPr/>
          <p:nvPr/>
        </p:nvSpPr>
        <p:spPr>
          <a:xfrm>
            <a:off x="0" y="4914900"/>
            <a:ext cx="9144000" cy="228600"/>
          </a:xfrm>
          <a:prstGeom prst="rect">
            <a:avLst/>
          </a:prstGeom>
          <a:solidFill>
            <a:srgbClr val="E2E8F0"/>
          </a:solidFill>
          <a:ln w="12700">
            <a:solidFill>
              <a:srgbClr val="E2E8F0"/>
            </a:solidFill>
            <a:prstDash val="solid"/>
          </a:ln>
        </p:spPr>
      </p:sp>
      <p:sp>
        <p:nvSpPr>
          <p:cNvPr id="33" name="Text 31"/>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Hanoi Urban Master Plan 2045 — Dong Anh North Urban Cluster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VN-HAN-HOA-LAC</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호아락 하이테크파크</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198/1998/QD-TTg + Decision 899/QD-TTg (2016.5.27)</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하노이 서부 약 1,586ha 국가 하이테크파크. 2026.7 보도 기준 입주 프로젝트는 113건(약 VND 116조/US$50억)으로 확대되었습니다. Viettel 반도체 공장(27ha, $13억)이 2026.1월 착공하며 앵커 역할을 수행하고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입주 프로젝트 수</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800개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113개 (2026.7 보도 기준)</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상업용지 가동률</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확대 목표</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42% (2026.7 보도 기준)</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VKIST (한-베 과학기술연구원)</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한-베 정부간 R&amp;D 센터</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KIST 모델 도입 기술연구소</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Hanwha Aerospace 부품 제조</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항공기 엔진 부품</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한화에어로스페이스 가동 중</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Nidec Group R&amp;D/생산</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고성능 열모듈 R&amp;D</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일본 투자자 2개 프로젝트 가동 중</a:t>
            </a:r>
            <a:endParaRPr lang="en-US" sz="800" dirty="0"/>
          </a:p>
        </p:txBody>
      </p:sp>
      <p:sp>
        <p:nvSpPr>
          <p:cNvPr id="37" name="Shape 35"/>
          <p:cNvSpPr/>
          <p:nvPr/>
        </p:nvSpPr>
        <p:spPr>
          <a:xfrm>
            <a:off x="5440680" y="2916936"/>
            <a:ext cx="3566160" cy="621792"/>
          </a:xfrm>
          <a:prstGeom prst="rect">
            <a:avLst/>
          </a:prstGeom>
          <a:solidFill>
            <a:srgbClr val="FFFFFF"/>
          </a:solidFill>
          <a:ln w="12700">
            <a:solidFill>
              <a:srgbClr val="E2E8F0"/>
            </a:solidFill>
            <a:prstDash val="solid"/>
          </a:ln>
        </p:spPr>
      </p:sp>
      <p:sp>
        <p:nvSpPr>
          <p:cNvPr id="38" name="Text 36"/>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FPT University + FPT Corporation</a:t>
            </a:r>
            <a:endParaRPr lang="en-US" sz="1000" dirty="0"/>
          </a:p>
        </p:txBody>
      </p:sp>
      <p:sp>
        <p:nvSpPr>
          <p:cNvPr id="39" name="Text 37"/>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재학생 3,000명 이상</a:t>
            </a:r>
            <a:endParaRPr lang="en-US" sz="900" dirty="0"/>
          </a:p>
        </p:txBody>
      </p:sp>
      <p:sp>
        <p:nvSpPr>
          <p:cNvPr id="40" name="Text 38"/>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4개 프로젝트 가동 완료</a:t>
            </a:r>
            <a:endParaRPr lang="en-US" sz="800" dirty="0"/>
          </a:p>
        </p:txBody>
      </p:sp>
      <p:sp>
        <p:nvSpPr>
          <p:cNvPr id="41" name="Shape 39"/>
          <p:cNvSpPr/>
          <p:nvPr/>
        </p:nvSpPr>
        <p:spPr>
          <a:xfrm>
            <a:off x="5440680" y="3575304"/>
            <a:ext cx="3566160" cy="621792"/>
          </a:xfrm>
          <a:prstGeom prst="rect">
            <a:avLst/>
          </a:prstGeom>
          <a:solidFill>
            <a:srgbClr val="F8F9FA"/>
          </a:solidFill>
          <a:ln w="12700">
            <a:solidFill>
              <a:srgbClr val="E2E8F0"/>
            </a:solidFill>
            <a:prstDash val="solid"/>
          </a:ln>
        </p:spPr>
      </p:sp>
      <p:sp>
        <p:nvSpPr>
          <p:cNvPr id="42" name="Text 40"/>
          <p:cNvSpPr/>
          <p:nvPr/>
        </p:nvSpPr>
        <p:spPr>
          <a:xfrm>
            <a:off x="5513832" y="3602736"/>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National Innovation Centre(NIC) &amp; Space Centre</a:t>
            </a:r>
            <a:endParaRPr lang="en-US" sz="1000" dirty="0"/>
          </a:p>
        </p:txBody>
      </p:sp>
      <p:sp>
        <p:nvSpPr>
          <p:cNvPr id="43" name="Text 41"/>
          <p:cNvSpPr/>
          <p:nvPr/>
        </p:nvSpPr>
        <p:spPr>
          <a:xfrm>
            <a:off x="5513832" y="3813048"/>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국가 혁신 센터</a:t>
            </a:r>
            <a:endParaRPr lang="en-US" sz="900" dirty="0"/>
          </a:p>
        </p:txBody>
      </p:sp>
      <p:sp>
        <p:nvSpPr>
          <p:cNvPr id="44" name="Text 42"/>
          <p:cNvSpPr/>
          <p:nvPr/>
        </p:nvSpPr>
        <p:spPr>
          <a:xfrm>
            <a:off x="5513832" y="3959352"/>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베트남 국가 혁신 거점 입지</a:t>
            </a:r>
            <a:endParaRPr lang="en-US" sz="800" dirty="0"/>
          </a:p>
        </p:txBody>
      </p:sp>
      <p:sp>
        <p:nvSpPr>
          <p:cNvPr id="45" name="Shape 43"/>
          <p:cNvSpPr/>
          <p:nvPr/>
        </p:nvSpPr>
        <p:spPr>
          <a:xfrm>
            <a:off x="5440680" y="4233672"/>
            <a:ext cx="3566160" cy="621792"/>
          </a:xfrm>
          <a:prstGeom prst="rect">
            <a:avLst/>
          </a:prstGeom>
          <a:solidFill>
            <a:srgbClr val="FFFFFF"/>
          </a:solidFill>
          <a:ln w="12700">
            <a:solidFill>
              <a:srgbClr val="E2E8F0"/>
            </a:solidFill>
            <a:prstDash val="solid"/>
          </a:ln>
        </p:spPr>
      </p:sp>
      <p:sp>
        <p:nvSpPr>
          <p:cNvPr id="46" name="Text 44"/>
          <p:cNvSpPr/>
          <p:nvPr/>
        </p:nvSpPr>
        <p:spPr>
          <a:xfrm>
            <a:off x="5513832" y="426110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Viettel 반도체 공장</a:t>
            </a:r>
            <a:endParaRPr lang="en-US" sz="1000" dirty="0"/>
          </a:p>
        </p:txBody>
      </p:sp>
      <p:sp>
        <p:nvSpPr>
          <p:cNvPr id="47" name="Text 45"/>
          <p:cNvSpPr/>
          <p:nvPr/>
        </p:nvSpPr>
        <p:spPr>
          <a:xfrm>
            <a:off x="5513832" y="447141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Hoa Lac | 약 27ha, 약 $13억</a:t>
            </a:r>
            <a:endParaRPr lang="en-US" sz="900" dirty="0"/>
          </a:p>
        </p:txBody>
      </p:sp>
      <p:sp>
        <p:nvSpPr>
          <p:cNvPr id="48" name="Text 46"/>
          <p:cNvSpPr/>
          <p:nvPr/>
        </p:nvSpPr>
        <p:spPr>
          <a:xfrm>
            <a:off x="5513832" y="461772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2026.1.16 착공 앵커 프로젝트</a:t>
            </a:r>
            <a:endParaRPr lang="en-US" sz="800" dirty="0"/>
          </a:p>
        </p:txBody>
      </p:sp>
      <p:sp>
        <p:nvSpPr>
          <p:cNvPr id="49" name="Shape 47"/>
          <p:cNvSpPr/>
          <p:nvPr/>
        </p:nvSpPr>
        <p:spPr>
          <a:xfrm>
            <a:off x="0" y="4914900"/>
            <a:ext cx="9144000" cy="228600"/>
          </a:xfrm>
          <a:prstGeom prst="rect">
            <a:avLst/>
          </a:prstGeom>
          <a:solidFill>
            <a:srgbClr val="E2E8F0"/>
          </a:solidFill>
          <a:ln w="12700">
            <a:solidFill>
              <a:srgbClr val="E2E8F0"/>
            </a:solidFill>
            <a:prstDash val="solid"/>
          </a:ln>
        </p:spPr>
      </p:sp>
      <p:sp>
        <p:nvSpPr>
          <p:cNvPr id="50" name="Text 48"/>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Industrial Parks  |  도시·교통·산업 (Urban &amp; Transport)  |  Decision 198/1998/QD-TTg + Decision 899/QD-TTg (2016.5.27)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VN-HOUSING-2030</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국가 주택 개발 계획 2030</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2161/QD-TTg (2021.12.22)</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2030년까지 사회주택 100만 호 공급을 목표로 합니다. 베트남중앙은행(SBV)은 2026년 7월 1일 자로 사회주택 구매자 우대금리 연 6.5%(개인)/7.0%(시행사)를 확정 발표(공문 5341/NHNN-CSTT)하여 9개 시중은행을 통해 공급하고 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공급</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100만호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약 25만호 누적</a:t>
            </a:r>
            <a:endParaRPr lang="en-US" sz="900" dirty="0"/>
          </a:p>
        </p:txBody>
      </p:sp>
      <p:sp>
        <p:nvSpPr>
          <p:cNvPr id="18" name="Shape 16"/>
          <p:cNvSpPr/>
          <p:nvPr/>
        </p:nvSpPr>
        <p:spPr>
          <a:xfrm>
            <a:off x="1755648" y="2651760"/>
            <a:ext cx="1700784" cy="749808"/>
          </a:xfrm>
          <a:prstGeom prst="rect">
            <a:avLst/>
          </a:prstGeom>
          <a:solidFill>
            <a:srgbClr val="FFFFFF"/>
          </a:solidFill>
          <a:ln w="12700">
            <a:solidFill>
              <a:srgbClr val="E2E8F0"/>
            </a:solidFill>
            <a:prstDash val="solid"/>
          </a:ln>
        </p:spPr>
      </p:sp>
      <p:sp>
        <p:nvSpPr>
          <p:cNvPr id="19" name="Text 17"/>
          <p:cNvSpPr/>
          <p:nvPr/>
        </p:nvSpPr>
        <p:spPr>
          <a:xfrm>
            <a:off x="1810512"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사회주택 우대금리</a:t>
            </a:r>
            <a:endParaRPr lang="en-US" sz="900" dirty="0"/>
          </a:p>
        </p:txBody>
      </p:sp>
      <p:sp>
        <p:nvSpPr>
          <p:cNvPr id="20" name="Text 18"/>
          <p:cNvSpPr/>
          <p:nvPr/>
        </p:nvSpPr>
        <p:spPr>
          <a:xfrm>
            <a:off x="1810512"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우대 지원 확대</a:t>
            </a:r>
            <a:endParaRPr lang="en-US" sz="1600" dirty="0"/>
          </a:p>
        </p:txBody>
      </p:sp>
      <p:sp>
        <p:nvSpPr>
          <p:cNvPr id="21" name="Shape 19"/>
          <p:cNvSpPr/>
          <p:nvPr/>
        </p:nvSpPr>
        <p:spPr>
          <a:xfrm>
            <a:off x="1810512" y="3136392"/>
            <a:ext cx="1591056" cy="201168"/>
          </a:xfrm>
          <a:prstGeom prst="rect">
            <a:avLst/>
          </a:prstGeom>
          <a:solidFill>
            <a:srgbClr val="E2E8F0"/>
          </a:solidFill>
          <a:ln w="12700">
            <a:solidFill>
              <a:srgbClr val="E2E8F0"/>
            </a:solidFill>
            <a:prstDash val="solid"/>
          </a:ln>
        </p:spPr>
      </p:sp>
      <p:sp>
        <p:nvSpPr>
          <p:cNvPr id="22" name="Text 20"/>
          <p:cNvSpPr/>
          <p:nvPr/>
        </p:nvSpPr>
        <p:spPr>
          <a:xfrm>
            <a:off x="1810512"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2026.7.1부 개인 6.5%/시행사 7.0% 발효</a:t>
            </a:r>
            <a:endParaRPr lang="en-US" sz="900" dirty="0"/>
          </a:p>
        </p:txBody>
      </p:sp>
      <p:sp>
        <p:nvSpPr>
          <p:cNvPr id="23" name="Shape 21"/>
          <p:cNvSpPr/>
          <p:nvPr/>
        </p:nvSpPr>
        <p:spPr>
          <a:xfrm>
            <a:off x="5440680" y="685800"/>
            <a:ext cx="3566160" cy="256032"/>
          </a:xfrm>
          <a:prstGeom prst="rect">
            <a:avLst/>
          </a:prstGeom>
          <a:solidFill>
            <a:srgbClr val="0C2340"/>
          </a:solidFill>
          <a:ln w="12700">
            <a:solidFill>
              <a:srgbClr val="0C2340"/>
            </a:solidFill>
            <a:prstDash val="solid"/>
          </a:ln>
        </p:spPr>
      </p:sp>
      <p:sp>
        <p:nvSpPr>
          <p:cNvPr id="24" name="Text 22"/>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5" name="Shape 23"/>
          <p:cNvSpPr/>
          <p:nvPr/>
        </p:nvSpPr>
        <p:spPr>
          <a:xfrm>
            <a:off x="5440680" y="941832"/>
            <a:ext cx="3566160" cy="621792"/>
          </a:xfrm>
          <a:prstGeom prst="rect">
            <a:avLst/>
          </a:prstGeom>
          <a:solidFill>
            <a:srgbClr val="F8F9FA"/>
          </a:solidFill>
          <a:ln w="12700">
            <a:solidFill>
              <a:srgbClr val="E2E8F0"/>
            </a:solidFill>
            <a:prstDash val="solid"/>
          </a:ln>
        </p:spPr>
      </p:sp>
      <p:sp>
        <p:nvSpPr>
          <p:cNvPr id="26" name="Text 24"/>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Vinhomes Ocean Park</a:t>
            </a:r>
            <a:endParaRPr lang="en-US" sz="1000" dirty="0"/>
          </a:p>
        </p:txBody>
      </p:sp>
      <p:sp>
        <p:nvSpPr>
          <p:cNvPr id="27" name="Text 25"/>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1,200 ha / 75만 인구</a:t>
            </a:r>
            <a:endParaRPr lang="en-US" sz="900" dirty="0"/>
          </a:p>
        </p:txBody>
      </p:sp>
      <p:sp>
        <p:nvSpPr>
          <p:cNvPr id="28" name="Text 26"/>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Vingroup 주도 대표 주거 인프라</a:t>
            </a:r>
            <a:endParaRPr lang="en-US" sz="800" dirty="0"/>
          </a:p>
        </p:txBody>
      </p:sp>
      <p:sp>
        <p:nvSpPr>
          <p:cNvPr id="29" name="Shape 27"/>
          <p:cNvSpPr/>
          <p:nvPr/>
        </p:nvSpPr>
        <p:spPr>
          <a:xfrm>
            <a:off x="5440680" y="1600200"/>
            <a:ext cx="3566160" cy="621792"/>
          </a:xfrm>
          <a:prstGeom prst="rect">
            <a:avLst/>
          </a:prstGeom>
          <a:solidFill>
            <a:srgbClr val="FFFFFF"/>
          </a:solidFill>
          <a:ln w="12700">
            <a:solidFill>
              <a:srgbClr val="E2E8F0"/>
            </a:solidFill>
            <a:prstDash val="solid"/>
          </a:ln>
        </p:spPr>
      </p:sp>
      <p:sp>
        <p:nvSpPr>
          <p:cNvPr id="30" name="Text 28"/>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Ecopark New Township</a:t>
            </a:r>
            <a:endParaRPr lang="en-US" sz="1000" dirty="0"/>
          </a:p>
        </p:txBody>
      </p:sp>
      <p:sp>
        <p:nvSpPr>
          <p:cNvPr id="31" name="Text 29"/>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Hung Yen | 500 ha</a:t>
            </a:r>
            <a:endParaRPr lang="en-US" sz="900" dirty="0"/>
          </a:p>
        </p:txBody>
      </p:sp>
      <p:sp>
        <p:nvSpPr>
          <p:cNvPr id="32" name="Text 30"/>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Ecopark Group 대형 단지</a:t>
            </a:r>
            <a:endParaRPr lang="en-US" sz="800" dirty="0"/>
          </a:p>
        </p:txBody>
      </p:sp>
      <p:sp>
        <p:nvSpPr>
          <p:cNvPr id="33" name="Shape 31"/>
          <p:cNvSpPr/>
          <p:nvPr/>
        </p:nvSpPr>
        <p:spPr>
          <a:xfrm>
            <a:off x="5440680" y="2258568"/>
            <a:ext cx="3566160" cy="621792"/>
          </a:xfrm>
          <a:prstGeom prst="rect">
            <a:avLst/>
          </a:prstGeom>
          <a:solidFill>
            <a:srgbClr val="F8F9FA"/>
          </a:solidFill>
          <a:ln w="12700">
            <a:solidFill>
              <a:srgbClr val="E2E8F0"/>
            </a:solidFill>
            <a:prstDash val="solid"/>
          </a:ln>
        </p:spPr>
      </p:sp>
      <p:sp>
        <p:nvSpPr>
          <p:cNvPr id="34" name="Text 32"/>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KIND-LH 사회주택 협력</a:t>
            </a:r>
            <a:endParaRPr lang="en-US" sz="1000" dirty="0"/>
          </a:p>
        </p:txBody>
      </p:sp>
      <p:sp>
        <p:nvSpPr>
          <p:cNvPr id="35" name="Text 33"/>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Bac Ninh, Hai Phong | 한국형 사회주택 보급</a:t>
            </a:r>
            <a:endParaRPr lang="en-US" sz="900" dirty="0"/>
          </a:p>
        </p:txBody>
      </p:sp>
      <p:sp>
        <p:nvSpPr>
          <p:cNvPr id="36" name="Text 34"/>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LH공사 MOU 체결 추진</a:t>
            </a:r>
            <a:endParaRPr lang="en-US" sz="800" dirty="0"/>
          </a:p>
        </p:txBody>
      </p:sp>
      <p:sp>
        <p:nvSpPr>
          <p:cNvPr id="37" name="Shape 35"/>
          <p:cNvSpPr/>
          <p:nvPr/>
        </p:nvSpPr>
        <p:spPr>
          <a:xfrm>
            <a:off x="0" y="4914900"/>
            <a:ext cx="9144000" cy="228600"/>
          </a:xfrm>
          <a:prstGeom prst="rect">
            <a:avLst/>
          </a:prstGeom>
          <a:solidFill>
            <a:srgbClr val="E2E8F0"/>
          </a:solidFill>
          <a:ln w="12700">
            <a:solidFill>
              <a:srgbClr val="E2E8F0"/>
            </a:solidFill>
            <a:prstDash val="solid"/>
          </a:ln>
        </p:spPr>
      </p:sp>
      <p:sp>
        <p:nvSpPr>
          <p:cNvPr id="38" name="Text 36"/>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Construction  |  도시·교통·산업 (Urban &amp; Transport)  |  Decision 2161/QD-TTg (2021.12.22)</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737360" cy="384048"/>
          </a:xfrm>
          <a:prstGeom prst="rect">
            <a:avLst/>
          </a:prstGeom>
          <a:solidFill>
            <a:srgbClr val="2563EB"/>
          </a:solidFill>
          <a:ln w="12700">
            <a:solidFill>
              <a:srgbClr val="2563EB"/>
            </a:solidFill>
            <a:prstDash val="solid"/>
          </a:ln>
        </p:spPr>
      </p:sp>
      <p:sp>
        <p:nvSpPr>
          <p:cNvPr id="3" name="Text 1"/>
          <p:cNvSpPr/>
          <p:nvPr/>
        </p:nvSpPr>
        <p:spPr>
          <a:xfrm>
            <a:off x="0" y="0"/>
            <a:ext cx="1737360" cy="384048"/>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VN-SMART-2025</a:t>
            </a:r>
            <a:endParaRPr lang="en-US" sz="1000" dirty="0"/>
          </a:p>
        </p:txBody>
      </p:sp>
      <p:sp>
        <p:nvSpPr>
          <p:cNvPr id="4" name="Text 2"/>
          <p:cNvSpPr/>
          <p:nvPr/>
        </p:nvSpPr>
        <p:spPr>
          <a:xfrm>
            <a:off x="1828800" y="18288"/>
            <a:ext cx="7132320" cy="402336"/>
          </a:xfrm>
          <a:prstGeom prst="rect">
            <a:avLst/>
          </a:prstGeom>
          <a:noFill/>
          <a:ln/>
        </p:spPr>
        <p:txBody>
          <a:bodyPr wrap="square" rtlCol="0" anchor="ctr"/>
          <a:lstStyle/>
          <a:p>
            <a:pPr indent="0" marL="0">
              <a:buNone/>
            </a:pPr>
            <a:r>
              <a:rPr lang="en-US" sz="1800" b="1" dirty="0">
                <a:solidFill>
                  <a:srgbClr val="0C2340"/>
                </a:solidFill>
                <a:latin typeface="Arial" pitchFamily="34" charset="0"/>
                <a:ea typeface="Arial" pitchFamily="34" charset="-122"/>
                <a:cs typeface="Arial" pitchFamily="34" charset="-120"/>
              </a:rPr>
              <a:t>스마트시티 국가전략 2025</a:t>
            </a:r>
            <a:endParaRPr lang="en-US" sz="1800" dirty="0"/>
          </a:p>
        </p:txBody>
      </p:sp>
      <p:sp>
        <p:nvSpPr>
          <p:cNvPr id="5" name="Text 3"/>
          <p:cNvSpPr/>
          <p:nvPr/>
        </p:nvSpPr>
        <p:spPr>
          <a:xfrm>
            <a:off x="1828800" y="402336"/>
            <a:ext cx="7132320"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Decision 950/QD-TTg (2018.8.1)</a:t>
            </a:r>
            <a:endParaRPr lang="en-US" sz="900" dirty="0"/>
          </a:p>
        </p:txBody>
      </p:sp>
      <p:sp>
        <p:nvSpPr>
          <p:cNvPr id="6" name="Shape 4"/>
          <p:cNvSpPr/>
          <p:nvPr/>
        </p:nvSpPr>
        <p:spPr>
          <a:xfrm>
            <a:off x="0" y="621792"/>
            <a:ext cx="9144000" cy="0"/>
          </a:xfrm>
          <a:prstGeom prst="line">
            <a:avLst/>
          </a:prstGeom>
          <a:noFill/>
          <a:ln w="19050">
            <a:solidFill>
              <a:srgbClr val="0C2340"/>
            </a:solidFill>
            <a:prstDash val="solid"/>
          </a:ln>
        </p:spPr>
      </p:sp>
      <p:sp>
        <p:nvSpPr>
          <p:cNvPr id="7" name="Shape 5"/>
          <p:cNvSpPr/>
          <p:nvPr/>
        </p:nvSpPr>
        <p:spPr>
          <a:xfrm>
            <a:off x="0" y="685800"/>
            <a:ext cx="5212080" cy="256032"/>
          </a:xfrm>
          <a:prstGeom prst="rect">
            <a:avLst/>
          </a:prstGeom>
          <a:solidFill>
            <a:srgbClr val="1A6B3C"/>
          </a:solidFill>
          <a:ln w="12700">
            <a:solidFill>
              <a:srgbClr val="1A6B3C"/>
            </a:solidFill>
            <a:prstDash val="solid"/>
          </a:ln>
        </p:spPr>
      </p:sp>
      <p:sp>
        <p:nvSpPr>
          <p:cNvPr id="8" name="Text 6"/>
          <p:cNvSpPr/>
          <p:nvPr/>
        </p:nvSpPr>
        <p:spPr>
          <a:xfrm>
            <a:off x="73152" y="68580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사업 개요</a:t>
            </a:r>
            <a:endParaRPr lang="en-US" sz="1100" dirty="0"/>
          </a:p>
        </p:txBody>
      </p:sp>
      <p:sp>
        <p:nvSpPr>
          <p:cNvPr id="9" name="Shape 7"/>
          <p:cNvSpPr/>
          <p:nvPr/>
        </p:nvSpPr>
        <p:spPr>
          <a:xfrm>
            <a:off x="0" y="941832"/>
            <a:ext cx="5212080" cy="1417320"/>
          </a:xfrm>
          <a:prstGeom prst="rect">
            <a:avLst/>
          </a:prstGeom>
          <a:solidFill>
            <a:srgbClr val="F8F9FA"/>
          </a:solidFill>
          <a:ln w="12700">
            <a:solidFill>
              <a:srgbClr val="E2E8F0"/>
            </a:solidFill>
            <a:prstDash val="solid"/>
          </a:ln>
        </p:spPr>
      </p:sp>
      <p:sp>
        <p:nvSpPr>
          <p:cNvPr id="10" name="Text 8"/>
          <p:cNvSpPr/>
          <p:nvPr/>
        </p:nvSpPr>
        <p:spPr>
          <a:xfrm>
            <a:off x="91440" y="978408"/>
            <a:ext cx="5029200" cy="1353312"/>
          </a:xfrm>
          <a:prstGeom prst="rect">
            <a:avLst/>
          </a:prstGeom>
          <a:noFill/>
          <a:ln/>
        </p:spPr>
        <p:txBody>
          <a:bodyPr wrap="square" rtlCol="0" anchor="t"/>
          <a:lstStyle/>
          <a:p>
            <a:pPr algn="just" indent="0" marL="0">
              <a:buNone/>
            </a:pPr>
            <a:r>
              <a:rPr lang="en-US" sz="1000" dirty="0">
                <a:solidFill>
                  <a:srgbClr val="1A1A1A"/>
                </a:solidFill>
                <a:latin typeface="Arial" pitchFamily="34" charset="0"/>
                <a:ea typeface="Arial" pitchFamily="34" charset="-122"/>
                <a:cs typeface="Arial" pitchFamily="34" charset="-120"/>
              </a:rPr>
              <a:t>전국 주요 도시에 지능형 인프라 플랫폼을 구축하는 국가 로드맵. 호치민시는 2026년 6월 8일 시장 주재 23인 '스마트도시 개발 조정위원회'를 설립했으며, 껀터시는 2026년 7월 한국 대표단과 스마트시티 및 AI 협력을 논의했습니다.</a:t>
            </a:r>
            <a:endParaRPr lang="en-US" sz="1000" dirty="0"/>
          </a:p>
        </p:txBody>
      </p:sp>
      <p:sp>
        <p:nvSpPr>
          <p:cNvPr id="11" name="Shape 9"/>
          <p:cNvSpPr/>
          <p:nvPr/>
        </p:nvSpPr>
        <p:spPr>
          <a:xfrm>
            <a:off x="0" y="2377440"/>
            <a:ext cx="5212080" cy="256032"/>
          </a:xfrm>
          <a:prstGeom prst="rect">
            <a:avLst/>
          </a:prstGeom>
          <a:solidFill>
            <a:srgbClr val="D97706"/>
          </a:solidFill>
          <a:ln w="12700">
            <a:solidFill>
              <a:srgbClr val="D97706"/>
            </a:solidFill>
            <a:prstDash val="solid"/>
          </a:ln>
        </p:spPr>
      </p:sp>
      <p:sp>
        <p:nvSpPr>
          <p:cNvPr id="12" name="Text 10"/>
          <p:cNvSpPr/>
          <p:nvPr/>
        </p:nvSpPr>
        <p:spPr>
          <a:xfrm>
            <a:off x="73152" y="2377440"/>
            <a:ext cx="506577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KPI 목표 및 현황</a:t>
            </a:r>
            <a:endParaRPr lang="en-US" sz="1100" dirty="0"/>
          </a:p>
        </p:txBody>
      </p:sp>
      <p:sp>
        <p:nvSpPr>
          <p:cNvPr id="13" name="Shape 11"/>
          <p:cNvSpPr/>
          <p:nvPr/>
        </p:nvSpPr>
        <p:spPr>
          <a:xfrm>
            <a:off x="0" y="2651760"/>
            <a:ext cx="1700784" cy="749808"/>
          </a:xfrm>
          <a:prstGeom prst="rect">
            <a:avLst/>
          </a:prstGeom>
          <a:solidFill>
            <a:srgbClr val="FFFFFF"/>
          </a:solidFill>
          <a:ln w="12700">
            <a:solidFill>
              <a:srgbClr val="E2E8F0"/>
            </a:solidFill>
            <a:prstDash val="solid"/>
          </a:ln>
        </p:spPr>
      </p:sp>
      <p:sp>
        <p:nvSpPr>
          <p:cNvPr id="14" name="Text 12"/>
          <p:cNvSpPr/>
          <p:nvPr/>
        </p:nvSpPr>
        <p:spPr>
          <a:xfrm>
            <a:off x="54864" y="2688336"/>
            <a:ext cx="1591056" cy="201168"/>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5G 커버리지</a:t>
            </a:r>
            <a:endParaRPr lang="en-US" sz="900" dirty="0"/>
          </a:p>
        </p:txBody>
      </p:sp>
      <p:sp>
        <p:nvSpPr>
          <p:cNvPr id="15" name="Text 13"/>
          <p:cNvSpPr/>
          <p:nvPr/>
        </p:nvSpPr>
        <p:spPr>
          <a:xfrm>
            <a:off x="54864" y="2871216"/>
            <a:ext cx="1591056" cy="256032"/>
          </a:xfrm>
          <a:prstGeom prst="rect">
            <a:avLst/>
          </a:prstGeom>
          <a:noFill/>
          <a:ln/>
        </p:spPr>
        <p:txBody>
          <a:bodyPr wrap="square" rtlCol="0" anchor="ctr"/>
          <a:lstStyle/>
          <a:p>
            <a:pPr indent="0" marL="0">
              <a:buNone/>
            </a:pPr>
            <a:r>
              <a:rPr lang="en-US" sz="1600" b="1" dirty="0">
                <a:solidFill>
                  <a:srgbClr val="2563EB"/>
                </a:solidFill>
                <a:latin typeface="Arial" pitchFamily="34" charset="0"/>
                <a:ea typeface="Arial" pitchFamily="34" charset="-122"/>
                <a:cs typeface="Arial" pitchFamily="34" charset="-120"/>
              </a:rPr>
              <a:t>도시 100% (2030)</a:t>
            </a:r>
            <a:endParaRPr lang="en-US" sz="1600" dirty="0"/>
          </a:p>
        </p:txBody>
      </p:sp>
      <p:sp>
        <p:nvSpPr>
          <p:cNvPr id="16" name="Shape 14"/>
          <p:cNvSpPr/>
          <p:nvPr/>
        </p:nvSpPr>
        <p:spPr>
          <a:xfrm>
            <a:off x="54864" y="3136392"/>
            <a:ext cx="1591056" cy="201168"/>
          </a:xfrm>
          <a:prstGeom prst="rect">
            <a:avLst/>
          </a:prstGeom>
          <a:solidFill>
            <a:srgbClr val="E2E8F0"/>
          </a:solidFill>
          <a:ln w="12700">
            <a:solidFill>
              <a:srgbClr val="E2E8F0"/>
            </a:solidFill>
            <a:prstDash val="solid"/>
          </a:ln>
        </p:spPr>
      </p:sp>
      <p:sp>
        <p:nvSpPr>
          <p:cNvPr id="17" name="Text 15"/>
          <p:cNvSpPr/>
          <p:nvPr/>
        </p:nvSpPr>
        <p:spPr>
          <a:xfrm>
            <a:off x="54864" y="3136392"/>
            <a:ext cx="1591056" cy="201168"/>
          </a:xfrm>
          <a:prstGeom prst="rect">
            <a:avLst/>
          </a:prstGeom>
          <a:noFill/>
          <a:ln/>
        </p:spPr>
        <p:txBody>
          <a:bodyPr wrap="square" rtlCol="0" anchor="ctr"/>
          <a:lstStyle/>
          <a:p>
            <a:pPr algn="ctr" indent="0" marL="0">
              <a:buNone/>
            </a:pPr>
            <a:r>
              <a:rPr lang="en-US" sz="900" dirty="0">
                <a:solidFill>
                  <a:srgbClr val="1A1A1A"/>
                </a:solidFill>
                <a:latin typeface="Arial" pitchFamily="34" charset="0"/>
                <a:ea typeface="Arial" pitchFamily="34" charset="-122"/>
                <a:cs typeface="Arial" pitchFamily="34" charset="-120"/>
              </a:rPr>
              <a:t>호치민 보급률 95%+ (8,523개 기지국)</a:t>
            </a:r>
            <a:endParaRPr lang="en-US" sz="900" dirty="0"/>
          </a:p>
        </p:txBody>
      </p:sp>
      <p:sp>
        <p:nvSpPr>
          <p:cNvPr id="18" name="Shape 16"/>
          <p:cNvSpPr/>
          <p:nvPr/>
        </p:nvSpPr>
        <p:spPr>
          <a:xfrm>
            <a:off x="5440680" y="685800"/>
            <a:ext cx="3566160" cy="256032"/>
          </a:xfrm>
          <a:prstGeom prst="rect">
            <a:avLst/>
          </a:prstGeom>
          <a:solidFill>
            <a:srgbClr val="0C2340"/>
          </a:solidFill>
          <a:ln w="12700">
            <a:solidFill>
              <a:srgbClr val="0C2340"/>
            </a:solidFill>
            <a:prstDash val="solid"/>
          </a:ln>
        </p:spPr>
      </p:sp>
      <p:sp>
        <p:nvSpPr>
          <p:cNvPr id="19" name="Text 17"/>
          <p:cNvSpPr/>
          <p:nvPr/>
        </p:nvSpPr>
        <p:spPr>
          <a:xfrm>
            <a:off x="5513832" y="685800"/>
            <a:ext cx="3419856" cy="256032"/>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 주요 프로젝트 목록</a:t>
            </a:r>
            <a:endParaRPr lang="en-US" sz="1100" dirty="0"/>
          </a:p>
        </p:txBody>
      </p:sp>
      <p:sp>
        <p:nvSpPr>
          <p:cNvPr id="20" name="Shape 18"/>
          <p:cNvSpPr/>
          <p:nvPr/>
        </p:nvSpPr>
        <p:spPr>
          <a:xfrm>
            <a:off x="5440680" y="941832"/>
            <a:ext cx="3566160" cy="621792"/>
          </a:xfrm>
          <a:prstGeom prst="rect">
            <a:avLst/>
          </a:prstGeom>
          <a:solidFill>
            <a:srgbClr val="F8F9FA"/>
          </a:solidFill>
          <a:ln w="12700">
            <a:solidFill>
              <a:srgbClr val="E2E8F0"/>
            </a:solidFill>
            <a:prstDash val="solid"/>
          </a:ln>
        </p:spPr>
      </p:sp>
      <p:sp>
        <p:nvSpPr>
          <p:cNvPr id="21" name="Text 19"/>
          <p:cNvSpPr/>
          <p:nvPr/>
        </p:nvSpPr>
        <p:spPr>
          <a:xfrm>
            <a:off x="5513832" y="969264"/>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하노이 스마트시티 통합운영센터 (IOC)</a:t>
            </a:r>
            <a:endParaRPr lang="en-US" sz="1000" dirty="0"/>
          </a:p>
        </p:txBody>
      </p:sp>
      <p:sp>
        <p:nvSpPr>
          <p:cNvPr id="22" name="Text 20"/>
          <p:cNvSpPr/>
          <p:nvPr/>
        </p:nvSpPr>
        <p:spPr>
          <a:xfrm>
            <a:off x="5513832" y="1179576"/>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Hanoi | $50M</a:t>
            </a:r>
            <a:endParaRPr lang="en-US" sz="900" dirty="0"/>
          </a:p>
        </p:txBody>
      </p:sp>
      <p:sp>
        <p:nvSpPr>
          <p:cNvPr id="23" name="Text 21"/>
          <p:cNvSpPr/>
          <p:nvPr/>
        </p:nvSpPr>
        <p:spPr>
          <a:xfrm>
            <a:off x="5513832" y="1325880"/>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2025 가동 완료</a:t>
            </a:r>
            <a:endParaRPr lang="en-US" sz="800" dirty="0"/>
          </a:p>
        </p:txBody>
      </p:sp>
      <p:sp>
        <p:nvSpPr>
          <p:cNvPr id="24" name="Shape 22"/>
          <p:cNvSpPr/>
          <p:nvPr/>
        </p:nvSpPr>
        <p:spPr>
          <a:xfrm>
            <a:off x="5440680" y="1600200"/>
            <a:ext cx="3566160" cy="621792"/>
          </a:xfrm>
          <a:prstGeom prst="rect">
            <a:avLst/>
          </a:prstGeom>
          <a:solidFill>
            <a:srgbClr val="FFFFFF"/>
          </a:solidFill>
          <a:ln w="12700">
            <a:solidFill>
              <a:srgbClr val="E2E8F0"/>
            </a:solidFill>
            <a:prstDash val="solid"/>
          </a:ln>
        </p:spPr>
      </p:sp>
      <p:sp>
        <p:nvSpPr>
          <p:cNvPr id="25" name="Text 23"/>
          <p:cNvSpPr/>
          <p:nvPr/>
        </p:nvSpPr>
        <p:spPr>
          <a:xfrm>
            <a:off x="5513832" y="1627632"/>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호치민 IoT 통합 플랫폼</a:t>
            </a:r>
            <a:endParaRPr lang="en-US" sz="1000" dirty="0"/>
          </a:p>
        </p:txBody>
      </p:sp>
      <p:sp>
        <p:nvSpPr>
          <p:cNvPr id="26" name="Text 24"/>
          <p:cNvSpPr/>
          <p:nvPr/>
        </p:nvSpPr>
        <p:spPr>
          <a:xfrm>
            <a:off x="5513832" y="1837944"/>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HCMC | $200M</a:t>
            </a:r>
            <a:endParaRPr lang="en-US" sz="900" dirty="0"/>
          </a:p>
        </p:txBody>
      </p:sp>
      <p:sp>
        <p:nvSpPr>
          <p:cNvPr id="27" name="Text 25"/>
          <p:cNvSpPr/>
          <p:nvPr/>
        </p:nvSpPr>
        <p:spPr>
          <a:xfrm>
            <a:off x="5513832" y="1984248"/>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2026.6 스마트도시 조정위원회(23인) 주도 사업</a:t>
            </a:r>
            <a:endParaRPr lang="en-US" sz="800" dirty="0"/>
          </a:p>
        </p:txBody>
      </p:sp>
      <p:sp>
        <p:nvSpPr>
          <p:cNvPr id="28" name="Shape 26"/>
          <p:cNvSpPr/>
          <p:nvPr/>
        </p:nvSpPr>
        <p:spPr>
          <a:xfrm>
            <a:off x="5440680" y="2258568"/>
            <a:ext cx="3566160" cy="621792"/>
          </a:xfrm>
          <a:prstGeom prst="rect">
            <a:avLst/>
          </a:prstGeom>
          <a:solidFill>
            <a:srgbClr val="F8F9FA"/>
          </a:solidFill>
          <a:ln w="12700">
            <a:solidFill>
              <a:srgbClr val="E2E8F0"/>
            </a:solidFill>
            <a:prstDash val="solid"/>
          </a:ln>
        </p:spPr>
      </p:sp>
      <p:sp>
        <p:nvSpPr>
          <p:cNvPr id="29" name="Text 27"/>
          <p:cNvSpPr/>
          <p:nvPr/>
        </p:nvSpPr>
        <p:spPr>
          <a:xfrm>
            <a:off x="5513832" y="2286000"/>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다낭 AI 교통관제</a:t>
            </a:r>
            <a:endParaRPr lang="en-US" sz="1000" dirty="0"/>
          </a:p>
        </p:txBody>
      </p:sp>
      <p:sp>
        <p:nvSpPr>
          <p:cNvPr id="30" name="Text 28"/>
          <p:cNvSpPr/>
          <p:nvPr/>
        </p:nvSpPr>
        <p:spPr>
          <a:xfrm>
            <a:off x="5513832" y="2496312"/>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Da Nang | $30M</a:t>
            </a:r>
            <a:endParaRPr lang="en-US" sz="900" dirty="0"/>
          </a:p>
        </p:txBody>
      </p:sp>
      <p:sp>
        <p:nvSpPr>
          <p:cNvPr id="31" name="Text 29"/>
          <p:cNvSpPr/>
          <p:nvPr/>
        </p:nvSpPr>
        <p:spPr>
          <a:xfrm>
            <a:off x="5513832" y="2642616"/>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한국 KT 협력 추진</a:t>
            </a:r>
            <a:endParaRPr lang="en-US" sz="800" dirty="0"/>
          </a:p>
        </p:txBody>
      </p:sp>
      <p:sp>
        <p:nvSpPr>
          <p:cNvPr id="32" name="Shape 30"/>
          <p:cNvSpPr/>
          <p:nvPr/>
        </p:nvSpPr>
        <p:spPr>
          <a:xfrm>
            <a:off x="5440680" y="2916936"/>
            <a:ext cx="3566160" cy="621792"/>
          </a:xfrm>
          <a:prstGeom prst="rect">
            <a:avLst/>
          </a:prstGeom>
          <a:solidFill>
            <a:srgbClr val="FFFFFF"/>
          </a:solidFill>
          <a:ln w="12700">
            <a:solidFill>
              <a:srgbClr val="E2E8F0"/>
            </a:solidFill>
            <a:prstDash val="solid"/>
          </a:ln>
        </p:spPr>
      </p:sp>
      <p:sp>
        <p:nvSpPr>
          <p:cNvPr id="33" name="Text 31"/>
          <p:cNvSpPr/>
          <p:nvPr/>
        </p:nvSpPr>
        <p:spPr>
          <a:xfrm>
            <a:off x="5513832" y="2944368"/>
            <a:ext cx="3419856" cy="219456"/>
          </a:xfrm>
          <a:prstGeom prst="rect">
            <a:avLst/>
          </a:prstGeom>
          <a:noFill/>
          <a:ln/>
        </p:spPr>
        <p:txBody>
          <a:bodyPr wrap="square" rtlCol="0" anchor="ctr"/>
          <a:lstStyle/>
          <a:p>
            <a:pPr indent="0" marL="0">
              <a:buNone/>
            </a:pPr>
            <a:r>
              <a:rPr lang="en-US" sz="1000" b="1" dirty="0">
                <a:solidFill>
                  <a:srgbClr val="0C2340"/>
                </a:solidFill>
                <a:latin typeface="Arial" pitchFamily="34" charset="0"/>
                <a:ea typeface="Arial" pitchFamily="34" charset="-122"/>
                <a:cs typeface="Arial" pitchFamily="34" charset="-120"/>
              </a:rPr>
              <a:t>껀터 한-베 스마트시티 협력</a:t>
            </a:r>
            <a:endParaRPr lang="en-US" sz="1000" dirty="0"/>
          </a:p>
        </p:txBody>
      </p:sp>
      <p:sp>
        <p:nvSpPr>
          <p:cNvPr id="34" name="Text 32"/>
          <p:cNvSpPr/>
          <p:nvPr/>
        </p:nvSpPr>
        <p:spPr>
          <a:xfrm>
            <a:off x="5513832" y="3154680"/>
            <a:ext cx="3419856" cy="164592"/>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Can Tho | 한국 FDI $3.16억 연계</a:t>
            </a:r>
            <a:endParaRPr lang="en-US" sz="900" dirty="0"/>
          </a:p>
        </p:txBody>
      </p:sp>
      <p:sp>
        <p:nvSpPr>
          <p:cNvPr id="35" name="Text 33"/>
          <p:cNvSpPr/>
          <p:nvPr/>
        </p:nvSpPr>
        <p:spPr>
          <a:xfrm>
            <a:off x="5513832" y="3300984"/>
            <a:ext cx="3419856" cy="164592"/>
          </a:xfrm>
          <a:prstGeom prst="rect">
            <a:avLst/>
          </a:prstGeom>
          <a:noFill/>
          <a:ln/>
        </p:spPr>
        <p:txBody>
          <a:bodyPr wrap="square" rtlCol="0" anchor="ctr"/>
          <a:lstStyle/>
          <a:p>
            <a:pPr indent="0" marL="0">
              <a:buNone/>
            </a:pPr>
            <a:r>
              <a:rPr lang="en-US" sz="800" i="1" dirty="0">
                <a:solidFill>
                  <a:srgbClr val="2563EB"/>
                </a:solidFill>
                <a:latin typeface="Arial" pitchFamily="34" charset="0"/>
                <a:ea typeface="Arial" pitchFamily="34" charset="-122"/>
                <a:cs typeface="Arial" pitchFamily="34" charset="-120"/>
              </a:rPr>
              <a:t>2026.7.3 한국 대표단 방문 협력 논의</a:t>
            </a:r>
            <a:endParaRPr lang="en-US" sz="800" dirty="0"/>
          </a:p>
        </p:txBody>
      </p:sp>
      <p:sp>
        <p:nvSpPr>
          <p:cNvPr id="36" name="Shape 34"/>
          <p:cNvSpPr/>
          <p:nvPr/>
        </p:nvSpPr>
        <p:spPr>
          <a:xfrm>
            <a:off x="0" y="4914900"/>
            <a:ext cx="9144000" cy="228600"/>
          </a:xfrm>
          <a:prstGeom prst="rect">
            <a:avLst/>
          </a:prstGeom>
          <a:solidFill>
            <a:srgbClr val="E2E8F0"/>
          </a:solidFill>
          <a:ln w="12700">
            <a:solidFill>
              <a:srgbClr val="E2E8F0"/>
            </a:solidFill>
            <a:prstDash val="solid"/>
          </a:ln>
        </p:spPr>
      </p:sp>
      <p:sp>
        <p:nvSpPr>
          <p:cNvPr id="37" name="Text 35"/>
          <p:cNvSpPr/>
          <p:nvPr/>
        </p:nvSpPr>
        <p:spPr>
          <a:xfrm>
            <a:off x="137160" y="4924044"/>
            <a:ext cx="8869680" cy="201168"/>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Smart City  |  도시·교통·산업 (Urban &amp; Transport)  |  Decision 950/QD-TTg (2018.8.1)</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2340"/>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0D9488"/>
          </a:solidFill>
          <a:ln w="12700">
            <a:solidFill>
              <a:srgbClr val="0D9488"/>
            </a:solidFill>
            <a:prstDash val="solid"/>
          </a:ln>
        </p:spPr>
      </p:sp>
      <p:sp>
        <p:nvSpPr>
          <p:cNvPr id="3" name="Text 1"/>
          <p:cNvSpPr/>
          <p:nvPr/>
        </p:nvSpPr>
        <p:spPr>
          <a:xfrm>
            <a:off x="365760" y="731520"/>
            <a:ext cx="8595360" cy="731520"/>
          </a:xfrm>
          <a:prstGeom prst="rect">
            <a:avLst/>
          </a:prstGeom>
          <a:noFill/>
          <a:ln/>
        </p:spPr>
        <p:txBody>
          <a:bodyPr wrap="square"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Vietnam Infrastructure MI</a:t>
            </a:r>
            <a:endParaRPr lang="en-US" sz="3600" dirty="0"/>
          </a:p>
        </p:txBody>
      </p:sp>
      <p:sp>
        <p:nvSpPr>
          <p:cNvPr id="4" name="Text 2"/>
          <p:cNvSpPr/>
          <p:nvPr/>
        </p:nvSpPr>
        <p:spPr>
          <a:xfrm>
            <a:off x="365760" y="1463040"/>
            <a:ext cx="8595360" cy="365760"/>
          </a:xfrm>
          <a:prstGeom prst="rect">
            <a:avLst/>
          </a:prstGeom>
          <a:noFill/>
          <a:ln/>
        </p:spPr>
        <p:txBody>
          <a:bodyPr wrap="square" rtlCol="0" anchor="ctr"/>
          <a:lstStyle/>
          <a:p>
            <a:pPr indent="0" marL="0">
              <a:buNone/>
            </a:pPr>
            <a:r>
              <a:rPr lang="en-US" sz="1800" dirty="0">
                <a:solidFill>
                  <a:srgbClr val="0D9488"/>
                </a:solidFill>
                <a:latin typeface="Arial" pitchFamily="34" charset="0"/>
                <a:ea typeface="Arial" pitchFamily="34" charset="-122"/>
                <a:cs typeface="Arial" pitchFamily="34" charset="-120"/>
              </a:rPr>
              <a:t>Automated Report Pipeline · SA-8</a:t>
            </a:r>
            <a:endParaRPr lang="en-US" sz="1800" dirty="0"/>
          </a:p>
        </p:txBody>
      </p:sp>
      <p:sp>
        <p:nvSpPr>
          <p:cNvPr id="5" name="Text 3"/>
          <p:cNvSpPr/>
          <p:nvPr/>
        </p:nvSpPr>
        <p:spPr>
          <a:xfrm>
            <a:off x="365760" y="201168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19개 마스터플랜 · KPI 43개 · 프로젝트 97개 — knowledge_index 기반</a:t>
            </a:r>
            <a:endParaRPr lang="en-US" sz="1200" dirty="0"/>
          </a:p>
        </p:txBody>
      </p:sp>
      <p:sp>
        <p:nvSpPr>
          <p:cNvPr id="6" name="Text 4"/>
          <p:cNvSpPr/>
          <p:nvPr/>
        </p:nvSpPr>
        <p:spPr>
          <a:xfrm>
            <a:off x="365760" y="233172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매주 토요일 KST 22:00 자동 생성 — Claude Haiku AI 기사 분석 연계</a:t>
            </a:r>
            <a:endParaRPr lang="en-US" sz="1200" dirty="0"/>
          </a:p>
        </p:txBody>
      </p:sp>
      <p:sp>
        <p:nvSpPr>
          <p:cNvPr id="7" name="Text 5"/>
          <p:cNvSpPr/>
          <p:nvPr/>
        </p:nvSpPr>
        <p:spPr>
          <a:xfrm>
            <a:off x="365760" y="2651760"/>
            <a:ext cx="8595360" cy="274320"/>
          </a:xfrm>
          <a:prstGeom prst="rect">
            <a:avLst/>
          </a:prstGeom>
          <a:noFill/>
          <a:ln/>
        </p:spPr>
        <p:txBody>
          <a:bodyPr wrap="square" rtlCol="0" anchor="ctr"/>
          <a:lstStyle/>
          <a:p>
            <a:pPr indent="0" marL="0">
              <a:buNone/>
            </a:pPr>
            <a:r>
              <a:rPr lang="en-US" sz="1200" dirty="0">
                <a:solidFill>
                  <a:srgbClr val="AADDFF"/>
                </a:solidFill>
                <a:latin typeface="Arial" pitchFamily="34" charset="0"/>
                <a:ea typeface="Arial" pitchFamily="34" charset="-122"/>
                <a:cs typeface="Arial" pitchFamily="34" charset="-120"/>
              </a:rPr>
              <a:t>Layer 1 (사업 개요 고정) + Layer 2 (AI 동적 분석) 이중 레이어 구조</a:t>
            </a:r>
            <a:endParaRPr lang="en-US" sz="1200" dirty="0"/>
          </a:p>
        </p:txBody>
      </p:sp>
      <p:sp>
        <p:nvSpPr>
          <p:cNvPr id="8" name="Text 6"/>
          <p:cNvSpPr/>
          <p:nvPr/>
        </p:nvSpPr>
        <p:spPr>
          <a:xfrm>
            <a:off x="365760" y="2971800"/>
            <a:ext cx="8595360" cy="274320"/>
          </a:xfrm>
          <a:prstGeom prst="rect">
            <a:avLst/>
          </a:prstGeom>
          <a:noFill/>
          <a:ln/>
        </p:spPr>
        <p:txBody>
          <a:bodyPr wrap="square" rtlCol="0" anchor="ctr"/>
          <a:lstStyle/>
          <a:p>
            <a:pPr indent="0" marL="0">
              <a:buNone/>
            </a:pPr>
            <a:r>
              <a:rPr lang="en-US" sz="1200" dirty="0">
                <a:solidFill>
                  <a:srgbClr val="FEF08A"/>
                </a:solidFill>
                <a:latin typeface="Arial" pitchFamily="34" charset="0"/>
                <a:ea typeface="Arial" pitchFamily="34" charset="-122"/>
                <a:cs typeface="Arial" pitchFamily="34" charset="-120"/>
              </a:rPr>
              <a:t>★ 노란색 하이라이트 = KPI 변동 자동 감지 · 이메일 자동 첨부 발송</a:t>
            </a:r>
            <a:endParaRPr lang="en-US" sz="1200" dirty="0"/>
          </a:p>
        </p:txBody>
      </p:sp>
      <p:sp>
        <p:nvSpPr>
          <p:cNvPr id="9" name="Text 7"/>
          <p:cNvSpPr/>
          <p:nvPr/>
        </p:nvSpPr>
        <p:spPr>
          <a:xfrm>
            <a:off x="365760" y="3749040"/>
            <a:ext cx="8595360" cy="274320"/>
          </a:xfrm>
          <a:prstGeom prst="rect">
            <a:avLst/>
          </a:prstGeom>
          <a:noFill/>
          <a:ln/>
        </p:spPr>
        <p:txBody>
          <a:bodyPr wrap="square" rtlCol="0" anchor="ctr"/>
          <a:lstStyle/>
          <a:p>
            <a:pPr indent="0" marL="0">
              <a:buNone/>
            </a:pPr>
            <a:r>
              <a:rPr lang="en-US" sz="1300" dirty="0">
                <a:solidFill>
                  <a:srgbClr val="0D9488"/>
                </a:solidFill>
                <a:latin typeface="Arial" pitchFamily="34" charset="0"/>
                <a:ea typeface="Arial" pitchFamily="34" charset="-122"/>
                <a:cs typeface="Arial" pitchFamily="34" charset="-120"/>
              </a:rPr>
              <a:t>대시보드: hms4792.github.io/vietnam-infra-news/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Vietnam Infrastructure MI Weekly Report 2026-10-24</dc:title>
  <dc:subject>Vietnam Infrastructure Market Intelligence</dc:subject>
  <dc:creator>Claude SA-8 Auto-Report</dc:creator>
  <cp:lastModifiedBy>Claude SA-8 Auto-Report</cp:lastModifiedBy>
  <cp:revision>1</cp:revision>
  <dcterms:created xsi:type="dcterms:W3CDTF">2026-10-24T05:43:26Z</dcterms:created>
  <dcterms:modified xsi:type="dcterms:W3CDTF">2026-10-24T05:43:26Z</dcterms:modified>
</cp:coreProperties>
</file>