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276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500" kern="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REPORT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0299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CF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인프라 시장 분석 주간 보고서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15240">
            <a:solidFill>
              <a:srgbClr val="2E6A9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57200" y="2743200"/>
            <a:ext cx="256032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2E6A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798064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발행일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2980944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2026-05-09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18688" y="2743200"/>
            <a:ext cx="256032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2E6A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28416" y="2798064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기간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28416" y="2980944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2026-W19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980176" y="2743200"/>
            <a:ext cx="256032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2E6A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9904" y="2798064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(신규 82건)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089904" y="2980944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446건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기사 82건 — 슬라이드 내 노란색 배지로 표시  /  기존 기사는 회색 배지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7B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—  내부 참고용  —  SA-8 자동 생성 (Claude Haiku)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  차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기간: 2026-W19  |  전체 21개 마스터플랜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10972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2026-05-09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0040" y="822960"/>
            <a:ext cx="2743200" cy="310896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822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743200" cy="3108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822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Develop.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80760" y="822960"/>
            <a:ext cx="2743200" cy="310896"/>
          </a:xfrm>
          <a:prstGeom prst="rect">
            <a:avLst/>
          </a:prstGeom>
          <a:solidFill>
            <a:srgbClr val="4A3B8C"/>
          </a:solidFill>
          <a:ln w="12700">
            <a:solidFill>
              <a:srgbClr val="4A3B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822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Develop.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시장 종합 분석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10972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2026-05-09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0040" y="749808"/>
            <a:ext cx="2377440" cy="201168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49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AI 신규 분석  |  신규 기사 82건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0040" y="1024128"/>
            <a:ext cx="45720" cy="3090672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" y="1024128"/>
            <a:ext cx="8394192" cy="3090672"/>
          </a:xfrm>
          <a:prstGeom prst="rect">
            <a:avLst/>
          </a:prstGeom>
          <a:noFill/>
          <a:ln/>
        </p:spPr>
        <p:txBody>
          <a:bodyPr wrap="square" lIns="76200" tIns="101600" rIns="101600" bIns="7620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베트남 인프라 시장 Executive Summary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2026년 5월 2주차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**시장 동향**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베트남의 녹색산업단지 개발이 외국인직접투자(FDI) 유치의 핵심 전략으로 부상하고 있습니다. ESG 기준을 충족하는 산업단지 조성으로 글로벌 제조업체들의 관심이 집중되고 있으며, 이는 환경규제 강화 추세와 맞물려 새로운 투자 기회를 창출하고 있습니다.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**투자자 관점**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녹색산업단지는 장기 임차료 수익성과 안정적 현금흐름을 보장하는 매력적 자산으로 평가됩니다. 특히 반도체, 전자제품, 신재생에너지 관련 제조업체들의 입주 수요가 증가 추세입니다.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**사업개발자 전략**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산업단지 개발 시 에너지 효율, 폐기물 관리, 녹지 조성 등 친환경 요소를 우선 배치하여 차별화 경쟁력 확보가 필수입니다. 인근 교통 인프라와의 연계 계획도 FDI 유치율 제고에 직결됩니다.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**향후 전망**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녹색산업단지는 환경·경제 동시 달성 모델로서 정부 지원 확대가 예상되며, 올해 하반기 추가 프로젝트 승인 가능성이 높습니다.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23760" y="1024128"/>
            <a:ext cx="1572768" cy="694944"/>
          </a:xfrm>
          <a:prstGeom prst="rect">
            <a:avLst/>
          </a:prstGeom>
          <a:solidFill>
            <a:srgbClr val="F0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106984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누적 기사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278624" y="1280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446건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223760" y="1755648"/>
            <a:ext cx="1572768" cy="694944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78624" y="18013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신규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278624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82건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23760" y="2487168"/>
            <a:ext cx="1572768" cy="694944"/>
          </a:xfrm>
          <a:prstGeom prst="rect">
            <a:avLst/>
          </a:prstGeom>
          <a:solidFill>
            <a:srgbClr val="F0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4" y="25328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플랜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27862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21개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223760" y="3218688"/>
            <a:ext cx="1572768" cy="694944"/>
          </a:xfrm>
          <a:prstGeom prst="rect">
            <a:avLst/>
          </a:prstGeom>
          <a:solidFill>
            <a:srgbClr val="F0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32644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변동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278624" y="3474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대시보드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마스터플랜 진행단계 및 기사 수집 현황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10972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2026-05-09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Dashboard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0040" y="777240"/>
            <a:ext cx="2743200" cy="960120"/>
          </a:xfrm>
          <a:prstGeom prst="rect">
            <a:avLst/>
          </a:prstGeom>
          <a:solidFill>
            <a:srgbClr val="E0F0EF"/>
          </a:solidFill>
          <a:ln w="12700">
            <a:solidFill>
              <a:srgbClr val="0D6E6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777240"/>
            <a:ext cx="2743200" cy="256032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777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3192" y="106984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D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 플랜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93192" y="1289304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00400" y="777240"/>
            <a:ext cx="2743200" cy="960120"/>
          </a:xfrm>
          <a:prstGeom prst="rect">
            <a:avLst/>
          </a:prstGeom>
          <a:solidFill>
            <a:srgbClr val="E3EDF8"/>
          </a:solidFill>
          <a:ln w="12700">
            <a:solidFill>
              <a:srgbClr val="1B4F8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777240"/>
            <a:ext cx="2743200" cy="256032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777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Develop.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73552" y="106984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 플랜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73552" y="1289304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80760" y="777240"/>
            <a:ext cx="2743200" cy="960120"/>
          </a:xfrm>
          <a:prstGeom prst="rect">
            <a:avLst/>
          </a:prstGeom>
          <a:solidFill>
            <a:srgbClr val="EDE9F8"/>
          </a:solidFill>
          <a:ln w="12700">
            <a:solidFill>
              <a:srgbClr val="4A3B8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777240"/>
            <a:ext cx="2743200" cy="256032"/>
          </a:xfrm>
          <a:prstGeom prst="rect">
            <a:avLst/>
          </a:prstGeom>
          <a:solidFill>
            <a:srgbClr val="4A3B8C"/>
          </a:solidFill>
          <a:ln w="12700">
            <a:solidFill>
              <a:srgbClr val="4A3B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777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Develop.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153912" y="106984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3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 플랜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53912" y="1289304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" y="1847088"/>
            <a:ext cx="8503920" cy="219456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마스터플랜 ID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148840" y="184708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영역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108960" y="184708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251960" y="1847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누적 기사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49240" y="184708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기사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309360" y="18470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관찰 포인트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2066544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066544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176272" y="206654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136392" y="2066544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279392" y="2066544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191건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376672" y="206654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10건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336792" y="2066544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320040" y="2244852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" y="2244852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VN-PWR-PDP8-RENEWABLE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176272" y="224485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136392" y="2244852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279392" y="2244852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150건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376672" y="224485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8건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336792" y="2244852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재생에너지 사업 관련 기사 필요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20040" y="2423160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7472" y="2423160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VN-PWR-PDP8-LNG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176272" y="242316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136392" y="2423160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279392" y="2423160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156건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376672" y="242316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7건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336792" y="2423160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VN-PWR-PDP8-LNG 관련 공식 발표 모니터링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20040" y="2601468"/>
            <a:ext cx="8503920" cy="175565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7472" y="2601468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VN-PWR-PDP8-GRID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176272" y="260146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3136392" y="2601468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4279392" y="2601468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7건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376672" y="260146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336792" y="2601468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320040" y="2779776"/>
            <a:ext cx="8503920" cy="17556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47472" y="2779776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VN-PWR-PDP8-NUCLEAR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2176272" y="277977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136392" y="2779776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279392" y="2779776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5건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376672" y="277977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336792" y="2779776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원전 사업 관련 공식 발표 모니터링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2958084"/>
            <a:ext cx="8503920" cy="175565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47472" y="2958084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VN-PWR-PDP8-HYDROGEN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2176272" y="295808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3136392" y="2958084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279392" y="2958084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0건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376672" y="295808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336792" y="2958084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320040" y="3136392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47472" y="3136392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2176272" y="313639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3136392" y="3136392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4279392" y="3136392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29건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376672" y="313639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1건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336792" y="3136392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 마스터플랜 관련 공식 발표 모니터링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320040" y="3314700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7472" y="3314700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VN-WW-2030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176272" y="331470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3136392" y="3314700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4279392" y="3314700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3건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5376672" y="331470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1건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6336792" y="3314700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320040" y="3493008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47472" y="3493008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VN-WAT-RESOURCES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176272" y="349300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3136392" y="3493008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279392" y="3493008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8건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5376672" y="349300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2건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6336792" y="3493008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320040" y="3671316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47472" y="3671316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VN-WAT-URBAN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2176272" y="367131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97" name="Text 95"/>
          <p:cNvSpPr/>
          <p:nvPr/>
        </p:nvSpPr>
        <p:spPr>
          <a:xfrm>
            <a:off x="3136392" y="3671316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4279392" y="3671316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7건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5376672" y="367131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2건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6336792" y="3671316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공정률 업데이트 및 준공 예정일 변경 여부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320040" y="3849624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47472" y="3849624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VN-SWM-NATIONAL-2030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176272" y="384962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3136392" y="3849624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4279392" y="3849624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6건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5376672" y="384962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2건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6336792" y="3849624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공정률 업데이트 및 준공 예정일 변경 여부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320040" y="4027932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47472" y="4027932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VN-ENV-IND-1894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176272" y="402793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136392" y="4027932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112" name="Text 110"/>
          <p:cNvSpPr/>
          <p:nvPr/>
        </p:nvSpPr>
        <p:spPr>
          <a:xfrm>
            <a:off x="4279392" y="4027932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18건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5376672" y="402793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5건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6336792" y="4027932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320040" y="4206240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47472" y="4206240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VN-IP-NORTH-2030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176272" y="420624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18" name="Text 116"/>
          <p:cNvSpPr/>
          <p:nvPr/>
        </p:nvSpPr>
        <p:spPr>
          <a:xfrm>
            <a:off x="3136392" y="4206240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4279392" y="4206240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44건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5376672" y="420624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4건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6336792" y="4206240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공정률 업데이트 및 준공 예정일 변경 여부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320040" y="4384548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47472" y="4384548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VN-TRAN-2055</a:t>
            </a:r>
            <a:endParaRPr lang="en-US" sz="700" dirty="0"/>
          </a:p>
        </p:txBody>
      </p:sp>
      <p:sp>
        <p:nvSpPr>
          <p:cNvPr id="124" name="Text 122"/>
          <p:cNvSpPr/>
          <p:nvPr/>
        </p:nvSpPr>
        <p:spPr>
          <a:xfrm>
            <a:off x="2176272" y="438454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3136392" y="4384548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279392" y="4384548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89건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5376672" y="438454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40건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6336792" y="4384548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VN-TRAN-2055 사업 관련 구체적 진행 정보 부재</a:t>
            </a:r>
            <a:endParaRPr lang="en-US" sz="700" dirty="0"/>
          </a:p>
        </p:txBody>
      </p:sp>
      <p:sp>
        <p:nvSpPr>
          <p:cNvPr id="129" name="Shape 127"/>
          <p:cNvSpPr/>
          <p:nvPr/>
        </p:nvSpPr>
        <p:spPr>
          <a:xfrm>
            <a:off x="320040" y="4562856"/>
            <a:ext cx="8503920" cy="17556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47472" y="4562856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VN-MEKONG-DELTA-2030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176272" y="456285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3136392" y="4562856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279392" y="4562856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2건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376672" y="456285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6336792" y="4562856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320040" y="4732020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+ 6개 플랜 — 상세 슬라이드 참조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제8차 국가전력개발계획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500/QĐ-TTg (2023) + Decision 768/QĐ-TTg (2024…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191건  |  ★신규 10건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맥락**  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PDP8은 정책 수립 및 실행 초기단계에서 본격 실행 전환 국면입니다. 신규 기사 8건은 모두 PDP8의 핵심 전략을 구현하는 동향을 반영합니다. 특히 [7번 기사] 청정에너지 촉진 및 아세안 전력연계 정책은 마스터플랜의 구체적 실행을 명시하고 있습니다.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달성도 평가**  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KPI 목표가 제시되지 않아 정량평가는 제한적이나, 다음 지표로 추정…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실행력이 정책 선언에서 **구체적 인프라 구축으로 전환되는 임계점**입니다. 재생에너지 프로젝트 파이프라인 가시화(수력·태양광)와 미-한 외자 진입 동시 가속은 **자금…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10건  +  기존 181건)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Mekong Eye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라오스는 이 지역에 힘을 실어주지만 자국의 주택은 시원함을 유지하기 위해 …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말레이시아와의 철도 연결 가속화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미국, 더 강력한 에너지 협력 모색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부옹 수력 발전소는 건기에 활발하게 운영되어 하류의 전기 및 수도 공급을 …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[동영상] El Nino 2026의 위험에 처하기 전에 수력 발전이 물을 …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수출이 줄어들면서 과일 가격이 급락합니다.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청정 에너지 촉진, 아세안 전력 연결 가속화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정재은, 베트남에 10MW 옥상 태양광 시스템 설치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  |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VN-PWR-PDP8-RENEWABLE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재생에너지 (해상풍력·태양광)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150건  |  ★신규 8건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VN-PWR-PDP8-RENEWABLE 진행현황 분석 보고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평가**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재생에너지 마스터플랜은 투자 유치 및 프로젝트 실행 단계로 진입 중입니다. 이번 주 신규 기사 8건 중 핵심 관련 기사는 3건(37.5%)으로, 태양광과 풍력 모두에서 구체적 동향이 나타나고 있습니다.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**★ 핵심 동향:**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**풍력**: APAC 풍력에너…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8건  +  기존 142건)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Mekong Eye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라오스는 이 지역에 힘을 실어주지만 자국의 주택은 시원함을 유지하기 위해 …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말레이시아와의 철도 연결 가속화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APAC 풍력 에너지 컨퍼런스 2026 개최: 풍력 발전 투자 유…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menafn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Skycorp Solar Group Limited, $ 3.6 백만 두 번…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수출이 줄어들면서 과일 가격이 급락합니다.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정재은, 베트남에 10MW 옥상 태양광 시스템 설치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05-07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디엔비엔푸의 승리 - 20세기의 서사시와 시대의 가치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PM2.5 오염 관리 진전 보고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VN-PWR-PDP8-RENEWABLE  |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VN-PWR-PDP8-LNG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LNG 가스발전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156건  |  ★신규 7건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VN-PWR-PDP8-LNG 진행현황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맥락**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LNG 가스발전 사업은 현재 **정책/메커니즘 고도화 단계**로 진입했습니다. 핵심 기사[4]에서 베트남 정부가 "LNG 발전 프로젝트 메커니즘 완성"을 추진 중임을 확인했습니다. 이는 사업 초기 인허가→설계단계를 거쳐 **경제성 보장 체계 구축**으로 진화하는 중요한 전환점입…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7건  +  기존 149건)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Mekong Eye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라오스는 이 지역에 힘을 실어주지만 자국의 주택은 시원함을 유지하기 위해 …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말레이시아와의 철도 연결 가속화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수출이 줄어들면서 과일 가격이 급락합니다.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LNG 발전 프로젝트 메커니즘 완성: 전기 가격에 압력을 가하지 않고 출력…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정재은, 베트남에 10MW 옥상 태양광 시스템 설치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05-07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디엔비엔푸의 승리 - 20세기의 서사시와 시대의 가치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PM2.5 오염 관리 진전 보고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04-08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NewsData/Wa…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GAS, 티바이 LNG 터미널 처리 능력 확대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VN-PWR-PDP8-LNG  |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VN-PWR-PDP8-GRID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송배전망 확충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7건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VN-PWR-PDP8-GRID 관련 신규 기사가 수집되지 않았습니다.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0건  +  기존 7건)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E…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캐나다의 베트남 교수는 북미 최대 전력망의 수명을 연장하기 위해 백만 달러…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04-08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Nien …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EVN, 전력망 기반 에너지 저장 배터리 개발 로드맵 가속화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04-08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Nien - Kinh te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04-09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Nien …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EVN, 전력망 내 BESS 구축 추진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04-09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Nien - Kinh te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04-13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Tri - K…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베트남은 자체 축전지를 생산해 전력망 '구출'에 기여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04-13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Tri - Kinh doanh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VN-PWR-PDP8-GRID  |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VN-PWR-PDP8-NUCLEAR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원전 재개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5건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VN-PWR-PDP8-NUCLEAR 관련 신규 기사가 수집되지 않았습니다.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0건  +  기존 5건)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03-17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VietnamPlus…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Assystem Group과 원자력 분야 협력 논의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03-17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 - Kinh te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03-28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VietnamPlus…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원전 건설 계약으로 인한 긍정적 영향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03-28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Khanh Hoa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 - Kinh te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04-25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vir_vn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한국과 베트남, 원자력 발전 협정 합의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VN-PWR-PDP8-NUCLEAR  |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VN-PWR-PDP8-HYDROGEN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그린수소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VN-PWR-PDP8-HYDROGEN 관련 기사가 없습니다.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3108960"/>
            <a:ext cx="8503920" cy="292608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1089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수집된 기사 없음 — 기존 분석 및 KPI 현황 유지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VN-PWR-PDP8-HYDROGEN  |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석유가스 분야 전략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893/QĐ-TTg (2023)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29건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평가:**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VN-OG-2030은 실행 초기 단계(2026년 5월 기준)에서 공급망 다층화 및 정제·에너지 인프라 고도화 추진 중입니다. 히스토리 기사 분석 결과: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★ **원유 확보 다원화**: Idemitsu와의 4백만 배럴 계약, UAE-OPEC+ 재편 영향 속 안정적 수급선 구축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**LNG 수입 강화**: PV GAS 6만 톤 수취(2026년 4월)로 가스 에너지믹스…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베트남의 석유가스 자립도 강화 전략이 본격 실행 국면에 진입했으나, 국제 유가 변동성(OPEC+ 재편)과 국내 가격 상승 압력이 동시 진행되는 상황입니다. **Dung Quat …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28건)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05-07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휘발유 가격 인상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03-03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글로벌 불안정 속에서 석유 거래에 대한 검사 강화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03-03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VietnamNet …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다리 붕괴, 초대형 선박 미사일 피격, 베트남 액화가스 공급 중단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VietnamNet - Kinh doanh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03-04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…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안보 위협을 우려한 페트로베트남은 국내 구매에 우선순위를 두고 원유…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03-04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Kinh doanh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…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 유가 상승 우려: 정유소용 원유 공급원 찾기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Kinh doanh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  |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VN-WW-2030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국가 하수처리 프로그램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1085/QĐ-TTg (2016) + QCVN 14:2008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3건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VN-WW-2030 베트남 국가 하수처리 프로그램 2030 | 주간 분석 리포트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**이번 주 신규 기사 수집 불가**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제공된 신규 기사 데이터가 공백(None)으로 입력되어 기사 분석이 불가능합니다. 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**히스토리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- 2026년 4월 현재 하노이 중심의 배수 시스템 프로젝트가 진행 중(건설 단계)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최근 기사 1건만 수집으로 사업 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2건)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Xay Dung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1/4 CONSTRUCTION PRISM: 하노이는 일련의 배수 시스템 프…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Hanoi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Xay Dung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VN-WW-2030  |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VN-WAT-RESOURCES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수자원 개발 전략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1622/QĐ-TTg (2017)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8건  |  ★신규 2건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기사(2026년 3월~4월)는 지역 단위 상수도 운영·가뭄대응 사례 중심이었으나, 이번 주 신규 기사는 **전국 규모 기후위기 대응 체계 구축 단계**로 진전되었음을 시사합니다. 수력발전-저수지 물 저장-에너지·식량안보 연계 논의가 정책 수준에서 가시화된 상황입니다.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목표 대비 진행도:**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KPI 부재로 정량 평가 불가능하나, **인프라 기…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**투자 관점 시사점:**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상하수도·저수지·정수 인프라 부문의 정부 투자 또는 공공-민간 협력(PPP) 기회가 향후 1~2년 중 가시화될 가능성이 높습니다. 엘니뇨 대응 정책 결…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2건  +  기존 6건)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수력 발전은 El Nino 2026의 위험에 처하기 전에 물을 축적하기 위…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05-07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'슈퍼 엘니노' 의 위험에 처한 아시아의 에너지 및 식량 안보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03-22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Nhandan - M…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동탑성 해안 섬 코뮌은 가뭄과 염분에 적극적으로 대응합니다.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03-22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Dong Thap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Nhandan - Moi truong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03-30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 Be 및 Long Cuong 배수 문제: 최적의 해결책은 무엇입니까?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Binh Di…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내수 프로젝트 가속화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04-03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04-11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Binh Di…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지아라이 상하수도 주식회사 채용 공고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VN-WAT-RESOURCES  |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VN-WAT-URBAN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도시 배수·침수 방지 마스터플랜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7건  |  ★신규 2건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기사(3월~4월)는 정책 협의 단계(Nha Be·Long Cuong 배수 검토, 채용 확대)였으나, 신규 기사(5월)는 구체적 실행 단계로 전환되었습니다. 나트랑 만 오염 심화 사례가 규제 강화를 촉발했고, 신농촌 지역 청정수·환경 개선 협력체계가 본격 가동 중입니다.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목표 대비 진행도:**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목표값 미공시로 정량 평가 제한적이나, 광역 도…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환경 악화(나트랑 만 오염)가 정책 가속화의 촉매역할을 하고 있으며, 부처 간 협력체계 구축으로 자금 조성·실행 속도 가능성이 높아졌습니다. 도시-농촌 이원적 배수·식수 문…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2건  +  기존 5건)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폐수에 의해 "질식" 된 나트랑: 만 오염이 기준치를 초과하여 불법 배출 …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[VIDEO] 베트남 물환경협회, 새로운 농촌조정중앙사무소와 협력: 깨끗한…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03-25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Giang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Kinh doanh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03-30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 Be 및 Long Cuong 배수 문제: 최적의 해결책은 무엇입니까?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Binh Di…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내수 프로젝트 가속화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04-03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04-11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Binh Di…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지아라이 상하수도 주식회사 채용 공고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VN-WAT-URBAN  |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VN-SWM-NATIONAL-2030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국가 고형폐기물 관리 전략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491/QĐ-TTg (2018)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6건  |  ★신규 2건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VN-SWM-NATIONAL-2030 진행현황 분석 보고서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평가:**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국가 고형폐기물 관리 전략은 현재 **정책 수립 → 지역 시범 → 시스템 도입** 다단계 진행 중입니다. 히스토리 기사는 지역 폐기물 처리 재정 개선(EPR 메커니즘, 4월)과 HCMC 자동 계량 시스템 배치(4월)로 **하드웨어 기반 현대화**에 집중했으나, 이…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2건  +  기존 4건)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포장, 배터리 및 전자 제품 재활용 책임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05-09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HCMC는 폐기물 처리 시설에 자동 계량 시스템을 배치합니다.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Chi Minh…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04-09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꽝찌: 심각한 오염을 초래한 장기화된 쓰레기 매립지 화재 사건을 철저히 처리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04-27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EPR 메커니즘은 지역 폐기물 처리를 위한 재정 자원을 개방합니다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VN-SWM-NATIONAL-2030  |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VN-ENV-IND-1894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환경산업 발전 프로그램 (결정문 1894/QĐ-TTg 2024)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1894/QĐ-TTg (2024)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18건  |  ★신규 5건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【VN-ENV-IND-1894】베트남 환경산업 발전 프로그램 – 주간 분석 보고서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【최신 뉴스 분석】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마스터플랜 이행이 이중 궤도에서 진행 중입니다. 히스토리 기사(4월)는 푸옌·동나이 산업단지의 인프라 착공 단계를 보도했으나, 신규 기사(5월)는 ★**르민쑤언 산업단지 오염 실태 노출과 정책 거버넌스 강화**로 전환되었습니다. 정책 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5건  +  기존 13건)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5월부터 시행되는 4가지 새로운 환경 정책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[동영상] 르 민 쑤언 산업단지 (Le Minh Xuan Industria…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르 민 쑤언 산업단지의 오염: 사람들은 연기와 배기가스 배출에 집착합니다.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05-09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Hanoi Times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호아팟, 베트남 북부에 미화 1억 3천만 달러 규모의 산업단지 건설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02-11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CafeBiz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베트남에서 가장 젊은 중앙 운영 도시는 약 226헥타르 규모의 1조 7천억…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03-19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Kinh doanh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+ 10건 추가 기사 — Word 보고서 참조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VN-ENV-IND-1894  |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VN-IP-NORTH-2030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북부 베트남 산업단지 개발 계획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326/QĐ-TTg (2022) + 외국인 투자 유치 전략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44건  |  ★신규 4건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북부 산업단지 마스터플랜은 현재 **전략 수립 단계(2026년 상반기)**에서 **실행 준비 단계**로 전환 중입니다. 4월의 FDI 금융·정책 신호(환규정 개편, FDI Connect 행사) 이후, 5월 신규 기사들은 구체적 인프라 추진(공항망 동기화 계획, 친환경 산업단지 재구성)을 반영합니다.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진행률 평가:**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공시된 KPI 목표 없으나, **F…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정부의 북부 인프라 투자는 공항·친환경 산업단지·디지털 허브의 **3축 동시 추진**으로 전환되었습니다. 1.5년 내 착공 예정인 프로젝트들의 자금 조달·규제 승인 속도가…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4건  +  기존 40건)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NEW·H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sggp_org_vn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녹색산업단지, FDI 투자자 유치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05-03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nhandan_vn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 유치 플랫폼의 포괄적인 업그레이드 필요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차장은 공항 시스템에 대한 전략적, 동기식 계획을 강조합니다.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vietnamnews…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HCM City의 데이터 인프라에 수십억 달러의 투자가 쏟아집니다.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03-09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 Dan En…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응에안(Nghe An)은 병목 현상을 제거하고 FDI를 유치하기 위한 노력…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E…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박닌(Bac Ninh), 베트남 FDI 분야 선두 자리 굳건히 다져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03-09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VietnamPlus…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첫 2개월 동안 베트남의 실현 FDI 자본은 8.8% 증가했습니…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03-09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Dong Nai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 Dan English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VN-IP-NORTH-2030  |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VN-TRAN-2055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교통 인프라 마스터플랜 2021-2030 (비전 2050)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1412/QĐ-TTg (2021)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89건  |  ★신규 40건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&amp; 맥락 평가**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교통 인프라 마스터플랜 2021-2030은 ★**2026년 상업 운영 목표 시점 도입 단계**에 진입했습니다. 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히스토리(4월 말)에서 동나이 43억 달러 운송 링크 계획, 호치민 사이공강 지하철 14억 달러 착공 등 **대규모 동시다중 프로젝트 추진**이 시작되었고, 이번 주(5월 초)에는 이러한 모멘텀이 강화됩니다: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**공항 인프라**…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베트남의 국제신용등급 상향(무디스)과 대규모 인프라 동시추진은 투자 리스크 감소 신호입니다. 롱탄공항 2026년 상업운영 달성 여부와 동나이 운송 링크 완성도가 **향후 2-3년…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40건  +  기존 49건)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05-02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베트남의 $ 247M 고속도로와 바다 전망의 고가교 개통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05-02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협력 체계를 구축하기 위한 최고 리더의 인도 방문 예정: 차장 FM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ILDEX VIETNAM 2026, 농식품 부문에서 지속 가능한 변화 강조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Moody 's는 베트남의 전망을 개혁 추진에 대한 "긍정적" 으로 끌어 …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롱탄 공항 프로젝트 가속화를 위한 신속한 조치 촉구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nhandan_vn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롱탄 공항 프로젝트 가속화를 위한 신속한 조치 촉구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위험에도 불구하고 베트남은 여전히 밝은 지역으로 남아 있습니다: 국제…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sggp_org_vn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롱탄 국제공항 1단계, 2026년 상업 운영 예정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VN-TRAN-2055  |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VN-MEKONG-DELTA-2030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메콩 델타 인프라 개발 계획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13-NQ/TW (2022)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2건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VN-MEKONG-DELTA-2030 관련 신규 기사가 수집되지 않았습니다.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0건  +  기존 2건)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04-21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Tho Bridge는 과부하 위험에 직면해 있습니다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04-21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VN-MEKONG-DELTA-2030  |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VN-URB-METRO-2030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도시철도(메트로) 개발 계획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15건  |  ★신규 3건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VN-URB-METRO-2030 진행현황 분석 리포트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기사(4월)는 30개 노선 건설 선언, 토지취득, TOD 우선처리 등 **실행 초기 단계(Phase 1: 계획→착공준비)**를 보여줍니다. 이번 주 신규 기사는 관광수요 증가(아고다 81% 상승)와 스마트시티 기술 연계라는 **수요창출 및 기술통합 단계(Phase…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3건  +  기존 12건)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방콕의 녹색 도시 재생은 동남아시아 도시에 대한 모델을 제공합니다.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vir_vn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아고다, 베트남 국내 여행 검색 81% 증가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vietnamnews…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호치민시, 교육, 인프라, 스마트 시티를 연계한 주요 기술 쇼케이스 개최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04-05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호치민시, 지하철 2호선 건설 가속화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04-04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호치민시 지도자들이 지하철 2호선 현장 조사를 실시합니다.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04-04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Chi Minh…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04-05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Chi Minh…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04-14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E…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HCMC, 2차 지하철 노선 건설을 위해 시내 나무 400그루 이동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+ 7건 추가 기사 — Word 보고서 참조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VN-URB-METRO-2030  |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VN-SC-2030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스마트시티 개발 프로그램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950/QĐ-TTg (2018)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5건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운영·확장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VN-SC-2030 진행현황 분석 리포트 (2026-05-05)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【최신 뉴스 분석】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기사들(5G 인프라, 블록체인, 디지털 전환)은 광역 기반 마련 단계였다면, 신규 기사는 ★스마트시티 인프라를 시민 서비스로 구현하는 **'응용 전환기'**로 진입했음을 시사합니다. 휴시의 문화여권 앱(GPS 체크인, 보상시스템)은 디지털 기반 위 구축…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4건)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문화 관광을 재구성하는 요리, 문화유산 여권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02-25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디지털 경제를 위한 최초의 국가 블록체인 인프라 출시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 시티와 디지털 산업단지를 강화하기 위한 5G 출시 가속화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04-09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호치민시에서 애국적 경쟁 운동이 획기적인 발전을 이끌고 있다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04-20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New…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SHB는 디지털 전환을 촉진하기 위해 Huawei와 협력합니다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VN-SC-2030  |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VN-EV-2030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전기차·친환경 교통 전략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5건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VN-EV-2030 진행현황 분석 리포트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**분석일시:** 2026-05-04 (주간 누적 6건)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친환경 교통 전략은 **EV 중심 전환과 과도기적 바이오연료 병행** 단계로 진입했습니다. 히스토리 기사(4월)에서 VinFast의 가솔린 단절 선언→하노이의 전기버스 확대→전력망 최적화 검토로 이어지던 EV 가속화…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4건)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PVOIL, 5월 15일부터 E10 가솔린 전국 출시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04-07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하노이, 전기차 배터리 교환망 구축에 박차를 가하고 있다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04-10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전력 당국, 전력망 안정화를 위해 시간대별 전기차 충전 요금제 검토 중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04-18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 Dan En…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하노이, 친환경 대중교통으로 전기버스 전환 가속화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04-23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‘VinFast는 다시는 가솔린 자동차를 생산하지 않을 것입니다’: 동남아…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VN-EV-2030  |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HN-URBAN-INFRA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도시 인프라 개발 계획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7건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HN-URBAN-INFRA 진행현황 분석 (2026-05-04)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도시 인프라 계획은 우기 대응 중심으로 실행 단계에 진입했습니다. 4월 배수시스템 운영 성공에 이어 신규 기사(5월 4일)는 우기 전 긴급 사업 추진 가속화를 보도하고 있습니다. 링로드4 병행도로(113km, 6월 개통 목표)와 배수 인프라가 핵심 추진 프로젝트임…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6건)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하노이는 2026년 우기 전에 일련의 긴급 인프라 프로젝트의 진행을 촉진합…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02-24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Vietnam.vn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호아락 하이테크파크 460ha 확장 — 베트남 실리콘밸리 2026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Vietnam.vn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링로드4 병행도로 2026년 6월 개통 목표 — 113km 업데이트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우주센터 개관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우주센터 개관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04-30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하노이는 배수 시스템을 적극적으로 운영하여 4 월 30 일부터 5 월 1 …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HN-URBAN-INFRA  |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HN-URBAN-WEST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서부 도시개발 (화락 첨단기술단지)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4건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HN-URBAN-WEST 관련 신규 기사가 수집되지 않았습니다.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0건  +  기존 4건)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02-24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Vietnam.vn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호아락 하이테크파크 460ha 확장 — 베트남 실리콘밸리 2026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우주센터 개관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우주센터 개관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HN-URBAN-WEST  |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HN-URBAN-NORTH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북부 도시개발 (동아인, 메린)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HN-URBAN-NORTH 관련 기사가 없습니다.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3108960"/>
            <a:ext cx="8503920" cy="292608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1089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수집된 기사 없음 — 기존 분석 및 KPI 현황 유지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HN-URBAN-NORTH  |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2128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Market Intelligence  |  2026-W19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2651760"/>
            <a:ext cx="6400800" cy="0"/>
          </a:xfrm>
          <a:prstGeom prst="line">
            <a:avLst/>
          </a:prstGeom>
          <a:noFill/>
          <a:ln w="12700">
            <a:solidFill>
              <a:srgbClr val="2E6A9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788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21개 마스터플랜  |  전체 446건 기사  |  신규 82건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SA-8 자동 생성 파이프라인 (Claude Haiku + Node.js)  |  CONFIDENTIAL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Vietnam Infra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VN Infra MI Report 2026-05-09</dc:title>
  <dc:subject>PptxGenJS Presentation</dc:subject>
  <dc:creator>SA-8 MI Pipeline</dc:creator>
  <cp:lastModifiedBy>SA-8 MI Pipeline</cp:lastModifiedBy>
  <cp:revision>1</cp:revision>
  <dcterms:created xsi:type="dcterms:W3CDTF">2026-05-09T14:12:53Z</dcterms:created>
  <dcterms:modified xsi:type="dcterms:W3CDTF">2026-05-09T14:12:53Z</dcterms:modified>
</cp:coreProperties>
</file>