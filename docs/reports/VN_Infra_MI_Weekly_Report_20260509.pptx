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340"/>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6E6E"/>
          </a:solidFill>
          <a:ln w="12700">
            <a:solidFill>
              <a:srgbClr val="0D6E6E"/>
            </a:solidFill>
            <a:prstDash val="solid"/>
          </a:ln>
        </p:spPr>
      </p:sp>
      <p:sp>
        <p:nvSpPr>
          <p:cNvPr id="3" name="Text 1"/>
          <p:cNvSpPr/>
          <p:nvPr/>
        </p:nvSpPr>
        <p:spPr>
          <a:xfrm>
            <a:off x="457200" y="960120"/>
            <a:ext cx="8229600" cy="685800"/>
          </a:xfrm>
          <a:prstGeom prst="rect">
            <a:avLst/>
          </a:prstGeom>
          <a:noFill/>
          <a:ln/>
        </p:spPr>
        <p:txBody>
          <a:bodyPr wrap="square" rtlCol="0" anchor="ctr"/>
          <a:lstStyle/>
          <a:p>
            <a:pPr indent="0" marL="0">
              <a:buNone/>
            </a:pPr>
            <a:r>
              <a:rPr lang="en-US" sz="3800" b="1" spc="300" kern="0" dirty="0">
                <a:solidFill>
                  <a:srgbClr val="FFFFFF"/>
                </a:solidFill>
                <a:latin typeface="Calibri" pitchFamily="34" charset="0"/>
                <a:ea typeface="Calibri" pitchFamily="34" charset="-122"/>
                <a:cs typeface="Calibri" pitchFamily="34" charset="-120"/>
              </a:rPr>
              <a:t>VIETNAM INFRASTRUCTURE</a:t>
            </a:r>
            <a:endParaRPr lang="en-US" sz="3800" dirty="0"/>
          </a:p>
        </p:txBody>
      </p:sp>
      <p:sp>
        <p:nvSpPr>
          <p:cNvPr id="4" name="Text 2"/>
          <p:cNvSpPr/>
          <p:nvPr/>
        </p:nvSpPr>
        <p:spPr>
          <a:xfrm>
            <a:off x="457200" y="1627632"/>
            <a:ext cx="8229600" cy="411480"/>
          </a:xfrm>
          <a:prstGeom prst="rect">
            <a:avLst/>
          </a:prstGeom>
          <a:noFill/>
          <a:ln/>
        </p:spPr>
        <p:txBody>
          <a:bodyPr wrap="square" rtlCol="0" anchor="ctr"/>
          <a:lstStyle/>
          <a:p>
            <a:pPr indent="0" marL="0">
              <a:buNone/>
            </a:pPr>
            <a:r>
              <a:rPr lang="en-US" sz="2200" spc="500" kern="0" dirty="0">
                <a:solidFill>
                  <a:srgbClr val="7EB8D4"/>
                </a:solidFill>
                <a:latin typeface="Calibri" pitchFamily="34" charset="0"/>
                <a:ea typeface="Calibri" pitchFamily="34" charset="-122"/>
                <a:cs typeface="Calibri" pitchFamily="34" charset="-120"/>
              </a:rPr>
              <a:t>MARKET INTELLIGENCE REPORT</a:t>
            </a:r>
            <a:endParaRPr lang="en-US" sz="2200" dirty="0"/>
          </a:p>
        </p:txBody>
      </p:sp>
      <p:sp>
        <p:nvSpPr>
          <p:cNvPr id="5" name="Text 3"/>
          <p:cNvSpPr/>
          <p:nvPr/>
        </p:nvSpPr>
        <p:spPr>
          <a:xfrm>
            <a:off x="457200" y="2029968"/>
            <a:ext cx="8229600" cy="347472"/>
          </a:xfrm>
          <a:prstGeom prst="rect">
            <a:avLst/>
          </a:prstGeom>
          <a:noFill/>
          <a:ln/>
        </p:spPr>
        <p:txBody>
          <a:bodyPr wrap="square" rtlCol="0" anchor="ctr"/>
          <a:lstStyle/>
          <a:p>
            <a:pPr indent="0" marL="0">
              <a:buNone/>
            </a:pPr>
            <a:r>
              <a:rPr lang="en-US" sz="1500" dirty="0">
                <a:solidFill>
                  <a:srgbClr val="B0CFDF"/>
                </a:solidFill>
                <a:latin typeface="Calibri" pitchFamily="34" charset="0"/>
                <a:ea typeface="Calibri" pitchFamily="34" charset="-122"/>
                <a:cs typeface="Calibri" pitchFamily="34" charset="-120"/>
              </a:rPr>
              <a:t>베트남 인프라 시장 분석 주간 보고서</a:t>
            </a:r>
            <a:endParaRPr lang="en-US" sz="1500" dirty="0"/>
          </a:p>
        </p:txBody>
      </p:sp>
      <p:sp>
        <p:nvSpPr>
          <p:cNvPr id="6" name="Shape 4"/>
          <p:cNvSpPr/>
          <p:nvPr/>
        </p:nvSpPr>
        <p:spPr>
          <a:xfrm>
            <a:off x="457200" y="2450592"/>
            <a:ext cx="8229600" cy="0"/>
          </a:xfrm>
          <a:prstGeom prst="line">
            <a:avLst/>
          </a:prstGeom>
          <a:noFill/>
          <a:ln w="15240">
            <a:solidFill>
              <a:srgbClr val="2E6A9A"/>
            </a:solidFill>
            <a:prstDash val="dash"/>
          </a:ln>
        </p:spPr>
      </p:sp>
      <p:sp>
        <p:nvSpPr>
          <p:cNvPr id="7" name="Shape 5"/>
          <p:cNvSpPr/>
          <p:nvPr/>
        </p:nvSpPr>
        <p:spPr>
          <a:xfrm>
            <a:off x="457200" y="2743200"/>
            <a:ext cx="2560320" cy="777240"/>
          </a:xfrm>
          <a:prstGeom prst="rect">
            <a:avLst/>
          </a:prstGeom>
          <a:solidFill>
            <a:srgbClr val="1B3A5C"/>
          </a:solidFill>
          <a:ln w="12700">
            <a:solidFill>
              <a:srgbClr val="2E6A9A"/>
            </a:solidFill>
            <a:prstDash val="solid"/>
          </a:ln>
        </p:spPr>
      </p:sp>
      <p:sp>
        <p:nvSpPr>
          <p:cNvPr id="8" name="Text 6"/>
          <p:cNvSpPr/>
          <p:nvPr/>
        </p:nvSpPr>
        <p:spPr>
          <a:xfrm>
            <a:off x="566928" y="2798064"/>
            <a:ext cx="2340864" cy="201168"/>
          </a:xfrm>
          <a:prstGeom prst="rect">
            <a:avLst/>
          </a:prstGeom>
          <a:noFill/>
          <a:ln/>
        </p:spPr>
        <p:txBody>
          <a:bodyPr wrap="square" lIns="0" tIns="0" rIns="0" bIns="0" rtlCol="0" anchor="ctr"/>
          <a:lstStyle/>
          <a:p>
            <a:pPr indent="0" marL="0">
              <a:buNone/>
            </a:pPr>
            <a:r>
              <a:rPr lang="en-US" sz="800" dirty="0">
                <a:solidFill>
                  <a:srgbClr val="7EB8D4"/>
                </a:solidFill>
                <a:latin typeface="Calibri" pitchFamily="34" charset="0"/>
                <a:ea typeface="Calibri" pitchFamily="34" charset="-122"/>
                <a:cs typeface="Calibri" pitchFamily="34" charset="-120"/>
              </a:rPr>
              <a:t>발행일</a:t>
            </a:r>
            <a:endParaRPr lang="en-US" sz="800" dirty="0"/>
          </a:p>
        </p:txBody>
      </p:sp>
      <p:sp>
        <p:nvSpPr>
          <p:cNvPr id="9" name="Text 7"/>
          <p:cNvSpPr/>
          <p:nvPr/>
        </p:nvSpPr>
        <p:spPr>
          <a:xfrm>
            <a:off x="566928" y="2980944"/>
            <a:ext cx="2340864"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2026-05-09</a:t>
            </a:r>
            <a:endParaRPr lang="en-US" sz="1800" dirty="0"/>
          </a:p>
        </p:txBody>
      </p:sp>
      <p:sp>
        <p:nvSpPr>
          <p:cNvPr id="10" name="Shape 8"/>
          <p:cNvSpPr/>
          <p:nvPr/>
        </p:nvSpPr>
        <p:spPr>
          <a:xfrm>
            <a:off x="3218688" y="2743200"/>
            <a:ext cx="2560320" cy="777240"/>
          </a:xfrm>
          <a:prstGeom prst="rect">
            <a:avLst/>
          </a:prstGeom>
          <a:solidFill>
            <a:srgbClr val="1B3A5C"/>
          </a:solidFill>
          <a:ln w="12700">
            <a:solidFill>
              <a:srgbClr val="2E6A9A"/>
            </a:solidFill>
            <a:prstDash val="solid"/>
          </a:ln>
        </p:spPr>
      </p:sp>
      <p:sp>
        <p:nvSpPr>
          <p:cNvPr id="11" name="Text 9"/>
          <p:cNvSpPr/>
          <p:nvPr/>
        </p:nvSpPr>
        <p:spPr>
          <a:xfrm>
            <a:off x="3328416" y="2798064"/>
            <a:ext cx="2340864" cy="201168"/>
          </a:xfrm>
          <a:prstGeom prst="rect">
            <a:avLst/>
          </a:prstGeom>
          <a:noFill/>
          <a:ln/>
        </p:spPr>
        <p:txBody>
          <a:bodyPr wrap="square" lIns="0" tIns="0" rIns="0" bIns="0" rtlCol="0" anchor="ctr"/>
          <a:lstStyle/>
          <a:p>
            <a:pPr indent="0" marL="0">
              <a:buNone/>
            </a:pPr>
            <a:r>
              <a:rPr lang="en-US" sz="800" dirty="0">
                <a:solidFill>
                  <a:srgbClr val="7EB8D4"/>
                </a:solidFill>
                <a:latin typeface="Calibri" pitchFamily="34" charset="0"/>
                <a:ea typeface="Calibri" pitchFamily="34" charset="-122"/>
                <a:cs typeface="Calibri" pitchFamily="34" charset="-120"/>
              </a:rPr>
              <a:t>보고 기간</a:t>
            </a:r>
            <a:endParaRPr lang="en-US" sz="800" dirty="0"/>
          </a:p>
        </p:txBody>
      </p:sp>
      <p:sp>
        <p:nvSpPr>
          <p:cNvPr id="12" name="Text 10"/>
          <p:cNvSpPr/>
          <p:nvPr/>
        </p:nvSpPr>
        <p:spPr>
          <a:xfrm>
            <a:off x="3328416" y="2980944"/>
            <a:ext cx="2340864"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2026-W19</a:t>
            </a:r>
            <a:endParaRPr lang="en-US" sz="1800" dirty="0"/>
          </a:p>
        </p:txBody>
      </p:sp>
      <p:sp>
        <p:nvSpPr>
          <p:cNvPr id="13" name="Shape 11"/>
          <p:cNvSpPr/>
          <p:nvPr/>
        </p:nvSpPr>
        <p:spPr>
          <a:xfrm>
            <a:off x="5980176" y="2743200"/>
            <a:ext cx="2560320" cy="777240"/>
          </a:xfrm>
          <a:prstGeom prst="rect">
            <a:avLst/>
          </a:prstGeom>
          <a:solidFill>
            <a:srgbClr val="1B3A5C"/>
          </a:solidFill>
          <a:ln w="12700">
            <a:solidFill>
              <a:srgbClr val="2E6A9A"/>
            </a:solidFill>
            <a:prstDash val="solid"/>
          </a:ln>
        </p:spPr>
      </p:sp>
      <p:sp>
        <p:nvSpPr>
          <p:cNvPr id="14" name="Text 12"/>
          <p:cNvSpPr/>
          <p:nvPr/>
        </p:nvSpPr>
        <p:spPr>
          <a:xfrm>
            <a:off x="6089904" y="2798064"/>
            <a:ext cx="2340864" cy="201168"/>
          </a:xfrm>
          <a:prstGeom prst="rect">
            <a:avLst/>
          </a:prstGeom>
          <a:noFill/>
          <a:ln/>
        </p:spPr>
        <p:txBody>
          <a:bodyPr wrap="square" lIns="0" tIns="0" rIns="0" bIns="0" rtlCol="0" anchor="ctr"/>
          <a:lstStyle/>
          <a:p>
            <a:pPr indent="0" marL="0">
              <a:buNone/>
            </a:pPr>
            <a:r>
              <a:rPr lang="en-US" sz="800" dirty="0">
                <a:solidFill>
                  <a:srgbClr val="7EB8D4"/>
                </a:solidFill>
                <a:latin typeface="Calibri" pitchFamily="34" charset="0"/>
                <a:ea typeface="Calibri" pitchFamily="34" charset="-122"/>
                <a:cs typeface="Calibri" pitchFamily="34" charset="-120"/>
              </a:rPr>
              <a:t>수집 기사 (신규 81건)</a:t>
            </a:r>
            <a:endParaRPr lang="en-US" sz="800" dirty="0"/>
          </a:p>
        </p:txBody>
      </p:sp>
      <p:sp>
        <p:nvSpPr>
          <p:cNvPr id="15" name="Text 13"/>
          <p:cNvSpPr/>
          <p:nvPr/>
        </p:nvSpPr>
        <p:spPr>
          <a:xfrm>
            <a:off x="6089904" y="2980944"/>
            <a:ext cx="2340864"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445건</a:t>
            </a:r>
            <a:endParaRPr lang="en-US" sz="1800" dirty="0"/>
          </a:p>
        </p:txBody>
      </p:sp>
      <p:sp>
        <p:nvSpPr>
          <p:cNvPr id="16" name="Shape 14"/>
          <p:cNvSpPr/>
          <p:nvPr/>
        </p:nvSpPr>
        <p:spPr>
          <a:xfrm>
            <a:off x="457200" y="3703320"/>
            <a:ext cx="8229600" cy="274320"/>
          </a:xfrm>
          <a:prstGeom prst="rect">
            <a:avLst/>
          </a:prstGeom>
          <a:solidFill>
            <a:srgbClr val="FFF9C4"/>
          </a:solidFill>
          <a:ln w="12700">
            <a:solidFill>
              <a:srgbClr val="FCD34D"/>
            </a:solidFill>
            <a:prstDash val="solid"/>
          </a:ln>
        </p:spPr>
      </p:sp>
      <p:sp>
        <p:nvSpPr>
          <p:cNvPr id="17" name="Text 15"/>
          <p:cNvSpPr/>
          <p:nvPr/>
        </p:nvSpPr>
        <p:spPr>
          <a:xfrm>
            <a:off x="457200" y="3703320"/>
            <a:ext cx="8229600" cy="274320"/>
          </a:xfrm>
          <a:prstGeom prst="rect">
            <a:avLst/>
          </a:prstGeom>
          <a:noFill/>
          <a:ln/>
        </p:spPr>
        <p:txBody>
          <a:bodyPr wrap="square" lIns="0" tIns="0" rIns="0" bIns="0" rtlCol="0" anchor="ctr"/>
          <a:lstStyle/>
          <a:p>
            <a:pPr algn="ctr" indent="0" marL="0">
              <a:buNone/>
            </a:pPr>
            <a:r>
              <a:rPr lang="en-US" sz="900" b="1" dirty="0">
                <a:solidFill>
                  <a:srgbClr val="92400E"/>
                </a:solidFill>
                <a:latin typeface="Calibri" pitchFamily="34" charset="0"/>
                <a:ea typeface="Calibri" pitchFamily="34" charset="-122"/>
                <a:cs typeface="Calibri" pitchFamily="34" charset="-120"/>
              </a:rPr>
              <a:t>★ 이번 주 신규 기사 81건 — 슬라이드 내 노란색 배지로 표시  /  기존 기사는 회색 배지</a:t>
            </a:r>
            <a:endParaRPr lang="en-US" sz="900" dirty="0"/>
          </a:p>
        </p:txBody>
      </p:sp>
      <p:sp>
        <p:nvSpPr>
          <p:cNvPr id="18" name="Text 16"/>
          <p:cNvSpPr/>
          <p:nvPr/>
        </p:nvSpPr>
        <p:spPr>
          <a:xfrm>
            <a:off x="0" y="4887468"/>
            <a:ext cx="9144000" cy="256032"/>
          </a:xfrm>
          <a:prstGeom prst="rect">
            <a:avLst/>
          </a:prstGeom>
          <a:noFill/>
          <a:ln/>
        </p:spPr>
        <p:txBody>
          <a:bodyPr wrap="square" lIns="0" tIns="0" rIns="0" bIns="0" rtlCol="0" anchor="ctr"/>
          <a:lstStyle/>
          <a:p>
            <a:pPr algn="ctr" indent="0" marL="0">
              <a:buNone/>
            </a:pPr>
            <a:r>
              <a:rPr lang="en-US" sz="750" dirty="0">
                <a:solidFill>
                  <a:srgbClr val="4A7B9D"/>
                </a:solidFill>
                <a:latin typeface="Calibri" pitchFamily="34" charset="0"/>
                <a:ea typeface="Calibri" pitchFamily="34" charset="-122"/>
                <a:cs typeface="Calibri" pitchFamily="34" charset="-120"/>
              </a:rPr>
              <a:t>CONFIDENTIAL  —  내부 참고용  —  SA-8 자동 생성 (Claude Haiku)</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C2340"/>
          </a:solidFill>
          <a:ln w="12700">
            <a:solidFill>
              <a:srgbClr val="0C2340"/>
            </a:solidFill>
            <a:prstDash val="solid"/>
          </a:ln>
        </p:spPr>
      </p:sp>
      <p:sp>
        <p:nvSpPr>
          <p:cNvPr id="3" name="Text 1"/>
          <p:cNvSpPr/>
          <p:nvPr/>
        </p:nvSpPr>
        <p:spPr>
          <a:xfrm>
            <a:off x="320040" y="109728"/>
            <a:ext cx="7132320" cy="420624"/>
          </a:xfrm>
          <a:prstGeom prst="rect">
            <a:avLst/>
          </a:prstGeom>
          <a:noFill/>
          <a:ln/>
        </p:spPr>
        <p:txBody>
          <a:bodyPr wrap="square" lIns="0" tIns="0" rIns="0" bIns="0" rtlCol="0" anchor="ctr"/>
          <a:lstStyle/>
          <a:p>
            <a:pPr indent="0" marL="0">
              <a:buNone/>
            </a:pPr>
            <a:r>
              <a:rPr lang="en-US" sz="1800" b="1" dirty="0">
                <a:solidFill>
                  <a:srgbClr val="0C2340"/>
                </a:solidFill>
                <a:latin typeface="Calibri" pitchFamily="34" charset="0"/>
                <a:ea typeface="Calibri" pitchFamily="34" charset="-122"/>
                <a:cs typeface="Calibri" pitchFamily="34" charset="-120"/>
              </a:rPr>
              <a:t>목  차</a:t>
            </a:r>
            <a:endParaRPr lang="en-US" sz="1800" dirty="0"/>
          </a:p>
        </p:txBody>
      </p:sp>
      <p:sp>
        <p:nvSpPr>
          <p:cNvPr id="4" name="Text 2"/>
          <p:cNvSpPr/>
          <p:nvPr/>
        </p:nvSpPr>
        <p:spPr>
          <a:xfrm>
            <a:off x="320040" y="530352"/>
            <a:ext cx="850392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분석 기간: 2026-W19  |  전체 21개 마스터플랜</a:t>
            </a:r>
            <a:endParaRPr lang="en-US" sz="900" dirty="0"/>
          </a:p>
        </p:txBody>
      </p:sp>
      <p:sp>
        <p:nvSpPr>
          <p:cNvPr id="5" name="Text 3"/>
          <p:cNvSpPr/>
          <p:nvPr/>
        </p:nvSpPr>
        <p:spPr>
          <a:xfrm>
            <a:off x="7498080" y="109728"/>
            <a:ext cx="1325880" cy="25603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2026-05-09</a:t>
            </a:r>
            <a:endParaRPr lang="en-US" sz="800" dirty="0"/>
          </a:p>
        </p:txBody>
      </p:sp>
      <p:sp>
        <p:nvSpPr>
          <p:cNvPr id="6" name="Shape 4"/>
          <p:cNvSpPr/>
          <p:nvPr/>
        </p:nvSpPr>
        <p:spPr>
          <a:xfrm>
            <a:off x="0" y="4942332"/>
            <a:ext cx="9144000" cy="201168"/>
          </a:xfrm>
          <a:prstGeom prst="rect">
            <a:avLst/>
          </a:prstGeom>
          <a:solidFill>
            <a:srgbClr val="0C2340"/>
          </a:solidFill>
          <a:ln w="12700">
            <a:solidFill>
              <a:srgbClr val="0C2340"/>
            </a:solidFill>
            <a:prstDash val="solid"/>
          </a:ln>
        </p:spPr>
      </p:sp>
      <p:sp>
        <p:nvSpPr>
          <p:cNvPr id="7" name="Text 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8" name="Text 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Table of Contents</a:t>
            </a:r>
            <a:endParaRPr lang="en-US" sz="700" dirty="0"/>
          </a:p>
        </p:txBody>
      </p:sp>
      <p:sp>
        <p:nvSpPr>
          <p:cNvPr id="9" name="Shape 7"/>
          <p:cNvSpPr/>
          <p:nvPr/>
        </p:nvSpPr>
        <p:spPr>
          <a:xfrm>
            <a:off x="320040" y="822960"/>
            <a:ext cx="2743200" cy="310896"/>
          </a:xfrm>
          <a:prstGeom prst="rect">
            <a:avLst/>
          </a:prstGeom>
          <a:solidFill>
            <a:srgbClr val="0D6E6E"/>
          </a:solidFill>
          <a:ln w="12700">
            <a:solidFill>
              <a:srgbClr val="0D6E6E"/>
            </a:solidFill>
            <a:prstDash val="solid"/>
          </a:ln>
        </p:spPr>
      </p:sp>
      <p:sp>
        <p:nvSpPr>
          <p:cNvPr id="10" name="Text 8"/>
          <p:cNvSpPr/>
          <p:nvPr/>
        </p:nvSpPr>
        <p:spPr>
          <a:xfrm>
            <a:off x="320040" y="822960"/>
            <a:ext cx="2743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Environment</a:t>
            </a:r>
            <a:endParaRPr lang="en-US" sz="1000" dirty="0"/>
          </a:p>
        </p:txBody>
      </p:sp>
      <p:sp>
        <p:nvSpPr>
          <p:cNvPr id="11" name="Shape 9"/>
          <p:cNvSpPr/>
          <p:nvPr/>
        </p:nvSpPr>
        <p:spPr>
          <a:xfrm>
            <a:off x="3200400" y="822960"/>
            <a:ext cx="2743200" cy="310896"/>
          </a:xfrm>
          <a:prstGeom prst="rect">
            <a:avLst/>
          </a:prstGeom>
          <a:solidFill>
            <a:srgbClr val="1B4F8A"/>
          </a:solidFill>
          <a:ln w="12700">
            <a:solidFill>
              <a:srgbClr val="1B4F8A"/>
            </a:solidFill>
            <a:prstDash val="solid"/>
          </a:ln>
        </p:spPr>
      </p:sp>
      <p:sp>
        <p:nvSpPr>
          <p:cNvPr id="12" name="Text 10"/>
          <p:cNvSpPr/>
          <p:nvPr/>
        </p:nvSpPr>
        <p:spPr>
          <a:xfrm>
            <a:off x="3200400" y="822960"/>
            <a:ext cx="2743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Energy Develop.</a:t>
            </a:r>
            <a:endParaRPr lang="en-US" sz="1000" dirty="0"/>
          </a:p>
        </p:txBody>
      </p:sp>
      <p:sp>
        <p:nvSpPr>
          <p:cNvPr id="13" name="Shape 11"/>
          <p:cNvSpPr/>
          <p:nvPr/>
        </p:nvSpPr>
        <p:spPr>
          <a:xfrm>
            <a:off x="6080760" y="822960"/>
            <a:ext cx="2743200" cy="310896"/>
          </a:xfrm>
          <a:prstGeom prst="rect">
            <a:avLst/>
          </a:prstGeom>
          <a:solidFill>
            <a:srgbClr val="4A3B8C"/>
          </a:solidFill>
          <a:ln w="12700">
            <a:solidFill>
              <a:srgbClr val="4A3B8C"/>
            </a:solidFill>
            <a:prstDash val="solid"/>
          </a:ln>
        </p:spPr>
      </p:sp>
      <p:sp>
        <p:nvSpPr>
          <p:cNvPr id="14" name="Text 12"/>
          <p:cNvSpPr/>
          <p:nvPr/>
        </p:nvSpPr>
        <p:spPr>
          <a:xfrm>
            <a:off x="6080760" y="822960"/>
            <a:ext cx="2743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Urban Develop.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C2340"/>
          </a:solidFill>
          <a:ln w="12700">
            <a:solidFill>
              <a:srgbClr val="0C2340"/>
            </a:solidFill>
            <a:prstDash val="solid"/>
          </a:ln>
        </p:spPr>
      </p:sp>
      <p:sp>
        <p:nvSpPr>
          <p:cNvPr id="3" name="Text 1"/>
          <p:cNvSpPr/>
          <p:nvPr/>
        </p:nvSpPr>
        <p:spPr>
          <a:xfrm>
            <a:off x="320040" y="109728"/>
            <a:ext cx="7132320" cy="420624"/>
          </a:xfrm>
          <a:prstGeom prst="rect">
            <a:avLst/>
          </a:prstGeom>
          <a:noFill/>
          <a:ln/>
        </p:spPr>
        <p:txBody>
          <a:bodyPr wrap="square" lIns="0" tIns="0" rIns="0" bIns="0" rtlCol="0" anchor="ctr"/>
          <a:lstStyle/>
          <a:p>
            <a:pPr indent="0" marL="0">
              <a:buNone/>
            </a:pPr>
            <a:r>
              <a:rPr lang="en-US" sz="1800" b="1" dirty="0">
                <a:solidFill>
                  <a:srgbClr val="0C2340"/>
                </a:solidFill>
                <a:latin typeface="Calibri" pitchFamily="34" charset="0"/>
                <a:ea typeface="Calibri" pitchFamily="34" charset="-122"/>
                <a:cs typeface="Calibri" pitchFamily="34" charset="-120"/>
              </a:rPr>
              <a:t>Executive Summary</a:t>
            </a:r>
            <a:endParaRPr lang="en-US" sz="1800" dirty="0"/>
          </a:p>
        </p:txBody>
      </p:sp>
      <p:sp>
        <p:nvSpPr>
          <p:cNvPr id="4" name="Text 2"/>
          <p:cNvSpPr/>
          <p:nvPr/>
        </p:nvSpPr>
        <p:spPr>
          <a:xfrm>
            <a:off x="320040" y="530352"/>
            <a:ext cx="850392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이번 주 시장 종합 분석</a:t>
            </a:r>
            <a:endParaRPr lang="en-US" sz="900" dirty="0"/>
          </a:p>
        </p:txBody>
      </p:sp>
      <p:sp>
        <p:nvSpPr>
          <p:cNvPr id="5" name="Text 3"/>
          <p:cNvSpPr/>
          <p:nvPr/>
        </p:nvSpPr>
        <p:spPr>
          <a:xfrm>
            <a:off x="7498080" y="109728"/>
            <a:ext cx="1325880" cy="25603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2026-05-09</a:t>
            </a:r>
            <a:endParaRPr lang="en-US" sz="800" dirty="0"/>
          </a:p>
        </p:txBody>
      </p:sp>
      <p:sp>
        <p:nvSpPr>
          <p:cNvPr id="6" name="Shape 4"/>
          <p:cNvSpPr/>
          <p:nvPr/>
        </p:nvSpPr>
        <p:spPr>
          <a:xfrm>
            <a:off x="0" y="4942332"/>
            <a:ext cx="9144000" cy="201168"/>
          </a:xfrm>
          <a:prstGeom prst="rect">
            <a:avLst/>
          </a:prstGeom>
          <a:solidFill>
            <a:srgbClr val="0C2340"/>
          </a:solidFill>
          <a:ln w="12700">
            <a:solidFill>
              <a:srgbClr val="0C2340"/>
            </a:solidFill>
            <a:prstDash val="solid"/>
          </a:ln>
        </p:spPr>
      </p:sp>
      <p:sp>
        <p:nvSpPr>
          <p:cNvPr id="7" name="Text 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8" name="Text 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Executive Summary</a:t>
            </a:r>
            <a:endParaRPr lang="en-US" sz="700" dirty="0"/>
          </a:p>
        </p:txBody>
      </p:sp>
      <p:sp>
        <p:nvSpPr>
          <p:cNvPr id="9" name="Shape 7"/>
          <p:cNvSpPr/>
          <p:nvPr/>
        </p:nvSpPr>
        <p:spPr>
          <a:xfrm>
            <a:off x="320040" y="749808"/>
            <a:ext cx="2377440" cy="201168"/>
          </a:xfrm>
          <a:prstGeom prst="rect">
            <a:avLst/>
          </a:prstGeom>
          <a:solidFill>
            <a:srgbClr val="FFF9C4"/>
          </a:solidFill>
          <a:ln w="12700">
            <a:solidFill>
              <a:srgbClr val="F59E0B"/>
            </a:solidFill>
            <a:prstDash val="solid"/>
          </a:ln>
        </p:spPr>
      </p:sp>
      <p:sp>
        <p:nvSpPr>
          <p:cNvPr id="10" name="Text 8"/>
          <p:cNvSpPr/>
          <p:nvPr/>
        </p:nvSpPr>
        <p:spPr>
          <a:xfrm>
            <a:off x="320040" y="749808"/>
            <a:ext cx="2377440" cy="201168"/>
          </a:xfrm>
          <a:prstGeom prst="rect">
            <a:avLst/>
          </a:prstGeom>
          <a:noFill/>
          <a:ln/>
        </p:spPr>
        <p:txBody>
          <a:bodyPr wrap="square" lIns="0" tIns="0" rIns="0" bIns="0" rtlCol="0" anchor="ctr"/>
          <a:lstStyle/>
          <a:p>
            <a:pPr algn="ctr" indent="0" marL="0">
              <a:buNone/>
            </a:pPr>
            <a:r>
              <a:rPr lang="en-US" sz="750" b="1" dirty="0">
                <a:solidFill>
                  <a:srgbClr val="F59E0B"/>
                </a:solidFill>
                <a:latin typeface="Calibri" pitchFamily="34" charset="0"/>
                <a:ea typeface="Calibri" pitchFamily="34" charset="-122"/>
                <a:cs typeface="Calibri" pitchFamily="34" charset="-120"/>
              </a:rPr>
              <a:t>★ AI 신규 분석  |  신규 기사 81건</a:t>
            </a:r>
            <a:endParaRPr lang="en-US" sz="750" dirty="0"/>
          </a:p>
        </p:txBody>
      </p:sp>
      <p:sp>
        <p:nvSpPr>
          <p:cNvPr id="11" name="Shape 9"/>
          <p:cNvSpPr/>
          <p:nvPr/>
        </p:nvSpPr>
        <p:spPr>
          <a:xfrm>
            <a:off x="320040" y="1024128"/>
            <a:ext cx="45720" cy="3090672"/>
          </a:xfrm>
          <a:prstGeom prst="rect">
            <a:avLst/>
          </a:prstGeom>
          <a:solidFill>
            <a:srgbClr val="0D6E6E"/>
          </a:solidFill>
          <a:ln w="12700">
            <a:solidFill>
              <a:srgbClr val="0D6E6E"/>
            </a:solidFill>
            <a:prstDash val="solid"/>
          </a:ln>
        </p:spPr>
      </p:sp>
      <p:sp>
        <p:nvSpPr>
          <p:cNvPr id="12" name="Text 10"/>
          <p:cNvSpPr/>
          <p:nvPr/>
        </p:nvSpPr>
        <p:spPr>
          <a:xfrm>
            <a:off x="429768" y="1024128"/>
            <a:ext cx="8394192" cy="3090672"/>
          </a:xfrm>
          <a:prstGeom prst="rect">
            <a:avLst/>
          </a:prstGeom>
          <a:noFill/>
          <a:ln/>
        </p:spPr>
        <p:txBody>
          <a:bodyPr wrap="square" lIns="76200" tIns="101600" rIns="101600" bIns="76200" rtlCol="0" anchor="t"/>
          <a:lstStyle/>
          <a:p>
            <a:pPr indent="0" marL="0">
              <a:buNone/>
            </a:pPr>
            <a:r>
              <a:rPr lang="en-US" sz="1150" dirty="0">
                <a:solidFill>
                  <a:srgbClr val="374151"/>
                </a:solidFill>
                <a:latin typeface="Calibri" pitchFamily="34" charset="0"/>
                <a:ea typeface="Calibri" pitchFamily="34" charset="-122"/>
                <a:cs typeface="Calibri" pitchFamily="34" charset="-120"/>
              </a:rPr>
              <a:t># 베트남 인프라 시장 Executive Summary</a:t>
            </a: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 2026년 5월 1주차</a:t>
            </a:r>
            <a:endParaRPr lang="en-US" sz="1150" dirty="0"/>
          </a:p>
          <a:p>
            <a:pPr indent="0" marL="0">
              <a:buNone/>
            </a:pP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**녹색산업단지 육성, 외자 유입 가속화**</a:t>
            </a:r>
            <a:endParaRPr lang="en-US" sz="1150" dirty="0"/>
          </a:p>
          <a:p>
            <a:pPr indent="0" marL="0">
              <a:buNone/>
            </a:pP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베트남 정부의 녹색산업단지 개발 전략이 본격화되면서 FDI 투자자 유치가 탄력을 받고 있습니다. 친환경 제조업 기지 조성을 통해 ESG 기준을 충족하는 글로벌 기업들의 진출을 적극 유도 중이며, 이는 도시개발과 산업단지 영역에서 의미 있는 성과입니다.</a:t>
            </a:r>
            <a:endParaRPr lang="en-US" sz="1150" dirty="0"/>
          </a:p>
          <a:p>
            <a:pPr indent="0" marL="0">
              <a:buNone/>
            </a:pP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**사업기회 분석**</a:t>
            </a: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 **산업단지**: 녹색 인증 기준 충족 시 정부 인센티브 및 장기 안정성 보장으로 운영사, 개발사의 수익성 개선 기대</a:t>
            </a: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 **환경/에너지**: 산단 내 신재생에너지 통합시스템, 폐수처리 고도화 등 환경기술 수요 급증</a:t>
            </a: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 **교통**: 산단 연계 지역 접근성 개선을 위한 도로, 항만 연결 인프라 투자 확대</a:t>
            </a:r>
            <a:endParaRPr lang="en-US" sz="1150" dirty="0"/>
          </a:p>
          <a:p>
            <a:pPr indent="0" marL="0">
              <a:buNone/>
            </a:pP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**투자자 주의사항**</a:t>
            </a:r>
            <a:endParaRPr lang="en-US" sz="1150" dirty="0"/>
          </a:p>
          <a:p>
            <a:pPr indent="0" marL="0">
              <a:buNone/>
            </a:pPr>
            <a:r>
              <a:rPr lang="en-US" sz="1150" dirty="0">
                <a:solidFill>
                  <a:srgbClr val="374151"/>
                </a:solidFill>
                <a:latin typeface="Calibri" pitchFamily="34" charset="0"/>
                <a:ea typeface="Calibri" pitchFamily="34" charset="-122"/>
                <a:cs typeface="Calibri" pitchFamily="34" charset="-120"/>
              </a:rPr>
              <a:t>현지 규제 변동에 따른 인증 기준 재검토, 프로젝트 타당성 재평가 필요. 글로벌 공급망 재편 흐름에 부응하는 장기 관점의 포트폴리오 구성이 핵심입니다.</a:t>
            </a:r>
            <a:endParaRPr lang="en-US" sz="1150" dirty="0"/>
          </a:p>
        </p:txBody>
      </p:sp>
      <p:sp>
        <p:nvSpPr>
          <p:cNvPr id="13" name="Shape 11"/>
          <p:cNvSpPr/>
          <p:nvPr/>
        </p:nvSpPr>
        <p:spPr>
          <a:xfrm>
            <a:off x="7223760" y="1024128"/>
            <a:ext cx="1572768" cy="694944"/>
          </a:xfrm>
          <a:prstGeom prst="rect">
            <a:avLst/>
          </a:prstGeom>
          <a:solidFill>
            <a:srgbClr val="F0F4F8"/>
          </a:solidFill>
          <a:ln w="12700">
            <a:solidFill>
              <a:srgbClr val="D1D5DB"/>
            </a:solidFill>
            <a:prstDash val="solid"/>
          </a:ln>
        </p:spPr>
      </p:sp>
      <p:sp>
        <p:nvSpPr>
          <p:cNvPr id="14" name="Text 12"/>
          <p:cNvSpPr/>
          <p:nvPr/>
        </p:nvSpPr>
        <p:spPr>
          <a:xfrm>
            <a:off x="7278624" y="1069848"/>
            <a:ext cx="1463040" cy="201168"/>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전체 누적 기사</a:t>
            </a:r>
            <a:endParaRPr lang="en-US" sz="750" dirty="0"/>
          </a:p>
        </p:txBody>
      </p:sp>
      <p:sp>
        <p:nvSpPr>
          <p:cNvPr id="15" name="Text 13"/>
          <p:cNvSpPr/>
          <p:nvPr/>
        </p:nvSpPr>
        <p:spPr>
          <a:xfrm>
            <a:off x="7278624" y="1280160"/>
            <a:ext cx="1463040" cy="365760"/>
          </a:xfrm>
          <a:prstGeom prst="rect">
            <a:avLst/>
          </a:prstGeom>
          <a:noFill/>
          <a:ln/>
        </p:spPr>
        <p:txBody>
          <a:bodyPr wrap="square" lIns="0" tIns="0" rIns="0" bIns="0" rtlCol="0" anchor="ctr"/>
          <a:lstStyle/>
          <a:p>
            <a:pPr indent="0" marL="0">
              <a:buNone/>
            </a:pPr>
            <a:r>
              <a:rPr lang="en-US" sz="2000" b="1" dirty="0">
                <a:solidFill>
                  <a:srgbClr val="0C2340"/>
                </a:solidFill>
                <a:latin typeface="Calibri" pitchFamily="34" charset="0"/>
                <a:ea typeface="Calibri" pitchFamily="34" charset="-122"/>
                <a:cs typeface="Calibri" pitchFamily="34" charset="-120"/>
              </a:rPr>
              <a:t>445건</a:t>
            </a:r>
            <a:endParaRPr lang="en-US" sz="2000" dirty="0"/>
          </a:p>
        </p:txBody>
      </p:sp>
      <p:sp>
        <p:nvSpPr>
          <p:cNvPr id="16" name="Shape 14"/>
          <p:cNvSpPr/>
          <p:nvPr/>
        </p:nvSpPr>
        <p:spPr>
          <a:xfrm>
            <a:off x="7223760" y="1755648"/>
            <a:ext cx="1572768" cy="694944"/>
          </a:xfrm>
          <a:prstGeom prst="rect">
            <a:avLst/>
          </a:prstGeom>
          <a:solidFill>
            <a:srgbClr val="FFF9C4"/>
          </a:solidFill>
          <a:ln w="12700">
            <a:solidFill>
              <a:srgbClr val="FCD34D"/>
            </a:solidFill>
            <a:prstDash val="solid"/>
          </a:ln>
        </p:spPr>
      </p:sp>
      <p:sp>
        <p:nvSpPr>
          <p:cNvPr id="17" name="Text 15"/>
          <p:cNvSpPr/>
          <p:nvPr/>
        </p:nvSpPr>
        <p:spPr>
          <a:xfrm>
            <a:off x="7278624" y="1801368"/>
            <a:ext cx="1463040" cy="201168"/>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이번 주 신규</a:t>
            </a:r>
            <a:endParaRPr lang="en-US" sz="750" dirty="0"/>
          </a:p>
        </p:txBody>
      </p:sp>
      <p:sp>
        <p:nvSpPr>
          <p:cNvPr id="18" name="Text 16"/>
          <p:cNvSpPr/>
          <p:nvPr/>
        </p:nvSpPr>
        <p:spPr>
          <a:xfrm>
            <a:off x="7278624" y="2011680"/>
            <a:ext cx="1463040" cy="365760"/>
          </a:xfrm>
          <a:prstGeom prst="rect">
            <a:avLst/>
          </a:prstGeom>
          <a:noFill/>
          <a:ln/>
        </p:spPr>
        <p:txBody>
          <a:bodyPr wrap="square" lIns="0" tIns="0" rIns="0" bIns="0" rtlCol="0" anchor="ctr"/>
          <a:lstStyle/>
          <a:p>
            <a:pPr indent="0" marL="0">
              <a:buNone/>
            </a:pPr>
            <a:r>
              <a:rPr lang="en-US" sz="2000" b="1" dirty="0">
                <a:solidFill>
                  <a:srgbClr val="92400E"/>
                </a:solidFill>
                <a:latin typeface="Calibri" pitchFamily="34" charset="0"/>
                <a:ea typeface="Calibri" pitchFamily="34" charset="-122"/>
                <a:cs typeface="Calibri" pitchFamily="34" charset="-120"/>
              </a:rPr>
              <a:t>81건</a:t>
            </a:r>
            <a:endParaRPr lang="en-US" sz="2000" dirty="0"/>
          </a:p>
        </p:txBody>
      </p:sp>
      <p:sp>
        <p:nvSpPr>
          <p:cNvPr id="19" name="Shape 17"/>
          <p:cNvSpPr/>
          <p:nvPr/>
        </p:nvSpPr>
        <p:spPr>
          <a:xfrm>
            <a:off x="7223760" y="2487168"/>
            <a:ext cx="1572768" cy="694944"/>
          </a:xfrm>
          <a:prstGeom prst="rect">
            <a:avLst/>
          </a:prstGeom>
          <a:solidFill>
            <a:srgbClr val="F0F4F8"/>
          </a:solidFill>
          <a:ln w="12700">
            <a:solidFill>
              <a:srgbClr val="D1D5DB"/>
            </a:solidFill>
            <a:prstDash val="solid"/>
          </a:ln>
        </p:spPr>
      </p:sp>
      <p:sp>
        <p:nvSpPr>
          <p:cNvPr id="20" name="Text 18"/>
          <p:cNvSpPr/>
          <p:nvPr/>
        </p:nvSpPr>
        <p:spPr>
          <a:xfrm>
            <a:off x="7278624" y="2532888"/>
            <a:ext cx="1463040" cy="201168"/>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분석 플랜</a:t>
            </a:r>
            <a:endParaRPr lang="en-US" sz="750" dirty="0"/>
          </a:p>
        </p:txBody>
      </p:sp>
      <p:sp>
        <p:nvSpPr>
          <p:cNvPr id="21" name="Text 19"/>
          <p:cNvSpPr/>
          <p:nvPr/>
        </p:nvSpPr>
        <p:spPr>
          <a:xfrm>
            <a:off x="7278624" y="2743200"/>
            <a:ext cx="1463040" cy="365760"/>
          </a:xfrm>
          <a:prstGeom prst="rect">
            <a:avLst/>
          </a:prstGeom>
          <a:noFill/>
          <a:ln/>
        </p:spPr>
        <p:txBody>
          <a:bodyPr wrap="square" lIns="0" tIns="0" rIns="0" bIns="0" rtlCol="0" anchor="ctr"/>
          <a:lstStyle/>
          <a:p>
            <a:pPr indent="0" marL="0">
              <a:buNone/>
            </a:pPr>
            <a:r>
              <a:rPr lang="en-US" sz="2000" b="1" dirty="0">
                <a:solidFill>
                  <a:srgbClr val="0C2340"/>
                </a:solidFill>
                <a:latin typeface="Calibri" pitchFamily="34" charset="0"/>
                <a:ea typeface="Calibri" pitchFamily="34" charset="-122"/>
                <a:cs typeface="Calibri" pitchFamily="34" charset="-120"/>
              </a:rPr>
              <a:t>21개</a:t>
            </a:r>
            <a:endParaRPr lang="en-US" sz="2000" dirty="0"/>
          </a:p>
        </p:txBody>
      </p:sp>
      <p:sp>
        <p:nvSpPr>
          <p:cNvPr id="22" name="Shape 20"/>
          <p:cNvSpPr/>
          <p:nvPr/>
        </p:nvSpPr>
        <p:spPr>
          <a:xfrm>
            <a:off x="7223760" y="3218688"/>
            <a:ext cx="1572768" cy="694944"/>
          </a:xfrm>
          <a:prstGeom prst="rect">
            <a:avLst/>
          </a:prstGeom>
          <a:solidFill>
            <a:srgbClr val="F0F4F8"/>
          </a:solidFill>
          <a:ln w="12700">
            <a:solidFill>
              <a:srgbClr val="D1D5DB"/>
            </a:solidFill>
            <a:prstDash val="solid"/>
          </a:ln>
        </p:spPr>
      </p:sp>
      <p:sp>
        <p:nvSpPr>
          <p:cNvPr id="23" name="Text 21"/>
          <p:cNvSpPr/>
          <p:nvPr/>
        </p:nvSpPr>
        <p:spPr>
          <a:xfrm>
            <a:off x="7278624" y="3264408"/>
            <a:ext cx="1463040" cy="201168"/>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KPI 변동</a:t>
            </a:r>
            <a:endParaRPr lang="en-US" sz="750" dirty="0"/>
          </a:p>
        </p:txBody>
      </p:sp>
      <p:sp>
        <p:nvSpPr>
          <p:cNvPr id="24" name="Text 22"/>
          <p:cNvSpPr/>
          <p:nvPr/>
        </p:nvSpPr>
        <p:spPr>
          <a:xfrm>
            <a:off x="7278624" y="3474720"/>
            <a:ext cx="1463040" cy="365760"/>
          </a:xfrm>
          <a:prstGeom prst="rect">
            <a:avLst/>
          </a:prstGeom>
          <a:noFill/>
          <a:ln/>
        </p:spPr>
        <p:txBody>
          <a:bodyPr wrap="square" lIns="0" tIns="0" rIns="0" bIns="0" rtlCol="0" anchor="ctr"/>
          <a:lstStyle/>
          <a:p>
            <a:pPr indent="0" marL="0">
              <a:buNone/>
            </a:pPr>
            <a:r>
              <a:rPr lang="en-US" sz="2000" b="1" dirty="0">
                <a:solidFill>
                  <a:srgbClr val="0C2340"/>
                </a:solidFill>
                <a:latin typeface="Calibri" pitchFamily="34" charset="0"/>
                <a:ea typeface="Calibri" pitchFamily="34" charset="-122"/>
                <a:cs typeface="Calibri" pitchFamily="34" charset="-120"/>
              </a:rPr>
              <a:t>0개</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C2340"/>
          </a:solidFill>
          <a:ln w="12700">
            <a:solidFill>
              <a:srgbClr val="0C2340"/>
            </a:solidFill>
            <a:prstDash val="solid"/>
          </a:ln>
        </p:spPr>
      </p:sp>
      <p:sp>
        <p:nvSpPr>
          <p:cNvPr id="3" name="Text 1"/>
          <p:cNvSpPr/>
          <p:nvPr/>
        </p:nvSpPr>
        <p:spPr>
          <a:xfrm>
            <a:off x="320040" y="109728"/>
            <a:ext cx="7132320" cy="420624"/>
          </a:xfrm>
          <a:prstGeom prst="rect">
            <a:avLst/>
          </a:prstGeom>
          <a:noFill/>
          <a:ln/>
        </p:spPr>
        <p:txBody>
          <a:bodyPr wrap="square" lIns="0" tIns="0" rIns="0" bIns="0" rtlCol="0" anchor="ctr"/>
          <a:lstStyle/>
          <a:p>
            <a:pPr indent="0" marL="0">
              <a:buNone/>
            </a:pPr>
            <a:r>
              <a:rPr lang="en-US" sz="1800" b="1" dirty="0">
                <a:solidFill>
                  <a:srgbClr val="0C2340"/>
                </a:solidFill>
                <a:latin typeface="Calibri" pitchFamily="34" charset="0"/>
                <a:ea typeface="Calibri" pitchFamily="34" charset="-122"/>
                <a:cs typeface="Calibri" pitchFamily="34" charset="-120"/>
              </a:rPr>
              <a:t>KPI 대시보드</a:t>
            </a:r>
            <a:endParaRPr lang="en-US" sz="1800" dirty="0"/>
          </a:p>
        </p:txBody>
      </p:sp>
      <p:sp>
        <p:nvSpPr>
          <p:cNvPr id="4" name="Text 2"/>
          <p:cNvSpPr/>
          <p:nvPr/>
        </p:nvSpPr>
        <p:spPr>
          <a:xfrm>
            <a:off x="320040" y="530352"/>
            <a:ext cx="850392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마스터플랜 진행단계 및 기사 수집 현황</a:t>
            </a:r>
            <a:endParaRPr lang="en-US" sz="900" dirty="0"/>
          </a:p>
        </p:txBody>
      </p:sp>
      <p:sp>
        <p:nvSpPr>
          <p:cNvPr id="5" name="Text 3"/>
          <p:cNvSpPr/>
          <p:nvPr/>
        </p:nvSpPr>
        <p:spPr>
          <a:xfrm>
            <a:off x="7498080" y="109728"/>
            <a:ext cx="1325880" cy="256032"/>
          </a:xfrm>
          <a:prstGeom prst="rect">
            <a:avLst/>
          </a:prstGeom>
          <a:noFill/>
          <a:ln/>
        </p:spPr>
        <p:txBody>
          <a:bodyPr wrap="square" lIns="0" tIns="0" rIns="0" bIns="0" rtlCol="0" anchor="ctr"/>
          <a:lstStyle/>
          <a:p>
            <a:pPr algn="r" indent="0" marL="0">
              <a:buNone/>
            </a:pPr>
            <a:r>
              <a:rPr lang="en-US" sz="800" dirty="0">
                <a:solidFill>
                  <a:srgbClr val="9CA3AF"/>
                </a:solidFill>
                <a:latin typeface="Calibri" pitchFamily="34" charset="0"/>
                <a:ea typeface="Calibri" pitchFamily="34" charset="-122"/>
                <a:cs typeface="Calibri" pitchFamily="34" charset="-120"/>
              </a:rPr>
              <a:t>2026-05-09</a:t>
            </a:r>
            <a:endParaRPr lang="en-US" sz="800" dirty="0"/>
          </a:p>
        </p:txBody>
      </p:sp>
      <p:sp>
        <p:nvSpPr>
          <p:cNvPr id="6" name="Shape 4"/>
          <p:cNvSpPr/>
          <p:nvPr/>
        </p:nvSpPr>
        <p:spPr>
          <a:xfrm>
            <a:off x="0" y="4942332"/>
            <a:ext cx="9144000" cy="201168"/>
          </a:xfrm>
          <a:prstGeom prst="rect">
            <a:avLst/>
          </a:prstGeom>
          <a:solidFill>
            <a:srgbClr val="0C2340"/>
          </a:solidFill>
          <a:ln w="12700">
            <a:solidFill>
              <a:srgbClr val="0C2340"/>
            </a:solidFill>
            <a:prstDash val="solid"/>
          </a:ln>
        </p:spPr>
      </p:sp>
      <p:sp>
        <p:nvSpPr>
          <p:cNvPr id="7" name="Text 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8" name="Text 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KPI Dashboard</a:t>
            </a:r>
            <a:endParaRPr lang="en-US" sz="700" dirty="0"/>
          </a:p>
        </p:txBody>
      </p:sp>
      <p:sp>
        <p:nvSpPr>
          <p:cNvPr id="9" name="Shape 7"/>
          <p:cNvSpPr/>
          <p:nvPr/>
        </p:nvSpPr>
        <p:spPr>
          <a:xfrm>
            <a:off x="320040" y="777240"/>
            <a:ext cx="2743200" cy="960120"/>
          </a:xfrm>
          <a:prstGeom prst="rect">
            <a:avLst/>
          </a:prstGeom>
          <a:solidFill>
            <a:srgbClr val="E0F0EF"/>
          </a:solidFill>
          <a:ln w="12700">
            <a:solidFill>
              <a:srgbClr val="0D6E6E"/>
            </a:solidFill>
            <a:prstDash val="solid"/>
          </a:ln>
          <a:effectLst>
            <a:outerShdw sx="100000" sy="100000" kx="0" ky="0" algn="bl" rotWithShape="0" blurRad="76200" dist="25400" dir="8100000">
              <a:srgbClr val="000000">
                <a:alpha val="13000"/>
              </a:srgbClr>
            </a:outerShdw>
          </a:effectLst>
        </p:spPr>
      </p:sp>
      <p:sp>
        <p:nvSpPr>
          <p:cNvPr id="10" name="Shape 8"/>
          <p:cNvSpPr/>
          <p:nvPr/>
        </p:nvSpPr>
        <p:spPr>
          <a:xfrm>
            <a:off x="320040" y="777240"/>
            <a:ext cx="2743200" cy="256032"/>
          </a:xfrm>
          <a:prstGeom prst="rect">
            <a:avLst/>
          </a:prstGeom>
          <a:solidFill>
            <a:srgbClr val="0D6E6E"/>
          </a:solidFill>
          <a:ln w="12700">
            <a:solidFill>
              <a:srgbClr val="0D6E6E"/>
            </a:solidFill>
            <a:prstDash val="solid"/>
          </a:ln>
        </p:spPr>
      </p:sp>
      <p:sp>
        <p:nvSpPr>
          <p:cNvPr id="11" name="Text 9"/>
          <p:cNvSpPr/>
          <p:nvPr/>
        </p:nvSpPr>
        <p:spPr>
          <a:xfrm>
            <a:off x="320040" y="777240"/>
            <a:ext cx="2743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Environment</a:t>
            </a:r>
            <a:endParaRPr lang="en-US" sz="950" dirty="0"/>
          </a:p>
        </p:txBody>
      </p:sp>
      <p:sp>
        <p:nvSpPr>
          <p:cNvPr id="12" name="Text 10"/>
          <p:cNvSpPr/>
          <p:nvPr/>
        </p:nvSpPr>
        <p:spPr>
          <a:xfrm>
            <a:off x="393192" y="1069848"/>
            <a:ext cx="2596896" cy="256032"/>
          </a:xfrm>
          <a:prstGeom prst="rect">
            <a:avLst/>
          </a:prstGeom>
          <a:noFill/>
          <a:ln/>
        </p:spPr>
        <p:txBody>
          <a:bodyPr wrap="square" lIns="0" tIns="0" rIns="0" bIns="0" rtlCol="0" anchor="ctr"/>
          <a:lstStyle/>
          <a:p>
            <a:pPr indent="0" marL="0">
              <a:buNone/>
            </a:pPr>
            <a:r>
              <a:rPr lang="en-US" sz="800" dirty="0">
                <a:solidFill>
                  <a:srgbClr val="0D6E6E"/>
                </a:solidFill>
                <a:latin typeface="Calibri" pitchFamily="34" charset="0"/>
                <a:ea typeface="Calibri" pitchFamily="34" charset="-122"/>
                <a:cs typeface="Calibri" pitchFamily="34" charset="-120"/>
              </a:rPr>
              <a:t>0개 플랜</a:t>
            </a:r>
            <a:endParaRPr lang="en-US" sz="800" dirty="0"/>
          </a:p>
        </p:txBody>
      </p:sp>
      <p:sp>
        <p:nvSpPr>
          <p:cNvPr id="13" name="Text 11"/>
          <p:cNvSpPr/>
          <p:nvPr/>
        </p:nvSpPr>
        <p:spPr>
          <a:xfrm>
            <a:off x="393192" y="1289304"/>
            <a:ext cx="2596896" cy="201168"/>
          </a:xfrm>
          <a:prstGeom prst="rect">
            <a:avLst/>
          </a:prstGeom>
          <a:noFill/>
          <a:ln/>
        </p:spPr>
        <p:txBody>
          <a:bodyPr wrap="square" lIns="0" tIns="0" rIns="0" bIns="0" rtlCol="0" anchor="ctr"/>
          <a:lstStyle/>
          <a:p>
            <a:pPr indent="0" marL="0">
              <a:buNone/>
            </a:pPr>
            <a:r>
              <a:rPr lang="en-US" sz="800" dirty="0">
                <a:solidFill>
                  <a:srgbClr val="374151"/>
                </a:solidFill>
                <a:latin typeface="Calibri" pitchFamily="34" charset="0"/>
                <a:ea typeface="Calibri" pitchFamily="34" charset="-122"/>
                <a:cs typeface="Calibri" pitchFamily="34" charset="-120"/>
              </a:rPr>
              <a:t>기사 0건</a:t>
            </a:r>
            <a:endParaRPr lang="en-US" sz="800" dirty="0"/>
          </a:p>
        </p:txBody>
      </p:sp>
      <p:sp>
        <p:nvSpPr>
          <p:cNvPr id="14" name="Shape 12"/>
          <p:cNvSpPr/>
          <p:nvPr/>
        </p:nvSpPr>
        <p:spPr>
          <a:xfrm>
            <a:off x="3200400" y="777240"/>
            <a:ext cx="2743200" cy="960120"/>
          </a:xfrm>
          <a:prstGeom prst="rect">
            <a:avLst/>
          </a:prstGeom>
          <a:solidFill>
            <a:srgbClr val="E3EDF8"/>
          </a:solidFill>
          <a:ln w="12700">
            <a:solidFill>
              <a:srgbClr val="1B4F8A"/>
            </a:solidFill>
            <a:prstDash val="solid"/>
          </a:ln>
          <a:effectLst>
            <a:outerShdw sx="100000" sy="100000" kx="0" ky="0" algn="bl" rotWithShape="0" blurRad="76200" dist="25400" dir="8100000">
              <a:srgbClr val="000000">
                <a:alpha val="13000"/>
              </a:srgbClr>
            </a:outerShdw>
          </a:effectLst>
        </p:spPr>
      </p:sp>
      <p:sp>
        <p:nvSpPr>
          <p:cNvPr id="15" name="Shape 13"/>
          <p:cNvSpPr/>
          <p:nvPr/>
        </p:nvSpPr>
        <p:spPr>
          <a:xfrm>
            <a:off x="3200400" y="777240"/>
            <a:ext cx="2743200" cy="256032"/>
          </a:xfrm>
          <a:prstGeom prst="rect">
            <a:avLst/>
          </a:prstGeom>
          <a:solidFill>
            <a:srgbClr val="1B4F8A"/>
          </a:solidFill>
          <a:ln w="12700">
            <a:solidFill>
              <a:srgbClr val="1B4F8A"/>
            </a:solidFill>
            <a:prstDash val="solid"/>
          </a:ln>
        </p:spPr>
      </p:sp>
      <p:sp>
        <p:nvSpPr>
          <p:cNvPr id="16" name="Text 14"/>
          <p:cNvSpPr/>
          <p:nvPr/>
        </p:nvSpPr>
        <p:spPr>
          <a:xfrm>
            <a:off x="3200400" y="777240"/>
            <a:ext cx="2743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Energy Develop.</a:t>
            </a:r>
            <a:endParaRPr lang="en-US" sz="950" dirty="0"/>
          </a:p>
        </p:txBody>
      </p:sp>
      <p:sp>
        <p:nvSpPr>
          <p:cNvPr id="17" name="Text 15"/>
          <p:cNvSpPr/>
          <p:nvPr/>
        </p:nvSpPr>
        <p:spPr>
          <a:xfrm>
            <a:off x="3273552" y="1069848"/>
            <a:ext cx="2596896" cy="256032"/>
          </a:xfrm>
          <a:prstGeom prst="rect">
            <a:avLst/>
          </a:prstGeom>
          <a:noFill/>
          <a:ln/>
        </p:spPr>
        <p:txBody>
          <a:bodyPr wrap="square" lIns="0" tIns="0" rIns="0" bIns="0" rtlCol="0" anchor="ctr"/>
          <a:lstStyle/>
          <a:p>
            <a:pPr indent="0" marL="0">
              <a:buNone/>
            </a:pPr>
            <a:r>
              <a:rPr lang="en-US" sz="800" dirty="0">
                <a:solidFill>
                  <a:srgbClr val="1B4F8A"/>
                </a:solidFill>
                <a:latin typeface="Calibri" pitchFamily="34" charset="0"/>
                <a:ea typeface="Calibri" pitchFamily="34" charset="-122"/>
                <a:cs typeface="Calibri" pitchFamily="34" charset="-120"/>
              </a:rPr>
              <a:t>0개 플랜</a:t>
            </a:r>
            <a:endParaRPr lang="en-US" sz="800" dirty="0"/>
          </a:p>
        </p:txBody>
      </p:sp>
      <p:sp>
        <p:nvSpPr>
          <p:cNvPr id="18" name="Text 16"/>
          <p:cNvSpPr/>
          <p:nvPr/>
        </p:nvSpPr>
        <p:spPr>
          <a:xfrm>
            <a:off x="3273552" y="1289304"/>
            <a:ext cx="2596896" cy="201168"/>
          </a:xfrm>
          <a:prstGeom prst="rect">
            <a:avLst/>
          </a:prstGeom>
          <a:noFill/>
          <a:ln/>
        </p:spPr>
        <p:txBody>
          <a:bodyPr wrap="square" lIns="0" tIns="0" rIns="0" bIns="0" rtlCol="0" anchor="ctr"/>
          <a:lstStyle/>
          <a:p>
            <a:pPr indent="0" marL="0">
              <a:buNone/>
            </a:pPr>
            <a:r>
              <a:rPr lang="en-US" sz="800" dirty="0">
                <a:solidFill>
                  <a:srgbClr val="374151"/>
                </a:solidFill>
                <a:latin typeface="Calibri" pitchFamily="34" charset="0"/>
                <a:ea typeface="Calibri" pitchFamily="34" charset="-122"/>
                <a:cs typeface="Calibri" pitchFamily="34" charset="-120"/>
              </a:rPr>
              <a:t>기사 0건</a:t>
            </a:r>
            <a:endParaRPr lang="en-US" sz="800" dirty="0"/>
          </a:p>
        </p:txBody>
      </p:sp>
      <p:sp>
        <p:nvSpPr>
          <p:cNvPr id="19" name="Shape 17"/>
          <p:cNvSpPr/>
          <p:nvPr/>
        </p:nvSpPr>
        <p:spPr>
          <a:xfrm>
            <a:off x="6080760" y="777240"/>
            <a:ext cx="2743200" cy="960120"/>
          </a:xfrm>
          <a:prstGeom prst="rect">
            <a:avLst/>
          </a:prstGeom>
          <a:solidFill>
            <a:srgbClr val="EDE9F8"/>
          </a:solidFill>
          <a:ln w="12700">
            <a:solidFill>
              <a:srgbClr val="4A3B8C"/>
            </a:solidFill>
            <a:prstDash val="solid"/>
          </a:ln>
          <a:effectLst>
            <a:outerShdw sx="100000" sy="100000" kx="0" ky="0" algn="bl" rotWithShape="0" blurRad="76200" dist="25400" dir="8100000">
              <a:srgbClr val="000000">
                <a:alpha val="13000"/>
              </a:srgbClr>
            </a:outerShdw>
          </a:effectLst>
        </p:spPr>
      </p:sp>
      <p:sp>
        <p:nvSpPr>
          <p:cNvPr id="20" name="Shape 18"/>
          <p:cNvSpPr/>
          <p:nvPr/>
        </p:nvSpPr>
        <p:spPr>
          <a:xfrm>
            <a:off x="6080760" y="777240"/>
            <a:ext cx="2743200" cy="256032"/>
          </a:xfrm>
          <a:prstGeom prst="rect">
            <a:avLst/>
          </a:prstGeom>
          <a:solidFill>
            <a:srgbClr val="4A3B8C"/>
          </a:solidFill>
          <a:ln w="12700">
            <a:solidFill>
              <a:srgbClr val="4A3B8C"/>
            </a:solidFill>
            <a:prstDash val="solid"/>
          </a:ln>
        </p:spPr>
      </p:sp>
      <p:sp>
        <p:nvSpPr>
          <p:cNvPr id="21" name="Text 19"/>
          <p:cNvSpPr/>
          <p:nvPr/>
        </p:nvSpPr>
        <p:spPr>
          <a:xfrm>
            <a:off x="6080760" y="777240"/>
            <a:ext cx="27432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Urban Develop.</a:t>
            </a:r>
            <a:endParaRPr lang="en-US" sz="950" dirty="0"/>
          </a:p>
        </p:txBody>
      </p:sp>
      <p:sp>
        <p:nvSpPr>
          <p:cNvPr id="22" name="Text 20"/>
          <p:cNvSpPr/>
          <p:nvPr/>
        </p:nvSpPr>
        <p:spPr>
          <a:xfrm>
            <a:off x="6153912" y="1069848"/>
            <a:ext cx="2596896" cy="256032"/>
          </a:xfrm>
          <a:prstGeom prst="rect">
            <a:avLst/>
          </a:prstGeom>
          <a:noFill/>
          <a:ln/>
        </p:spPr>
        <p:txBody>
          <a:bodyPr wrap="square" lIns="0" tIns="0" rIns="0" bIns="0" rtlCol="0" anchor="ctr"/>
          <a:lstStyle/>
          <a:p>
            <a:pPr indent="0" marL="0">
              <a:buNone/>
            </a:pPr>
            <a:r>
              <a:rPr lang="en-US" sz="800" dirty="0">
                <a:solidFill>
                  <a:srgbClr val="4A3B8C"/>
                </a:solidFill>
                <a:latin typeface="Calibri" pitchFamily="34" charset="0"/>
                <a:ea typeface="Calibri" pitchFamily="34" charset="-122"/>
                <a:cs typeface="Calibri" pitchFamily="34" charset="-120"/>
              </a:rPr>
              <a:t>0개 플랜</a:t>
            </a:r>
            <a:endParaRPr lang="en-US" sz="800" dirty="0"/>
          </a:p>
        </p:txBody>
      </p:sp>
      <p:sp>
        <p:nvSpPr>
          <p:cNvPr id="23" name="Text 21"/>
          <p:cNvSpPr/>
          <p:nvPr/>
        </p:nvSpPr>
        <p:spPr>
          <a:xfrm>
            <a:off x="6153912" y="1289304"/>
            <a:ext cx="2596896" cy="201168"/>
          </a:xfrm>
          <a:prstGeom prst="rect">
            <a:avLst/>
          </a:prstGeom>
          <a:noFill/>
          <a:ln/>
        </p:spPr>
        <p:txBody>
          <a:bodyPr wrap="square" lIns="0" tIns="0" rIns="0" bIns="0" rtlCol="0" anchor="ctr"/>
          <a:lstStyle/>
          <a:p>
            <a:pPr indent="0" marL="0">
              <a:buNone/>
            </a:pPr>
            <a:r>
              <a:rPr lang="en-US" sz="800" dirty="0">
                <a:solidFill>
                  <a:srgbClr val="374151"/>
                </a:solidFill>
                <a:latin typeface="Calibri" pitchFamily="34" charset="0"/>
                <a:ea typeface="Calibri" pitchFamily="34" charset="-122"/>
                <a:cs typeface="Calibri" pitchFamily="34" charset="-120"/>
              </a:rPr>
              <a:t>기사 0건</a:t>
            </a:r>
            <a:endParaRPr lang="en-US" sz="800" dirty="0"/>
          </a:p>
        </p:txBody>
      </p:sp>
      <p:sp>
        <p:nvSpPr>
          <p:cNvPr id="24" name="Shape 22"/>
          <p:cNvSpPr/>
          <p:nvPr/>
        </p:nvSpPr>
        <p:spPr>
          <a:xfrm>
            <a:off x="320040" y="1847088"/>
            <a:ext cx="8503920" cy="219456"/>
          </a:xfrm>
          <a:prstGeom prst="rect">
            <a:avLst/>
          </a:prstGeom>
          <a:solidFill>
            <a:srgbClr val="0C2340"/>
          </a:solidFill>
          <a:ln w="12700">
            <a:solidFill>
              <a:srgbClr val="0C2340"/>
            </a:solidFill>
            <a:prstDash val="solid"/>
          </a:ln>
        </p:spPr>
      </p:sp>
      <p:sp>
        <p:nvSpPr>
          <p:cNvPr id="25" name="Text 23"/>
          <p:cNvSpPr/>
          <p:nvPr/>
        </p:nvSpPr>
        <p:spPr>
          <a:xfrm>
            <a:off x="320040" y="1847088"/>
            <a:ext cx="182880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마스터플랜 ID</a:t>
            </a:r>
            <a:endParaRPr lang="en-US" sz="750" dirty="0"/>
          </a:p>
        </p:txBody>
      </p:sp>
      <p:sp>
        <p:nvSpPr>
          <p:cNvPr id="26" name="Text 24"/>
          <p:cNvSpPr/>
          <p:nvPr/>
        </p:nvSpPr>
        <p:spPr>
          <a:xfrm>
            <a:off x="2148840" y="1847088"/>
            <a:ext cx="96012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영역</a:t>
            </a:r>
            <a:endParaRPr lang="en-US" sz="750" dirty="0"/>
          </a:p>
        </p:txBody>
      </p:sp>
      <p:sp>
        <p:nvSpPr>
          <p:cNvPr id="27" name="Text 25"/>
          <p:cNvSpPr/>
          <p:nvPr/>
        </p:nvSpPr>
        <p:spPr>
          <a:xfrm>
            <a:off x="3108960" y="1847088"/>
            <a:ext cx="114300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진행단계</a:t>
            </a:r>
            <a:endParaRPr lang="en-US" sz="750" dirty="0"/>
          </a:p>
        </p:txBody>
      </p:sp>
      <p:sp>
        <p:nvSpPr>
          <p:cNvPr id="28" name="Text 26"/>
          <p:cNvSpPr/>
          <p:nvPr/>
        </p:nvSpPr>
        <p:spPr>
          <a:xfrm>
            <a:off x="4251960" y="1847088"/>
            <a:ext cx="109728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누적 기사</a:t>
            </a:r>
            <a:endParaRPr lang="en-US" sz="750" dirty="0"/>
          </a:p>
        </p:txBody>
      </p:sp>
      <p:sp>
        <p:nvSpPr>
          <p:cNvPr id="29" name="Text 27"/>
          <p:cNvSpPr/>
          <p:nvPr/>
        </p:nvSpPr>
        <p:spPr>
          <a:xfrm>
            <a:off x="5349240" y="1847088"/>
            <a:ext cx="96012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신규 기사</a:t>
            </a:r>
            <a:endParaRPr lang="en-US" sz="750" dirty="0"/>
          </a:p>
        </p:txBody>
      </p:sp>
      <p:sp>
        <p:nvSpPr>
          <p:cNvPr id="30" name="Text 28"/>
          <p:cNvSpPr/>
          <p:nvPr/>
        </p:nvSpPr>
        <p:spPr>
          <a:xfrm>
            <a:off x="6309360" y="1847088"/>
            <a:ext cx="251460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다음 관찰 포인트</a:t>
            </a:r>
            <a:endParaRPr lang="en-US" sz="750" dirty="0"/>
          </a:p>
        </p:txBody>
      </p:sp>
      <p:sp>
        <p:nvSpPr>
          <p:cNvPr id="31" name="Shape 29"/>
          <p:cNvSpPr/>
          <p:nvPr/>
        </p:nvSpPr>
        <p:spPr>
          <a:xfrm>
            <a:off x="320040" y="2066544"/>
            <a:ext cx="8503920" cy="175565"/>
          </a:xfrm>
          <a:prstGeom prst="rect">
            <a:avLst/>
          </a:prstGeom>
          <a:solidFill>
            <a:srgbClr val="FFF9C4"/>
          </a:solidFill>
          <a:ln w="12700">
            <a:solidFill>
              <a:srgbClr val="E5E7EB"/>
            </a:solidFill>
            <a:prstDash val="solid"/>
          </a:ln>
        </p:spPr>
      </p:sp>
      <p:sp>
        <p:nvSpPr>
          <p:cNvPr id="32" name="Text 30"/>
          <p:cNvSpPr/>
          <p:nvPr/>
        </p:nvSpPr>
        <p:spPr>
          <a:xfrm>
            <a:off x="347472" y="2066544"/>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a:t>
            </a:r>
            <a:endParaRPr lang="en-US" sz="700" dirty="0"/>
          </a:p>
        </p:txBody>
      </p:sp>
      <p:sp>
        <p:nvSpPr>
          <p:cNvPr id="33" name="Text 31"/>
          <p:cNvSpPr/>
          <p:nvPr/>
        </p:nvSpPr>
        <p:spPr>
          <a:xfrm>
            <a:off x="2176272" y="2066544"/>
            <a:ext cx="905256" cy="175565"/>
          </a:xfrm>
          <a:prstGeom prst="rect">
            <a:avLst/>
          </a:prstGeom>
          <a:noFill/>
          <a:ln/>
        </p:spPr>
        <p:txBody>
          <a:bodyPr wrap="square" lIns="0" tIns="0" rIns="0" bIns="0" rtlCol="0" anchor="ctr"/>
          <a:lstStyle/>
          <a:p>
            <a:pPr indent="0" marL="0">
              <a:buNone/>
            </a:pPr>
            <a:endParaRPr lang="en-US" sz="700" dirty="0"/>
          </a:p>
        </p:txBody>
      </p:sp>
      <p:sp>
        <p:nvSpPr>
          <p:cNvPr id="34" name="Text 32"/>
          <p:cNvSpPr/>
          <p:nvPr/>
        </p:nvSpPr>
        <p:spPr>
          <a:xfrm>
            <a:off x="3136392" y="2066544"/>
            <a:ext cx="1088136" cy="175565"/>
          </a:xfrm>
          <a:prstGeom prst="rect">
            <a:avLst/>
          </a:prstGeom>
          <a:noFill/>
          <a:ln/>
        </p:spPr>
        <p:txBody>
          <a:bodyPr wrap="square" lIns="0" tIns="0" rIns="0" bIns="0" rtlCol="0" anchor="ctr"/>
          <a:lstStyle/>
          <a:p>
            <a:pPr indent="0" marL="0">
              <a:buNone/>
            </a:pPr>
            <a:r>
              <a:rPr lang="en-US" sz="700" b="1" dirty="0">
                <a:solidFill>
                  <a:srgbClr val="1B4F8A"/>
                </a:solidFill>
                <a:latin typeface="Calibri" pitchFamily="34" charset="0"/>
                <a:ea typeface="Calibri" pitchFamily="34" charset="-122"/>
                <a:cs typeface="Calibri" pitchFamily="34" charset="-120"/>
              </a:rPr>
              <a:t>계획·승인</a:t>
            </a:r>
            <a:endParaRPr lang="en-US" sz="700" dirty="0"/>
          </a:p>
        </p:txBody>
      </p:sp>
      <p:sp>
        <p:nvSpPr>
          <p:cNvPr id="35" name="Text 33"/>
          <p:cNvSpPr/>
          <p:nvPr/>
        </p:nvSpPr>
        <p:spPr>
          <a:xfrm>
            <a:off x="4279392" y="2066544"/>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190건</a:t>
            </a:r>
            <a:endParaRPr lang="en-US" sz="700" dirty="0"/>
          </a:p>
        </p:txBody>
      </p:sp>
      <p:sp>
        <p:nvSpPr>
          <p:cNvPr id="36" name="Text 34"/>
          <p:cNvSpPr/>
          <p:nvPr/>
        </p:nvSpPr>
        <p:spPr>
          <a:xfrm>
            <a:off x="5376672" y="2066544"/>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9건</a:t>
            </a:r>
            <a:endParaRPr lang="en-US" sz="700" dirty="0"/>
          </a:p>
        </p:txBody>
      </p:sp>
      <p:sp>
        <p:nvSpPr>
          <p:cNvPr id="37" name="Text 35"/>
          <p:cNvSpPr/>
          <p:nvPr/>
        </p:nvSpPr>
        <p:spPr>
          <a:xfrm>
            <a:off x="6336792" y="2066544"/>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입찰 공고 또는 EPC 계약 발표 여부 확인</a:t>
            </a:r>
            <a:endParaRPr lang="en-US" sz="700" dirty="0"/>
          </a:p>
        </p:txBody>
      </p:sp>
      <p:sp>
        <p:nvSpPr>
          <p:cNvPr id="38" name="Shape 36"/>
          <p:cNvSpPr/>
          <p:nvPr/>
        </p:nvSpPr>
        <p:spPr>
          <a:xfrm>
            <a:off x="320040" y="2244852"/>
            <a:ext cx="8503920" cy="175565"/>
          </a:xfrm>
          <a:prstGeom prst="rect">
            <a:avLst/>
          </a:prstGeom>
          <a:solidFill>
            <a:srgbClr val="FFF9C4"/>
          </a:solidFill>
          <a:ln w="12700">
            <a:solidFill>
              <a:srgbClr val="E5E7EB"/>
            </a:solidFill>
            <a:prstDash val="solid"/>
          </a:ln>
        </p:spPr>
      </p:sp>
      <p:sp>
        <p:nvSpPr>
          <p:cNvPr id="39" name="Text 37"/>
          <p:cNvSpPr/>
          <p:nvPr/>
        </p:nvSpPr>
        <p:spPr>
          <a:xfrm>
            <a:off x="347472" y="2244852"/>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VN-PWR-PDP8-RENEWABLE</a:t>
            </a:r>
            <a:endParaRPr lang="en-US" sz="700" dirty="0"/>
          </a:p>
        </p:txBody>
      </p:sp>
      <p:sp>
        <p:nvSpPr>
          <p:cNvPr id="40" name="Text 38"/>
          <p:cNvSpPr/>
          <p:nvPr/>
        </p:nvSpPr>
        <p:spPr>
          <a:xfrm>
            <a:off x="2176272" y="2244852"/>
            <a:ext cx="905256" cy="175565"/>
          </a:xfrm>
          <a:prstGeom prst="rect">
            <a:avLst/>
          </a:prstGeom>
          <a:noFill/>
          <a:ln/>
        </p:spPr>
        <p:txBody>
          <a:bodyPr wrap="square" lIns="0" tIns="0" rIns="0" bIns="0" rtlCol="0" anchor="ctr"/>
          <a:lstStyle/>
          <a:p>
            <a:pPr indent="0" marL="0">
              <a:buNone/>
            </a:pPr>
            <a:endParaRPr lang="en-US" sz="700" dirty="0"/>
          </a:p>
        </p:txBody>
      </p:sp>
      <p:sp>
        <p:nvSpPr>
          <p:cNvPr id="41" name="Text 39"/>
          <p:cNvSpPr/>
          <p:nvPr/>
        </p:nvSpPr>
        <p:spPr>
          <a:xfrm>
            <a:off x="3136392" y="2244852"/>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42" name="Text 40"/>
          <p:cNvSpPr/>
          <p:nvPr/>
        </p:nvSpPr>
        <p:spPr>
          <a:xfrm>
            <a:off x="4279392" y="2244852"/>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149건</a:t>
            </a:r>
            <a:endParaRPr lang="en-US" sz="700" dirty="0"/>
          </a:p>
        </p:txBody>
      </p:sp>
      <p:sp>
        <p:nvSpPr>
          <p:cNvPr id="43" name="Text 41"/>
          <p:cNvSpPr/>
          <p:nvPr/>
        </p:nvSpPr>
        <p:spPr>
          <a:xfrm>
            <a:off x="5376672" y="2244852"/>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7건</a:t>
            </a:r>
            <a:endParaRPr lang="en-US" sz="700" dirty="0"/>
          </a:p>
        </p:txBody>
      </p:sp>
      <p:sp>
        <p:nvSpPr>
          <p:cNvPr id="44" name="Text 42"/>
          <p:cNvSpPr/>
          <p:nvPr/>
        </p:nvSpPr>
        <p:spPr>
          <a:xfrm>
            <a:off x="6336792" y="2244852"/>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VN-PWR-PDP8-RENEWABLE 관련 공식 발표 확인 필요</a:t>
            </a:r>
            <a:endParaRPr lang="en-US" sz="700" dirty="0"/>
          </a:p>
        </p:txBody>
      </p:sp>
      <p:sp>
        <p:nvSpPr>
          <p:cNvPr id="45" name="Shape 43"/>
          <p:cNvSpPr/>
          <p:nvPr/>
        </p:nvSpPr>
        <p:spPr>
          <a:xfrm>
            <a:off x="320040" y="2423160"/>
            <a:ext cx="8503920" cy="175565"/>
          </a:xfrm>
          <a:prstGeom prst="rect">
            <a:avLst/>
          </a:prstGeom>
          <a:solidFill>
            <a:srgbClr val="FFF9C4"/>
          </a:solidFill>
          <a:ln w="12700">
            <a:solidFill>
              <a:srgbClr val="E5E7EB"/>
            </a:solidFill>
            <a:prstDash val="solid"/>
          </a:ln>
        </p:spPr>
      </p:sp>
      <p:sp>
        <p:nvSpPr>
          <p:cNvPr id="46" name="Text 44"/>
          <p:cNvSpPr/>
          <p:nvPr/>
        </p:nvSpPr>
        <p:spPr>
          <a:xfrm>
            <a:off x="347472" y="2423160"/>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VN-PWR-PDP8-LNG</a:t>
            </a:r>
            <a:endParaRPr lang="en-US" sz="700" dirty="0"/>
          </a:p>
        </p:txBody>
      </p:sp>
      <p:sp>
        <p:nvSpPr>
          <p:cNvPr id="47" name="Text 45"/>
          <p:cNvSpPr/>
          <p:nvPr/>
        </p:nvSpPr>
        <p:spPr>
          <a:xfrm>
            <a:off x="2176272" y="2423160"/>
            <a:ext cx="905256" cy="175565"/>
          </a:xfrm>
          <a:prstGeom prst="rect">
            <a:avLst/>
          </a:prstGeom>
          <a:noFill/>
          <a:ln/>
        </p:spPr>
        <p:txBody>
          <a:bodyPr wrap="square" lIns="0" tIns="0" rIns="0" bIns="0" rtlCol="0" anchor="ctr"/>
          <a:lstStyle/>
          <a:p>
            <a:pPr indent="0" marL="0">
              <a:buNone/>
            </a:pPr>
            <a:endParaRPr lang="en-US" sz="700" dirty="0"/>
          </a:p>
        </p:txBody>
      </p:sp>
      <p:sp>
        <p:nvSpPr>
          <p:cNvPr id="48" name="Text 46"/>
          <p:cNvSpPr/>
          <p:nvPr/>
        </p:nvSpPr>
        <p:spPr>
          <a:xfrm>
            <a:off x="3136392" y="2423160"/>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49" name="Text 47"/>
          <p:cNvSpPr/>
          <p:nvPr/>
        </p:nvSpPr>
        <p:spPr>
          <a:xfrm>
            <a:off x="4279392" y="2423160"/>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155건</a:t>
            </a:r>
            <a:endParaRPr lang="en-US" sz="700" dirty="0"/>
          </a:p>
        </p:txBody>
      </p:sp>
      <p:sp>
        <p:nvSpPr>
          <p:cNvPr id="50" name="Text 48"/>
          <p:cNvSpPr/>
          <p:nvPr/>
        </p:nvSpPr>
        <p:spPr>
          <a:xfrm>
            <a:off x="5376672" y="2423160"/>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6건</a:t>
            </a:r>
            <a:endParaRPr lang="en-US" sz="700" dirty="0"/>
          </a:p>
        </p:txBody>
      </p:sp>
      <p:sp>
        <p:nvSpPr>
          <p:cNvPr id="51" name="Text 49"/>
          <p:cNvSpPr/>
          <p:nvPr/>
        </p:nvSpPr>
        <p:spPr>
          <a:xfrm>
            <a:off x="6336792" y="2423160"/>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VN-PWR-PDP8-LNG 관련 공식 발표 모니터링</a:t>
            </a:r>
            <a:endParaRPr lang="en-US" sz="700" dirty="0"/>
          </a:p>
        </p:txBody>
      </p:sp>
      <p:sp>
        <p:nvSpPr>
          <p:cNvPr id="52" name="Shape 50"/>
          <p:cNvSpPr/>
          <p:nvPr/>
        </p:nvSpPr>
        <p:spPr>
          <a:xfrm>
            <a:off x="320040" y="2601468"/>
            <a:ext cx="8503920" cy="175565"/>
          </a:xfrm>
          <a:prstGeom prst="rect">
            <a:avLst/>
          </a:prstGeom>
          <a:solidFill>
            <a:srgbClr val="F9FAFB"/>
          </a:solidFill>
          <a:ln w="12700">
            <a:solidFill>
              <a:srgbClr val="E5E7EB"/>
            </a:solidFill>
            <a:prstDash val="solid"/>
          </a:ln>
        </p:spPr>
      </p:sp>
      <p:sp>
        <p:nvSpPr>
          <p:cNvPr id="53" name="Text 51"/>
          <p:cNvSpPr/>
          <p:nvPr/>
        </p:nvSpPr>
        <p:spPr>
          <a:xfrm>
            <a:off x="347472" y="2601468"/>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VN-PWR-PDP8-GRID</a:t>
            </a:r>
            <a:endParaRPr lang="en-US" sz="700" dirty="0"/>
          </a:p>
        </p:txBody>
      </p:sp>
      <p:sp>
        <p:nvSpPr>
          <p:cNvPr id="54" name="Text 52"/>
          <p:cNvSpPr/>
          <p:nvPr/>
        </p:nvSpPr>
        <p:spPr>
          <a:xfrm>
            <a:off x="2176272" y="2601468"/>
            <a:ext cx="905256" cy="175565"/>
          </a:xfrm>
          <a:prstGeom prst="rect">
            <a:avLst/>
          </a:prstGeom>
          <a:noFill/>
          <a:ln/>
        </p:spPr>
        <p:txBody>
          <a:bodyPr wrap="square" lIns="0" tIns="0" rIns="0" bIns="0" rtlCol="0" anchor="ctr"/>
          <a:lstStyle/>
          <a:p>
            <a:pPr indent="0" marL="0">
              <a:buNone/>
            </a:pPr>
            <a:endParaRPr lang="en-US" sz="700" dirty="0"/>
          </a:p>
        </p:txBody>
      </p:sp>
      <p:sp>
        <p:nvSpPr>
          <p:cNvPr id="55" name="Text 53"/>
          <p:cNvSpPr/>
          <p:nvPr/>
        </p:nvSpPr>
        <p:spPr>
          <a:xfrm>
            <a:off x="3136392" y="2601468"/>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56" name="Text 54"/>
          <p:cNvSpPr/>
          <p:nvPr/>
        </p:nvSpPr>
        <p:spPr>
          <a:xfrm>
            <a:off x="4279392" y="2601468"/>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7건</a:t>
            </a:r>
            <a:endParaRPr lang="en-US" sz="700" dirty="0"/>
          </a:p>
        </p:txBody>
      </p:sp>
      <p:sp>
        <p:nvSpPr>
          <p:cNvPr id="57" name="Text 55"/>
          <p:cNvSpPr/>
          <p:nvPr/>
        </p:nvSpPr>
        <p:spPr>
          <a:xfrm>
            <a:off x="5376672" y="2601468"/>
            <a:ext cx="905256" cy="175565"/>
          </a:xfrm>
          <a:prstGeom prst="rect">
            <a:avLst/>
          </a:prstGeom>
          <a:noFill/>
          <a:ln/>
        </p:spPr>
        <p:txBody>
          <a:bodyPr wrap="square" lIns="0" tIns="0" rIns="0" bIns="0" rtlCol="0" anchor="ctr"/>
          <a:lstStyle/>
          <a:p>
            <a:pPr indent="0" marL="0">
              <a:buNone/>
            </a:pPr>
            <a:r>
              <a:rPr lang="en-US" sz="700" dirty="0">
                <a:solidFill>
                  <a:srgbClr val="9CA3AF"/>
                </a:solidFill>
                <a:latin typeface="Calibri" pitchFamily="34" charset="0"/>
                <a:ea typeface="Calibri" pitchFamily="34" charset="-122"/>
                <a:cs typeface="Calibri" pitchFamily="34" charset="-120"/>
              </a:rPr>
              <a:t>-</a:t>
            </a:r>
            <a:endParaRPr lang="en-US" sz="700" dirty="0"/>
          </a:p>
        </p:txBody>
      </p:sp>
      <p:sp>
        <p:nvSpPr>
          <p:cNvPr id="58" name="Text 56"/>
          <p:cNvSpPr/>
          <p:nvPr/>
        </p:nvSpPr>
        <p:spPr>
          <a:xfrm>
            <a:off x="6336792" y="2601468"/>
            <a:ext cx="2459736" cy="175565"/>
          </a:xfrm>
          <a:prstGeom prst="rect">
            <a:avLst/>
          </a:prstGeom>
          <a:noFill/>
          <a:ln/>
        </p:spPr>
        <p:txBody>
          <a:bodyPr wrap="square" lIns="0" tIns="0" rIns="0" bIns="0" rtlCol="0" anchor="ctr"/>
          <a:lstStyle/>
          <a:p>
            <a:pPr indent="0" marL="0">
              <a:buNone/>
            </a:pPr>
            <a:endParaRPr lang="en-US" sz="700" dirty="0"/>
          </a:p>
        </p:txBody>
      </p:sp>
      <p:sp>
        <p:nvSpPr>
          <p:cNvPr id="59" name="Shape 57"/>
          <p:cNvSpPr/>
          <p:nvPr/>
        </p:nvSpPr>
        <p:spPr>
          <a:xfrm>
            <a:off x="320040" y="2779776"/>
            <a:ext cx="8503920" cy="175565"/>
          </a:xfrm>
          <a:prstGeom prst="rect">
            <a:avLst/>
          </a:prstGeom>
          <a:solidFill>
            <a:srgbClr val="FFFFFF"/>
          </a:solidFill>
          <a:ln w="12700">
            <a:solidFill>
              <a:srgbClr val="E5E7EB"/>
            </a:solidFill>
            <a:prstDash val="solid"/>
          </a:ln>
        </p:spPr>
      </p:sp>
      <p:sp>
        <p:nvSpPr>
          <p:cNvPr id="60" name="Text 58"/>
          <p:cNvSpPr/>
          <p:nvPr/>
        </p:nvSpPr>
        <p:spPr>
          <a:xfrm>
            <a:off x="347472" y="2779776"/>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VN-PWR-PDP8-NUCLEAR</a:t>
            </a:r>
            <a:endParaRPr lang="en-US" sz="700" dirty="0"/>
          </a:p>
        </p:txBody>
      </p:sp>
      <p:sp>
        <p:nvSpPr>
          <p:cNvPr id="61" name="Text 59"/>
          <p:cNvSpPr/>
          <p:nvPr/>
        </p:nvSpPr>
        <p:spPr>
          <a:xfrm>
            <a:off x="2176272" y="2779776"/>
            <a:ext cx="905256" cy="175565"/>
          </a:xfrm>
          <a:prstGeom prst="rect">
            <a:avLst/>
          </a:prstGeom>
          <a:noFill/>
          <a:ln/>
        </p:spPr>
        <p:txBody>
          <a:bodyPr wrap="square" lIns="0" tIns="0" rIns="0" bIns="0" rtlCol="0" anchor="ctr"/>
          <a:lstStyle/>
          <a:p>
            <a:pPr indent="0" marL="0">
              <a:buNone/>
            </a:pPr>
            <a:endParaRPr lang="en-US" sz="700" dirty="0"/>
          </a:p>
        </p:txBody>
      </p:sp>
      <p:sp>
        <p:nvSpPr>
          <p:cNvPr id="62" name="Text 60"/>
          <p:cNvSpPr/>
          <p:nvPr/>
        </p:nvSpPr>
        <p:spPr>
          <a:xfrm>
            <a:off x="3136392" y="2779776"/>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63" name="Text 61"/>
          <p:cNvSpPr/>
          <p:nvPr/>
        </p:nvSpPr>
        <p:spPr>
          <a:xfrm>
            <a:off x="4279392" y="2779776"/>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5건</a:t>
            </a:r>
            <a:endParaRPr lang="en-US" sz="700" dirty="0"/>
          </a:p>
        </p:txBody>
      </p:sp>
      <p:sp>
        <p:nvSpPr>
          <p:cNvPr id="64" name="Text 62"/>
          <p:cNvSpPr/>
          <p:nvPr/>
        </p:nvSpPr>
        <p:spPr>
          <a:xfrm>
            <a:off x="5376672" y="2779776"/>
            <a:ext cx="905256" cy="175565"/>
          </a:xfrm>
          <a:prstGeom prst="rect">
            <a:avLst/>
          </a:prstGeom>
          <a:noFill/>
          <a:ln/>
        </p:spPr>
        <p:txBody>
          <a:bodyPr wrap="square" lIns="0" tIns="0" rIns="0" bIns="0" rtlCol="0" anchor="ctr"/>
          <a:lstStyle/>
          <a:p>
            <a:pPr indent="0" marL="0">
              <a:buNone/>
            </a:pPr>
            <a:r>
              <a:rPr lang="en-US" sz="700" dirty="0">
                <a:solidFill>
                  <a:srgbClr val="9CA3AF"/>
                </a:solidFill>
                <a:latin typeface="Calibri" pitchFamily="34" charset="0"/>
                <a:ea typeface="Calibri" pitchFamily="34" charset="-122"/>
                <a:cs typeface="Calibri" pitchFamily="34" charset="-120"/>
              </a:rPr>
              <a:t>-</a:t>
            </a:r>
            <a:endParaRPr lang="en-US" sz="700" dirty="0"/>
          </a:p>
        </p:txBody>
      </p:sp>
      <p:sp>
        <p:nvSpPr>
          <p:cNvPr id="65" name="Text 63"/>
          <p:cNvSpPr/>
          <p:nvPr/>
        </p:nvSpPr>
        <p:spPr>
          <a:xfrm>
            <a:off x="6336792" y="2779776"/>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베트남 핵전력 개발계획 관련 공식 발표 모니터링</a:t>
            </a:r>
            <a:endParaRPr lang="en-US" sz="700" dirty="0"/>
          </a:p>
        </p:txBody>
      </p:sp>
      <p:sp>
        <p:nvSpPr>
          <p:cNvPr id="66" name="Shape 64"/>
          <p:cNvSpPr/>
          <p:nvPr/>
        </p:nvSpPr>
        <p:spPr>
          <a:xfrm>
            <a:off x="320040" y="2958084"/>
            <a:ext cx="8503920" cy="175565"/>
          </a:xfrm>
          <a:prstGeom prst="rect">
            <a:avLst/>
          </a:prstGeom>
          <a:solidFill>
            <a:srgbClr val="F9FAFB"/>
          </a:solidFill>
          <a:ln w="12700">
            <a:solidFill>
              <a:srgbClr val="E5E7EB"/>
            </a:solidFill>
            <a:prstDash val="solid"/>
          </a:ln>
        </p:spPr>
      </p:sp>
      <p:sp>
        <p:nvSpPr>
          <p:cNvPr id="67" name="Text 65"/>
          <p:cNvSpPr/>
          <p:nvPr/>
        </p:nvSpPr>
        <p:spPr>
          <a:xfrm>
            <a:off x="347472" y="2958084"/>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VN-PWR-PDP8-HYDROGEN</a:t>
            </a:r>
            <a:endParaRPr lang="en-US" sz="700" dirty="0"/>
          </a:p>
        </p:txBody>
      </p:sp>
      <p:sp>
        <p:nvSpPr>
          <p:cNvPr id="68" name="Text 66"/>
          <p:cNvSpPr/>
          <p:nvPr/>
        </p:nvSpPr>
        <p:spPr>
          <a:xfrm>
            <a:off x="2176272" y="2958084"/>
            <a:ext cx="905256" cy="175565"/>
          </a:xfrm>
          <a:prstGeom prst="rect">
            <a:avLst/>
          </a:prstGeom>
          <a:noFill/>
          <a:ln/>
        </p:spPr>
        <p:txBody>
          <a:bodyPr wrap="square" lIns="0" tIns="0" rIns="0" bIns="0" rtlCol="0" anchor="ctr"/>
          <a:lstStyle/>
          <a:p>
            <a:pPr indent="0" marL="0">
              <a:buNone/>
            </a:pPr>
            <a:endParaRPr lang="en-US" sz="700" dirty="0"/>
          </a:p>
        </p:txBody>
      </p:sp>
      <p:sp>
        <p:nvSpPr>
          <p:cNvPr id="69" name="Text 67"/>
          <p:cNvSpPr/>
          <p:nvPr/>
        </p:nvSpPr>
        <p:spPr>
          <a:xfrm>
            <a:off x="3136392" y="2958084"/>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70" name="Text 68"/>
          <p:cNvSpPr/>
          <p:nvPr/>
        </p:nvSpPr>
        <p:spPr>
          <a:xfrm>
            <a:off x="4279392" y="2958084"/>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0건</a:t>
            </a:r>
            <a:endParaRPr lang="en-US" sz="700" dirty="0"/>
          </a:p>
        </p:txBody>
      </p:sp>
      <p:sp>
        <p:nvSpPr>
          <p:cNvPr id="71" name="Text 69"/>
          <p:cNvSpPr/>
          <p:nvPr/>
        </p:nvSpPr>
        <p:spPr>
          <a:xfrm>
            <a:off x="5376672" y="2958084"/>
            <a:ext cx="905256" cy="175565"/>
          </a:xfrm>
          <a:prstGeom prst="rect">
            <a:avLst/>
          </a:prstGeom>
          <a:noFill/>
          <a:ln/>
        </p:spPr>
        <p:txBody>
          <a:bodyPr wrap="square" lIns="0" tIns="0" rIns="0" bIns="0" rtlCol="0" anchor="ctr"/>
          <a:lstStyle/>
          <a:p>
            <a:pPr indent="0" marL="0">
              <a:buNone/>
            </a:pPr>
            <a:r>
              <a:rPr lang="en-US" sz="700" dirty="0">
                <a:solidFill>
                  <a:srgbClr val="9CA3AF"/>
                </a:solidFill>
                <a:latin typeface="Calibri" pitchFamily="34" charset="0"/>
                <a:ea typeface="Calibri" pitchFamily="34" charset="-122"/>
                <a:cs typeface="Calibri" pitchFamily="34" charset="-120"/>
              </a:rPr>
              <a:t>-</a:t>
            </a:r>
            <a:endParaRPr lang="en-US" sz="700" dirty="0"/>
          </a:p>
        </p:txBody>
      </p:sp>
      <p:sp>
        <p:nvSpPr>
          <p:cNvPr id="72" name="Text 70"/>
          <p:cNvSpPr/>
          <p:nvPr/>
        </p:nvSpPr>
        <p:spPr>
          <a:xfrm>
            <a:off x="6336792" y="2958084"/>
            <a:ext cx="2459736" cy="175565"/>
          </a:xfrm>
          <a:prstGeom prst="rect">
            <a:avLst/>
          </a:prstGeom>
          <a:noFill/>
          <a:ln/>
        </p:spPr>
        <p:txBody>
          <a:bodyPr wrap="square" lIns="0" tIns="0" rIns="0" bIns="0" rtlCol="0" anchor="ctr"/>
          <a:lstStyle/>
          <a:p>
            <a:pPr indent="0" marL="0">
              <a:buNone/>
            </a:pPr>
            <a:endParaRPr lang="en-US" sz="700" dirty="0"/>
          </a:p>
        </p:txBody>
      </p:sp>
      <p:sp>
        <p:nvSpPr>
          <p:cNvPr id="73" name="Shape 71"/>
          <p:cNvSpPr/>
          <p:nvPr/>
        </p:nvSpPr>
        <p:spPr>
          <a:xfrm>
            <a:off x="320040" y="3136392"/>
            <a:ext cx="8503920" cy="175565"/>
          </a:xfrm>
          <a:prstGeom prst="rect">
            <a:avLst/>
          </a:prstGeom>
          <a:solidFill>
            <a:srgbClr val="FFF9C4"/>
          </a:solidFill>
          <a:ln w="12700">
            <a:solidFill>
              <a:srgbClr val="E5E7EB"/>
            </a:solidFill>
            <a:prstDash val="solid"/>
          </a:ln>
        </p:spPr>
      </p:sp>
      <p:sp>
        <p:nvSpPr>
          <p:cNvPr id="74" name="Text 72"/>
          <p:cNvSpPr/>
          <p:nvPr/>
        </p:nvSpPr>
        <p:spPr>
          <a:xfrm>
            <a:off x="347472" y="3136392"/>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VN-OG-2030</a:t>
            </a:r>
            <a:endParaRPr lang="en-US" sz="700" dirty="0"/>
          </a:p>
        </p:txBody>
      </p:sp>
      <p:sp>
        <p:nvSpPr>
          <p:cNvPr id="75" name="Text 73"/>
          <p:cNvSpPr/>
          <p:nvPr/>
        </p:nvSpPr>
        <p:spPr>
          <a:xfrm>
            <a:off x="2176272" y="3136392"/>
            <a:ext cx="905256" cy="175565"/>
          </a:xfrm>
          <a:prstGeom prst="rect">
            <a:avLst/>
          </a:prstGeom>
          <a:noFill/>
          <a:ln/>
        </p:spPr>
        <p:txBody>
          <a:bodyPr wrap="square" lIns="0" tIns="0" rIns="0" bIns="0" rtlCol="0" anchor="ctr"/>
          <a:lstStyle/>
          <a:p>
            <a:pPr indent="0" marL="0">
              <a:buNone/>
            </a:pPr>
            <a:endParaRPr lang="en-US" sz="700" dirty="0"/>
          </a:p>
        </p:txBody>
      </p:sp>
      <p:sp>
        <p:nvSpPr>
          <p:cNvPr id="76" name="Text 74"/>
          <p:cNvSpPr/>
          <p:nvPr/>
        </p:nvSpPr>
        <p:spPr>
          <a:xfrm>
            <a:off x="3136392" y="3136392"/>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77" name="Text 75"/>
          <p:cNvSpPr/>
          <p:nvPr/>
        </p:nvSpPr>
        <p:spPr>
          <a:xfrm>
            <a:off x="4279392" y="3136392"/>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29건</a:t>
            </a:r>
            <a:endParaRPr lang="en-US" sz="700" dirty="0"/>
          </a:p>
        </p:txBody>
      </p:sp>
      <p:sp>
        <p:nvSpPr>
          <p:cNvPr id="78" name="Text 76"/>
          <p:cNvSpPr/>
          <p:nvPr/>
        </p:nvSpPr>
        <p:spPr>
          <a:xfrm>
            <a:off x="5376672" y="3136392"/>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1건</a:t>
            </a:r>
            <a:endParaRPr lang="en-US" sz="700" dirty="0"/>
          </a:p>
        </p:txBody>
      </p:sp>
      <p:sp>
        <p:nvSpPr>
          <p:cNvPr id="79" name="Text 77"/>
          <p:cNvSpPr/>
          <p:nvPr/>
        </p:nvSpPr>
        <p:spPr>
          <a:xfrm>
            <a:off x="6336792" y="3136392"/>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VN-OG-2030 관련 구체적 사업 진행 정보 필요</a:t>
            </a:r>
            <a:endParaRPr lang="en-US" sz="700" dirty="0"/>
          </a:p>
        </p:txBody>
      </p:sp>
      <p:sp>
        <p:nvSpPr>
          <p:cNvPr id="80" name="Shape 78"/>
          <p:cNvSpPr/>
          <p:nvPr/>
        </p:nvSpPr>
        <p:spPr>
          <a:xfrm>
            <a:off x="320040" y="3314700"/>
            <a:ext cx="8503920" cy="175565"/>
          </a:xfrm>
          <a:prstGeom prst="rect">
            <a:avLst/>
          </a:prstGeom>
          <a:solidFill>
            <a:srgbClr val="FFF9C4"/>
          </a:solidFill>
          <a:ln w="12700">
            <a:solidFill>
              <a:srgbClr val="E5E7EB"/>
            </a:solidFill>
            <a:prstDash val="solid"/>
          </a:ln>
        </p:spPr>
      </p:sp>
      <p:sp>
        <p:nvSpPr>
          <p:cNvPr id="81" name="Text 79"/>
          <p:cNvSpPr/>
          <p:nvPr/>
        </p:nvSpPr>
        <p:spPr>
          <a:xfrm>
            <a:off x="347472" y="3314700"/>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VN-WW-2030</a:t>
            </a:r>
            <a:endParaRPr lang="en-US" sz="700" dirty="0"/>
          </a:p>
        </p:txBody>
      </p:sp>
      <p:sp>
        <p:nvSpPr>
          <p:cNvPr id="82" name="Text 80"/>
          <p:cNvSpPr/>
          <p:nvPr/>
        </p:nvSpPr>
        <p:spPr>
          <a:xfrm>
            <a:off x="2176272" y="3314700"/>
            <a:ext cx="905256" cy="175565"/>
          </a:xfrm>
          <a:prstGeom prst="rect">
            <a:avLst/>
          </a:prstGeom>
          <a:noFill/>
          <a:ln/>
        </p:spPr>
        <p:txBody>
          <a:bodyPr wrap="square" lIns="0" tIns="0" rIns="0" bIns="0" rtlCol="0" anchor="ctr"/>
          <a:lstStyle/>
          <a:p>
            <a:pPr indent="0" marL="0">
              <a:buNone/>
            </a:pPr>
            <a:endParaRPr lang="en-US" sz="700" dirty="0"/>
          </a:p>
        </p:txBody>
      </p:sp>
      <p:sp>
        <p:nvSpPr>
          <p:cNvPr id="83" name="Text 81"/>
          <p:cNvSpPr/>
          <p:nvPr/>
        </p:nvSpPr>
        <p:spPr>
          <a:xfrm>
            <a:off x="3136392" y="3314700"/>
            <a:ext cx="1088136" cy="175565"/>
          </a:xfrm>
          <a:prstGeom prst="rect">
            <a:avLst/>
          </a:prstGeom>
          <a:noFill/>
          <a:ln/>
        </p:spPr>
        <p:txBody>
          <a:bodyPr wrap="square" lIns="0" tIns="0" rIns="0" bIns="0" rtlCol="0" anchor="ctr"/>
          <a:lstStyle/>
          <a:p>
            <a:pPr indent="0" marL="0">
              <a:buNone/>
            </a:pPr>
            <a:r>
              <a:rPr lang="en-US" sz="700" b="1" dirty="0">
                <a:solidFill>
                  <a:srgbClr val="1B4F8A"/>
                </a:solidFill>
                <a:latin typeface="Calibri" pitchFamily="34" charset="0"/>
                <a:ea typeface="Calibri" pitchFamily="34" charset="-122"/>
                <a:cs typeface="Calibri" pitchFamily="34" charset="-120"/>
              </a:rPr>
              <a:t>계획·승인</a:t>
            </a:r>
            <a:endParaRPr lang="en-US" sz="700" dirty="0"/>
          </a:p>
        </p:txBody>
      </p:sp>
      <p:sp>
        <p:nvSpPr>
          <p:cNvPr id="84" name="Text 82"/>
          <p:cNvSpPr/>
          <p:nvPr/>
        </p:nvSpPr>
        <p:spPr>
          <a:xfrm>
            <a:off x="4279392" y="3314700"/>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3건</a:t>
            </a:r>
            <a:endParaRPr lang="en-US" sz="700" dirty="0"/>
          </a:p>
        </p:txBody>
      </p:sp>
      <p:sp>
        <p:nvSpPr>
          <p:cNvPr id="85" name="Text 83"/>
          <p:cNvSpPr/>
          <p:nvPr/>
        </p:nvSpPr>
        <p:spPr>
          <a:xfrm>
            <a:off x="5376672" y="3314700"/>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1건</a:t>
            </a:r>
            <a:endParaRPr lang="en-US" sz="700" dirty="0"/>
          </a:p>
        </p:txBody>
      </p:sp>
      <p:sp>
        <p:nvSpPr>
          <p:cNvPr id="86" name="Text 84"/>
          <p:cNvSpPr/>
          <p:nvPr/>
        </p:nvSpPr>
        <p:spPr>
          <a:xfrm>
            <a:off x="6336792" y="3314700"/>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입찰 공고 또는 EPC 계약 발표 여부 확인</a:t>
            </a:r>
            <a:endParaRPr lang="en-US" sz="700" dirty="0"/>
          </a:p>
        </p:txBody>
      </p:sp>
      <p:sp>
        <p:nvSpPr>
          <p:cNvPr id="87" name="Shape 85"/>
          <p:cNvSpPr/>
          <p:nvPr/>
        </p:nvSpPr>
        <p:spPr>
          <a:xfrm>
            <a:off x="320040" y="3493008"/>
            <a:ext cx="8503920" cy="175565"/>
          </a:xfrm>
          <a:prstGeom prst="rect">
            <a:avLst/>
          </a:prstGeom>
          <a:solidFill>
            <a:srgbClr val="FFF9C4"/>
          </a:solidFill>
          <a:ln w="12700">
            <a:solidFill>
              <a:srgbClr val="E5E7EB"/>
            </a:solidFill>
            <a:prstDash val="solid"/>
          </a:ln>
        </p:spPr>
      </p:sp>
      <p:sp>
        <p:nvSpPr>
          <p:cNvPr id="88" name="Text 86"/>
          <p:cNvSpPr/>
          <p:nvPr/>
        </p:nvSpPr>
        <p:spPr>
          <a:xfrm>
            <a:off x="347472" y="3493008"/>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VN-WAT-RESOURCES</a:t>
            </a:r>
            <a:endParaRPr lang="en-US" sz="700" dirty="0"/>
          </a:p>
        </p:txBody>
      </p:sp>
      <p:sp>
        <p:nvSpPr>
          <p:cNvPr id="89" name="Text 87"/>
          <p:cNvSpPr/>
          <p:nvPr/>
        </p:nvSpPr>
        <p:spPr>
          <a:xfrm>
            <a:off x="2176272" y="3493008"/>
            <a:ext cx="905256" cy="175565"/>
          </a:xfrm>
          <a:prstGeom prst="rect">
            <a:avLst/>
          </a:prstGeom>
          <a:noFill/>
          <a:ln/>
        </p:spPr>
        <p:txBody>
          <a:bodyPr wrap="square" lIns="0" tIns="0" rIns="0" bIns="0" rtlCol="0" anchor="ctr"/>
          <a:lstStyle/>
          <a:p>
            <a:pPr indent="0" marL="0">
              <a:buNone/>
            </a:pPr>
            <a:endParaRPr lang="en-US" sz="700" dirty="0"/>
          </a:p>
        </p:txBody>
      </p:sp>
      <p:sp>
        <p:nvSpPr>
          <p:cNvPr id="90" name="Text 88"/>
          <p:cNvSpPr/>
          <p:nvPr/>
        </p:nvSpPr>
        <p:spPr>
          <a:xfrm>
            <a:off x="3136392" y="3493008"/>
            <a:ext cx="1088136" cy="175565"/>
          </a:xfrm>
          <a:prstGeom prst="rect">
            <a:avLst/>
          </a:prstGeom>
          <a:noFill/>
          <a:ln/>
        </p:spPr>
        <p:txBody>
          <a:bodyPr wrap="square" lIns="0" tIns="0" rIns="0" bIns="0" rtlCol="0" anchor="ctr"/>
          <a:lstStyle/>
          <a:p>
            <a:pPr indent="0" marL="0">
              <a:buNone/>
            </a:pPr>
            <a:r>
              <a:rPr lang="en-US" sz="700" b="1" dirty="0">
                <a:solidFill>
                  <a:srgbClr val="1B4F8A"/>
                </a:solidFill>
                <a:latin typeface="Calibri" pitchFamily="34" charset="0"/>
                <a:ea typeface="Calibri" pitchFamily="34" charset="-122"/>
                <a:cs typeface="Calibri" pitchFamily="34" charset="-120"/>
              </a:rPr>
              <a:t>계획·승인</a:t>
            </a:r>
            <a:endParaRPr lang="en-US" sz="700" dirty="0"/>
          </a:p>
        </p:txBody>
      </p:sp>
      <p:sp>
        <p:nvSpPr>
          <p:cNvPr id="91" name="Text 89"/>
          <p:cNvSpPr/>
          <p:nvPr/>
        </p:nvSpPr>
        <p:spPr>
          <a:xfrm>
            <a:off x="4279392" y="3493008"/>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8건</a:t>
            </a:r>
            <a:endParaRPr lang="en-US" sz="700" dirty="0"/>
          </a:p>
        </p:txBody>
      </p:sp>
      <p:sp>
        <p:nvSpPr>
          <p:cNvPr id="92" name="Text 90"/>
          <p:cNvSpPr/>
          <p:nvPr/>
        </p:nvSpPr>
        <p:spPr>
          <a:xfrm>
            <a:off x="5376672" y="3493008"/>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2건</a:t>
            </a:r>
            <a:endParaRPr lang="en-US" sz="700" dirty="0"/>
          </a:p>
        </p:txBody>
      </p:sp>
      <p:sp>
        <p:nvSpPr>
          <p:cNvPr id="93" name="Text 91"/>
          <p:cNvSpPr/>
          <p:nvPr/>
        </p:nvSpPr>
        <p:spPr>
          <a:xfrm>
            <a:off x="6336792" y="3493008"/>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입찰 공고 또는 EPC 계약 발표 여부 확인</a:t>
            </a:r>
            <a:endParaRPr lang="en-US" sz="700" dirty="0"/>
          </a:p>
        </p:txBody>
      </p:sp>
      <p:sp>
        <p:nvSpPr>
          <p:cNvPr id="94" name="Shape 92"/>
          <p:cNvSpPr/>
          <p:nvPr/>
        </p:nvSpPr>
        <p:spPr>
          <a:xfrm>
            <a:off x="320040" y="3671316"/>
            <a:ext cx="8503920" cy="175565"/>
          </a:xfrm>
          <a:prstGeom prst="rect">
            <a:avLst/>
          </a:prstGeom>
          <a:solidFill>
            <a:srgbClr val="FFF9C4"/>
          </a:solidFill>
          <a:ln w="12700">
            <a:solidFill>
              <a:srgbClr val="E5E7EB"/>
            </a:solidFill>
            <a:prstDash val="solid"/>
          </a:ln>
        </p:spPr>
      </p:sp>
      <p:sp>
        <p:nvSpPr>
          <p:cNvPr id="95" name="Text 93"/>
          <p:cNvSpPr/>
          <p:nvPr/>
        </p:nvSpPr>
        <p:spPr>
          <a:xfrm>
            <a:off x="347472" y="3671316"/>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VN-WAT-URBAN</a:t>
            </a:r>
            <a:endParaRPr lang="en-US" sz="700" dirty="0"/>
          </a:p>
        </p:txBody>
      </p:sp>
      <p:sp>
        <p:nvSpPr>
          <p:cNvPr id="96" name="Text 94"/>
          <p:cNvSpPr/>
          <p:nvPr/>
        </p:nvSpPr>
        <p:spPr>
          <a:xfrm>
            <a:off x="2176272" y="3671316"/>
            <a:ext cx="905256" cy="175565"/>
          </a:xfrm>
          <a:prstGeom prst="rect">
            <a:avLst/>
          </a:prstGeom>
          <a:noFill/>
          <a:ln/>
        </p:spPr>
        <p:txBody>
          <a:bodyPr wrap="square" lIns="0" tIns="0" rIns="0" bIns="0" rtlCol="0" anchor="ctr"/>
          <a:lstStyle/>
          <a:p>
            <a:pPr indent="0" marL="0">
              <a:buNone/>
            </a:pPr>
            <a:endParaRPr lang="en-US" sz="700" dirty="0"/>
          </a:p>
        </p:txBody>
      </p:sp>
      <p:sp>
        <p:nvSpPr>
          <p:cNvPr id="97" name="Text 95"/>
          <p:cNvSpPr/>
          <p:nvPr/>
        </p:nvSpPr>
        <p:spPr>
          <a:xfrm>
            <a:off x="3136392" y="3671316"/>
            <a:ext cx="1088136" cy="175565"/>
          </a:xfrm>
          <a:prstGeom prst="rect">
            <a:avLst/>
          </a:prstGeom>
          <a:noFill/>
          <a:ln/>
        </p:spPr>
        <p:txBody>
          <a:bodyPr wrap="square" lIns="0" tIns="0" rIns="0" bIns="0" rtlCol="0" anchor="ctr"/>
          <a:lstStyle/>
          <a:p>
            <a:pPr indent="0" marL="0">
              <a:buNone/>
            </a:pPr>
            <a:r>
              <a:rPr lang="en-US" sz="700" b="1" dirty="0">
                <a:solidFill>
                  <a:srgbClr val="D4820A"/>
                </a:solidFill>
                <a:latin typeface="Calibri" pitchFamily="34" charset="0"/>
                <a:ea typeface="Calibri" pitchFamily="34" charset="-122"/>
                <a:cs typeface="Calibri" pitchFamily="34" charset="-120"/>
              </a:rPr>
              <a:t>건설·시공</a:t>
            </a:r>
            <a:endParaRPr lang="en-US" sz="700" dirty="0"/>
          </a:p>
        </p:txBody>
      </p:sp>
      <p:sp>
        <p:nvSpPr>
          <p:cNvPr id="98" name="Text 96"/>
          <p:cNvSpPr/>
          <p:nvPr/>
        </p:nvSpPr>
        <p:spPr>
          <a:xfrm>
            <a:off x="4279392" y="3671316"/>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7건</a:t>
            </a:r>
            <a:endParaRPr lang="en-US" sz="700" dirty="0"/>
          </a:p>
        </p:txBody>
      </p:sp>
      <p:sp>
        <p:nvSpPr>
          <p:cNvPr id="99" name="Text 97"/>
          <p:cNvSpPr/>
          <p:nvPr/>
        </p:nvSpPr>
        <p:spPr>
          <a:xfrm>
            <a:off x="5376672" y="3671316"/>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2건</a:t>
            </a:r>
            <a:endParaRPr lang="en-US" sz="700" dirty="0"/>
          </a:p>
        </p:txBody>
      </p:sp>
      <p:sp>
        <p:nvSpPr>
          <p:cNvPr id="100" name="Text 98"/>
          <p:cNvSpPr/>
          <p:nvPr/>
        </p:nvSpPr>
        <p:spPr>
          <a:xfrm>
            <a:off x="6336792" y="3671316"/>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공정률 업데이트 및 준공 예정일 변경 여부</a:t>
            </a:r>
            <a:endParaRPr lang="en-US" sz="700" dirty="0"/>
          </a:p>
        </p:txBody>
      </p:sp>
      <p:sp>
        <p:nvSpPr>
          <p:cNvPr id="101" name="Shape 99"/>
          <p:cNvSpPr/>
          <p:nvPr/>
        </p:nvSpPr>
        <p:spPr>
          <a:xfrm>
            <a:off x="320040" y="3849624"/>
            <a:ext cx="8503920" cy="175565"/>
          </a:xfrm>
          <a:prstGeom prst="rect">
            <a:avLst/>
          </a:prstGeom>
          <a:solidFill>
            <a:srgbClr val="FFF9C4"/>
          </a:solidFill>
          <a:ln w="12700">
            <a:solidFill>
              <a:srgbClr val="E5E7EB"/>
            </a:solidFill>
            <a:prstDash val="solid"/>
          </a:ln>
        </p:spPr>
      </p:sp>
      <p:sp>
        <p:nvSpPr>
          <p:cNvPr id="102" name="Text 100"/>
          <p:cNvSpPr/>
          <p:nvPr/>
        </p:nvSpPr>
        <p:spPr>
          <a:xfrm>
            <a:off x="347472" y="3849624"/>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VN-SWM-NATIONAL-2030</a:t>
            </a:r>
            <a:endParaRPr lang="en-US" sz="700" dirty="0"/>
          </a:p>
        </p:txBody>
      </p:sp>
      <p:sp>
        <p:nvSpPr>
          <p:cNvPr id="103" name="Text 101"/>
          <p:cNvSpPr/>
          <p:nvPr/>
        </p:nvSpPr>
        <p:spPr>
          <a:xfrm>
            <a:off x="2176272" y="3849624"/>
            <a:ext cx="905256" cy="175565"/>
          </a:xfrm>
          <a:prstGeom prst="rect">
            <a:avLst/>
          </a:prstGeom>
          <a:noFill/>
          <a:ln/>
        </p:spPr>
        <p:txBody>
          <a:bodyPr wrap="square" lIns="0" tIns="0" rIns="0" bIns="0" rtlCol="0" anchor="ctr"/>
          <a:lstStyle/>
          <a:p>
            <a:pPr indent="0" marL="0">
              <a:buNone/>
            </a:pPr>
            <a:endParaRPr lang="en-US" sz="700" dirty="0"/>
          </a:p>
        </p:txBody>
      </p:sp>
      <p:sp>
        <p:nvSpPr>
          <p:cNvPr id="104" name="Text 102"/>
          <p:cNvSpPr/>
          <p:nvPr/>
        </p:nvSpPr>
        <p:spPr>
          <a:xfrm>
            <a:off x="3136392" y="3849624"/>
            <a:ext cx="1088136" cy="175565"/>
          </a:xfrm>
          <a:prstGeom prst="rect">
            <a:avLst/>
          </a:prstGeom>
          <a:noFill/>
          <a:ln/>
        </p:spPr>
        <p:txBody>
          <a:bodyPr wrap="square" lIns="0" tIns="0" rIns="0" bIns="0" rtlCol="0" anchor="ctr"/>
          <a:lstStyle/>
          <a:p>
            <a:pPr indent="0" marL="0">
              <a:buNone/>
            </a:pPr>
            <a:r>
              <a:rPr lang="en-US" sz="700" b="1" dirty="0">
                <a:solidFill>
                  <a:srgbClr val="0D6E6E"/>
                </a:solidFill>
                <a:latin typeface="Calibri" pitchFamily="34" charset="0"/>
                <a:ea typeface="Calibri" pitchFamily="34" charset="-122"/>
                <a:cs typeface="Calibri" pitchFamily="34" charset="-120"/>
              </a:rPr>
              <a:t>운영·확장</a:t>
            </a:r>
            <a:endParaRPr lang="en-US" sz="700" dirty="0"/>
          </a:p>
        </p:txBody>
      </p:sp>
      <p:sp>
        <p:nvSpPr>
          <p:cNvPr id="105" name="Text 103"/>
          <p:cNvSpPr/>
          <p:nvPr/>
        </p:nvSpPr>
        <p:spPr>
          <a:xfrm>
            <a:off x="4279392" y="3849624"/>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6건</a:t>
            </a:r>
            <a:endParaRPr lang="en-US" sz="700" dirty="0"/>
          </a:p>
        </p:txBody>
      </p:sp>
      <p:sp>
        <p:nvSpPr>
          <p:cNvPr id="106" name="Text 104"/>
          <p:cNvSpPr/>
          <p:nvPr/>
        </p:nvSpPr>
        <p:spPr>
          <a:xfrm>
            <a:off x="5376672" y="3849624"/>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2건</a:t>
            </a:r>
            <a:endParaRPr lang="en-US" sz="700" dirty="0"/>
          </a:p>
        </p:txBody>
      </p:sp>
      <p:sp>
        <p:nvSpPr>
          <p:cNvPr id="107" name="Text 105"/>
          <p:cNvSpPr/>
          <p:nvPr/>
        </p:nvSpPr>
        <p:spPr>
          <a:xfrm>
            <a:off x="6336792" y="3849624"/>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QR코드 시스템 확대 도입 일정 및 효율성 검증 결과</a:t>
            </a:r>
            <a:endParaRPr lang="en-US" sz="700" dirty="0"/>
          </a:p>
        </p:txBody>
      </p:sp>
      <p:sp>
        <p:nvSpPr>
          <p:cNvPr id="108" name="Shape 106"/>
          <p:cNvSpPr/>
          <p:nvPr/>
        </p:nvSpPr>
        <p:spPr>
          <a:xfrm>
            <a:off x="320040" y="4027932"/>
            <a:ext cx="8503920" cy="175565"/>
          </a:xfrm>
          <a:prstGeom prst="rect">
            <a:avLst/>
          </a:prstGeom>
          <a:solidFill>
            <a:srgbClr val="FFF9C4"/>
          </a:solidFill>
          <a:ln w="12700">
            <a:solidFill>
              <a:srgbClr val="E5E7EB"/>
            </a:solidFill>
            <a:prstDash val="solid"/>
          </a:ln>
        </p:spPr>
      </p:sp>
      <p:sp>
        <p:nvSpPr>
          <p:cNvPr id="109" name="Text 107"/>
          <p:cNvSpPr/>
          <p:nvPr/>
        </p:nvSpPr>
        <p:spPr>
          <a:xfrm>
            <a:off x="347472" y="4027932"/>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VN-ENV-IND-1894</a:t>
            </a:r>
            <a:endParaRPr lang="en-US" sz="700" dirty="0"/>
          </a:p>
        </p:txBody>
      </p:sp>
      <p:sp>
        <p:nvSpPr>
          <p:cNvPr id="110" name="Text 108"/>
          <p:cNvSpPr/>
          <p:nvPr/>
        </p:nvSpPr>
        <p:spPr>
          <a:xfrm>
            <a:off x="2176272" y="4027932"/>
            <a:ext cx="905256" cy="175565"/>
          </a:xfrm>
          <a:prstGeom prst="rect">
            <a:avLst/>
          </a:prstGeom>
          <a:noFill/>
          <a:ln/>
        </p:spPr>
        <p:txBody>
          <a:bodyPr wrap="square" lIns="0" tIns="0" rIns="0" bIns="0" rtlCol="0" anchor="ctr"/>
          <a:lstStyle/>
          <a:p>
            <a:pPr indent="0" marL="0">
              <a:buNone/>
            </a:pPr>
            <a:endParaRPr lang="en-US" sz="700" dirty="0"/>
          </a:p>
        </p:txBody>
      </p:sp>
      <p:sp>
        <p:nvSpPr>
          <p:cNvPr id="111" name="Text 109"/>
          <p:cNvSpPr/>
          <p:nvPr/>
        </p:nvSpPr>
        <p:spPr>
          <a:xfrm>
            <a:off x="3136392" y="4027932"/>
            <a:ext cx="1088136" cy="175565"/>
          </a:xfrm>
          <a:prstGeom prst="rect">
            <a:avLst/>
          </a:prstGeom>
          <a:noFill/>
          <a:ln/>
        </p:spPr>
        <p:txBody>
          <a:bodyPr wrap="square" lIns="0" tIns="0" rIns="0" bIns="0" rtlCol="0" anchor="ctr"/>
          <a:lstStyle/>
          <a:p>
            <a:pPr indent="0" marL="0">
              <a:buNone/>
            </a:pPr>
            <a:r>
              <a:rPr lang="en-US" sz="700" b="1" dirty="0">
                <a:solidFill>
                  <a:srgbClr val="1B4F8A"/>
                </a:solidFill>
                <a:latin typeface="Calibri" pitchFamily="34" charset="0"/>
                <a:ea typeface="Calibri" pitchFamily="34" charset="-122"/>
                <a:cs typeface="Calibri" pitchFamily="34" charset="-120"/>
              </a:rPr>
              <a:t>계획·승인</a:t>
            </a:r>
            <a:endParaRPr lang="en-US" sz="700" dirty="0"/>
          </a:p>
        </p:txBody>
      </p:sp>
      <p:sp>
        <p:nvSpPr>
          <p:cNvPr id="112" name="Text 110"/>
          <p:cNvSpPr/>
          <p:nvPr/>
        </p:nvSpPr>
        <p:spPr>
          <a:xfrm>
            <a:off x="4279392" y="4027932"/>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18건</a:t>
            </a:r>
            <a:endParaRPr lang="en-US" sz="700" dirty="0"/>
          </a:p>
        </p:txBody>
      </p:sp>
      <p:sp>
        <p:nvSpPr>
          <p:cNvPr id="113" name="Text 111"/>
          <p:cNvSpPr/>
          <p:nvPr/>
        </p:nvSpPr>
        <p:spPr>
          <a:xfrm>
            <a:off x="5376672" y="4027932"/>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5건</a:t>
            </a:r>
            <a:endParaRPr lang="en-US" sz="700" dirty="0"/>
          </a:p>
        </p:txBody>
      </p:sp>
      <p:sp>
        <p:nvSpPr>
          <p:cNvPr id="114" name="Text 112"/>
          <p:cNvSpPr/>
          <p:nvPr/>
        </p:nvSpPr>
        <p:spPr>
          <a:xfrm>
            <a:off x="6336792" y="4027932"/>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입찰 공고 또는 EPC 계약 발표 여부 확인</a:t>
            </a:r>
            <a:endParaRPr lang="en-US" sz="700" dirty="0"/>
          </a:p>
        </p:txBody>
      </p:sp>
      <p:sp>
        <p:nvSpPr>
          <p:cNvPr id="115" name="Shape 113"/>
          <p:cNvSpPr/>
          <p:nvPr/>
        </p:nvSpPr>
        <p:spPr>
          <a:xfrm>
            <a:off x="320040" y="4206240"/>
            <a:ext cx="8503920" cy="175565"/>
          </a:xfrm>
          <a:prstGeom prst="rect">
            <a:avLst/>
          </a:prstGeom>
          <a:solidFill>
            <a:srgbClr val="FFF9C4"/>
          </a:solidFill>
          <a:ln w="12700">
            <a:solidFill>
              <a:srgbClr val="E5E7EB"/>
            </a:solidFill>
            <a:prstDash val="solid"/>
          </a:ln>
        </p:spPr>
      </p:sp>
      <p:sp>
        <p:nvSpPr>
          <p:cNvPr id="116" name="Text 114"/>
          <p:cNvSpPr/>
          <p:nvPr/>
        </p:nvSpPr>
        <p:spPr>
          <a:xfrm>
            <a:off x="347472" y="4206240"/>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VN-IP-NORTH-2030</a:t>
            </a:r>
            <a:endParaRPr lang="en-US" sz="700" dirty="0"/>
          </a:p>
        </p:txBody>
      </p:sp>
      <p:sp>
        <p:nvSpPr>
          <p:cNvPr id="117" name="Text 115"/>
          <p:cNvSpPr/>
          <p:nvPr/>
        </p:nvSpPr>
        <p:spPr>
          <a:xfrm>
            <a:off x="2176272" y="4206240"/>
            <a:ext cx="905256" cy="175565"/>
          </a:xfrm>
          <a:prstGeom prst="rect">
            <a:avLst/>
          </a:prstGeom>
          <a:noFill/>
          <a:ln/>
        </p:spPr>
        <p:txBody>
          <a:bodyPr wrap="square" lIns="0" tIns="0" rIns="0" bIns="0" rtlCol="0" anchor="ctr"/>
          <a:lstStyle/>
          <a:p>
            <a:pPr indent="0" marL="0">
              <a:buNone/>
            </a:pPr>
            <a:endParaRPr lang="en-US" sz="700" dirty="0"/>
          </a:p>
        </p:txBody>
      </p:sp>
      <p:sp>
        <p:nvSpPr>
          <p:cNvPr id="118" name="Text 116"/>
          <p:cNvSpPr/>
          <p:nvPr/>
        </p:nvSpPr>
        <p:spPr>
          <a:xfrm>
            <a:off x="3136392" y="4206240"/>
            <a:ext cx="1088136" cy="175565"/>
          </a:xfrm>
          <a:prstGeom prst="rect">
            <a:avLst/>
          </a:prstGeom>
          <a:noFill/>
          <a:ln/>
        </p:spPr>
        <p:txBody>
          <a:bodyPr wrap="square" lIns="0" tIns="0" rIns="0" bIns="0" rtlCol="0" anchor="ctr"/>
          <a:lstStyle/>
          <a:p>
            <a:pPr indent="0" marL="0">
              <a:buNone/>
            </a:pPr>
            <a:r>
              <a:rPr lang="en-US" sz="700" b="1" dirty="0">
                <a:solidFill>
                  <a:srgbClr val="D4820A"/>
                </a:solidFill>
                <a:latin typeface="Calibri" pitchFamily="34" charset="0"/>
                <a:ea typeface="Calibri" pitchFamily="34" charset="-122"/>
                <a:cs typeface="Calibri" pitchFamily="34" charset="-120"/>
              </a:rPr>
              <a:t>건설·시공</a:t>
            </a:r>
            <a:endParaRPr lang="en-US" sz="700" dirty="0"/>
          </a:p>
        </p:txBody>
      </p:sp>
      <p:sp>
        <p:nvSpPr>
          <p:cNvPr id="119" name="Text 117"/>
          <p:cNvSpPr/>
          <p:nvPr/>
        </p:nvSpPr>
        <p:spPr>
          <a:xfrm>
            <a:off x="4279392" y="4206240"/>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44건</a:t>
            </a:r>
            <a:endParaRPr lang="en-US" sz="700" dirty="0"/>
          </a:p>
        </p:txBody>
      </p:sp>
      <p:sp>
        <p:nvSpPr>
          <p:cNvPr id="120" name="Text 118"/>
          <p:cNvSpPr/>
          <p:nvPr/>
        </p:nvSpPr>
        <p:spPr>
          <a:xfrm>
            <a:off x="5376672" y="4206240"/>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4건</a:t>
            </a:r>
            <a:endParaRPr lang="en-US" sz="700" dirty="0"/>
          </a:p>
        </p:txBody>
      </p:sp>
      <p:sp>
        <p:nvSpPr>
          <p:cNvPr id="121" name="Text 119"/>
          <p:cNvSpPr/>
          <p:nvPr/>
        </p:nvSpPr>
        <p:spPr>
          <a:xfrm>
            <a:off x="6336792" y="4206240"/>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공정률 업데이트 및 준공 예정일 변경 여부</a:t>
            </a:r>
            <a:endParaRPr lang="en-US" sz="700" dirty="0"/>
          </a:p>
        </p:txBody>
      </p:sp>
      <p:sp>
        <p:nvSpPr>
          <p:cNvPr id="122" name="Shape 120"/>
          <p:cNvSpPr/>
          <p:nvPr/>
        </p:nvSpPr>
        <p:spPr>
          <a:xfrm>
            <a:off x="320040" y="4384548"/>
            <a:ext cx="8503920" cy="175565"/>
          </a:xfrm>
          <a:prstGeom prst="rect">
            <a:avLst/>
          </a:prstGeom>
          <a:solidFill>
            <a:srgbClr val="FFF9C4"/>
          </a:solidFill>
          <a:ln w="12700">
            <a:solidFill>
              <a:srgbClr val="E5E7EB"/>
            </a:solidFill>
            <a:prstDash val="solid"/>
          </a:ln>
        </p:spPr>
      </p:sp>
      <p:sp>
        <p:nvSpPr>
          <p:cNvPr id="123" name="Text 121"/>
          <p:cNvSpPr/>
          <p:nvPr/>
        </p:nvSpPr>
        <p:spPr>
          <a:xfrm>
            <a:off x="347472" y="4384548"/>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VN-TRAN-2055</a:t>
            </a:r>
            <a:endParaRPr lang="en-US" sz="700" dirty="0"/>
          </a:p>
        </p:txBody>
      </p:sp>
      <p:sp>
        <p:nvSpPr>
          <p:cNvPr id="124" name="Text 122"/>
          <p:cNvSpPr/>
          <p:nvPr/>
        </p:nvSpPr>
        <p:spPr>
          <a:xfrm>
            <a:off x="2176272" y="4384548"/>
            <a:ext cx="905256" cy="175565"/>
          </a:xfrm>
          <a:prstGeom prst="rect">
            <a:avLst/>
          </a:prstGeom>
          <a:noFill/>
          <a:ln/>
        </p:spPr>
        <p:txBody>
          <a:bodyPr wrap="square" lIns="0" tIns="0" rIns="0" bIns="0" rtlCol="0" anchor="ctr"/>
          <a:lstStyle/>
          <a:p>
            <a:pPr indent="0" marL="0">
              <a:buNone/>
            </a:pPr>
            <a:endParaRPr lang="en-US" sz="700" dirty="0"/>
          </a:p>
        </p:txBody>
      </p:sp>
      <p:sp>
        <p:nvSpPr>
          <p:cNvPr id="125" name="Text 123"/>
          <p:cNvSpPr/>
          <p:nvPr/>
        </p:nvSpPr>
        <p:spPr>
          <a:xfrm>
            <a:off x="3136392" y="4384548"/>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126" name="Text 124"/>
          <p:cNvSpPr/>
          <p:nvPr/>
        </p:nvSpPr>
        <p:spPr>
          <a:xfrm>
            <a:off x="4279392" y="4384548"/>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89건</a:t>
            </a:r>
            <a:endParaRPr lang="en-US" sz="700" dirty="0"/>
          </a:p>
        </p:txBody>
      </p:sp>
      <p:sp>
        <p:nvSpPr>
          <p:cNvPr id="127" name="Text 125"/>
          <p:cNvSpPr/>
          <p:nvPr/>
        </p:nvSpPr>
        <p:spPr>
          <a:xfrm>
            <a:off x="5376672" y="4384548"/>
            <a:ext cx="905256" cy="175565"/>
          </a:xfrm>
          <a:prstGeom prst="rect">
            <a:avLst/>
          </a:prstGeom>
          <a:noFill/>
          <a:ln/>
        </p:spPr>
        <p:txBody>
          <a:bodyPr wrap="square" lIns="0" tIns="0" rIns="0" bIns="0" rtlCol="0" anchor="ctr"/>
          <a:lstStyle/>
          <a:p>
            <a:pPr indent="0" marL="0">
              <a:buNone/>
            </a:pPr>
            <a:r>
              <a:rPr lang="en-US" sz="700" b="1" dirty="0">
                <a:solidFill>
                  <a:srgbClr val="92400E"/>
                </a:solidFill>
                <a:latin typeface="Calibri" pitchFamily="34" charset="0"/>
                <a:ea typeface="Calibri" pitchFamily="34" charset="-122"/>
                <a:cs typeface="Calibri" pitchFamily="34" charset="-120"/>
              </a:rPr>
              <a:t>★ 40건</a:t>
            </a:r>
            <a:endParaRPr lang="en-US" sz="700" dirty="0"/>
          </a:p>
        </p:txBody>
      </p:sp>
      <p:sp>
        <p:nvSpPr>
          <p:cNvPr id="128" name="Text 126"/>
          <p:cNvSpPr/>
          <p:nvPr/>
        </p:nvSpPr>
        <p:spPr>
          <a:xfrm>
            <a:off x="6336792" y="4384548"/>
            <a:ext cx="2459736" cy="175565"/>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VN-TRAN-2055 관련 공식 공지 모니터링</a:t>
            </a:r>
            <a:endParaRPr lang="en-US" sz="700" dirty="0"/>
          </a:p>
        </p:txBody>
      </p:sp>
      <p:sp>
        <p:nvSpPr>
          <p:cNvPr id="129" name="Shape 127"/>
          <p:cNvSpPr/>
          <p:nvPr/>
        </p:nvSpPr>
        <p:spPr>
          <a:xfrm>
            <a:off x="320040" y="4562856"/>
            <a:ext cx="8503920" cy="175565"/>
          </a:xfrm>
          <a:prstGeom prst="rect">
            <a:avLst/>
          </a:prstGeom>
          <a:solidFill>
            <a:srgbClr val="FFFFFF"/>
          </a:solidFill>
          <a:ln w="12700">
            <a:solidFill>
              <a:srgbClr val="E5E7EB"/>
            </a:solidFill>
            <a:prstDash val="solid"/>
          </a:ln>
        </p:spPr>
      </p:sp>
      <p:sp>
        <p:nvSpPr>
          <p:cNvPr id="130" name="Text 128"/>
          <p:cNvSpPr/>
          <p:nvPr/>
        </p:nvSpPr>
        <p:spPr>
          <a:xfrm>
            <a:off x="347472" y="4562856"/>
            <a:ext cx="1773936" cy="175565"/>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VN-MEKONG-DELTA-2030</a:t>
            </a:r>
            <a:endParaRPr lang="en-US" sz="700" dirty="0"/>
          </a:p>
        </p:txBody>
      </p:sp>
      <p:sp>
        <p:nvSpPr>
          <p:cNvPr id="131" name="Text 129"/>
          <p:cNvSpPr/>
          <p:nvPr/>
        </p:nvSpPr>
        <p:spPr>
          <a:xfrm>
            <a:off x="2176272" y="4562856"/>
            <a:ext cx="905256" cy="175565"/>
          </a:xfrm>
          <a:prstGeom prst="rect">
            <a:avLst/>
          </a:prstGeom>
          <a:noFill/>
          <a:ln/>
        </p:spPr>
        <p:txBody>
          <a:bodyPr wrap="square" lIns="0" tIns="0" rIns="0" bIns="0" rtlCol="0" anchor="ctr"/>
          <a:lstStyle/>
          <a:p>
            <a:pPr indent="0" marL="0">
              <a:buNone/>
            </a:pPr>
            <a:endParaRPr lang="en-US" sz="700" dirty="0"/>
          </a:p>
        </p:txBody>
      </p:sp>
      <p:sp>
        <p:nvSpPr>
          <p:cNvPr id="132" name="Text 130"/>
          <p:cNvSpPr/>
          <p:nvPr/>
        </p:nvSpPr>
        <p:spPr>
          <a:xfrm>
            <a:off x="3136392" y="4562856"/>
            <a:ext cx="1088136" cy="175565"/>
          </a:xfrm>
          <a:prstGeom prst="rect">
            <a:avLst/>
          </a:prstGeom>
          <a:noFill/>
          <a:ln/>
        </p:spPr>
        <p:txBody>
          <a:bodyPr wrap="square" lIns="0" tIns="0" rIns="0" bIns="0" rtlCol="0" anchor="ctr"/>
          <a:lstStyle/>
          <a:p>
            <a:pPr indent="0" marL="0">
              <a:buNone/>
            </a:pPr>
            <a:r>
              <a:rPr lang="en-US" sz="700" b="1" dirty="0">
                <a:solidFill>
                  <a:srgbClr val="6B7280"/>
                </a:solidFill>
                <a:latin typeface="Calibri" pitchFamily="34" charset="0"/>
                <a:ea typeface="Calibri" pitchFamily="34" charset="-122"/>
                <a:cs typeface="Calibri" pitchFamily="34" charset="-120"/>
              </a:rPr>
              <a:t>미확정</a:t>
            </a:r>
            <a:endParaRPr lang="en-US" sz="700" dirty="0"/>
          </a:p>
        </p:txBody>
      </p:sp>
      <p:sp>
        <p:nvSpPr>
          <p:cNvPr id="133" name="Text 131"/>
          <p:cNvSpPr/>
          <p:nvPr/>
        </p:nvSpPr>
        <p:spPr>
          <a:xfrm>
            <a:off x="4279392" y="4562856"/>
            <a:ext cx="1042416" cy="175565"/>
          </a:xfrm>
          <a:prstGeom prst="rect">
            <a:avLst/>
          </a:prstGeom>
          <a:noFill/>
          <a:ln/>
        </p:spPr>
        <p:txBody>
          <a:bodyPr wrap="square" lIns="0" tIns="0" rIns="0" bIns="0" rtlCol="0" anchor="ctr"/>
          <a:lstStyle/>
          <a:p>
            <a:pPr indent="0" marL="0">
              <a:buNone/>
            </a:pPr>
            <a:r>
              <a:rPr lang="en-US" sz="700" dirty="0">
                <a:solidFill>
                  <a:srgbClr val="374151"/>
                </a:solidFill>
                <a:latin typeface="Calibri" pitchFamily="34" charset="0"/>
                <a:ea typeface="Calibri" pitchFamily="34" charset="-122"/>
                <a:cs typeface="Calibri" pitchFamily="34" charset="-120"/>
              </a:rPr>
              <a:t>2건</a:t>
            </a:r>
            <a:endParaRPr lang="en-US" sz="700" dirty="0"/>
          </a:p>
        </p:txBody>
      </p:sp>
      <p:sp>
        <p:nvSpPr>
          <p:cNvPr id="134" name="Text 132"/>
          <p:cNvSpPr/>
          <p:nvPr/>
        </p:nvSpPr>
        <p:spPr>
          <a:xfrm>
            <a:off x="5376672" y="4562856"/>
            <a:ext cx="905256" cy="175565"/>
          </a:xfrm>
          <a:prstGeom prst="rect">
            <a:avLst/>
          </a:prstGeom>
          <a:noFill/>
          <a:ln/>
        </p:spPr>
        <p:txBody>
          <a:bodyPr wrap="square" lIns="0" tIns="0" rIns="0" bIns="0" rtlCol="0" anchor="ctr"/>
          <a:lstStyle/>
          <a:p>
            <a:pPr indent="0" marL="0">
              <a:buNone/>
            </a:pPr>
            <a:r>
              <a:rPr lang="en-US" sz="700" dirty="0">
                <a:solidFill>
                  <a:srgbClr val="9CA3AF"/>
                </a:solidFill>
                <a:latin typeface="Calibri" pitchFamily="34" charset="0"/>
                <a:ea typeface="Calibri" pitchFamily="34" charset="-122"/>
                <a:cs typeface="Calibri" pitchFamily="34" charset="-120"/>
              </a:rPr>
              <a:t>-</a:t>
            </a:r>
            <a:endParaRPr lang="en-US" sz="700" dirty="0"/>
          </a:p>
        </p:txBody>
      </p:sp>
      <p:sp>
        <p:nvSpPr>
          <p:cNvPr id="135" name="Text 133"/>
          <p:cNvSpPr/>
          <p:nvPr/>
        </p:nvSpPr>
        <p:spPr>
          <a:xfrm>
            <a:off x="6336792" y="4562856"/>
            <a:ext cx="2459736" cy="175565"/>
          </a:xfrm>
          <a:prstGeom prst="rect">
            <a:avLst/>
          </a:prstGeom>
          <a:noFill/>
          <a:ln/>
        </p:spPr>
        <p:txBody>
          <a:bodyPr wrap="square" lIns="0" tIns="0" rIns="0" bIns="0" rtlCol="0" anchor="ctr"/>
          <a:lstStyle/>
          <a:p>
            <a:pPr indent="0" marL="0">
              <a:buNone/>
            </a:pPr>
            <a:endParaRPr lang="en-US" sz="700" dirty="0"/>
          </a:p>
        </p:txBody>
      </p:sp>
      <p:sp>
        <p:nvSpPr>
          <p:cNvPr id="136" name="Text 134"/>
          <p:cNvSpPr/>
          <p:nvPr/>
        </p:nvSpPr>
        <p:spPr>
          <a:xfrm>
            <a:off x="320040" y="4732020"/>
            <a:ext cx="8503920" cy="18288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+ 6개 플랜 — 상세 슬라이드 참조</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제8차 국가전력개발계획</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500/QĐ-TTg (2023) + Decision 768/QĐ-TTg (2024…</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190건  |  ★신규 9건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5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617220" cy="82296"/>
          </a:xfrm>
          <a:prstGeom prst="rect">
            <a:avLst/>
          </a:prstGeom>
          <a:solidFill>
            <a:srgbClr val="1B4F8A"/>
          </a:solidFill>
          <a:ln w="12700">
            <a:solidFill>
              <a:srgbClr val="1B4F8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1B4F8A"/>
                </a:solidFill>
                <a:latin typeface="Calibri" pitchFamily="34" charset="0"/>
                <a:ea typeface="Calibri" pitchFamily="34" charset="-122"/>
                <a:cs typeface="Calibri" pitchFamily="34" charset="-120"/>
              </a:rPr>
              <a:t>계획·승인</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VN-PWR-PDP8 진행현황 분석 보고서 (2026년 5월)</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**사업 진행단계 및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베트남 제8차 국가전력개발계획(PDP8)은 현재 **실행 초기 단계(정책수립 → 프로젝트 파일럿 전환)**에 있습니다.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히스토리 기사(4월)에서 "전기 부족 심화"가 주요 정책 압력으로 작용했다면, 이번 주 신규 기사는 **대응 움직임의 가속화**를 …</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9건  +  기존 181건)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태국, 말레이시아와의 철도 연결 가속화</a:t>
            </a:r>
            <a:endParaRPr lang="en-US" sz="750" dirty="0"/>
          </a:p>
        </p:txBody>
      </p:sp>
      <p:sp>
        <p:nvSpPr>
          <p:cNvPr id="31" name="Shape 29"/>
          <p:cNvSpPr/>
          <p:nvPr/>
        </p:nvSpPr>
        <p:spPr>
          <a:xfrm>
            <a:off x="320040" y="3488436"/>
            <a:ext cx="8503920" cy="196596"/>
          </a:xfrm>
          <a:prstGeom prst="rect">
            <a:avLst/>
          </a:prstGeom>
          <a:solidFill>
            <a:srgbClr val="FFF9C4"/>
          </a:solidFill>
          <a:ln w="12700">
            <a:solidFill>
              <a:srgbClr val="FCD34D"/>
            </a:solidFill>
            <a:prstDash val="solid"/>
          </a:ln>
        </p:spPr>
      </p:sp>
      <p:sp>
        <p:nvSpPr>
          <p:cNvPr id="32" name="Shape 30"/>
          <p:cNvSpPr/>
          <p:nvPr/>
        </p:nvSpPr>
        <p:spPr>
          <a:xfrm>
            <a:off x="338328" y="3520440"/>
            <a:ext cx="347472" cy="132588"/>
          </a:xfrm>
          <a:prstGeom prst="rect">
            <a:avLst/>
          </a:prstGeom>
          <a:solidFill>
            <a:srgbClr val="F59E0B"/>
          </a:solidFill>
          <a:ln w="12700">
            <a:solidFill>
              <a:srgbClr val="F59E0B"/>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베트남, 미국, 더 강력한 에너지 협력 모색</a:t>
            </a:r>
            <a:endParaRPr lang="en-US" sz="750" dirty="0"/>
          </a:p>
        </p:txBody>
      </p:sp>
      <p:sp>
        <p:nvSpPr>
          <p:cNvPr id="37" name="Shape 35"/>
          <p:cNvSpPr/>
          <p:nvPr/>
        </p:nvSpPr>
        <p:spPr>
          <a:xfrm>
            <a:off x="320040" y="3685032"/>
            <a:ext cx="8503920" cy="196596"/>
          </a:xfrm>
          <a:prstGeom prst="rect">
            <a:avLst/>
          </a:prstGeom>
          <a:solidFill>
            <a:srgbClr val="FFF9C4"/>
          </a:solidFill>
          <a:ln w="12700">
            <a:solidFill>
              <a:srgbClr val="FCD34D"/>
            </a:solidFill>
            <a:prstDash val="solid"/>
          </a:ln>
        </p:spPr>
      </p:sp>
      <p:sp>
        <p:nvSpPr>
          <p:cNvPr id="38" name="Shape 36"/>
          <p:cNvSpPr/>
          <p:nvPr/>
        </p:nvSpPr>
        <p:spPr>
          <a:xfrm>
            <a:off x="338328" y="3717036"/>
            <a:ext cx="347472" cy="132588"/>
          </a:xfrm>
          <a:prstGeom prst="rect">
            <a:avLst/>
          </a:prstGeom>
          <a:solidFill>
            <a:srgbClr val="F59E0B"/>
          </a:solidFill>
          <a:ln w="12700">
            <a:solidFill>
              <a:srgbClr val="F59E0B"/>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부옹 수력 발전소는 건기에 활발하게 운영되어 하류의 전기 및 수도 공급을 …</a:t>
            </a:r>
            <a:endParaRPr lang="en-US" sz="750" dirty="0"/>
          </a:p>
        </p:txBody>
      </p:sp>
      <p:sp>
        <p:nvSpPr>
          <p:cNvPr id="43" name="Shape 41"/>
          <p:cNvSpPr/>
          <p:nvPr/>
        </p:nvSpPr>
        <p:spPr>
          <a:xfrm>
            <a:off x="320040" y="3881628"/>
            <a:ext cx="8503920" cy="196596"/>
          </a:xfrm>
          <a:prstGeom prst="rect">
            <a:avLst/>
          </a:prstGeom>
          <a:solidFill>
            <a:srgbClr val="FFF9C4"/>
          </a:solidFill>
          <a:ln w="12700">
            <a:solidFill>
              <a:srgbClr val="FCD34D"/>
            </a:solidFill>
            <a:prstDash val="solid"/>
          </a:ln>
        </p:spPr>
      </p:sp>
      <p:sp>
        <p:nvSpPr>
          <p:cNvPr id="44" name="Shape 42"/>
          <p:cNvSpPr/>
          <p:nvPr/>
        </p:nvSpPr>
        <p:spPr>
          <a:xfrm>
            <a:off x="338328" y="3913632"/>
            <a:ext cx="347472" cy="132588"/>
          </a:xfrm>
          <a:prstGeom prst="rect">
            <a:avLst/>
          </a:prstGeom>
          <a:solidFill>
            <a:srgbClr val="F59E0B"/>
          </a:solidFill>
          <a:ln w="12700">
            <a:solidFill>
              <a:srgbClr val="F59E0B"/>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[동영상] El Nino 2026의 위험에 처하기 전에 수력 발전이 물을 …</a:t>
            </a:r>
            <a:endParaRPr lang="en-US" sz="750" dirty="0"/>
          </a:p>
        </p:txBody>
      </p:sp>
      <p:sp>
        <p:nvSpPr>
          <p:cNvPr id="49" name="Shape 47"/>
          <p:cNvSpPr/>
          <p:nvPr/>
        </p:nvSpPr>
        <p:spPr>
          <a:xfrm>
            <a:off x="320040" y="4078224"/>
            <a:ext cx="8503920" cy="196596"/>
          </a:xfrm>
          <a:prstGeom prst="rect">
            <a:avLst/>
          </a:prstGeom>
          <a:solidFill>
            <a:srgbClr val="FFF9C4"/>
          </a:solidFill>
          <a:ln w="12700">
            <a:solidFill>
              <a:srgbClr val="FCD34D"/>
            </a:solidFill>
            <a:prstDash val="solid"/>
          </a:ln>
        </p:spPr>
      </p:sp>
      <p:sp>
        <p:nvSpPr>
          <p:cNvPr id="50" name="Shape 48"/>
          <p:cNvSpPr/>
          <p:nvPr/>
        </p:nvSpPr>
        <p:spPr>
          <a:xfrm>
            <a:off x="338328" y="4110228"/>
            <a:ext cx="347472" cy="132588"/>
          </a:xfrm>
          <a:prstGeom prst="rect">
            <a:avLst/>
          </a:prstGeom>
          <a:solidFill>
            <a:srgbClr val="F59E0B"/>
          </a:solidFill>
          <a:ln w="12700">
            <a:solidFill>
              <a:srgbClr val="F59E0B"/>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수출이 줄어들면서 과일 가격이 급락합니다.</a:t>
            </a:r>
            <a:endParaRPr lang="en-US" sz="750" dirty="0"/>
          </a:p>
        </p:txBody>
      </p:sp>
      <p:sp>
        <p:nvSpPr>
          <p:cNvPr id="55" name="Shape 53"/>
          <p:cNvSpPr/>
          <p:nvPr/>
        </p:nvSpPr>
        <p:spPr>
          <a:xfrm>
            <a:off x="320040" y="4274820"/>
            <a:ext cx="8503920" cy="196596"/>
          </a:xfrm>
          <a:prstGeom prst="rect">
            <a:avLst/>
          </a:prstGeom>
          <a:solidFill>
            <a:srgbClr val="FFF9C4"/>
          </a:solidFill>
          <a:ln w="12700">
            <a:solidFill>
              <a:srgbClr val="FCD34D"/>
            </a:solidFill>
            <a:prstDash val="solid"/>
          </a:ln>
        </p:spPr>
      </p:sp>
      <p:sp>
        <p:nvSpPr>
          <p:cNvPr id="56" name="Shape 54"/>
          <p:cNvSpPr/>
          <p:nvPr/>
        </p:nvSpPr>
        <p:spPr>
          <a:xfrm>
            <a:off x="338328" y="4306824"/>
            <a:ext cx="347472" cy="132588"/>
          </a:xfrm>
          <a:prstGeom prst="rect">
            <a:avLst/>
          </a:prstGeom>
          <a:solidFill>
            <a:srgbClr val="F59E0B"/>
          </a:solidFill>
          <a:ln w="12700">
            <a:solidFill>
              <a:srgbClr val="F59E0B"/>
            </a:solidFill>
            <a:prstDash val="solid"/>
          </a:ln>
        </p:spPr>
      </p:sp>
      <p:sp>
        <p:nvSpPr>
          <p:cNvPr id="57" name="Text 55"/>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8" name="Text 56"/>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59" name="Text 57"/>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60" name="Text 58"/>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베트남, 청정 에너지 촉진, 아세안 전력 연결 가속화</a:t>
            </a:r>
            <a:endParaRPr lang="en-US" sz="750" dirty="0"/>
          </a:p>
        </p:txBody>
      </p:sp>
      <p:sp>
        <p:nvSpPr>
          <p:cNvPr id="61" name="Shape 59"/>
          <p:cNvSpPr/>
          <p:nvPr/>
        </p:nvSpPr>
        <p:spPr>
          <a:xfrm>
            <a:off x="320040" y="4471416"/>
            <a:ext cx="8503920" cy="196596"/>
          </a:xfrm>
          <a:prstGeom prst="rect">
            <a:avLst/>
          </a:prstGeom>
          <a:solidFill>
            <a:srgbClr val="FFF9C4"/>
          </a:solidFill>
          <a:ln w="12700">
            <a:solidFill>
              <a:srgbClr val="FCD34D"/>
            </a:solidFill>
            <a:prstDash val="solid"/>
          </a:ln>
        </p:spPr>
      </p:sp>
      <p:sp>
        <p:nvSpPr>
          <p:cNvPr id="62" name="Shape 60"/>
          <p:cNvSpPr/>
          <p:nvPr/>
        </p:nvSpPr>
        <p:spPr>
          <a:xfrm>
            <a:off x="338328" y="4503420"/>
            <a:ext cx="347472" cy="132588"/>
          </a:xfrm>
          <a:prstGeom prst="rect">
            <a:avLst/>
          </a:prstGeom>
          <a:solidFill>
            <a:srgbClr val="F59E0B"/>
          </a:solidFill>
          <a:ln w="12700">
            <a:solidFill>
              <a:srgbClr val="F59E0B"/>
            </a:solidFill>
            <a:prstDash val="solid"/>
          </a:ln>
        </p:spPr>
      </p:sp>
      <p:sp>
        <p:nvSpPr>
          <p:cNvPr id="63" name="Text 61"/>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64" name="Text 62"/>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65" name="Text 63"/>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66" name="Text 64"/>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정재은, 베트남에 10MW 옥상 태양광 시스템 설치</a:t>
            </a:r>
            <a:endParaRPr lang="en-US" sz="750" dirty="0"/>
          </a:p>
        </p:txBody>
      </p:sp>
      <p:sp>
        <p:nvSpPr>
          <p:cNvPr id="67" name="Shape 65"/>
          <p:cNvSpPr/>
          <p:nvPr/>
        </p:nvSpPr>
        <p:spPr>
          <a:xfrm>
            <a:off x="320040" y="4668012"/>
            <a:ext cx="8503920" cy="196596"/>
          </a:xfrm>
          <a:prstGeom prst="rect">
            <a:avLst/>
          </a:prstGeom>
          <a:solidFill>
            <a:srgbClr val="FFF9C4"/>
          </a:solidFill>
          <a:ln w="12700">
            <a:solidFill>
              <a:srgbClr val="FCD34D"/>
            </a:solidFill>
            <a:prstDash val="solid"/>
          </a:ln>
        </p:spPr>
      </p:sp>
      <p:sp>
        <p:nvSpPr>
          <p:cNvPr id="68" name="Shape 66"/>
          <p:cNvSpPr/>
          <p:nvPr/>
        </p:nvSpPr>
        <p:spPr>
          <a:xfrm>
            <a:off x="338328" y="4700016"/>
            <a:ext cx="347472" cy="132588"/>
          </a:xfrm>
          <a:prstGeom prst="rect">
            <a:avLst/>
          </a:prstGeom>
          <a:solidFill>
            <a:srgbClr val="F59E0B"/>
          </a:solidFill>
          <a:ln w="12700">
            <a:solidFill>
              <a:srgbClr val="F59E0B"/>
            </a:solidFill>
            <a:prstDash val="solid"/>
          </a:ln>
        </p:spPr>
      </p:sp>
      <p:sp>
        <p:nvSpPr>
          <p:cNvPr id="69" name="Text 67"/>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70" name="Text 68"/>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05-07</a:t>
            </a:r>
            <a:endParaRPr lang="en-US" sz="700" dirty="0"/>
          </a:p>
        </p:txBody>
      </p:sp>
      <p:sp>
        <p:nvSpPr>
          <p:cNvPr id="71" name="Text 69"/>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72" name="Text 70"/>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디엔비엔푸의 승리 - 20세기의 서사시와 시대의 가치</a:t>
            </a:r>
            <a:endParaRPr lang="en-US" sz="750" dirty="0"/>
          </a:p>
        </p:txBody>
      </p:sp>
      <p:sp>
        <p:nvSpPr>
          <p:cNvPr id="73" name="Text 71"/>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4" name="Shape 72"/>
          <p:cNvSpPr/>
          <p:nvPr/>
        </p:nvSpPr>
        <p:spPr>
          <a:xfrm>
            <a:off x="0" y="4942332"/>
            <a:ext cx="9144000" cy="201168"/>
          </a:xfrm>
          <a:prstGeom prst="rect">
            <a:avLst/>
          </a:prstGeom>
          <a:solidFill>
            <a:srgbClr val="0C2340"/>
          </a:solidFill>
          <a:ln w="12700">
            <a:solidFill>
              <a:srgbClr val="0C2340"/>
            </a:solidFill>
            <a:prstDash val="solid"/>
          </a:ln>
        </p:spPr>
      </p:sp>
      <p:sp>
        <p:nvSpPr>
          <p:cNvPr id="75" name="Text 73"/>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6" name="Text 74"/>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  |</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VN-PWR-PDP8-RENEWABLE</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PDP8 재생에너지 (해상풍력·태양광)</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149건  |  ★신규 7건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6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FF9C4"/>
          </a:solidFill>
          <a:ln w="12700">
            <a:solidFill>
              <a:srgbClr val="F59E0B"/>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PDP8 재생에너지 진행현황 분석 보고서</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**사업 진행단계 맥락**</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이번 주 신규 기사 7건 중 재생에너지 관련 기사는 3건(기사 2, 3, 5)으로, PDP8 목표 달성을 위한 구체적 진전 신호를 보여줍니다. ★**풍력 컨퍼런스 개최(기사2)**는 정책 레벨의 국제 협력 강화를, **태양광 펀딩 및 옥상시스템 구축(기사3, 5)**은 민간 투자 확대를 …</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7건  +  기존 142건)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9C4"/>
          </a:solidFill>
          <a:ln w="12700">
            <a:solidFill>
              <a:srgbClr val="FCD34D"/>
            </a:solidFill>
            <a:prstDash val="solid"/>
          </a:ln>
        </p:spPr>
      </p:sp>
      <p:sp>
        <p:nvSpPr>
          <p:cNvPr id="25" name="Shape 23"/>
          <p:cNvSpPr/>
          <p:nvPr/>
        </p:nvSpPr>
        <p:spPr>
          <a:xfrm>
            <a:off x="338328" y="3323844"/>
            <a:ext cx="347472" cy="132588"/>
          </a:xfrm>
          <a:prstGeom prst="rect">
            <a:avLst/>
          </a:prstGeom>
          <a:solidFill>
            <a:srgbClr val="F59E0B"/>
          </a:solidFill>
          <a:ln w="12700">
            <a:solidFill>
              <a:srgbClr val="F59E0B"/>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태국, 말레이시아와의 철도 연결 가속화</a:t>
            </a:r>
            <a:endParaRPr lang="en-US" sz="750" dirty="0"/>
          </a:p>
        </p:txBody>
      </p:sp>
      <p:sp>
        <p:nvSpPr>
          <p:cNvPr id="30" name="Shape 28"/>
          <p:cNvSpPr/>
          <p:nvPr/>
        </p:nvSpPr>
        <p:spPr>
          <a:xfrm>
            <a:off x="320040" y="3488436"/>
            <a:ext cx="8503920" cy="196596"/>
          </a:xfrm>
          <a:prstGeom prst="rect">
            <a:avLst/>
          </a:prstGeom>
          <a:solidFill>
            <a:srgbClr val="FFF9C4"/>
          </a:solidFill>
          <a:ln w="12700">
            <a:solidFill>
              <a:srgbClr val="FCD34D"/>
            </a:solidFill>
            <a:prstDash val="solid"/>
          </a:ln>
        </p:spPr>
      </p:sp>
      <p:sp>
        <p:nvSpPr>
          <p:cNvPr id="31" name="Shape 29"/>
          <p:cNvSpPr/>
          <p:nvPr/>
        </p:nvSpPr>
        <p:spPr>
          <a:xfrm>
            <a:off x="338328" y="3520440"/>
            <a:ext cx="347472" cy="132588"/>
          </a:xfrm>
          <a:prstGeom prst="rect">
            <a:avLst/>
          </a:prstGeom>
          <a:solidFill>
            <a:srgbClr val="F59E0B"/>
          </a:solidFill>
          <a:ln w="12700">
            <a:solidFill>
              <a:srgbClr val="F59E0B"/>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베트남, APAC 풍력 에너지 컨퍼런스 2026 개최: 풍력 발전 투자 유…</a:t>
            </a:r>
            <a:endParaRPr lang="en-US" sz="750" dirty="0"/>
          </a:p>
        </p:txBody>
      </p:sp>
      <p:sp>
        <p:nvSpPr>
          <p:cNvPr id="36" name="Shape 34"/>
          <p:cNvSpPr/>
          <p:nvPr/>
        </p:nvSpPr>
        <p:spPr>
          <a:xfrm>
            <a:off x="320040" y="3685032"/>
            <a:ext cx="8503920" cy="196596"/>
          </a:xfrm>
          <a:prstGeom prst="rect">
            <a:avLst/>
          </a:prstGeom>
          <a:solidFill>
            <a:srgbClr val="FFF9C4"/>
          </a:solidFill>
          <a:ln w="12700">
            <a:solidFill>
              <a:srgbClr val="FCD34D"/>
            </a:solidFill>
            <a:prstDash val="solid"/>
          </a:ln>
        </p:spPr>
      </p:sp>
      <p:sp>
        <p:nvSpPr>
          <p:cNvPr id="37" name="Shape 35"/>
          <p:cNvSpPr/>
          <p:nvPr/>
        </p:nvSpPr>
        <p:spPr>
          <a:xfrm>
            <a:off x="338328" y="3717036"/>
            <a:ext cx="347472" cy="132588"/>
          </a:xfrm>
          <a:prstGeom prst="rect">
            <a:avLst/>
          </a:prstGeom>
          <a:solidFill>
            <a:srgbClr val="F59E0B"/>
          </a:solidFill>
          <a:ln w="12700">
            <a:solidFill>
              <a:srgbClr val="F59E0B"/>
            </a:solidFill>
            <a:prstDash val="solid"/>
          </a:ln>
        </p:spPr>
      </p:sp>
      <p:sp>
        <p:nvSpPr>
          <p:cNvPr id="38" name="Text 36"/>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9" name="Text 37"/>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40" name="Text 38"/>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menafn</a:t>
            </a:r>
            <a:endParaRPr lang="en-US" sz="700" dirty="0"/>
          </a:p>
        </p:txBody>
      </p:sp>
      <p:sp>
        <p:nvSpPr>
          <p:cNvPr id="41" name="Text 39"/>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Skycorp Solar Group Limited, $ 3.6 백만 두 번…</a:t>
            </a:r>
            <a:endParaRPr lang="en-US" sz="750" dirty="0"/>
          </a:p>
        </p:txBody>
      </p:sp>
      <p:sp>
        <p:nvSpPr>
          <p:cNvPr id="42" name="Shape 40"/>
          <p:cNvSpPr/>
          <p:nvPr/>
        </p:nvSpPr>
        <p:spPr>
          <a:xfrm>
            <a:off x="320040" y="3881628"/>
            <a:ext cx="8503920" cy="196596"/>
          </a:xfrm>
          <a:prstGeom prst="rect">
            <a:avLst/>
          </a:prstGeom>
          <a:solidFill>
            <a:srgbClr val="FFF9C4"/>
          </a:solidFill>
          <a:ln w="12700">
            <a:solidFill>
              <a:srgbClr val="FCD34D"/>
            </a:solidFill>
            <a:prstDash val="solid"/>
          </a:ln>
        </p:spPr>
      </p:sp>
      <p:sp>
        <p:nvSpPr>
          <p:cNvPr id="43" name="Shape 41"/>
          <p:cNvSpPr/>
          <p:nvPr/>
        </p:nvSpPr>
        <p:spPr>
          <a:xfrm>
            <a:off x="338328" y="3913632"/>
            <a:ext cx="347472" cy="132588"/>
          </a:xfrm>
          <a:prstGeom prst="rect">
            <a:avLst/>
          </a:prstGeom>
          <a:solidFill>
            <a:srgbClr val="F59E0B"/>
          </a:solidFill>
          <a:ln w="12700">
            <a:solidFill>
              <a:srgbClr val="F59E0B"/>
            </a:solidFill>
            <a:prstDash val="solid"/>
          </a:ln>
        </p:spPr>
      </p:sp>
      <p:sp>
        <p:nvSpPr>
          <p:cNvPr id="44" name="Text 42"/>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5" name="Text 43"/>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46" name="Text 44"/>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47" name="Text 45"/>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수출이 줄어들면서 과일 가격이 급락합니다.</a:t>
            </a:r>
            <a:endParaRPr lang="en-US" sz="750" dirty="0"/>
          </a:p>
        </p:txBody>
      </p:sp>
      <p:sp>
        <p:nvSpPr>
          <p:cNvPr id="48" name="Shape 46"/>
          <p:cNvSpPr/>
          <p:nvPr/>
        </p:nvSpPr>
        <p:spPr>
          <a:xfrm>
            <a:off x="320040" y="4078224"/>
            <a:ext cx="8503920" cy="196596"/>
          </a:xfrm>
          <a:prstGeom prst="rect">
            <a:avLst/>
          </a:prstGeom>
          <a:solidFill>
            <a:srgbClr val="FFF9C4"/>
          </a:solidFill>
          <a:ln w="12700">
            <a:solidFill>
              <a:srgbClr val="FCD34D"/>
            </a:solidFill>
            <a:prstDash val="solid"/>
          </a:ln>
        </p:spPr>
      </p:sp>
      <p:sp>
        <p:nvSpPr>
          <p:cNvPr id="49" name="Shape 47"/>
          <p:cNvSpPr/>
          <p:nvPr/>
        </p:nvSpPr>
        <p:spPr>
          <a:xfrm>
            <a:off x="338328" y="4110228"/>
            <a:ext cx="347472" cy="132588"/>
          </a:xfrm>
          <a:prstGeom prst="rect">
            <a:avLst/>
          </a:prstGeom>
          <a:solidFill>
            <a:srgbClr val="F59E0B"/>
          </a:solidFill>
          <a:ln w="12700">
            <a:solidFill>
              <a:srgbClr val="F59E0B"/>
            </a:solidFill>
            <a:prstDash val="solid"/>
          </a:ln>
        </p:spPr>
      </p:sp>
      <p:sp>
        <p:nvSpPr>
          <p:cNvPr id="50" name="Text 48"/>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1" name="Text 49"/>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52" name="Text 50"/>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53" name="Text 51"/>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정재은, 베트남에 10MW 옥상 태양광 시스템 설치</a:t>
            </a:r>
            <a:endParaRPr lang="en-US" sz="750" dirty="0"/>
          </a:p>
        </p:txBody>
      </p:sp>
      <p:sp>
        <p:nvSpPr>
          <p:cNvPr id="54" name="Shape 52"/>
          <p:cNvSpPr/>
          <p:nvPr/>
        </p:nvSpPr>
        <p:spPr>
          <a:xfrm>
            <a:off x="320040" y="4274820"/>
            <a:ext cx="8503920" cy="196596"/>
          </a:xfrm>
          <a:prstGeom prst="rect">
            <a:avLst/>
          </a:prstGeom>
          <a:solidFill>
            <a:srgbClr val="FFF9C4"/>
          </a:solidFill>
          <a:ln w="12700">
            <a:solidFill>
              <a:srgbClr val="FCD34D"/>
            </a:solidFill>
            <a:prstDash val="solid"/>
          </a:ln>
        </p:spPr>
      </p:sp>
      <p:sp>
        <p:nvSpPr>
          <p:cNvPr id="55" name="Shape 53"/>
          <p:cNvSpPr/>
          <p:nvPr/>
        </p:nvSpPr>
        <p:spPr>
          <a:xfrm>
            <a:off x="338328" y="4306824"/>
            <a:ext cx="347472" cy="132588"/>
          </a:xfrm>
          <a:prstGeom prst="rect">
            <a:avLst/>
          </a:prstGeom>
          <a:solidFill>
            <a:srgbClr val="F59E0B"/>
          </a:solidFill>
          <a:ln w="12700">
            <a:solidFill>
              <a:srgbClr val="F59E0B"/>
            </a:solidFill>
            <a:prstDash val="solid"/>
          </a:ln>
        </p:spPr>
      </p:sp>
      <p:sp>
        <p:nvSpPr>
          <p:cNvPr id="56" name="Text 54"/>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7" name="Text 55"/>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05-07</a:t>
            </a:r>
            <a:endParaRPr lang="en-US" sz="700" dirty="0"/>
          </a:p>
        </p:txBody>
      </p:sp>
      <p:sp>
        <p:nvSpPr>
          <p:cNvPr id="58" name="Text 56"/>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59" name="Text 57"/>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디엔비엔푸의 승리 - 20세기의 서사시와 시대의 가치</a:t>
            </a:r>
            <a:endParaRPr lang="en-US" sz="750" dirty="0"/>
          </a:p>
        </p:txBody>
      </p:sp>
      <p:sp>
        <p:nvSpPr>
          <p:cNvPr id="60" name="Shape 58"/>
          <p:cNvSpPr/>
          <p:nvPr/>
        </p:nvSpPr>
        <p:spPr>
          <a:xfrm>
            <a:off x="320040" y="4471416"/>
            <a:ext cx="8503920" cy="196596"/>
          </a:xfrm>
          <a:prstGeom prst="rect">
            <a:avLst/>
          </a:prstGeom>
          <a:solidFill>
            <a:srgbClr val="FFF9C4"/>
          </a:solidFill>
          <a:ln w="12700">
            <a:solidFill>
              <a:srgbClr val="FCD34D"/>
            </a:solidFill>
            <a:prstDash val="solid"/>
          </a:ln>
        </p:spPr>
      </p:sp>
      <p:sp>
        <p:nvSpPr>
          <p:cNvPr id="61" name="Shape 59"/>
          <p:cNvSpPr/>
          <p:nvPr/>
        </p:nvSpPr>
        <p:spPr>
          <a:xfrm>
            <a:off x="338328" y="4503420"/>
            <a:ext cx="347472" cy="132588"/>
          </a:xfrm>
          <a:prstGeom prst="rect">
            <a:avLst/>
          </a:prstGeom>
          <a:solidFill>
            <a:srgbClr val="F59E0B"/>
          </a:solidFill>
          <a:ln w="12700">
            <a:solidFill>
              <a:srgbClr val="F59E0B"/>
            </a:solidFill>
            <a:prstDash val="solid"/>
          </a:ln>
        </p:spPr>
      </p:sp>
      <p:sp>
        <p:nvSpPr>
          <p:cNvPr id="62" name="Text 60"/>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63" name="Text 61"/>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64" name="Text 62"/>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65" name="Text 63"/>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태국, PM2.5 오염 관리 진전 보고</a:t>
            </a:r>
            <a:endParaRPr lang="en-US" sz="750" dirty="0"/>
          </a:p>
        </p:txBody>
      </p:sp>
      <p:sp>
        <p:nvSpPr>
          <p:cNvPr id="66" name="Shape 64"/>
          <p:cNvSpPr/>
          <p:nvPr/>
        </p:nvSpPr>
        <p:spPr>
          <a:xfrm>
            <a:off x="320040" y="4668012"/>
            <a:ext cx="8503920" cy="196596"/>
          </a:xfrm>
          <a:prstGeom prst="rect">
            <a:avLst/>
          </a:prstGeom>
          <a:solidFill>
            <a:srgbClr val="FFFFFF"/>
          </a:solidFill>
          <a:ln w="12700">
            <a:solidFill>
              <a:srgbClr val="E5E7EB"/>
            </a:solidFill>
            <a:prstDash val="solid"/>
          </a:ln>
        </p:spPr>
      </p:sp>
      <p:sp>
        <p:nvSpPr>
          <p:cNvPr id="67" name="Shape 65"/>
          <p:cNvSpPr/>
          <p:nvPr/>
        </p:nvSpPr>
        <p:spPr>
          <a:xfrm>
            <a:off x="338328" y="4700016"/>
            <a:ext cx="347472" cy="132588"/>
          </a:xfrm>
          <a:prstGeom prst="rect">
            <a:avLst/>
          </a:prstGeom>
          <a:solidFill>
            <a:srgbClr val="9CA3AF"/>
          </a:solidFill>
          <a:ln w="12700">
            <a:solidFill>
              <a:srgbClr val="9CA3AF"/>
            </a:solidFill>
            <a:prstDash val="solid"/>
          </a:ln>
        </p:spPr>
      </p:sp>
      <p:sp>
        <p:nvSpPr>
          <p:cNvPr id="68" name="Text 66"/>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9" name="Text 67"/>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02-09</a:t>
            </a:r>
            <a:endParaRPr lang="en-US" sz="700" dirty="0"/>
          </a:p>
        </p:txBody>
      </p:sp>
      <p:sp>
        <p:nvSpPr>
          <p:cNvPr id="70" name="Text 68"/>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Thanh Nien …</a:t>
            </a:r>
            <a:endParaRPr lang="en-US" sz="700" dirty="0"/>
          </a:p>
        </p:txBody>
      </p:sp>
      <p:sp>
        <p:nvSpPr>
          <p:cNvPr id="71" name="Text 69"/>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수억 달러 규모의 입찰에 성공한 합작사가 공개되며, 꽝차크 2 가스 발전소…</a:t>
            </a:r>
            <a:endParaRPr lang="en-US" sz="750" dirty="0"/>
          </a:p>
        </p:txBody>
      </p:sp>
      <p:sp>
        <p:nvSpPr>
          <p:cNvPr id="72" name="Text 70"/>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3" name="Shape 71"/>
          <p:cNvSpPr/>
          <p:nvPr/>
        </p:nvSpPr>
        <p:spPr>
          <a:xfrm>
            <a:off x="0" y="4942332"/>
            <a:ext cx="9144000" cy="201168"/>
          </a:xfrm>
          <a:prstGeom prst="rect">
            <a:avLst/>
          </a:prstGeom>
          <a:solidFill>
            <a:srgbClr val="0C2340"/>
          </a:solidFill>
          <a:ln w="12700">
            <a:solidFill>
              <a:srgbClr val="0C2340"/>
            </a:solidFill>
            <a:prstDash val="solid"/>
          </a:ln>
        </p:spPr>
      </p:sp>
      <p:sp>
        <p:nvSpPr>
          <p:cNvPr id="74" name="Text 72"/>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5" name="Text 73"/>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VN-PWR-PDP8-RENEWABLE  |</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VN-PWR-PDP8-LNG</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PDP8 LNG 가스발전</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155건  |  ★신규 6건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7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FF9C4"/>
          </a:solidFill>
          <a:ln w="12700">
            <a:solidFill>
              <a:srgbClr val="F59E0B"/>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VN-PWR-PDP8-LNG 사업 진행현황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**진행단계 평가**: PDP8 LNG 가스발전 사업은 정책 수립 및 메커니즘 설계 단계에서 진행 중입니다. 5월 6일 보도(기사[3])에서 ★**LNG 발전 프로젝트 메커니즘 완성**이 보도되며, EVN 주도하의 제도적 기반이 확립되는 단계입니다.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**KPI 평가**: KPI 목표 정보 부재로 정량적 평…</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6건  +  기존 149건)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9C4"/>
          </a:solidFill>
          <a:ln w="12700">
            <a:solidFill>
              <a:srgbClr val="FCD34D"/>
            </a:solidFill>
            <a:prstDash val="solid"/>
          </a:ln>
        </p:spPr>
      </p:sp>
      <p:sp>
        <p:nvSpPr>
          <p:cNvPr id="25" name="Shape 23"/>
          <p:cNvSpPr/>
          <p:nvPr/>
        </p:nvSpPr>
        <p:spPr>
          <a:xfrm>
            <a:off x="338328" y="3323844"/>
            <a:ext cx="347472" cy="132588"/>
          </a:xfrm>
          <a:prstGeom prst="rect">
            <a:avLst/>
          </a:prstGeom>
          <a:solidFill>
            <a:srgbClr val="F59E0B"/>
          </a:solidFill>
          <a:ln w="12700">
            <a:solidFill>
              <a:srgbClr val="F59E0B"/>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태국, 말레이시아와의 철도 연결 가속화</a:t>
            </a:r>
            <a:endParaRPr lang="en-US" sz="750" dirty="0"/>
          </a:p>
        </p:txBody>
      </p:sp>
      <p:sp>
        <p:nvSpPr>
          <p:cNvPr id="30" name="Shape 28"/>
          <p:cNvSpPr/>
          <p:nvPr/>
        </p:nvSpPr>
        <p:spPr>
          <a:xfrm>
            <a:off x="320040" y="3488436"/>
            <a:ext cx="8503920" cy="196596"/>
          </a:xfrm>
          <a:prstGeom prst="rect">
            <a:avLst/>
          </a:prstGeom>
          <a:solidFill>
            <a:srgbClr val="FFF9C4"/>
          </a:solidFill>
          <a:ln w="12700">
            <a:solidFill>
              <a:srgbClr val="FCD34D"/>
            </a:solidFill>
            <a:prstDash val="solid"/>
          </a:ln>
        </p:spPr>
      </p:sp>
      <p:sp>
        <p:nvSpPr>
          <p:cNvPr id="31" name="Shape 29"/>
          <p:cNvSpPr/>
          <p:nvPr/>
        </p:nvSpPr>
        <p:spPr>
          <a:xfrm>
            <a:off x="338328" y="3520440"/>
            <a:ext cx="347472" cy="132588"/>
          </a:xfrm>
          <a:prstGeom prst="rect">
            <a:avLst/>
          </a:prstGeom>
          <a:solidFill>
            <a:srgbClr val="F59E0B"/>
          </a:solidFill>
          <a:ln w="12700">
            <a:solidFill>
              <a:srgbClr val="F59E0B"/>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수출이 줄어들면서 과일 가격이 급락합니다.</a:t>
            </a:r>
            <a:endParaRPr lang="en-US" sz="750" dirty="0"/>
          </a:p>
        </p:txBody>
      </p:sp>
      <p:sp>
        <p:nvSpPr>
          <p:cNvPr id="36" name="Shape 34"/>
          <p:cNvSpPr/>
          <p:nvPr/>
        </p:nvSpPr>
        <p:spPr>
          <a:xfrm>
            <a:off x="320040" y="3685032"/>
            <a:ext cx="8503920" cy="196596"/>
          </a:xfrm>
          <a:prstGeom prst="rect">
            <a:avLst/>
          </a:prstGeom>
          <a:solidFill>
            <a:srgbClr val="FFF9C4"/>
          </a:solidFill>
          <a:ln w="12700">
            <a:solidFill>
              <a:srgbClr val="FCD34D"/>
            </a:solidFill>
            <a:prstDash val="solid"/>
          </a:ln>
        </p:spPr>
      </p:sp>
      <p:sp>
        <p:nvSpPr>
          <p:cNvPr id="37" name="Shape 35"/>
          <p:cNvSpPr/>
          <p:nvPr/>
        </p:nvSpPr>
        <p:spPr>
          <a:xfrm>
            <a:off x="338328" y="3717036"/>
            <a:ext cx="347472" cy="132588"/>
          </a:xfrm>
          <a:prstGeom prst="rect">
            <a:avLst/>
          </a:prstGeom>
          <a:solidFill>
            <a:srgbClr val="F59E0B"/>
          </a:solidFill>
          <a:ln w="12700">
            <a:solidFill>
              <a:srgbClr val="F59E0B"/>
            </a:solidFill>
            <a:prstDash val="solid"/>
          </a:ln>
        </p:spPr>
      </p:sp>
      <p:sp>
        <p:nvSpPr>
          <p:cNvPr id="38" name="Text 36"/>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9" name="Text 37"/>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40" name="Text 38"/>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41" name="Text 39"/>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LNG 발전 프로젝트 메커니즘 완성: 전기 가격에 압력을 가하지 않고 출력…</a:t>
            </a:r>
            <a:endParaRPr lang="en-US" sz="750" dirty="0"/>
          </a:p>
        </p:txBody>
      </p:sp>
      <p:sp>
        <p:nvSpPr>
          <p:cNvPr id="42" name="Shape 40"/>
          <p:cNvSpPr/>
          <p:nvPr/>
        </p:nvSpPr>
        <p:spPr>
          <a:xfrm>
            <a:off x="320040" y="3881628"/>
            <a:ext cx="8503920" cy="196596"/>
          </a:xfrm>
          <a:prstGeom prst="rect">
            <a:avLst/>
          </a:prstGeom>
          <a:solidFill>
            <a:srgbClr val="FFF9C4"/>
          </a:solidFill>
          <a:ln w="12700">
            <a:solidFill>
              <a:srgbClr val="FCD34D"/>
            </a:solidFill>
            <a:prstDash val="solid"/>
          </a:ln>
        </p:spPr>
      </p:sp>
      <p:sp>
        <p:nvSpPr>
          <p:cNvPr id="43" name="Shape 41"/>
          <p:cNvSpPr/>
          <p:nvPr/>
        </p:nvSpPr>
        <p:spPr>
          <a:xfrm>
            <a:off x="338328" y="3913632"/>
            <a:ext cx="347472" cy="132588"/>
          </a:xfrm>
          <a:prstGeom prst="rect">
            <a:avLst/>
          </a:prstGeom>
          <a:solidFill>
            <a:srgbClr val="F59E0B"/>
          </a:solidFill>
          <a:ln w="12700">
            <a:solidFill>
              <a:srgbClr val="F59E0B"/>
            </a:solidFill>
            <a:prstDash val="solid"/>
          </a:ln>
        </p:spPr>
      </p:sp>
      <p:sp>
        <p:nvSpPr>
          <p:cNvPr id="44" name="Text 42"/>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5" name="Text 43"/>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46" name="Text 44"/>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47" name="Text 45"/>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정재은, 베트남에 10MW 옥상 태양광 시스템 설치</a:t>
            </a:r>
            <a:endParaRPr lang="en-US" sz="750" dirty="0"/>
          </a:p>
        </p:txBody>
      </p:sp>
      <p:sp>
        <p:nvSpPr>
          <p:cNvPr id="48" name="Shape 46"/>
          <p:cNvSpPr/>
          <p:nvPr/>
        </p:nvSpPr>
        <p:spPr>
          <a:xfrm>
            <a:off x="320040" y="4078224"/>
            <a:ext cx="8503920" cy="196596"/>
          </a:xfrm>
          <a:prstGeom prst="rect">
            <a:avLst/>
          </a:prstGeom>
          <a:solidFill>
            <a:srgbClr val="FFF9C4"/>
          </a:solidFill>
          <a:ln w="12700">
            <a:solidFill>
              <a:srgbClr val="FCD34D"/>
            </a:solidFill>
            <a:prstDash val="solid"/>
          </a:ln>
        </p:spPr>
      </p:sp>
      <p:sp>
        <p:nvSpPr>
          <p:cNvPr id="49" name="Shape 47"/>
          <p:cNvSpPr/>
          <p:nvPr/>
        </p:nvSpPr>
        <p:spPr>
          <a:xfrm>
            <a:off x="338328" y="4110228"/>
            <a:ext cx="347472" cy="132588"/>
          </a:xfrm>
          <a:prstGeom prst="rect">
            <a:avLst/>
          </a:prstGeom>
          <a:solidFill>
            <a:srgbClr val="F59E0B"/>
          </a:solidFill>
          <a:ln w="12700">
            <a:solidFill>
              <a:srgbClr val="F59E0B"/>
            </a:solidFill>
            <a:prstDash val="solid"/>
          </a:ln>
        </p:spPr>
      </p:sp>
      <p:sp>
        <p:nvSpPr>
          <p:cNvPr id="50" name="Text 48"/>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1" name="Text 49"/>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05-07</a:t>
            </a:r>
            <a:endParaRPr lang="en-US" sz="700" dirty="0"/>
          </a:p>
        </p:txBody>
      </p:sp>
      <p:sp>
        <p:nvSpPr>
          <p:cNvPr id="52" name="Text 50"/>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53" name="Text 51"/>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디엔비엔푸의 승리 - 20세기의 서사시와 시대의 가치</a:t>
            </a:r>
            <a:endParaRPr lang="en-US" sz="750" dirty="0"/>
          </a:p>
        </p:txBody>
      </p:sp>
      <p:sp>
        <p:nvSpPr>
          <p:cNvPr id="54" name="Shape 52"/>
          <p:cNvSpPr/>
          <p:nvPr/>
        </p:nvSpPr>
        <p:spPr>
          <a:xfrm>
            <a:off x="320040" y="4274820"/>
            <a:ext cx="8503920" cy="196596"/>
          </a:xfrm>
          <a:prstGeom prst="rect">
            <a:avLst/>
          </a:prstGeom>
          <a:solidFill>
            <a:srgbClr val="FFF9C4"/>
          </a:solidFill>
          <a:ln w="12700">
            <a:solidFill>
              <a:srgbClr val="FCD34D"/>
            </a:solidFill>
            <a:prstDash val="solid"/>
          </a:ln>
        </p:spPr>
      </p:sp>
      <p:sp>
        <p:nvSpPr>
          <p:cNvPr id="55" name="Shape 53"/>
          <p:cNvSpPr/>
          <p:nvPr/>
        </p:nvSpPr>
        <p:spPr>
          <a:xfrm>
            <a:off x="338328" y="4306824"/>
            <a:ext cx="347472" cy="132588"/>
          </a:xfrm>
          <a:prstGeom prst="rect">
            <a:avLst/>
          </a:prstGeom>
          <a:solidFill>
            <a:srgbClr val="F59E0B"/>
          </a:solidFill>
          <a:ln w="12700">
            <a:solidFill>
              <a:srgbClr val="F59E0B"/>
            </a:solidFill>
            <a:prstDash val="solid"/>
          </a:ln>
        </p:spPr>
      </p:sp>
      <p:sp>
        <p:nvSpPr>
          <p:cNvPr id="56" name="Text 54"/>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7" name="Text 55"/>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58" name="Text 56"/>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59" name="Text 57"/>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태국, PM2.5 오염 관리 진전 보고</a:t>
            </a:r>
            <a:endParaRPr lang="en-US" sz="750" dirty="0"/>
          </a:p>
        </p:txBody>
      </p:sp>
      <p:sp>
        <p:nvSpPr>
          <p:cNvPr id="60" name="Shape 58"/>
          <p:cNvSpPr/>
          <p:nvPr/>
        </p:nvSpPr>
        <p:spPr>
          <a:xfrm>
            <a:off x="320040" y="4471416"/>
            <a:ext cx="8503920" cy="196596"/>
          </a:xfrm>
          <a:prstGeom prst="rect">
            <a:avLst/>
          </a:prstGeom>
          <a:solidFill>
            <a:srgbClr val="FFFFFF"/>
          </a:solidFill>
          <a:ln w="12700">
            <a:solidFill>
              <a:srgbClr val="E5E7EB"/>
            </a:solidFill>
            <a:prstDash val="solid"/>
          </a:ln>
        </p:spPr>
      </p:sp>
      <p:sp>
        <p:nvSpPr>
          <p:cNvPr id="61" name="Shape 59"/>
          <p:cNvSpPr/>
          <p:nvPr/>
        </p:nvSpPr>
        <p:spPr>
          <a:xfrm>
            <a:off x="338328" y="4503420"/>
            <a:ext cx="347472" cy="132588"/>
          </a:xfrm>
          <a:prstGeom prst="rect">
            <a:avLst/>
          </a:prstGeom>
          <a:solidFill>
            <a:srgbClr val="1B4F8A"/>
          </a:solidFill>
          <a:ln w="12700">
            <a:solidFill>
              <a:srgbClr val="1B4F8A"/>
            </a:solidFill>
            <a:prstDash val="solid"/>
          </a:ln>
        </p:spPr>
      </p:sp>
      <p:sp>
        <p:nvSpPr>
          <p:cNvPr id="62" name="Text 60"/>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63" name="Text 61"/>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04-08</a:t>
            </a:r>
            <a:endParaRPr lang="en-US" sz="700" dirty="0"/>
          </a:p>
        </p:txBody>
      </p:sp>
      <p:sp>
        <p:nvSpPr>
          <p:cNvPr id="64" name="Text 62"/>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NewsData/Wa…</a:t>
            </a:r>
            <a:endParaRPr lang="en-US" sz="700" dirty="0"/>
          </a:p>
        </p:txBody>
      </p:sp>
      <p:sp>
        <p:nvSpPr>
          <p:cNvPr id="65" name="Text 63"/>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PV GAS, 티바이 LNG 터미널 처리 능력 확대</a:t>
            </a:r>
            <a:endParaRPr lang="en-US" sz="750" dirty="0"/>
          </a:p>
        </p:txBody>
      </p:sp>
      <p:sp>
        <p:nvSpPr>
          <p:cNvPr id="66" name="Shape 64"/>
          <p:cNvSpPr/>
          <p:nvPr/>
        </p:nvSpPr>
        <p:spPr>
          <a:xfrm>
            <a:off x="320040" y="4668012"/>
            <a:ext cx="8503920" cy="196596"/>
          </a:xfrm>
          <a:prstGeom prst="rect">
            <a:avLst/>
          </a:prstGeom>
          <a:solidFill>
            <a:srgbClr val="FFFFFF"/>
          </a:solidFill>
          <a:ln w="12700">
            <a:solidFill>
              <a:srgbClr val="E5E7EB"/>
            </a:solidFill>
            <a:prstDash val="solid"/>
          </a:ln>
        </p:spPr>
      </p:sp>
      <p:sp>
        <p:nvSpPr>
          <p:cNvPr id="67" name="Shape 65"/>
          <p:cNvSpPr/>
          <p:nvPr/>
        </p:nvSpPr>
        <p:spPr>
          <a:xfrm>
            <a:off x="338328" y="4700016"/>
            <a:ext cx="347472" cy="132588"/>
          </a:xfrm>
          <a:prstGeom prst="rect">
            <a:avLst/>
          </a:prstGeom>
          <a:solidFill>
            <a:srgbClr val="1B4F8A"/>
          </a:solidFill>
          <a:ln w="12700">
            <a:solidFill>
              <a:srgbClr val="1B4F8A"/>
            </a:solidFill>
            <a:prstDash val="solid"/>
          </a:ln>
        </p:spPr>
      </p:sp>
      <p:sp>
        <p:nvSpPr>
          <p:cNvPr id="68" name="Text 66"/>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69" name="Text 67"/>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04-08</a:t>
            </a:r>
            <a:endParaRPr lang="en-US" sz="700" dirty="0"/>
          </a:p>
        </p:txBody>
      </p:sp>
      <p:sp>
        <p:nvSpPr>
          <p:cNvPr id="70" name="Text 68"/>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71" name="Text 69"/>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티바이 LNG 터미널의 재기화 처리 능력이 시간당 288톤으로 확대되었다</a:t>
            </a:r>
            <a:endParaRPr lang="en-US" sz="750" dirty="0"/>
          </a:p>
        </p:txBody>
      </p:sp>
      <p:sp>
        <p:nvSpPr>
          <p:cNvPr id="72" name="Text 70"/>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3" name="Shape 71"/>
          <p:cNvSpPr/>
          <p:nvPr/>
        </p:nvSpPr>
        <p:spPr>
          <a:xfrm>
            <a:off x="0" y="4942332"/>
            <a:ext cx="9144000" cy="201168"/>
          </a:xfrm>
          <a:prstGeom prst="rect">
            <a:avLst/>
          </a:prstGeom>
          <a:solidFill>
            <a:srgbClr val="0C2340"/>
          </a:solidFill>
          <a:ln w="12700">
            <a:solidFill>
              <a:srgbClr val="0C2340"/>
            </a:solidFill>
            <a:prstDash val="solid"/>
          </a:ln>
        </p:spPr>
      </p:sp>
      <p:sp>
        <p:nvSpPr>
          <p:cNvPr id="74" name="Text 72"/>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5" name="Text 73"/>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VN-PWR-PDP8-LNG  |</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VN-PWR-PDP8-GRID</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PDP8 송배전망 확충</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7건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8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VN-PWR-PDP8-GRID 관련 신규 기사가 수집되지 않았습니다.</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0건  +  기존 7건)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FFF"/>
          </a:solidFill>
          <a:ln w="12700">
            <a:solidFill>
              <a:srgbClr val="E5E7EB"/>
            </a:solidFill>
            <a:prstDash val="solid"/>
          </a:ln>
        </p:spPr>
      </p:sp>
      <p:sp>
        <p:nvSpPr>
          <p:cNvPr id="25" name="Shape 23"/>
          <p:cNvSpPr/>
          <p:nvPr/>
        </p:nvSpPr>
        <p:spPr>
          <a:xfrm>
            <a:off x="338328" y="3323844"/>
            <a:ext cx="347472" cy="132588"/>
          </a:xfrm>
          <a:prstGeom prst="rect">
            <a:avLst/>
          </a:prstGeom>
          <a:solidFill>
            <a:srgbClr val="9CA3AF"/>
          </a:solidFill>
          <a:ln w="12700">
            <a:solidFill>
              <a:srgbClr val="9CA3AF"/>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03-14</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E…</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캐나다의 베트남 교수는 북미 최대 전력망의 수명을 연장하기 위해 백만 달러…</a:t>
            </a:r>
            <a:endParaRPr lang="en-US" sz="750" dirty="0"/>
          </a:p>
        </p:txBody>
      </p:sp>
      <p:sp>
        <p:nvSpPr>
          <p:cNvPr id="30" name="Shape 28"/>
          <p:cNvSpPr/>
          <p:nvPr/>
        </p:nvSpPr>
        <p:spPr>
          <a:xfrm>
            <a:off x="320040" y="3488436"/>
            <a:ext cx="8503920" cy="196596"/>
          </a:xfrm>
          <a:prstGeom prst="rect">
            <a:avLst/>
          </a:prstGeom>
          <a:solidFill>
            <a:srgbClr val="FFFFFF"/>
          </a:solidFill>
          <a:ln w="12700">
            <a:solidFill>
              <a:srgbClr val="E5E7EB"/>
            </a:solidFill>
            <a:prstDash val="solid"/>
          </a:ln>
        </p:spPr>
      </p:sp>
      <p:sp>
        <p:nvSpPr>
          <p:cNvPr id="31" name="Shape 29"/>
          <p:cNvSpPr/>
          <p:nvPr/>
        </p:nvSpPr>
        <p:spPr>
          <a:xfrm>
            <a:off x="338328" y="3520440"/>
            <a:ext cx="347472" cy="132588"/>
          </a:xfrm>
          <a:prstGeom prst="rect">
            <a:avLst/>
          </a:prstGeom>
          <a:solidFill>
            <a:srgbClr val="9CA3AF"/>
          </a:solidFill>
          <a:ln w="12700">
            <a:solidFill>
              <a:srgbClr val="9CA3AF"/>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04-08</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Thanh Nien …</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EVN, 전력망 기반 에너지 저장 배터리 개발 로드맵 가속화</a:t>
            </a:r>
            <a:endParaRPr lang="en-US" sz="750" dirty="0"/>
          </a:p>
        </p:txBody>
      </p:sp>
      <p:sp>
        <p:nvSpPr>
          <p:cNvPr id="36" name="Shape 34"/>
          <p:cNvSpPr/>
          <p:nvPr/>
        </p:nvSpPr>
        <p:spPr>
          <a:xfrm>
            <a:off x="320040" y="3685032"/>
            <a:ext cx="8503920" cy="196596"/>
          </a:xfrm>
          <a:prstGeom prst="rect">
            <a:avLst/>
          </a:prstGeom>
          <a:solidFill>
            <a:srgbClr val="FFFFFF"/>
          </a:solidFill>
          <a:ln w="12700">
            <a:solidFill>
              <a:srgbClr val="E5E7EB"/>
            </a:solidFill>
            <a:prstDash val="solid"/>
          </a:ln>
        </p:spPr>
      </p:sp>
      <p:sp>
        <p:nvSpPr>
          <p:cNvPr id="37" name="Shape 35"/>
          <p:cNvSpPr/>
          <p:nvPr/>
        </p:nvSpPr>
        <p:spPr>
          <a:xfrm>
            <a:off x="338328" y="3717036"/>
            <a:ext cx="347472" cy="132588"/>
          </a:xfrm>
          <a:prstGeom prst="rect">
            <a:avLst/>
          </a:prstGeom>
          <a:solidFill>
            <a:srgbClr val="9CA3AF"/>
          </a:solidFill>
          <a:ln w="12700">
            <a:solidFill>
              <a:srgbClr val="9CA3AF"/>
            </a:solidFill>
            <a:prstDash val="solid"/>
          </a:ln>
        </p:spPr>
      </p:sp>
      <p:sp>
        <p:nvSpPr>
          <p:cNvPr id="38" name="Text 36"/>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9" name="Text 37"/>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04-08</a:t>
            </a:r>
            <a:endParaRPr lang="en-US" sz="700" dirty="0"/>
          </a:p>
        </p:txBody>
      </p:sp>
      <p:sp>
        <p:nvSpPr>
          <p:cNvPr id="40" name="Text 38"/>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41" name="Text 39"/>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Thanh Nien - Kinh te</a:t>
            </a:r>
            <a:endParaRPr lang="en-US" sz="750" dirty="0"/>
          </a:p>
        </p:txBody>
      </p:sp>
      <p:sp>
        <p:nvSpPr>
          <p:cNvPr id="42" name="Shape 40"/>
          <p:cNvSpPr/>
          <p:nvPr/>
        </p:nvSpPr>
        <p:spPr>
          <a:xfrm>
            <a:off x="320040" y="3881628"/>
            <a:ext cx="8503920" cy="196596"/>
          </a:xfrm>
          <a:prstGeom prst="rect">
            <a:avLst/>
          </a:prstGeom>
          <a:solidFill>
            <a:srgbClr val="FFFFFF"/>
          </a:solidFill>
          <a:ln w="12700">
            <a:solidFill>
              <a:srgbClr val="E5E7EB"/>
            </a:solidFill>
            <a:prstDash val="solid"/>
          </a:ln>
        </p:spPr>
      </p:sp>
      <p:sp>
        <p:nvSpPr>
          <p:cNvPr id="43" name="Shape 41"/>
          <p:cNvSpPr/>
          <p:nvPr/>
        </p:nvSpPr>
        <p:spPr>
          <a:xfrm>
            <a:off x="338328" y="3913632"/>
            <a:ext cx="347472" cy="132588"/>
          </a:xfrm>
          <a:prstGeom prst="rect">
            <a:avLst/>
          </a:prstGeom>
          <a:solidFill>
            <a:srgbClr val="9CA3AF"/>
          </a:solidFill>
          <a:ln w="12700">
            <a:solidFill>
              <a:srgbClr val="9CA3AF"/>
            </a:solidFill>
            <a:prstDash val="solid"/>
          </a:ln>
        </p:spPr>
      </p:sp>
      <p:sp>
        <p:nvSpPr>
          <p:cNvPr id="44" name="Text 42"/>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5" name="Text 43"/>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04-09</a:t>
            </a:r>
            <a:endParaRPr lang="en-US" sz="700" dirty="0"/>
          </a:p>
        </p:txBody>
      </p:sp>
      <p:sp>
        <p:nvSpPr>
          <p:cNvPr id="46" name="Text 44"/>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Thanh Nien …</a:t>
            </a:r>
            <a:endParaRPr lang="en-US" sz="700" dirty="0"/>
          </a:p>
        </p:txBody>
      </p:sp>
      <p:sp>
        <p:nvSpPr>
          <p:cNvPr id="47" name="Text 45"/>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EVN, 전력망 내 BESS 구축 추진</a:t>
            </a:r>
            <a:endParaRPr lang="en-US" sz="750" dirty="0"/>
          </a:p>
        </p:txBody>
      </p:sp>
      <p:sp>
        <p:nvSpPr>
          <p:cNvPr id="48" name="Shape 46"/>
          <p:cNvSpPr/>
          <p:nvPr/>
        </p:nvSpPr>
        <p:spPr>
          <a:xfrm>
            <a:off x="320040" y="4078224"/>
            <a:ext cx="8503920" cy="196596"/>
          </a:xfrm>
          <a:prstGeom prst="rect">
            <a:avLst/>
          </a:prstGeom>
          <a:solidFill>
            <a:srgbClr val="FFFFFF"/>
          </a:solidFill>
          <a:ln w="12700">
            <a:solidFill>
              <a:srgbClr val="E5E7EB"/>
            </a:solidFill>
            <a:prstDash val="solid"/>
          </a:ln>
        </p:spPr>
      </p:sp>
      <p:sp>
        <p:nvSpPr>
          <p:cNvPr id="49" name="Shape 47"/>
          <p:cNvSpPr/>
          <p:nvPr/>
        </p:nvSpPr>
        <p:spPr>
          <a:xfrm>
            <a:off x="338328" y="4110228"/>
            <a:ext cx="347472" cy="132588"/>
          </a:xfrm>
          <a:prstGeom prst="rect">
            <a:avLst/>
          </a:prstGeom>
          <a:solidFill>
            <a:srgbClr val="9CA3AF"/>
          </a:solidFill>
          <a:ln w="12700">
            <a:solidFill>
              <a:srgbClr val="9CA3AF"/>
            </a:solidFill>
            <a:prstDash val="solid"/>
          </a:ln>
        </p:spPr>
      </p:sp>
      <p:sp>
        <p:nvSpPr>
          <p:cNvPr id="50" name="Text 48"/>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1" name="Text 49"/>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04-09</a:t>
            </a:r>
            <a:endParaRPr lang="en-US" sz="700" dirty="0"/>
          </a:p>
        </p:txBody>
      </p:sp>
      <p:sp>
        <p:nvSpPr>
          <p:cNvPr id="52" name="Text 50"/>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53" name="Text 51"/>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Thanh Nien - Kinh te</a:t>
            </a:r>
            <a:endParaRPr lang="en-US" sz="750" dirty="0"/>
          </a:p>
        </p:txBody>
      </p:sp>
      <p:sp>
        <p:nvSpPr>
          <p:cNvPr id="54" name="Shape 52"/>
          <p:cNvSpPr/>
          <p:nvPr/>
        </p:nvSpPr>
        <p:spPr>
          <a:xfrm>
            <a:off x="320040" y="4274820"/>
            <a:ext cx="8503920" cy="196596"/>
          </a:xfrm>
          <a:prstGeom prst="rect">
            <a:avLst/>
          </a:prstGeom>
          <a:solidFill>
            <a:srgbClr val="FFFFFF"/>
          </a:solidFill>
          <a:ln w="12700">
            <a:solidFill>
              <a:srgbClr val="E5E7EB"/>
            </a:solidFill>
            <a:prstDash val="solid"/>
          </a:ln>
        </p:spPr>
      </p:sp>
      <p:sp>
        <p:nvSpPr>
          <p:cNvPr id="55" name="Shape 53"/>
          <p:cNvSpPr/>
          <p:nvPr/>
        </p:nvSpPr>
        <p:spPr>
          <a:xfrm>
            <a:off x="338328" y="4306824"/>
            <a:ext cx="347472" cy="132588"/>
          </a:xfrm>
          <a:prstGeom prst="rect">
            <a:avLst/>
          </a:prstGeom>
          <a:solidFill>
            <a:srgbClr val="9CA3AF"/>
          </a:solidFill>
          <a:ln w="12700">
            <a:solidFill>
              <a:srgbClr val="9CA3AF"/>
            </a:solidFill>
            <a:prstDash val="solid"/>
          </a:ln>
        </p:spPr>
      </p:sp>
      <p:sp>
        <p:nvSpPr>
          <p:cNvPr id="56" name="Text 54"/>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7" name="Text 55"/>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04-13</a:t>
            </a:r>
            <a:endParaRPr lang="en-US" sz="700" dirty="0"/>
          </a:p>
        </p:txBody>
      </p:sp>
      <p:sp>
        <p:nvSpPr>
          <p:cNvPr id="58" name="Text 56"/>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Dan Tri - K…</a:t>
            </a:r>
            <a:endParaRPr lang="en-US" sz="700" dirty="0"/>
          </a:p>
        </p:txBody>
      </p:sp>
      <p:sp>
        <p:nvSpPr>
          <p:cNvPr id="59" name="Text 57"/>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베트남은 자체 축전지를 생산해 전력망 '구출'에 기여</a:t>
            </a:r>
            <a:endParaRPr lang="en-US" sz="750" dirty="0"/>
          </a:p>
        </p:txBody>
      </p:sp>
      <p:sp>
        <p:nvSpPr>
          <p:cNvPr id="60" name="Shape 58"/>
          <p:cNvSpPr/>
          <p:nvPr/>
        </p:nvSpPr>
        <p:spPr>
          <a:xfrm>
            <a:off x="320040" y="4471416"/>
            <a:ext cx="8503920" cy="196596"/>
          </a:xfrm>
          <a:prstGeom prst="rect">
            <a:avLst/>
          </a:prstGeom>
          <a:solidFill>
            <a:srgbClr val="FFFFFF"/>
          </a:solidFill>
          <a:ln w="12700">
            <a:solidFill>
              <a:srgbClr val="E5E7EB"/>
            </a:solidFill>
            <a:prstDash val="solid"/>
          </a:ln>
        </p:spPr>
      </p:sp>
      <p:sp>
        <p:nvSpPr>
          <p:cNvPr id="61" name="Shape 59"/>
          <p:cNvSpPr/>
          <p:nvPr/>
        </p:nvSpPr>
        <p:spPr>
          <a:xfrm>
            <a:off x="338328" y="4503420"/>
            <a:ext cx="347472" cy="132588"/>
          </a:xfrm>
          <a:prstGeom prst="rect">
            <a:avLst/>
          </a:prstGeom>
          <a:solidFill>
            <a:srgbClr val="9CA3AF"/>
          </a:solidFill>
          <a:ln w="12700">
            <a:solidFill>
              <a:srgbClr val="9CA3AF"/>
            </a:solidFill>
            <a:prstDash val="solid"/>
          </a:ln>
        </p:spPr>
      </p:sp>
      <p:sp>
        <p:nvSpPr>
          <p:cNvPr id="62" name="Text 60"/>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3" name="Text 61"/>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04-13</a:t>
            </a:r>
            <a:endParaRPr lang="en-US" sz="700" dirty="0"/>
          </a:p>
        </p:txBody>
      </p:sp>
      <p:sp>
        <p:nvSpPr>
          <p:cNvPr id="64" name="Text 62"/>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65" name="Text 63"/>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Dan Tri - Kinh doanh</a:t>
            </a:r>
            <a:endParaRPr lang="en-US" sz="750" dirty="0"/>
          </a:p>
        </p:txBody>
      </p:sp>
      <p:sp>
        <p:nvSpPr>
          <p:cNvPr id="66" name="Shape 64"/>
          <p:cNvSpPr/>
          <p:nvPr/>
        </p:nvSpPr>
        <p:spPr>
          <a:xfrm>
            <a:off x="0" y="4942332"/>
            <a:ext cx="9144000" cy="201168"/>
          </a:xfrm>
          <a:prstGeom prst="rect">
            <a:avLst/>
          </a:prstGeom>
          <a:solidFill>
            <a:srgbClr val="0C2340"/>
          </a:solidFill>
          <a:ln w="12700">
            <a:solidFill>
              <a:srgbClr val="0C2340"/>
            </a:solidFill>
            <a:prstDash val="solid"/>
          </a:ln>
        </p:spPr>
      </p:sp>
      <p:sp>
        <p:nvSpPr>
          <p:cNvPr id="67" name="Text 6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68" name="Text 6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VN-PWR-PDP8-GRID  |</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VN-PWR-PDP8-NUCLEAR</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PDP8 원전 재개</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5건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9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VN-PWR-PDP8-NUCLEAR 관련 신규 기사가 수집되지 않았습니다.</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0건  +  기존 5건)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FFF"/>
          </a:solidFill>
          <a:ln w="12700">
            <a:solidFill>
              <a:srgbClr val="E5E7EB"/>
            </a:solidFill>
            <a:prstDash val="solid"/>
          </a:ln>
        </p:spPr>
      </p:sp>
      <p:sp>
        <p:nvSpPr>
          <p:cNvPr id="25" name="Shape 23"/>
          <p:cNvSpPr/>
          <p:nvPr/>
        </p:nvSpPr>
        <p:spPr>
          <a:xfrm>
            <a:off x="338328" y="3323844"/>
            <a:ext cx="347472" cy="132588"/>
          </a:xfrm>
          <a:prstGeom prst="rect">
            <a:avLst/>
          </a:prstGeom>
          <a:solidFill>
            <a:srgbClr val="9CA3AF"/>
          </a:solidFill>
          <a:ln w="12700">
            <a:solidFill>
              <a:srgbClr val="9CA3AF"/>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03-17</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Assystem Group과 원자력 분야 협력 논의</a:t>
            </a:r>
            <a:endParaRPr lang="en-US" sz="750" dirty="0"/>
          </a:p>
        </p:txBody>
      </p:sp>
      <p:sp>
        <p:nvSpPr>
          <p:cNvPr id="30" name="Shape 28"/>
          <p:cNvSpPr/>
          <p:nvPr/>
        </p:nvSpPr>
        <p:spPr>
          <a:xfrm>
            <a:off x="320040" y="3488436"/>
            <a:ext cx="8503920" cy="196596"/>
          </a:xfrm>
          <a:prstGeom prst="rect">
            <a:avLst/>
          </a:prstGeom>
          <a:solidFill>
            <a:srgbClr val="FFFFFF"/>
          </a:solidFill>
          <a:ln w="12700">
            <a:solidFill>
              <a:srgbClr val="E5E7EB"/>
            </a:solidFill>
            <a:prstDash val="solid"/>
          </a:ln>
        </p:spPr>
      </p:sp>
      <p:sp>
        <p:nvSpPr>
          <p:cNvPr id="31" name="Shape 29"/>
          <p:cNvSpPr/>
          <p:nvPr/>
        </p:nvSpPr>
        <p:spPr>
          <a:xfrm>
            <a:off x="338328" y="3520440"/>
            <a:ext cx="347472" cy="132588"/>
          </a:xfrm>
          <a:prstGeom prst="rect">
            <a:avLst/>
          </a:prstGeom>
          <a:solidFill>
            <a:srgbClr val="9CA3AF"/>
          </a:solidFill>
          <a:ln w="12700">
            <a:solidFill>
              <a:srgbClr val="9CA3AF"/>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03-17</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VietnamPlus - Kinh te</a:t>
            </a:r>
            <a:endParaRPr lang="en-US" sz="750" dirty="0"/>
          </a:p>
        </p:txBody>
      </p:sp>
      <p:sp>
        <p:nvSpPr>
          <p:cNvPr id="36" name="Shape 34"/>
          <p:cNvSpPr/>
          <p:nvPr/>
        </p:nvSpPr>
        <p:spPr>
          <a:xfrm>
            <a:off x="320040" y="3685032"/>
            <a:ext cx="8503920" cy="196596"/>
          </a:xfrm>
          <a:prstGeom prst="rect">
            <a:avLst/>
          </a:prstGeom>
          <a:solidFill>
            <a:srgbClr val="FFFFFF"/>
          </a:solidFill>
          <a:ln w="12700">
            <a:solidFill>
              <a:srgbClr val="E5E7EB"/>
            </a:solidFill>
            <a:prstDash val="solid"/>
          </a:ln>
        </p:spPr>
      </p:sp>
      <p:sp>
        <p:nvSpPr>
          <p:cNvPr id="37" name="Shape 35"/>
          <p:cNvSpPr/>
          <p:nvPr/>
        </p:nvSpPr>
        <p:spPr>
          <a:xfrm>
            <a:off x="338328" y="3717036"/>
            <a:ext cx="347472" cy="132588"/>
          </a:xfrm>
          <a:prstGeom prst="rect">
            <a:avLst/>
          </a:prstGeom>
          <a:solidFill>
            <a:srgbClr val="9CA3AF"/>
          </a:solidFill>
          <a:ln w="12700">
            <a:solidFill>
              <a:srgbClr val="9CA3AF"/>
            </a:solidFill>
            <a:prstDash val="solid"/>
          </a:ln>
        </p:spPr>
      </p:sp>
      <p:sp>
        <p:nvSpPr>
          <p:cNvPr id="38" name="Text 36"/>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9" name="Text 37"/>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03-28</a:t>
            </a:r>
            <a:endParaRPr lang="en-US" sz="700" dirty="0"/>
          </a:p>
        </p:txBody>
      </p:sp>
      <p:sp>
        <p:nvSpPr>
          <p:cNvPr id="40" name="Text 38"/>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41" name="Text 39"/>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원전 건설 계약으로 인한 긍정적 영향</a:t>
            </a:r>
            <a:endParaRPr lang="en-US" sz="750" dirty="0"/>
          </a:p>
        </p:txBody>
      </p:sp>
      <p:sp>
        <p:nvSpPr>
          <p:cNvPr id="42" name="Shape 40"/>
          <p:cNvSpPr/>
          <p:nvPr/>
        </p:nvSpPr>
        <p:spPr>
          <a:xfrm>
            <a:off x="320040" y="3881628"/>
            <a:ext cx="8503920" cy="196596"/>
          </a:xfrm>
          <a:prstGeom prst="rect">
            <a:avLst/>
          </a:prstGeom>
          <a:solidFill>
            <a:srgbClr val="FFFFFF"/>
          </a:solidFill>
          <a:ln w="12700">
            <a:solidFill>
              <a:srgbClr val="E5E7EB"/>
            </a:solidFill>
            <a:prstDash val="solid"/>
          </a:ln>
        </p:spPr>
      </p:sp>
      <p:sp>
        <p:nvSpPr>
          <p:cNvPr id="43" name="Shape 41"/>
          <p:cNvSpPr/>
          <p:nvPr/>
        </p:nvSpPr>
        <p:spPr>
          <a:xfrm>
            <a:off x="338328" y="3913632"/>
            <a:ext cx="347472" cy="132588"/>
          </a:xfrm>
          <a:prstGeom prst="rect">
            <a:avLst/>
          </a:prstGeom>
          <a:solidFill>
            <a:srgbClr val="9CA3AF"/>
          </a:solidFill>
          <a:ln w="12700">
            <a:solidFill>
              <a:srgbClr val="9CA3AF"/>
            </a:solidFill>
            <a:prstDash val="solid"/>
          </a:ln>
        </p:spPr>
      </p:sp>
      <p:sp>
        <p:nvSpPr>
          <p:cNvPr id="44" name="Text 42"/>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5" name="Text 43"/>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03-28</a:t>
            </a:r>
            <a:endParaRPr lang="en-US" sz="700" dirty="0"/>
          </a:p>
        </p:txBody>
      </p:sp>
      <p:sp>
        <p:nvSpPr>
          <p:cNvPr id="46" name="Text 44"/>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Khanh Hoa</a:t>
            </a:r>
            <a:endParaRPr lang="en-US" sz="700" dirty="0"/>
          </a:p>
        </p:txBody>
      </p:sp>
      <p:sp>
        <p:nvSpPr>
          <p:cNvPr id="47" name="Text 45"/>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VietnamPlus - Kinh te</a:t>
            </a:r>
            <a:endParaRPr lang="en-US" sz="750" dirty="0"/>
          </a:p>
        </p:txBody>
      </p:sp>
      <p:sp>
        <p:nvSpPr>
          <p:cNvPr id="48" name="Shape 46"/>
          <p:cNvSpPr/>
          <p:nvPr/>
        </p:nvSpPr>
        <p:spPr>
          <a:xfrm>
            <a:off x="320040" y="4078224"/>
            <a:ext cx="8503920" cy="196596"/>
          </a:xfrm>
          <a:prstGeom prst="rect">
            <a:avLst/>
          </a:prstGeom>
          <a:solidFill>
            <a:srgbClr val="FFFFFF"/>
          </a:solidFill>
          <a:ln w="12700">
            <a:solidFill>
              <a:srgbClr val="E5E7EB"/>
            </a:solidFill>
            <a:prstDash val="solid"/>
          </a:ln>
        </p:spPr>
      </p:sp>
      <p:sp>
        <p:nvSpPr>
          <p:cNvPr id="49" name="Shape 47"/>
          <p:cNvSpPr/>
          <p:nvPr/>
        </p:nvSpPr>
        <p:spPr>
          <a:xfrm>
            <a:off x="338328" y="4110228"/>
            <a:ext cx="347472" cy="132588"/>
          </a:xfrm>
          <a:prstGeom prst="rect">
            <a:avLst/>
          </a:prstGeom>
          <a:solidFill>
            <a:srgbClr val="9CA3AF"/>
          </a:solidFill>
          <a:ln w="12700">
            <a:solidFill>
              <a:srgbClr val="9CA3AF"/>
            </a:solidFill>
            <a:prstDash val="solid"/>
          </a:ln>
        </p:spPr>
      </p:sp>
      <p:sp>
        <p:nvSpPr>
          <p:cNvPr id="50" name="Text 48"/>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1" name="Text 49"/>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04-25</a:t>
            </a:r>
            <a:endParaRPr lang="en-US" sz="700" dirty="0"/>
          </a:p>
        </p:txBody>
      </p:sp>
      <p:sp>
        <p:nvSpPr>
          <p:cNvPr id="52" name="Text 50"/>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vir_vn</a:t>
            </a:r>
            <a:endParaRPr lang="en-US" sz="700" dirty="0"/>
          </a:p>
        </p:txBody>
      </p:sp>
      <p:sp>
        <p:nvSpPr>
          <p:cNvPr id="53" name="Text 51"/>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한국과 베트남, 원자력 발전 협정 합의</a:t>
            </a:r>
            <a:endParaRPr lang="en-US" sz="750" dirty="0"/>
          </a:p>
        </p:txBody>
      </p:sp>
      <p:sp>
        <p:nvSpPr>
          <p:cNvPr id="54" name="Shape 52"/>
          <p:cNvSpPr/>
          <p:nvPr/>
        </p:nvSpPr>
        <p:spPr>
          <a:xfrm>
            <a:off x="0" y="4942332"/>
            <a:ext cx="9144000" cy="201168"/>
          </a:xfrm>
          <a:prstGeom prst="rect">
            <a:avLst/>
          </a:prstGeom>
          <a:solidFill>
            <a:srgbClr val="0C2340"/>
          </a:solidFill>
          <a:ln w="12700">
            <a:solidFill>
              <a:srgbClr val="0C2340"/>
            </a:solidFill>
            <a:prstDash val="solid"/>
          </a:ln>
        </p:spPr>
      </p:sp>
      <p:sp>
        <p:nvSpPr>
          <p:cNvPr id="55" name="Text 53"/>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56" name="Text 54"/>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VN-PWR-PDP8-NUCLEAR  |</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VN-PWR-PDP8-HYDROGEN</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PDP8 그린수소</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0건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10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VN-PWR-PDP8-HYDROGEN 관련 기사가 없습니다.</a:t>
            </a:r>
            <a:endParaRPr lang="en-US" sz="800" dirty="0"/>
          </a:p>
        </p:txBody>
      </p:sp>
      <p:sp>
        <p:nvSpPr>
          <p:cNvPr id="18" name="Shape 16"/>
          <p:cNvSpPr/>
          <p:nvPr/>
        </p:nvSpPr>
        <p:spPr>
          <a:xfrm>
            <a:off x="320040" y="3108960"/>
            <a:ext cx="8503920" cy="292608"/>
          </a:xfrm>
          <a:prstGeom prst="rect">
            <a:avLst/>
          </a:prstGeom>
          <a:solidFill>
            <a:srgbClr val="F3F4F6"/>
          </a:solidFill>
          <a:ln w="12700">
            <a:solidFill>
              <a:srgbClr val="D1D5DB"/>
            </a:solidFill>
            <a:prstDash val="solid"/>
          </a:ln>
        </p:spPr>
      </p:sp>
      <p:sp>
        <p:nvSpPr>
          <p:cNvPr id="19" name="Text 17"/>
          <p:cNvSpPr/>
          <p:nvPr/>
        </p:nvSpPr>
        <p:spPr>
          <a:xfrm>
            <a:off x="320040" y="3108960"/>
            <a:ext cx="8503920" cy="292608"/>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이번 주 수집된 기사 없음 — 기존 분석 및 KPI 현황 유지</a:t>
            </a:r>
            <a:endParaRPr lang="en-US" sz="850" dirty="0"/>
          </a:p>
        </p:txBody>
      </p:sp>
      <p:sp>
        <p:nvSpPr>
          <p:cNvPr id="20" name="Shape 18"/>
          <p:cNvSpPr/>
          <p:nvPr/>
        </p:nvSpPr>
        <p:spPr>
          <a:xfrm>
            <a:off x="0" y="4942332"/>
            <a:ext cx="9144000" cy="201168"/>
          </a:xfrm>
          <a:prstGeom prst="rect">
            <a:avLst/>
          </a:prstGeom>
          <a:solidFill>
            <a:srgbClr val="0C2340"/>
          </a:solidFill>
          <a:ln w="12700">
            <a:solidFill>
              <a:srgbClr val="0C2340"/>
            </a:solidFill>
            <a:prstDash val="solid"/>
          </a:ln>
        </p:spPr>
      </p:sp>
      <p:sp>
        <p:nvSpPr>
          <p:cNvPr id="21" name="Text 19"/>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22" name="Text 20"/>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VN-PWR-PDP8-HYDROGEN  |</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VN-OG-2030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석유가스 분야 전략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893/QĐ-TTg (2023)</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29건  |  ★신규 1건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11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FF9C4"/>
          </a:solidFill>
          <a:ln w="12700">
            <a:solidFill>
              <a:srgbClr val="F59E0B"/>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5" name="Shape 13"/>
          <p:cNvSpPr/>
          <p:nvPr/>
        </p:nvSpPr>
        <p:spPr>
          <a:xfrm>
            <a:off x="4325112" y="1353312"/>
            <a:ext cx="4498848" cy="12435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2435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**사업 진행단계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베트남 석유가스 분야는 ★**상류(탐사·생산) → 중류(정제·LNG) → 하류(유통·소비)**의 전 가치사슬 구축 단계에 진입했습니다.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히스토리를 보면 4월까지 **일본 Idemitsu의 원유 확보(4M배럴), PV GAS의 LNG 수취(6만톤), PVOIL·BSR의 바이오연료 협력, Dung Quat 정제센터 정책 추진** 등 상·중류 사업들이 구체화되고 …</a:t>
            </a:r>
            <a:endParaRPr lang="en-US" sz="800" dirty="0"/>
          </a:p>
        </p:txBody>
      </p:sp>
      <p:sp>
        <p:nvSpPr>
          <p:cNvPr id="18" name="Shape 16"/>
          <p:cNvSpPr/>
          <p:nvPr/>
        </p:nvSpPr>
        <p:spPr>
          <a:xfrm>
            <a:off x="4325112" y="2651760"/>
            <a:ext cx="4498848" cy="402336"/>
          </a:xfrm>
          <a:prstGeom prst="rect">
            <a:avLst/>
          </a:prstGeom>
          <a:solidFill>
            <a:srgbClr val="E8EEF4"/>
          </a:solidFill>
          <a:ln w="12700">
            <a:solidFill>
              <a:srgbClr val="0C2340"/>
            </a:solidFill>
            <a:prstDash val="solid"/>
          </a:ln>
        </p:spPr>
      </p:sp>
      <p:sp>
        <p:nvSpPr>
          <p:cNvPr id="19" name="Text 17"/>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0" name="Text 18"/>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국제유가 변동성 속에서 국내 정제·소비 기반 강화는 긍정 신호이나, **KPI 미공시로 인해 정량적 목표 달성도 추적 불가**한 상태입니다. Dung Quat 정제센터 완성도와 …</a:t>
            </a:r>
            <a:endParaRPr lang="en-US" sz="750" dirty="0"/>
          </a:p>
        </p:txBody>
      </p:sp>
      <p:sp>
        <p:nvSpPr>
          <p:cNvPr id="21" name="Text 19"/>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1건  +  기존 28건)</a:t>
            </a:r>
            <a:endParaRPr lang="en-US" sz="800" dirty="0"/>
          </a:p>
        </p:txBody>
      </p:sp>
      <p:sp>
        <p:nvSpPr>
          <p:cNvPr id="22" name="Shape 20"/>
          <p:cNvSpPr/>
          <p:nvPr/>
        </p:nvSpPr>
        <p:spPr>
          <a:xfrm>
            <a:off x="320040" y="3108960"/>
            <a:ext cx="8503920" cy="182880"/>
          </a:xfrm>
          <a:prstGeom prst="rect">
            <a:avLst/>
          </a:prstGeom>
          <a:solidFill>
            <a:srgbClr val="374151"/>
          </a:solidFill>
          <a:ln w="12700">
            <a:solidFill>
              <a:srgbClr val="374151"/>
            </a:solidFill>
            <a:prstDash val="solid"/>
          </a:ln>
        </p:spPr>
      </p:sp>
      <p:sp>
        <p:nvSpPr>
          <p:cNvPr id="23" name="Text 21"/>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4" name="Text 22"/>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5" name="Text 23"/>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6" name="Text 24"/>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7" name="Shape 25"/>
          <p:cNvSpPr/>
          <p:nvPr/>
        </p:nvSpPr>
        <p:spPr>
          <a:xfrm>
            <a:off x="320040" y="3291840"/>
            <a:ext cx="8503920" cy="196596"/>
          </a:xfrm>
          <a:prstGeom prst="rect">
            <a:avLst/>
          </a:prstGeom>
          <a:solidFill>
            <a:srgbClr val="FFF9C4"/>
          </a:solidFill>
          <a:ln w="12700">
            <a:solidFill>
              <a:srgbClr val="FCD34D"/>
            </a:solidFill>
            <a:prstDash val="solid"/>
          </a:ln>
        </p:spPr>
      </p:sp>
      <p:sp>
        <p:nvSpPr>
          <p:cNvPr id="28" name="Shape 26"/>
          <p:cNvSpPr/>
          <p:nvPr/>
        </p:nvSpPr>
        <p:spPr>
          <a:xfrm>
            <a:off x="338328" y="3323844"/>
            <a:ext cx="347472" cy="132588"/>
          </a:xfrm>
          <a:prstGeom prst="rect">
            <a:avLst/>
          </a:prstGeom>
          <a:solidFill>
            <a:srgbClr val="F59E0B"/>
          </a:solidFill>
          <a:ln w="12700">
            <a:solidFill>
              <a:srgbClr val="F59E0B"/>
            </a:solidFill>
            <a:prstDash val="solid"/>
          </a:ln>
        </p:spPr>
      </p:sp>
      <p:sp>
        <p:nvSpPr>
          <p:cNvPr id="29" name="Text 27"/>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0" name="Text 28"/>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05-07</a:t>
            </a:r>
            <a:endParaRPr lang="en-US" sz="700" dirty="0"/>
          </a:p>
        </p:txBody>
      </p:sp>
      <p:sp>
        <p:nvSpPr>
          <p:cNvPr id="31" name="Text 29"/>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32" name="Text 30"/>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휘발유 가격 인상</a:t>
            </a:r>
            <a:endParaRPr lang="en-US" sz="750" dirty="0"/>
          </a:p>
        </p:txBody>
      </p:sp>
      <p:sp>
        <p:nvSpPr>
          <p:cNvPr id="33" name="Shape 31"/>
          <p:cNvSpPr/>
          <p:nvPr/>
        </p:nvSpPr>
        <p:spPr>
          <a:xfrm>
            <a:off x="320040" y="3488436"/>
            <a:ext cx="8503920" cy="196596"/>
          </a:xfrm>
          <a:prstGeom prst="rect">
            <a:avLst/>
          </a:prstGeom>
          <a:solidFill>
            <a:srgbClr val="FFFFFF"/>
          </a:solidFill>
          <a:ln w="12700">
            <a:solidFill>
              <a:srgbClr val="E5E7EB"/>
            </a:solidFill>
            <a:prstDash val="solid"/>
          </a:ln>
        </p:spPr>
      </p:sp>
      <p:sp>
        <p:nvSpPr>
          <p:cNvPr id="34" name="Shape 32"/>
          <p:cNvSpPr/>
          <p:nvPr/>
        </p:nvSpPr>
        <p:spPr>
          <a:xfrm>
            <a:off x="338328" y="3520440"/>
            <a:ext cx="347472" cy="132588"/>
          </a:xfrm>
          <a:prstGeom prst="rect">
            <a:avLst/>
          </a:prstGeom>
          <a:solidFill>
            <a:srgbClr val="9CA3AF"/>
          </a:solidFill>
          <a:ln w="12700">
            <a:solidFill>
              <a:srgbClr val="9CA3AF"/>
            </a:solidFill>
            <a:prstDash val="solid"/>
          </a:ln>
        </p:spPr>
      </p:sp>
      <p:sp>
        <p:nvSpPr>
          <p:cNvPr id="35" name="Text 33"/>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6" name="Text 34"/>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03-03</a:t>
            </a:r>
            <a:endParaRPr lang="en-US" sz="700" dirty="0"/>
          </a:p>
        </p:txBody>
      </p:sp>
      <p:sp>
        <p:nvSpPr>
          <p:cNvPr id="37" name="Text 35"/>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38" name="Text 36"/>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글로벌 불안정 속에서 석유 거래에 대한 검사 강화</a:t>
            </a:r>
            <a:endParaRPr lang="en-US" sz="750" dirty="0"/>
          </a:p>
        </p:txBody>
      </p:sp>
      <p:sp>
        <p:nvSpPr>
          <p:cNvPr id="39" name="Shape 37"/>
          <p:cNvSpPr/>
          <p:nvPr/>
        </p:nvSpPr>
        <p:spPr>
          <a:xfrm>
            <a:off x="320040" y="3685032"/>
            <a:ext cx="8503920" cy="196596"/>
          </a:xfrm>
          <a:prstGeom prst="rect">
            <a:avLst/>
          </a:prstGeom>
          <a:solidFill>
            <a:srgbClr val="FFFFFF"/>
          </a:solidFill>
          <a:ln w="12700">
            <a:solidFill>
              <a:srgbClr val="E5E7EB"/>
            </a:solidFill>
            <a:prstDash val="solid"/>
          </a:ln>
        </p:spPr>
      </p:sp>
      <p:sp>
        <p:nvSpPr>
          <p:cNvPr id="40" name="Shape 38"/>
          <p:cNvSpPr/>
          <p:nvPr/>
        </p:nvSpPr>
        <p:spPr>
          <a:xfrm>
            <a:off x="338328" y="3717036"/>
            <a:ext cx="347472" cy="132588"/>
          </a:xfrm>
          <a:prstGeom prst="rect">
            <a:avLst/>
          </a:prstGeom>
          <a:solidFill>
            <a:srgbClr val="9CA3AF"/>
          </a:solidFill>
          <a:ln w="12700">
            <a:solidFill>
              <a:srgbClr val="9CA3AF"/>
            </a:solidFill>
            <a:prstDash val="solid"/>
          </a:ln>
        </p:spPr>
      </p:sp>
      <p:sp>
        <p:nvSpPr>
          <p:cNvPr id="41" name="Text 39"/>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2" name="Text 40"/>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03-03</a:t>
            </a:r>
            <a:endParaRPr lang="en-US" sz="700" dirty="0"/>
          </a:p>
        </p:txBody>
      </p:sp>
      <p:sp>
        <p:nvSpPr>
          <p:cNvPr id="43" name="Text 41"/>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VietnamNet …</a:t>
            </a:r>
            <a:endParaRPr lang="en-US" sz="700" dirty="0"/>
          </a:p>
        </p:txBody>
      </p:sp>
      <p:sp>
        <p:nvSpPr>
          <p:cNvPr id="44" name="Text 42"/>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다리 붕괴, 초대형 선박 미사일 피격, 베트남 액화가스 공급 중단</a:t>
            </a:r>
            <a:endParaRPr lang="en-US" sz="750" dirty="0"/>
          </a:p>
        </p:txBody>
      </p:sp>
      <p:sp>
        <p:nvSpPr>
          <p:cNvPr id="45" name="Shape 43"/>
          <p:cNvSpPr/>
          <p:nvPr/>
        </p:nvSpPr>
        <p:spPr>
          <a:xfrm>
            <a:off x="320040" y="3881628"/>
            <a:ext cx="8503920" cy="196596"/>
          </a:xfrm>
          <a:prstGeom prst="rect">
            <a:avLst/>
          </a:prstGeom>
          <a:solidFill>
            <a:srgbClr val="FFFFFF"/>
          </a:solidFill>
          <a:ln w="12700">
            <a:solidFill>
              <a:srgbClr val="E5E7EB"/>
            </a:solidFill>
            <a:prstDash val="solid"/>
          </a:ln>
        </p:spPr>
      </p:sp>
      <p:sp>
        <p:nvSpPr>
          <p:cNvPr id="46" name="Shape 44"/>
          <p:cNvSpPr/>
          <p:nvPr/>
        </p:nvSpPr>
        <p:spPr>
          <a:xfrm>
            <a:off x="338328" y="3913632"/>
            <a:ext cx="347472" cy="132588"/>
          </a:xfrm>
          <a:prstGeom prst="rect">
            <a:avLst/>
          </a:prstGeom>
          <a:solidFill>
            <a:srgbClr val="9CA3AF"/>
          </a:solidFill>
          <a:ln w="12700">
            <a:solidFill>
              <a:srgbClr val="9CA3AF"/>
            </a:solidFill>
            <a:prstDash val="solid"/>
          </a:ln>
        </p:spPr>
      </p:sp>
      <p:sp>
        <p:nvSpPr>
          <p:cNvPr id="47" name="Text 45"/>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8" name="Text 46"/>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03-03</a:t>
            </a:r>
            <a:endParaRPr lang="en-US" sz="700" dirty="0"/>
          </a:p>
        </p:txBody>
      </p:sp>
      <p:sp>
        <p:nvSpPr>
          <p:cNvPr id="49" name="Text 47"/>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50" name="Text 48"/>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VietnamNet - Kinh doanh</a:t>
            </a:r>
            <a:endParaRPr lang="en-US" sz="750" dirty="0"/>
          </a:p>
        </p:txBody>
      </p:sp>
      <p:sp>
        <p:nvSpPr>
          <p:cNvPr id="51" name="Shape 49"/>
          <p:cNvSpPr/>
          <p:nvPr/>
        </p:nvSpPr>
        <p:spPr>
          <a:xfrm>
            <a:off x="320040" y="4078224"/>
            <a:ext cx="8503920" cy="196596"/>
          </a:xfrm>
          <a:prstGeom prst="rect">
            <a:avLst/>
          </a:prstGeom>
          <a:solidFill>
            <a:srgbClr val="FFFFFF"/>
          </a:solidFill>
          <a:ln w="12700">
            <a:solidFill>
              <a:srgbClr val="E5E7EB"/>
            </a:solidFill>
            <a:prstDash val="solid"/>
          </a:ln>
        </p:spPr>
      </p:sp>
      <p:sp>
        <p:nvSpPr>
          <p:cNvPr id="52" name="Shape 50"/>
          <p:cNvSpPr/>
          <p:nvPr/>
        </p:nvSpPr>
        <p:spPr>
          <a:xfrm>
            <a:off x="338328" y="4110228"/>
            <a:ext cx="347472" cy="132588"/>
          </a:xfrm>
          <a:prstGeom prst="rect">
            <a:avLst/>
          </a:prstGeom>
          <a:solidFill>
            <a:srgbClr val="9CA3AF"/>
          </a:solidFill>
          <a:ln w="12700">
            <a:solidFill>
              <a:srgbClr val="9CA3AF"/>
            </a:solidFill>
            <a:prstDash val="solid"/>
          </a:ln>
        </p:spPr>
      </p:sp>
      <p:sp>
        <p:nvSpPr>
          <p:cNvPr id="53" name="Text 51"/>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4" name="Text 52"/>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03-04</a:t>
            </a:r>
            <a:endParaRPr lang="en-US" sz="700" dirty="0"/>
          </a:p>
        </p:txBody>
      </p:sp>
      <p:sp>
        <p:nvSpPr>
          <p:cNvPr id="55" name="Text 53"/>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Tuoi Tre - …</a:t>
            </a:r>
            <a:endParaRPr lang="en-US" sz="700" dirty="0"/>
          </a:p>
        </p:txBody>
      </p:sp>
      <p:sp>
        <p:nvSpPr>
          <p:cNvPr id="56" name="Text 54"/>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에너지 안보 위협을 우려한 페트로베트남은 국내 구매에 우선순위를 두고 원유…</a:t>
            </a:r>
            <a:endParaRPr lang="en-US" sz="750" dirty="0"/>
          </a:p>
        </p:txBody>
      </p:sp>
      <p:sp>
        <p:nvSpPr>
          <p:cNvPr id="57" name="Shape 55"/>
          <p:cNvSpPr/>
          <p:nvPr/>
        </p:nvSpPr>
        <p:spPr>
          <a:xfrm>
            <a:off x="320040" y="4274820"/>
            <a:ext cx="8503920" cy="196596"/>
          </a:xfrm>
          <a:prstGeom prst="rect">
            <a:avLst/>
          </a:prstGeom>
          <a:solidFill>
            <a:srgbClr val="FFFFFF"/>
          </a:solidFill>
          <a:ln w="12700">
            <a:solidFill>
              <a:srgbClr val="E5E7EB"/>
            </a:solidFill>
            <a:prstDash val="solid"/>
          </a:ln>
        </p:spPr>
      </p:sp>
      <p:sp>
        <p:nvSpPr>
          <p:cNvPr id="58" name="Shape 56"/>
          <p:cNvSpPr/>
          <p:nvPr/>
        </p:nvSpPr>
        <p:spPr>
          <a:xfrm>
            <a:off x="338328" y="4306824"/>
            <a:ext cx="347472" cy="132588"/>
          </a:xfrm>
          <a:prstGeom prst="rect">
            <a:avLst/>
          </a:prstGeom>
          <a:solidFill>
            <a:srgbClr val="9CA3AF"/>
          </a:solidFill>
          <a:ln w="12700">
            <a:solidFill>
              <a:srgbClr val="9CA3AF"/>
            </a:solidFill>
            <a:prstDash val="solid"/>
          </a:ln>
        </p:spPr>
      </p:sp>
      <p:sp>
        <p:nvSpPr>
          <p:cNvPr id="59" name="Text 57"/>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0" name="Text 58"/>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03-04</a:t>
            </a:r>
            <a:endParaRPr lang="en-US" sz="700" dirty="0"/>
          </a:p>
        </p:txBody>
      </p:sp>
      <p:sp>
        <p:nvSpPr>
          <p:cNvPr id="61" name="Text 59"/>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62" name="Text 60"/>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Tuoi Tre - Kinh doanh</a:t>
            </a:r>
            <a:endParaRPr lang="en-US" sz="750" dirty="0"/>
          </a:p>
        </p:txBody>
      </p:sp>
      <p:sp>
        <p:nvSpPr>
          <p:cNvPr id="63" name="Shape 61"/>
          <p:cNvSpPr/>
          <p:nvPr/>
        </p:nvSpPr>
        <p:spPr>
          <a:xfrm>
            <a:off x="320040" y="4471416"/>
            <a:ext cx="8503920" cy="196596"/>
          </a:xfrm>
          <a:prstGeom prst="rect">
            <a:avLst/>
          </a:prstGeom>
          <a:solidFill>
            <a:srgbClr val="FFFFFF"/>
          </a:solidFill>
          <a:ln w="12700">
            <a:solidFill>
              <a:srgbClr val="E5E7EB"/>
            </a:solidFill>
            <a:prstDash val="solid"/>
          </a:ln>
        </p:spPr>
      </p:sp>
      <p:sp>
        <p:nvSpPr>
          <p:cNvPr id="64" name="Shape 62"/>
          <p:cNvSpPr/>
          <p:nvPr/>
        </p:nvSpPr>
        <p:spPr>
          <a:xfrm>
            <a:off x="338328" y="4503420"/>
            <a:ext cx="347472" cy="132588"/>
          </a:xfrm>
          <a:prstGeom prst="rect">
            <a:avLst/>
          </a:prstGeom>
          <a:solidFill>
            <a:srgbClr val="9CA3AF"/>
          </a:solidFill>
          <a:ln w="12700">
            <a:solidFill>
              <a:srgbClr val="9CA3AF"/>
            </a:solidFill>
            <a:prstDash val="solid"/>
          </a:ln>
        </p:spPr>
      </p:sp>
      <p:sp>
        <p:nvSpPr>
          <p:cNvPr id="65" name="Text 63"/>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6" name="Text 64"/>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03-05</a:t>
            </a:r>
            <a:endParaRPr lang="en-US" sz="700" dirty="0"/>
          </a:p>
        </p:txBody>
      </p:sp>
      <p:sp>
        <p:nvSpPr>
          <p:cNvPr id="67" name="Text 65"/>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Tuoi Tre - …</a:t>
            </a:r>
            <a:endParaRPr lang="en-US" sz="700" dirty="0"/>
          </a:p>
        </p:txBody>
      </p:sp>
      <p:sp>
        <p:nvSpPr>
          <p:cNvPr id="68" name="Text 66"/>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세계 유가 상승 우려: 정유소용 원유 공급원 찾기</a:t>
            </a:r>
            <a:endParaRPr lang="en-US" sz="750" dirty="0"/>
          </a:p>
        </p:txBody>
      </p:sp>
      <p:sp>
        <p:nvSpPr>
          <p:cNvPr id="69" name="Shape 67"/>
          <p:cNvSpPr/>
          <p:nvPr/>
        </p:nvSpPr>
        <p:spPr>
          <a:xfrm>
            <a:off x="320040" y="4668012"/>
            <a:ext cx="8503920" cy="196596"/>
          </a:xfrm>
          <a:prstGeom prst="rect">
            <a:avLst/>
          </a:prstGeom>
          <a:solidFill>
            <a:srgbClr val="FFFFFF"/>
          </a:solidFill>
          <a:ln w="12700">
            <a:solidFill>
              <a:srgbClr val="E5E7EB"/>
            </a:solidFill>
            <a:prstDash val="solid"/>
          </a:ln>
        </p:spPr>
      </p:sp>
      <p:sp>
        <p:nvSpPr>
          <p:cNvPr id="70" name="Shape 68"/>
          <p:cNvSpPr/>
          <p:nvPr/>
        </p:nvSpPr>
        <p:spPr>
          <a:xfrm>
            <a:off x="338328" y="4700016"/>
            <a:ext cx="347472" cy="132588"/>
          </a:xfrm>
          <a:prstGeom prst="rect">
            <a:avLst/>
          </a:prstGeom>
          <a:solidFill>
            <a:srgbClr val="9CA3AF"/>
          </a:solidFill>
          <a:ln w="12700">
            <a:solidFill>
              <a:srgbClr val="9CA3AF"/>
            </a:solidFill>
            <a:prstDash val="solid"/>
          </a:ln>
        </p:spPr>
      </p:sp>
      <p:sp>
        <p:nvSpPr>
          <p:cNvPr id="71" name="Text 69"/>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72" name="Text 70"/>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03-05</a:t>
            </a:r>
            <a:endParaRPr lang="en-US" sz="700" dirty="0"/>
          </a:p>
        </p:txBody>
      </p:sp>
      <p:sp>
        <p:nvSpPr>
          <p:cNvPr id="73" name="Text 71"/>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74" name="Text 72"/>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Tuoi Tre - Kinh doanh</a:t>
            </a:r>
            <a:endParaRPr lang="en-US" sz="750" dirty="0"/>
          </a:p>
        </p:txBody>
      </p:sp>
      <p:sp>
        <p:nvSpPr>
          <p:cNvPr id="75" name="Text 73"/>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6" name="Shape 74"/>
          <p:cNvSpPr/>
          <p:nvPr/>
        </p:nvSpPr>
        <p:spPr>
          <a:xfrm>
            <a:off x="0" y="4942332"/>
            <a:ext cx="9144000" cy="201168"/>
          </a:xfrm>
          <a:prstGeom prst="rect">
            <a:avLst/>
          </a:prstGeom>
          <a:solidFill>
            <a:srgbClr val="0C2340"/>
          </a:solidFill>
          <a:ln w="12700">
            <a:solidFill>
              <a:srgbClr val="0C2340"/>
            </a:solidFill>
            <a:prstDash val="solid"/>
          </a:ln>
        </p:spPr>
      </p:sp>
      <p:sp>
        <p:nvSpPr>
          <p:cNvPr id="77" name="Text 7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8" name="Text 7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VN-OG-2030  |</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VN-WW-2030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국가 하수처리 프로그램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1085/QĐ-TTg (2016) + QCVN 14:2008</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3건  |  ★신규 1건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12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617220" cy="82296"/>
          </a:xfrm>
          <a:prstGeom prst="rect">
            <a:avLst/>
          </a:prstGeom>
          <a:solidFill>
            <a:srgbClr val="1B4F8A"/>
          </a:solidFill>
          <a:ln w="12700">
            <a:solidFill>
              <a:srgbClr val="1B4F8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1B4F8A"/>
                </a:solidFill>
                <a:latin typeface="Calibri" pitchFamily="34" charset="0"/>
                <a:ea typeface="Calibri" pitchFamily="34" charset="-122"/>
                <a:cs typeface="Calibri" pitchFamily="34" charset="-120"/>
              </a:rPr>
              <a:t>계획·승인</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2435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2435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**현황:** 이번 주 신규 기사가 수집되지 않았으며, 기존 히스토리는 2026년 4월 하노이 배수시스템 프로젝트 시행 1건만 존재합니다.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**진행단계 평가:** 마스터플랜 수립(2016년 Decision 1085) 이후 약 10년간 **구성 및 초기 시행 단계**로 평가되나, KPI 목표 누락으로 정량적 달성도 산정 불가입니다. ★ **기사 부재로 최근 3개월간 사업 모멘텀 파악 불가…</a:t>
            </a:r>
            <a:endParaRPr lang="en-US" sz="800" dirty="0"/>
          </a:p>
        </p:txBody>
      </p:sp>
      <p:sp>
        <p:nvSpPr>
          <p:cNvPr id="19" name="Shape 17"/>
          <p:cNvSpPr/>
          <p:nvPr/>
        </p:nvSpPr>
        <p:spPr>
          <a:xfrm>
            <a:off x="4325112" y="2651760"/>
            <a:ext cx="4498848" cy="402336"/>
          </a:xfrm>
          <a:prstGeom prst="rect">
            <a:avLst/>
          </a:prstGeom>
          <a:solidFill>
            <a:srgbClr val="E8EEF4"/>
          </a:solidFill>
          <a:ln w="12700">
            <a:solidFill>
              <a:srgbClr val="0C2340"/>
            </a:solidFill>
            <a:prstDash val="solid"/>
          </a:ln>
        </p:spPr>
      </p:sp>
      <p:sp>
        <p:nvSpPr>
          <p:cNvPr id="20" name="Text 18"/>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1" name="Text 19"/>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KPI 목표 부재와 기사 단절이 사업 추적성을 심각히 제약합니다. 투자자는 **공식 부처(건설교통부) 진도율 공시**, 자금 배분 현황, 지역별 착공 일정을 직접 확인**할 필요…</a:t>
            </a:r>
            <a:endParaRPr lang="en-US" sz="750" dirty="0"/>
          </a:p>
        </p:txBody>
      </p:sp>
      <p:sp>
        <p:nvSpPr>
          <p:cNvPr id="22" name="Text 20"/>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1건  +  기존 2건)</a:t>
            </a:r>
            <a:endParaRPr lang="en-US" sz="800" dirty="0"/>
          </a:p>
        </p:txBody>
      </p:sp>
      <p:sp>
        <p:nvSpPr>
          <p:cNvPr id="23" name="Shape 21"/>
          <p:cNvSpPr/>
          <p:nvPr/>
        </p:nvSpPr>
        <p:spPr>
          <a:xfrm>
            <a:off x="320040" y="3108960"/>
            <a:ext cx="8503920" cy="182880"/>
          </a:xfrm>
          <a:prstGeom prst="rect">
            <a:avLst/>
          </a:prstGeom>
          <a:solidFill>
            <a:srgbClr val="374151"/>
          </a:solidFill>
          <a:ln w="12700">
            <a:solidFill>
              <a:srgbClr val="374151"/>
            </a:solidFill>
            <a:prstDash val="solid"/>
          </a:ln>
        </p:spPr>
      </p:sp>
      <p:sp>
        <p:nvSpPr>
          <p:cNvPr id="24" name="Text 22"/>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5" name="Text 23"/>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6" name="Text 24"/>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7" name="Text 25"/>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8" name="Shape 26"/>
          <p:cNvSpPr/>
          <p:nvPr/>
        </p:nvSpPr>
        <p:spPr>
          <a:xfrm>
            <a:off x="320040" y="3291840"/>
            <a:ext cx="8503920" cy="196596"/>
          </a:xfrm>
          <a:prstGeom prst="rect">
            <a:avLst/>
          </a:prstGeom>
          <a:solidFill>
            <a:srgbClr val="FFF9C4"/>
          </a:solidFill>
          <a:ln w="12700">
            <a:solidFill>
              <a:srgbClr val="FCD34D"/>
            </a:solidFill>
            <a:prstDash val="solid"/>
          </a:ln>
        </p:spPr>
      </p:sp>
      <p:sp>
        <p:nvSpPr>
          <p:cNvPr id="29" name="Shape 27"/>
          <p:cNvSpPr/>
          <p:nvPr/>
        </p:nvSpPr>
        <p:spPr>
          <a:xfrm>
            <a:off x="338328" y="3323844"/>
            <a:ext cx="347472" cy="132588"/>
          </a:xfrm>
          <a:prstGeom prst="rect">
            <a:avLst/>
          </a:prstGeom>
          <a:solidFill>
            <a:srgbClr val="F59E0B"/>
          </a:solidFill>
          <a:ln w="12700">
            <a:solidFill>
              <a:srgbClr val="F59E0B"/>
            </a:solidFill>
            <a:prstDash val="solid"/>
          </a:ln>
        </p:spPr>
      </p:sp>
      <p:sp>
        <p:nvSpPr>
          <p:cNvPr id="30" name="Text 28"/>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1" name="Text 29"/>
          <p:cNvSpPr/>
          <p:nvPr/>
        </p:nvSpPr>
        <p:spPr>
          <a:xfrm>
            <a:off x="704088" y="3291840"/>
            <a:ext cx="594360" cy="196596"/>
          </a:xfrm>
          <a:prstGeom prst="rect">
            <a:avLst/>
          </a:prstGeom>
          <a:noFill/>
          <a:ln/>
        </p:spPr>
        <p:txBody>
          <a:bodyPr wrap="square" lIns="0" tIns="0" rIns="0" bIns="0" rtlCol="0" anchor="ctr"/>
          <a:lstStyle/>
          <a:p>
            <a:pPr algn="ctr" indent="0" marL="0">
              <a:buNone/>
            </a:pPr>
            <a:endParaRPr lang="en-US" sz="700" dirty="0"/>
          </a:p>
        </p:txBody>
      </p:sp>
      <p:sp>
        <p:nvSpPr>
          <p:cNvPr id="32" name="Text 30"/>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None</a:t>
            </a:r>
            <a:endParaRPr lang="en-US" sz="700" dirty="0"/>
          </a:p>
        </p:txBody>
      </p:sp>
      <p:sp>
        <p:nvSpPr>
          <p:cNvPr id="33" name="Text 31"/>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None</a:t>
            </a:r>
            <a:endParaRPr lang="en-US" sz="750" dirty="0"/>
          </a:p>
        </p:txBody>
      </p:sp>
      <p:sp>
        <p:nvSpPr>
          <p:cNvPr id="34" name="Shape 32"/>
          <p:cNvSpPr/>
          <p:nvPr/>
        </p:nvSpPr>
        <p:spPr>
          <a:xfrm>
            <a:off x="320040" y="3488436"/>
            <a:ext cx="8503920" cy="196596"/>
          </a:xfrm>
          <a:prstGeom prst="rect">
            <a:avLst/>
          </a:prstGeom>
          <a:solidFill>
            <a:srgbClr val="FFFFFF"/>
          </a:solidFill>
          <a:ln w="12700">
            <a:solidFill>
              <a:srgbClr val="E5E7EB"/>
            </a:solidFill>
            <a:prstDash val="solid"/>
          </a:ln>
        </p:spPr>
      </p:sp>
      <p:sp>
        <p:nvSpPr>
          <p:cNvPr id="35" name="Shape 33"/>
          <p:cNvSpPr/>
          <p:nvPr/>
        </p:nvSpPr>
        <p:spPr>
          <a:xfrm>
            <a:off x="338328" y="3520440"/>
            <a:ext cx="347472" cy="132588"/>
          </a:xfrm>
          <a:prstGeom prst="rect">
            <a:avLst/>
          </a:prstGeom>
          <a:solidFill>
            <a:srgbClr val="9CA3AF"/>
          </a:solidFill>
          <a:ln w="12700">
            <a:solidFill>
              <a:srgbClr val="9CA3AF"/>
            </a:solidFill>
            <a:prstDash val="solid"/>
          </a:ln>
        </p:spPr>
      </p:sp>
      <p:sp>
        <p:nvSpPr>
          <p:cNvPr id="36" name="Text 34"/>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7" name="Text 35"/>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38" name="Text 36"/>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Xay Dung</a:t>
            </a:r>
            <a:endParaRPr lang="en-US" sz="700" dirty="0"/>
          </a:p>
        </p:txBody>
      </p:sp>
      <p:sp>
        <p:nvSpPr>
          <p:cNvPr id="39" name="Text 37"/>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1/4 CONSTRUCTION PRISM: 하노이는 일련의 배수 시스템 프…</a:t>
            </a:r>
            <a:endParaRPr lang="en-US" sz="750" dirty="0"/>
          </a:p>
        </p:txBody>
      </p:sp>
      <p:sp>
        <p:nvSpPr>
          <p:cNvPr id="40" name="Shape 38"/>
          <p:cNvSpPr/>
          <p:nvPr/>
        </p:nvSpPr>
        <p:spPr>
          <a:xfrm>
            <a:off x="320040" y="3685032"/>
            <a:ext cx="8503920" cy="196596"/>
          </a:xfrm>
          <a:prstGeom prst="rect">
            <a:avLst/>
          </a:prstGeom>
          <a:solidFill>
            <a:srgbClr val="FFFFFF"/>
          </a:solidFill>
          <a:ln w="12700">
            <a:solidFill>
              <a:srgbClr val="E5E7EB"/>
            </a:solidFill>
            <a:prstDash val="solid"/>
          </a:ln>
        </p:spPr>
      </p:sp>
      <p:sp>
        <p:nvSpPr>
          <p:cNvPr id="41" name="Shape 39"/>
          <p:cNvSpPr/>
          <p:nvPr/>
        </p:nvSpPr>
        <p:spPr>
          <a:xfrm>
            <a:off x="338328" y="3717036"/>
            <a:ext cx="347472" cy="132588"/>
          </a:xfrm>
          <a:prstGeom prst="rect">
            <a:avLst/>
          </a:prstGeom>
          <a:solidFill>
            <a:srgbClr val="9CA3AF"/>
          </a:solidFill>
          <a:ln w="12700">
            <a:solidFill>
              <a:srgbClr val="9CA3AF"/>
            </a:solidFill>
            <a:prstDash val="solid"/>
          </a:ln>
        </p:spPr>
      </p:sp>
      <p:sp>
        <p:nvSpPr>
          <p:cNvPr id="42" name="Text 40"/>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3" name="Text 41"/>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44" name="Text 42"/>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Hanoi</a:t>
            </a:r>
            <a:endParaRPr lang="en-US" sz="700" dirty="0"/>
          </a:p>
        </p:txBody>
      </p:sp>
      <p:sp>
        <p:nvSpPr>
          <p:cNvPr id="45" name="Text 43"/>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Bao Xay Dung</a:t>
            </a:r>
            <a:endParaRPr lang="en-US" sz="750" dirty="0"/>
          </a:p>
        </p:txBody>
      </p:sp>
      <p:sp>
        <p:nvSpPr>
          <p:cNvPr id="46" name="Shape 44"/>
          <p:cNvSpPr/>
          <p:nvPr/>
        </p:nvSpPr>
        <p:spPr>
          <a:xfrm>
            <a:off x="0" y="4942332"/>
            <a:ext cx="9144000" cy="201168"/>
          </a:xfrm>
          <a:prstGeom prst="rect">
            <a:avLst/>
          </a:prstGeom>
          <a:solidFill>
            <a:srgbClr val="0C2340"/>
          </a:solidFill>
          <a:ln w="12700">
            <a:solidFill>
              <a:srgbClr val="0C2340"/>
            </a:solidFill>
            <a:prstDash val="solid"/>
          </a:ln>
        </p:spPr>
      </p:sp>
      <p:sp>
        <p:nvSpPr>
          <p:cNvPr id="47" name="Text 4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48" name="Text 4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VN-WW-2030  |</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VN-WAT-RESOURCES</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수자원 개발 전략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1622/QĐ-TTg (2017)</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8건  |  ★신규 2건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13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617220" cy="82296"/>
          </a:xfrm>
          <a:prstGeom prst="rect">
            <a:avLst/>
          </a:prstGeom>
          <a:solidFill>
            <a:srgbClr val="1B4F8A"/>
          </a:solidFill>
          <a:ln w="12700">
            <a:solidFill>
              <a:srgbClr val="1B4F8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1B4F8A"/>
                </a:solidFill>
                <a:latin typeface="Calibri" pitchFamily="34" charset="0"/>
                <a:ea typeface="Calibri" pitchFamily="34" charset="-122"/>
                <a:cs typeface="Calibri" pitchFamily="34" charset="-120"/>
              </a:rPr>
              <a:t>계획·승인</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VN-WAT-RESOURCES 진행현황 분석 (2026년 5월)</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**진행단계 맥락:** 베트남 수자원 개발 전략이 **기후변동 대응 실행 단계**로 전환되고 있습니다. 히스토리의 지역별 가뭄·염분 대응(3월~4월)에서 이번 주는 ★**국가 차원의 통합 위기관리 체계 구축**으로 확대되는 추세를 보입니다.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수력발전소의 물 저장 긴급 확대와 환경부 주도의 …</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2건  +  기존 6건)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수력 발전은 El Nino 2026의 위험에 처하기 전에 물을 축적하기 위…</a:t>
            </a:r>
            <a:endParaRPr lang="en-US" sz="750" dirty="0"/>
          </a:p>
        </p:txBody>
      </p:sp>
      <p:sp>
        <p:nvSpPr>
          <p:cNvPr id="31" name="Shape 29"/>
          <p:cNvSpPr/>
          <p:nvPr/>
        </p:nvSpPr>
        <p:spPr>
          <a:xfrm>
            <a:off x="320040" y="3488436"/>
            <a:ext cx="8503920" cy="196596"/>
          </a:xfrm>
          <a:prstGeom prst="rect">
            <a:avLst/>
          </a:prstGeom>
          <a:solidFill>
            <a:srgbClr val="FFF9C4"/>
          </a:solidFill>
          <a:ln w="12700">
            <a:solidFill>
              <a:srgbClr val="FCD34D"/>
            </a:solidFill>
            <a:prstDash val="solid"/>
          </a:ln>
        </p:spPr>
      </p:sp>
      <p:sp>
        <p:nvSpPr>
          <p:cNvPr id="32" name="Shape 30"/>
          <p:cNvSpPr/>
          <p:nvPr/>
        </p:nvSpPr>
        <p:spPr>
          <a:xfrm>
            <a:off x="338328" y="3520440"/>
            <a:ext cx="347472" cy="132588"/>
          </a:xfrm>
          <a:prstGeom prst="rect">
            <a:avLst/>
          </a:prstGeom>
          <a:solidFill>
            <a:srgbClr val="F59E0B"/>
          </a:solidFill>
          <a:ln w="12700">
            <a:solidFill>
              <a:srgbClr val="F59E0B"/>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05-07</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'슈퍼 엘니노' 의 위험에 처한 아시아의 에너지 및 식량 안보</a:t>
            </a:r>
            <a:endParaRPr lang="en-US" sz="750" dirty="0"/>
          </a:p>
        </p:txBody>
      </p:sp>
      <p:sp>
        <p:nvSpPr>
          <p:cNvPr id="37" name="Shape 35"/>
          <p:cNvSpPr/>
          <p:nvPr/>
        </p:nvSpPr>
        <p:spPr>
          <a:xfrm>
            <a:off x="320040" y="3685032"/>
            <a:ext cx="8503920" cy="196596"/>
          </a:xfrm>
          <a:prstGeom prst="rect">
            <a:avLst/>
          </a:prstGeom>
          <a:solidFill>
            <a:srgbClr val="FFFFFF"/>
          </a:solidFill>
          <a:ln w="12700">
            <a:solidFill>
              <a:srgbClr val="E5E7EB"/>
            </a:solidFill>
            <a:prstDash val="solid"/>
          </a:ln>
        </p:spPr>
      </p:sp>
      <p:sp>
        <p:nvSpPr>
          <p:cNvPr id="38" name="Shape 36"/>
          <p:cNvSpPr/>
          <p:nvPr/>
        </p:nvSpPr>
        <p:spPr>
          <a:xfrm>
            <a:off x="338328" y="3717036"/>
            <a:ext cx="347472" cy="132588"/>
          </a:xfrm>
          <a:prstGeom prst="rect">
            <a:avLst/>
          </a:prstGeom>
          <a:solidFill>
            <a:srgbClr val="9CA3AF"/>
          </a:solidFill>
          <a:ln w="12700">
            <a:solidFill>
              <a:srgbClr val="9CA3AF"/>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03-22</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Nhandan - M…</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동탑성 해안 섬 코뮌은 가뭄과 염분에 적극적으로 대응합니다.</a:t>
            </a:r>
            <a:endParaRPr lang="en-US" sz="750" dirty="0"/>
          </a:p>
        </p:txBody>
      </p:sp>
      <p:sp>
        <p:nvSpPr>
          <p:cNvPr id="43" name="Shape 41"/>
          <p:cNvSpPr/>
          <p:nvPr/>
        </p:nvSpPr>
        <p:spPr>
          <a:xfrm>
            <a:off x="320040" y="3881628"/>
            <a:ext cx="8503920" cy="196596"/>
          </a:xfrm>
          <a:prstGeom prst="rect">
            <a:avLst/>
          </a:prstGeom>
          <a:solidFill>
            <a:srgbClr val="FFFFFF"/>
          </a:solidFill>
          <a:ln w="12700">
            <a:solidFill>
              <a:srgbClr val="E5E7EB"/>
            </a:solidFill>
            <a:prstDash val="solid"/>
          </a:ln>
        </p:spPr>
      </p:sp>
      <p:sp>
        <p:nvSpPr>
          <p:cNvPr id="44" name="Shape 42"/>
          <p:cNvSpPr/>
          <p:nvPr/>
        </p:nvSpPr>
        <p:spPr>
          <a:xfrm>
            <a:off x="338328" y="3913632"/>
            <a:ext cx="347472" cy="132588"/>
          </a:xfrm>
          <a:prstGeom prst="rect">
            <a:avLst/>
          </a:prstGeom>
          <a:solidFill>
            <a:srgbClr val="9CA3AF"/>
          </a:solidFill>
          <a:ln w="12700">
            <a:solidFill>
              <a:srgbClr val="9CA3AF"/>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03-22</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Dong Thap</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Nhandan - Moi truong</a:t>
            </a:r>
            <a:endParaRPr lang="en-US" sz="750" dirty="0"/>
          </a:p>
        </p:txBody>
      </p:sp>
      <p:sp>
        <p:nvSpPr>
          <p:cNvPr id="49" name="Shape 47"/>
          <p:cNvSpPr/>
          <p:nvPr/>
        </p:nvSpPr>
        <p:spPr>
          <a:xfrm>
            <a:off x="320040" y="4078224"/>
            <a:ext cx="8503920" cy="196596"/>
          </a:xfrm>
          <a:prstGeom prst="rect">
            <a:avLst/>
          </a:prstGeom>
          <a:solidFill>
            <a:srgbClr val="FFFFFF"/>
          </a:solidFill>
          <a:ln w="12700">
            <a:solidFill>
              <a:srgbClr val="E5E7EB"/>
            </a:solidFill>
            <a:prstDash val="solid"/>
          </a:ln>
        </p:spPr>
      </p:sp>
      <p:sp>
        <p:nvSpPr>
          <p:cNvPr id="50" name="Shape 48"/>
          <p:cNvSpPr/>
          <p:nvPr/>
        </p:nvSpPr>
        <p:spPr>
          <a:xfrm>
            <a:off x="338328" y="4110228"/>
            <a:ext cx="347472" cy="132588"/>
          </a:xfrm>
          <a:prstGeom prst="rect">
            <a:avLst/>
          </a:prstGeom>
          <a:solidFill>
            <a:srgbClr val="9CA3AF"/>
          </a:solidFill>
          <a:ln w="12700">
            <a:solidFill>
              <a:srgbClr val="9CA3AF"/>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03-30</a:t>
            </a: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Ha Tinh</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Nha Be 및 Long Cuong 배수 문제: 최적의 해결책은 무엇입니까?</a:t>
            </a:r>
            <a:endParaRPr lang="en-US" sz="750" dirty="0"/>
          </a:p>
        </p:txBody>
      </p:sp>
      <p:sp>
        <p:nvSpPr>
          <p:cNvPr id="55" name="Shape 53"/>
          <p:cNvSpPr/>
          <p:nvPr/>
        </p:nvSpPr>
        <p:spPr>
          <a:xfrm>
            <a:off x="320040" y="4274820"/>
            <a:ext cx="8503920" cy="196596"/>
          </a:xfrm>
          <a:prstGeom prst="rect">
            <a:avLst/>
          </a:prstGeom>
          <a:solidFill>
            <a:srgbClr val="FFFFFF"/>
          </a:solidFill>
          <a:ln w="12700">
            <a:solidFill>
              <a:srgbClr val="E5E7EB"/>
            </a:solidFill>
            <a:prstDash val="solid"/>
          </a:ln>
        </p:spPr>
      </p:sp>
      <p:sp>
        <p:nvSpPr>
          <p:cNvPr id="56" name="Shape 54"/>
          <p:cNvSpPr/>
          <p:nvPr/>
        </p:nvSpPr>
        <p:spPr>
          <a:xfrm>
            <a:off x="338328" y="4306824"/>
            <a:ext cx="347472" cy="132588"/>
          </a:xfrm>
          <a:prstGeom prst="rect">
            <a:avLst/>
          </a:prstGeom>
          <a:solidFill>
            <a:srgbClr val="9CA3AF"/>
          </a:solidFill>
          <a:ln w="12700">
            <a:solidFill>
              <a:srgbClr val="9CA3AF"/>
            </a:solidFill>
            <a:prstDash val="solid"/>
          </a:ln>
        </p:spPr>
      </p:sp>
      <p:sp>
        <p:nvSpPr>
          <p:cNvPr id="57" name="Text 55"/>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8" name="Text 56"/>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59" name="Text 57"/>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Binh Di…</a:t>
            </a:r>
            <a:endParaRPr lang="en-US" sz="700" dirty="0"/>
          </a:p>
        </p:txBody>
      </p:sp>
      <p:sp>
        <p:nvSpPr>
          <p:cNvPr id="60" name="Text 58"/>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내수 프로젝트 가속화</a:t>
            </a:r>
            <a:endParaRPr lang="en-US" sz="750" dirty="0"/>
          </a:p>
        </p:txBody>
      </p:sp>
      <p:sp>
        <p:nvSpPr>
          <p:cNvPr id="61" name="Shape 59"/>
          <p:cNvSpPr/>
          <p:nvPr/>
        </p:nvSpPr>
        <p:spPr>
          <a:xfrm>
            <a:off x="320040" y="4471416"/>
            <a:ext cx="8503920" cy="196596"/>
          </a:xfrm>
          <a:prstGeom prst="rect">
            <a:avLst/>
          </a:prstGeom>
          <a:solidFill>
            <a:srgbClr val="FFFFFF"/>
          </a:solidFill>
          <a:ln w="12700">
            <a:solidFill>
              <a:srgbClr val="E5E7EB"/>
            </a:solidFill>
            <a:prstDash val="solid"/>
          </a:ln>
        </p:spPr>
      </p:sp>
      <p:sp>
        <p:nvSpPr>
          <p:cNvPr id="62" name="Shape 60"/>
          <p:cNvSpPr/>
          <p:nvPr/>
        </p:nvSpPr>
        <p:spPr>
          <a:xfrm>
            <a:off x="338328" y="4503420"/>
            <a:ext cx="347472" cy="132588"/>
          </a:xfrm>
          <a:prstGeom prst="rect">
            <a:avLst/>
          </a:prstGeom>
          <a:solidFill>
            <a:srgbClr val="9CA3AF"/>
          </a:solidFill>
          <a:ln w="12700">
            <a:solidFill>
              <a:srgbClr val="9CA3AF"/>
            </a:solidFill>
            <a:prstDash val="solid"/>
          </a:ln>
        </p:spPr>
      </p:sp>
      <p:sp>
        <p:nvSpPr>
          <p:cNvPr id="63" name="Text 61"/>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4" name="Text 62"/>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04-03</a:t>
            </a:r>
            <a:endParaRPr lang="en-US" sz="700" dirty="0"/>
          </a:p>
        </p:txBody>
      </p:sp>
      <p:sp>
        <p:nvSpPr>
          <p:cNvPr id="65" name="Text 63"/>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a:t>
            </a:r>
            <a:endParaRPr lang="en-US" sz="700" dirty="0"/>
          </a:p>
        </p:txBody>
      </p:sp>
      <p:sp>
        <p:nvSpPr>
          <p:cNvPr id="66" name="Text 64"/>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None</a:t>
            </a:r>
            <a:endParaRPr lang="en-US" sz="750" dirty="0"/>
          </a:p>
        </p:txBody>
      </p:sp>
      <p:sp>
        <p:nvSpPr>
          <p:cNvPr id="67" name="Shape 65"/>
          <p:cNvSpPr/>
          <p:nvPr/>
        </p:nvSpPr>
        <p:spPr>
          <a:xfrm>
            <a:off x="320040" y="4668012"/>
            <a:ext cx="8503920" cy="196596"/>
          </a:xfrm>
          <a:prstGeom prst="rect">
            <a:avLst/>
          </a:prstGeom>
          <a:solidFill>
            <a:srgbClr val="FFFFFF"/>
          </a:solidFill>
          <a:ln w="12700">
            <a:solidFill>
              <a:srgbClr val="E5E7EB"/>
            </a:solidFill>
            <a:prstDash val="solid"/>
          </a:ln>
        </p:spPr>
      </p:sp>
      <p:sp>
        <p:nvSpPr>
          <p:cNvPr id="68" name="Shape 66"/>
          <p:cNvSpPr/>
          <p:nvPr/>
        </p:nvSpPr>
        <p:spPr>
          <a:xfrm>
            <a:off x="338328" y="4700016"/>
            <a:ext cx="347472" cy="132588"/>
          </a:xfrm>
          <a:prstGeom prst="rect">
            <a:avLst/>
          </a:prstGeom>
          <a:solidFill>
            <a:srgbClr val="9CA3AF"/>
          </a:solidFill>
          <a:ln w="12700">
            <a:solidFill>
              <a:srgbClr val="9CA3AF"/>
            </a:solidFill>
            <a:prstDash val="solid"/>
          </a:ln>
        </p:spPr>
      </p:sp>
      <p:sp>
        <p:nvSpPr>
          <p:cNvPr id="69" name="Text 67"/>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70" name="Text 68"/>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04-11</a:t>
            </a:r>
            <a:endParaRPr lang="en-US" sz="700" dirty="0"/>
          </a:p>
        </p:txBody>
      </p:sp>
      <p:sp>
        <p:nvSpPr>
          <p:cNvPr id="71" name="Text 69"/>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Binh Di…</a:t>
            </a:r>
            <a:endParaRPr lang="en-US" sz="700" dirty="0"/>
          </a:p>
        </p:txBody>
      </p:sp>
      <p:sp>
        <p:nvSpPr>
          <p:cNvPr id="72" name="Text 70"/>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지아라이 상하수도 주식회사 채용 공고</a:t>
            </a:r>
            <a:endParaRPr lang="en-US" sz="750" dirty="0"/>
          </a:p>
        </p:txBody>
      </p:sp>
      <p:sp>
        <p:nvSpPr>
          <p:cNvPr id="73" name="Shape 71"/>
          <p:cNvSpPr/>
          <p:nvPr/>
        </p:nvSpPr>
        <p:spPr>
          <a:xfrm>
            <a:off x="0" y="4942332"/>
            <a:ext cx="9144000" cy="201168"/>
          </a:xfrm>
          <a:prstGeom prst="rect">
            <a:avLst/>
          </a:prstGeom>
          <a:solidFill>
            <a:srgbClr val="0C2340"/>
          </a:solidFill>
          <a:ln w="12700">
            <a:solidFill>
              <a:srgbClr val="0C2340"/>
            </a:solidFill>
            <a:prstDash val="solid"/>
          </a:ln>
        </p:spPr>
      </p:sp>
      <p:sp>
        <p:nvSpPr>
          <p:cNvPr id="74" name="Text 72"/>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5" name="Text 73"/>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VN-WAT-RESOURCES  |</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VN-WAT-URBAN</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도시 배수·침수 방지 마스터플랜</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7건  |  ★신규 2건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14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2468880" cy="82296"/>
          </a:xfrm>
          <a:prstGeom prst="rect">
            <a:avLst/>
          </a:prstGeom>
          <a:solidFill>
            <a:srgbClr val="D4820A"/>
          </a:solidFill>
          <a:ln w="12700">
            <a:solidFill>
              <a:srgbClr val="D4820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D4820A"/>
                </a:solidFill>
                <a:latin typeface="Calibri" pitchFamily="34" charset="0"/>
                <a:ea typeface="Calibri" pitchFamily="34" charset="-122"/>
                <a:cs typeface="Calibri" pitchFamily="34" charset="-120"/>
              </a:rPr>
              <a:t>건설·시공</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2435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2435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**진행 단계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히스토리의 '내수 프로젝트 가속화(4월1일)', 'Nha Be·Long Cuong 배수 문제 논의(3월30일)'에 이어 신규 기사는 **도시·농촌 이원화된 실행 단계**임을 반영합니다. 나트랑 만 오염 악화(5월4일)는 기존 배수 인프라의 **현재적 한계**를 노출하며, 농촌조정중앙사무소와의 협력강화(5월8일)는 정책 차원의 **통합 거버넌스 구축**을 시작한 것으…</a:t>
            </a:r>
            <a:endParaRPr lang="en-US" sz="800" dirty="0"/>
          </a:p>
        </p:txBody>
      </p:sp>
      <p:sp>
        <p:nvSpPr>
          <p:cNvPr id="19" name="Shape 17"/>
          <p:cNvSpPr/>
          <p:nvPr/>
        </p:nvSpPr>
        <p:spPr>
          <a:xfrm>
            <a:off x="4325112" y="2651760"/>
            <a:ext cx="4498848" cy="402336"/>
          </a:xfrm>
          <a:prstGeom prst="rect">
            <a:avLst/>
          </a:prstGeom>
          <a:solidFill>
            <a:srgbClr val="E8EEF4"/>
          </a:solidFill>
          <a:ln w="12700">
            <a:solidFill>
              <a:srgbClr val="0C2340"/>
            </a:solidFill>
            <a:prstDash val="solid"/>
          </a:ln>
        </p:spPr>
      </p:sp>
      <p:sp>
        <p:nvSpPr>
          <p:cNvPr id="20" name="Text 18"/>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1" name="Text 19"/>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나트랑 오염 실태와 농촌-도시 통합 거버넌스 동시 추진은 **인프라 신규 투자 및 운영권 민간위탁 사업화의 타이밍**을 암시합니다. 규제 강화 국면에서 기술/운영 전문 사업자의 …</a:t>
            </a:r>
            <a:endParaRPr lang="en-US" sz="750" dirty="0"/>
          </a:p>
        </p:txBody>
      </p:sp>
      <p:sp>
        <p:nvSpPr>
          <p:cNvPr id="22" name="Text 20"/>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2건  +  기존 5건)</a:t>
            </a:r>
            <a:endParaRPr lang="en-US" sz="800" dirty="0"/>
          </a:p>
        </p:txBody>
      </p:sp>
      <p:sp>
        <p:nvSpPr>
          <p:cNvPr id="23" name="Shape 21"/>
          <p:cNvSpPr/>
          <p:nvPr/>
        </p:nvSpPr>
        <p:spPr>
          <a:xfrm>
            <a:off x="320040" y="3108960"/>
            <a:ext cx="8503920" cy="182880"/>
          </a:xfrm>
          <a:prstGeom prst="rect">
            <a:avLst/>
          </a:prstGeom>
          <a:solidFill>
            <a:srgbClr val="374151"/>
          </a:solidFill>
          <a:ln w="12700">
            <a:solidFill>
              <a:srgbClr val="374151"/>
            </a:solidFill>
            <a:prstDash val="solid"/>
          </a:ln>
        </p:spPr>
      </p:sp>
      <p:sp>
        <p:nvSpPr>
          <p:cNvPr id="24" name="Text 22"/>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5" name="Text 23"/>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6" name="Text 24"/>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7" name="Text 25"/>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8" name="Shape 26"/>
          <p:cNvSpPr/>
          <p:nvPr/>
        </p:nvSpPr>
        <p:spPr>
          <a:xfrm>
            <a:off x="320040" y="3291840"/>
            <a:ext cx="8503920" cy="196596"/>
          </a:xfrm>
          <a:prstGeom prst="rect">
            <a:avLst/>
          </a:prstGeom>
          <a:solidFill>
            <a:srgbClr val="FFF9C4"/>
          </a:solidFill>
          <a:ln w="12700">
            <a:solidFill>
              <a:srgbClr val="FCD34D"/>
            </a:solidFill>
            <a:prstDash val="solid"/>
          </a:ln>
        </p:spPr>
      </p:sp>
      <p:sp>
        <p:nvSpPr>
          <p:cNvPr id="29" name="Shape 27"/>
          <p:cNvSpPr/>
          <p:nvPr/>
        </p:nvSpPr>
        <p:spPr>
          <a:xfrm>
            <a:off x="338328" y="3323844"/>
            <a:ext cx="347472" cy="132588"/>
          </a:xfrm>
          <a:prstGeom prst="rect">
            <a:avLst/>
          </a:prstGeom>
          <a:solidFill>
            <a:srgbClr val="F59E0B"/>
          </a:solidFill>
          <a:ln w="12700">
            <a:solidFill>
              <a:srgbClr val="F59E0B"/>
            </a:solidFill>
            <a:prstDash val="solid"/>
          </a:ln>
        </p:spPr>
      </p:sp>
      <p:sp>
        <p:nvSpPr>
          <p:cNvPr id="30" name="Text 28"/>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1" name="Text 29"/>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32" name="Text 30"/>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3" name="Text 31"/>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폐수에 의해 "질식" 된 나트랑: 만 오염이 기준치를 초과하여 불법 배출 …</a:t>
            </a:r>
            <a:endParaRPr lang="en-US" sz="750" dirty="0"/>
          </a:p>
        </p:txBody>
      </p:sp>
      <p:sp>
        <p:nvSpPr>
          <p:cNvPr id="34" name="Shape 32"/>
          <p:cNvSpPr/>
          <p:nvPr/>
        </p:nvSpPr>
        <p:spPr>
          <a:xfrm>
            <a:off x="320040" y="3488436"/>
            <a:ext cx="8503920" cy="196596"/>
          </a:xfrm>
          <a:prstGeom prst="rect">
            <a:avLst/>
          </a:prstGeom>
          <a:solidFill>
            <a:srgbClr val="FFF9C4"/>
          </a:solidFill>
          <a:ln w="12700">
            <a:solidFill>
              <a:srgbClr val="FCD34D"/>
            </a:solidFill>
            <a:prstDash val="solid"/>
          </a:ln>
        </p:spPr>
      </p:sp>
      <p:sp>
        <p:nvSpPr>
          <p:cNvPr id="35" name="Shape 33"/>
          <p:cNvSpPr/>
          <p:nvPr/>
        </p:nvSpPr>
        <p:spPr>
          <a:xfrm>
            <a:off x="338328" y="3520440"/>
            <a:ext cx="347472" cy="132588"/>
          </a:xfrm>
          <a:prstGeom prst="rect">
            <a:avLst/>
          </a:prstGeom>
          <a:solidFill>
            <a:srgbClr val="F59E0B"/>
          </a:solidFill>
          <a:ln w="12700">
            <a:solidFill>
              <a:srgbClr val="F59E0B"/>
            </a:solidFill>
            <a:prstDash val="solid"/>
          </a:ln>
        </p:spPr>
      </p:sp>
      <p:sp>
        <p:nvSpPr>
          <p:cNvPr id="36" name="Text 34"/>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7" name="Text 35"/>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38" name="Text 36"/>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9" name="Text 37"/>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[VIDEO] 베트남 물환경협회, 새로운 농촌조정중앙사무소와 협력: 깨끗한…</a:t>
            </a:r>
            <a:endParaRPr lang="en-US" sz="750" dirty="0"/>
          </a:p>
        </p:txBody>
      </p:sp>
      <p:sp>
        <p:nvSpPr>
          <p:cNvPr id="40" name="Shape 38"/>
          <p:cNvSpPr/>
          <p:nvPr/>
        </p:nvSpPr>
        <p:spPr>
          <a:xfrm>
            <a:off x="320040" y="3685032"/>
            <a:ext cx="8503920" cy="196596"/>
          </a:xfrm>
          <a:prstGeom prst="rect">
            <a:avLst/>
          </a:prstGeom>
          <a:solidFill>
            <a:srgbClr val="FFFFFF"/>
          </a:solidFill>
          <a:ln w="12700">
            <a:solidFill>
              <a:srgbClr val="E5E7EB"/>
            </a:solidFill>
            <a:prstDash val="solid"/>
          </a:ln>
        </p:spPr>
      </p:sp>
      <p:sp>
        <p:nvSpPr>
          <p:cNvPr id="41" name="Shape 39"/>
          <p:cNvSpPr/>
          <p:nvPr/>
        </p:nvSpPr>
        <p:spPr>
          <a:xfrm>
            <a:off x="338328" y="3717036"/>
            <a:ext cx="347472" cy="132588"/>
          </a:xfrm>
          <a:prstGeom prst="rect">
            <a:avLst/>
          </a:prstGeom>
          <a:solidFill>
            <a:srgbClr val="9CA3AF"/>
          </a:solidFill>
          <a:ln w="12700">
            <a:solidFill>
              <a:srgbClr val="9CA3AF"/>
            </a:solidFill>
            <a:prstDash val="solid"/>
          </a:ln>
        </p:spPr>
      </p:sp>
      <p:sp>
        <p:nvSpPr>
          <p:cNvPr id="42" name="Text 40"/>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3" name="Text 41"/>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03-25</a:t>
            </a:r>
            <a:endParaRPr lang="en-US" sz="700" dirty="0"/>
          </a:p>
        </p:txBody>
      </p:sp>
      <p:sp>
        <p:nvSpPr>
          <p:cNvPr id="44" name="Text 42"/>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An Giang</a:t>
            </a:r>
            <a:endParaRPr lang="en-US" sz="700" dirty="0"/>
          </a:p>
        </p:txBody>
      </p:sp>
      <p:sp>
        <p:nvSpPr>
          <p:cNvPr id="45" name="Text 43"/>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Tuoi Tre - Kinh doanh</a:t>
            </a:r>
            <a:endParaRPr lang="en-US" sz="750" dirty="0"/>
          </a:p>
        </p:txBody>
      </p:sp>
      <p:sp>
        <p:nvSpPr>
          <p:cNvPr id="46" name="Shape 44"/>
          <p:cNvSpPr/>
          <p:nvPr/>
        </p:nvSpPr>
        <p:spPr>
          <a:xfrm>
            <a:off x="320040" y="3881628"/>
            <a:ext cx="8503920" cy="196596"/>
          </a:xfrm>
          <a:prstGeom prst="rect">
            <a:avLst/>
          </a:prstGeom>
          <a:solidFill>
            <a:srgbClr val="FFFFFF"/>
          </a:solidFill>
          <a:ln w="12700">
            <a:solidFill>
              <a:srgbClr val="E5E7EB"/>
            </a:solidFill>
            <a:prstDash val="solid"/>
          </a:ln>
        </p:spPr>
      </p:sp>
      <p:sp>
        <p:nvSpPr>
          <p:cNvPr id="47" name="Shape 45"/>
          <p:cNvSpPr/>
          <p:nvPr/>
        </p:nvSpPr>
        <p:spPr>
          <a:xfrm>
            <a:off x="338328" y="3913632"/>
            <a:ext cx="347472" cy="132588"/>
          </a:xfrm>
          <a:prstGeom prst="rect">
            <a:avLst/>
          </a:prstGeom>
          <a:solidFill>
            <a:srgbClr val="9CA3AF"/>
          </a:solidFill>
          <a:ln w="12700">
            <a:solidFill>
              <a:srgbClr val="9CA3AF"/>
            </a:solidFill>
            <a:prstDash val="solid"/>
          </a:ln>
        </p:spPr>
      </p:sp>
      <p:sp>
        <p:nvSpPr>
          <p:cNvPr id="48" name="Text 46"/>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9" name="Text 47"/>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03-30</a:t>
            </a:r>
            <a:endParaRPr lang="en-US" sz="700" dirty="0"/>
          </a:p>
        </p:txBody>
      </p:sp>
      <p:sp>
        <p:nvSpPr>
          <p:cNvPr id="50" name="Text 48"/>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Ha Tinh</a:t>
            </a:r>
            <a:endParaRPr lang="en-US" sz="700" dirty="0"/>
          </a:p>
        </p:txBody>
      </p:sp>
      <p:sp>
        <p:nvSpPr>
          <p:cNvPr id="51" name="Text 49"/>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Nha Be 및 Long Cuong 배수 문제: 최적의 해결책은 무엇입니까?</a:t>
            </a:r>
            <a:endParaRPr lang="en-US" sz="750" dirty="0"/>
          </a:p>
        </p:txBody>
      </p:sp>
      <p:sp>
        <p:nvSpPr>
          <p:cNvPr id="52" name="Shape 50"/>
          <p:cNvSpPr/>
          <p:nvPr/>
        </p:nvSpPr>
        <p:spPr>
          <a:xfrm>
            <a:off x="320040" y="4078224"/>
            <a:ext cx="8503920" cy="196596"/>
          </a:xfrm>
          <a:prstGeom prst="rect">
            <a:avLst/>
          </a:prstGeom>
          <a:solidFill>
            <a:srgbClr val="FFFFFF"/>
          </a:solidFill>
          <a:ln w="12700">
            <a:solidFill>
              <a:srgbClr val="E5E7EB"/>
            </a:solidFill>
            <a:prstDash val="solid"/>
          </a:ln>
        </p:spPr>
      </p:sp>
      <p:sp>
        <p:nvSpPr>
          <p:cNvPr id="53" name="Shape 51"/>
          <p:cNvSpPr/>
          <p:nvPr/>
        </p:nvSpPr>
        <p:spPr>
          <a:xfrm>
            <a:off x="338328" y="4110228"/>
            <a:ext cx="347472" cy="132588"/>
          </a:xfrm>
          <a:prstGeom prst="rect">
            <a:avLst/>
          </a:prstGeom>
          <a:solidFill>
            <a:srgbClr val="9CA3AF"/>
          </a:solidFill>
          <a:ln w="12700">
            <a:solidFill>
              <a:srgbClr val="9CA3AF"/>
            </a:solidFill>
            <a:prstDash val="solid"/>
          </a:ln>
        </p:spPr>
      </p:sp>
      <p:sp>
        <p:nvSpPr>
          <p:cNvPr id="54" name="Text 52"/>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5" name="Text 53"/>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56" name="Text 54"/>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Binh Di…</a:t>
            </a:r>
            <a:endParaRPr lang="en-US" sz="700" dirty="0"/>
          </a:p>
        </p:txBody>
      </p:sp>
      <p:sp>
        <p:nvSpPr>
          <p:cNvPr id="57" name="Text 55"/>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내수 프로젝트 가속화</a:t>
            </a:r>
            <a:endParaRPr lang="en-US" sz="750" dirty="0"/>
          </a:p>
        </p:txBody>
      </p:sp>
      <p:sp>
        <p:nvSpPr>
          <p:cNvPr id="58" name="Shape 56"/>
          <p:cNvSpPr/>
          <p:nvPr/>
        </p:nvSpPr>
        <p:spPr>
          <a:xfrm>
            <a:off x="320040" y="4274820"/>
            <a:ext cx="8503920" cy="196596"/>
          </a:xfrm>
          <a:prstGeom prst="rect">
            <a:avLst/>
          </a:prstGeom>
          <a:solidFill>
            <a:srgbClr val="FFFFFF"/>
          </a:solidFill>
          <a:ln w="12700">
            <a:solidFill>
              <a:srgbClr val="E5E7EB"/>
            </a:solidFill>
            <a:prstDash val="solid"/>
          </a:ln>
        </p:spPr>
      </p:sp>
      <p:sp>
        <p:nvSpPr>
          <p:cNvPr id="59" name="Shape 57"/>
          <p:cNvSpPr/>
          <p:nvPr/>
        </p:nvSpPr>
        <p:spPr>
          <a:xfrm>
            <a:off x="338328" y="4306824"/>
            <a:ext cx="347472" cy="132588"/>
          </a:xfrm>
          <a:prstGeom prst="rect">
            <a:avLst/>
          </a:prstGeom>
          <a:solidFill>
            <a:srgbClr val="9CA3AF"/>
          </a:solidFill>
          <a:ln w="12700">
            <a:solidFill>
              <a:srgbClr val="9CA3AF"/>
            </a:solidFill>
            <a:prstDash val="solid"/>
          </a:ln>
        </p:spPr>
      </p:sp>
      <p:sp>
        <p:nvSpPr>
          <p:cNvPr id="60" name="Text 58"/>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1" name="Text 59"/>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04-03</a:t>
            </a:r>
            <a:endParaRPr lang="en-US" sz="700" dirty="0"/>
          </a:p>
        </p:txBody>
      </p:sp>
      <p:sp>
        <p:nvSpPr>
          <p:cNvPr id="62" name="Text 60"/>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a:t>
            </a:r>
            <a:endParaRPr lang="en-US" sz="700" dirty="0"/>
          </a:p>
        </p:txBody>
      </p:sp>
      <p:sp>
        <p:nvSpPr>
          <p:cNvPr id="63" name="Text 61"/>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None</a:t>
            </a:r>
            <a:endParaRPr lang="en-US" sz="750" dirty="0"/>
          </a:p>
        </p:txBody>
      </p:sp>
      <p:sp>
        <p:nvSpPr>
          <p:cNvPr id="64" name="Shape 62"/>
          <p:cNvSpPr/>
          <p:nvPr/>
        </p:nvSpPr>
        <p:spPr>
          <a:xfrm>
            <a:off x="320040" y="4471416"/>
            <a:ext cx="8503920" cy="196596"/>
          </a:xfrm>
          <a:prstGeom prst="rect">
            <a:avLst/>
          </a:prstGeom>
          <a:solidFill>
            <a:srgbClr val="FFFFFF"/>
          </a:solidFill>
          <a:ln w="12700">
            <a:solidFill>
              <a:srgbClr val="E5E7EB"/>
            </a:solidFill>
            <a:prstDash val="solid"/>
          </a:ln>
        </p:spPr>
      </p:sp>
      <p:sp>
        <p:nvSpPr>
          <p:cNvPr id="65" name="Shape 63"/>
          <p:cNvSpPr/>
          <p:nvPr/>
        </p:nvSpPr>
        <p:spPr>
          <a:xfrm>
            <a:off x="338328" y="4503420"/>
            <a:ext cx="347472" cy="132588"/>
          </a:xfrm>
          <a:prstGeom prst="rect">
            <a:avLst/>
          </a:prstGeom>
          <a:solidFill>
            <a:srgbClr val="9CA3AF"/>
          </a:solidFill>
          <a:ln w="12700">
            <a:solidFill>
              <a:srgbClr val="9CA3AF"/>
            </a:solidFill>
            <a:prstDash val="solid"/>
          </a:ln>
        </p:spPr>
      </p:sp>
      <p:sp>
        <p:nvSpPr>
          <p:cNvPr id="66" name="Text 64"/>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7" name="Text 65"/>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04-11</a:t>
            </a:r>
            <a:endParaRPr lang="en-US" sz="700" dirty="0"/>
          </a:p>
        </p:txBody>
      </p:sp>
      <p:sp>
        <p:nvSpPr>
          <p:cNvPr id="68" name="Text 66"/>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Binh Di…</a:t>
            </a:r>
            <a:endParaRPr lang="en-US" sz="700" dirty="0"/>
          </a:p>
        </p:txBody>
      </p:sp>
      <p:sp>
        <p:nvSpPr>
          <p:cNvPr id="69" name="Text 67"/>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지아라이 상하수도 주식회사 채용 공고</a:t>
            </a:r>
            <a:endParaRPr lang="en-US" sz="750" dirty="0"/>
          </a:p>
        </p:txBody>
      </p:sp>
      <p:sp>
        <p:nvSpPr>
          <p:cNvPr id="70" name="Shape 68"/>
          <p:cNvSpPr/>
          <p:nvPr/>
        </p:nvSpPr>
        <p:spPr>
          <a:xfrm>
            <a:off x="0" y="4942332"/>
            <a:ext cx="9144000" cy="201168"/>
          </a:xfrm>
          <a:prstGeom prst="rect">
            <a:avLst/>
          </a:prstGeom>
          <a:solidFill>
            <a:srgbClr val="0C2340"/>
          </a:solidFill>
          <a:ln w="12700">
            <a:solidFill>
              <a:srgbClr val="0C2340"/>
            </a:solidFill>
            <a:prstDash val="solid"/>
          </a:ln>
        </p:spPr>
      </p:sp>
      <p:sp>
        <p:nvSpPr>
          <p:cNvPr id="71" name="Text 69"/>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2" name="Text 70"/>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VN-WAT-URBAN  |</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VN-SWM-NATIONAL-2030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국가 고형폐기물 관리 전략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491/QĐ-TTg (2018)</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6건  |  ★신규 2건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15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4114800" cy="82296"/>
          </a:xfrm>
          <a:prstGeom prst="rect">
            <a:avLst/>
          </a:prstGeom>
          <a:solidFill>
            <a:srgbClr val="0D6E6E"/>
          </a:solidFill>
          <a:ln w="12700">
            <a:solidFill>
              <a:srgbClr val="0D6E6E"/>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0D6E6E"/>
                </a:solidFill>
                <a:latin typeface="Calibri" pitchFamily="34" charset="0"/>
                <a:ea typeface="Calibri" pitchFamily="34" charset="-122"/>
                <a:cs typeface="Calibri" pitchFamily="34" charset="-120"/>
              </a:rPr>
              <a:t>운영·확장</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【VN-SWM-NATIONAL-2030】이번 주 진행현황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**사업 진행단계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베트남 국가 폐기물 관리 전략이 ★정책 수립 단계(2018~2024)에서 **현장 실행 단계(2025~)로 전환**되고 있습니다. 4월의 EPR(확대생산자책임) 메커니즘 도입, HCMC 자동계량 시스템 배치에 이어, 5월에는 **생산 단계 책임(배터리·전자기…</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2건  +  기존 4건)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포장, 배터리 및 전자 제품 재활용 책임</a:t>
            </a:r>
            <a:endParaRPr lang="en-US" sz="750" dirty="0"/>
          </a:p>
        </p:txBody>
      </p:sp>
      <p:sp>
        <p:nvSpPr>
          <p:cNvPr id="31" name="Shape 29"/>
          <p:cNvSpPr/>
          <p:nvPr/>
        </p:nvSpPr>
        <p:spPr>
          <a:xfrm>
            <a:off x="320040" y="3488436"/>
            <a:ext cx="8503920" cy="196596"/>
          </a:xfrm>
          <a:prstGeom prst="rect">
            <a:avLst/>
          </a:prstGeom>
          <a:solidFill>
            <a:srgbClr val="FFF9C4"/>
          </a:solidFill>
          <a:ln w="12700">
            <a:solidFill>
              <a:srgbClr val="FCD34D"/>
            </a:solidFill>
            <a:prstDash val="solid"/>
          </a:ln>
        </p:spPr>
      </p:sp>
      <p:sp>
        <p:nvSpPr>
          <p:cNvPr id="32" name="Shape 30"/>
          <p:cNvSpPr/>
          <p:nvPr/>
        </p:nvSpPr>
        <p:spPr>
          <a:xfrm>
            <a:off x="338328" y="3520440"/>
            <a:ext cx="347472" cy="132588"/>
          </a:xfrm>
          <a:prstGeom prst="rect">
            <a:avLst/>
          </a:prstGeom>
          <a:solidFill>
            <a:srgbClr val="F59E0B"/>
          </a:solidFill>
          <a:ln w="12700">
            <a:solidFill>
              <a:srgbClr val="F59E0B"/>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05-09</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None</a:t>
            </a:r>
            <a:endParaRPr lang="en-US" sz="750" dirty="0"/>
          </a:p>
        </p:txBody>
      </p:sp>
      <p:sp>
        <p:nvSpPr>
          <p:cNvPr id="37" name="Shape 35"/>
          <p:cNvSpPr/>
          <p:nvPr/>
        </p:nvSpPr>
        <p:spPr>
          <a:xfrm>
            <a:off x="320040" y="3685032"/>
            <a:ext cx="8503920" cy="196596"/>
          </a:xfrm>
          <a:prstGeom prst="rect">
            <a:avLst/>
          </a:prstGeom>
          <a:solidFill>
            <a:srgbClr val="FFFFFF"/>
          </a:solidFill>
          <a:ln w="12700">
            <a:solidFill>
              <a:srgbClr val="E5E7EB"/>
            </a:solidFill>
            <a:prstDash val="solid"/>
          </a:ln>
        </p:spPr>
      </p:sp>
      <p:sp>
        <p:nvSpPr>
          <p:cNvPr id="38" name="Shape 36"/>
          <p:cNvSpPr/>
          <p:nvPr/>
        </p:nvSpPr>
        <p:spPr>
          <a:xfrm>
            <a:off x="338328" y="3717036"/>
            <a:ext cx="347472" cy="132588"/>
          </a:xfrm>
          <a:prstGeom prst="rect">
            <a:avLst/>
          </a:prstGeom>
          <a:solidFill>
            <a:srgbClr val="9CA3AF"/>
          </a:solidFill>
          <a:ln w="12700">
            <a:solidFill>
              <a:srgbClr val="9CA3AF"/>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HCMC는 폐기물 처리 시설에 자동 계량 시스템을 배치합니다.</a:t>
            </a:r>
            <a:endParaRPr lang="en-US" sz="750" dirty="0"/>
          </a:p>
        </p:txBody>
      </p:sp>
      <p:sp>
        <p:nvSpPr>
          <p:cNvPr id="43" name="Shape 41"/>
          <p:cNvSpPr/>
          <p:nvPr/>
        </p:nvSpPr>
        <p:spPr>
          <a:xfrm>
            <a:off x="320040" y="3881628"/>
            <a:ext cx="8503920" cy="196596"/>
          </a:xfrm>
          <a:prstGeom prst="rect">
            <a:avLst/>
          </a:prstGeom>
          <a:solidFill>
            <a:srgbClr val="FFFFFF"/>
          </a:solidFill>
          <a:ln w="12700">
            <a:solidFill>
              <a:srgbClr val="E5E7EB"/>
            </a:solidFill>
            <a:prstDash val="solid"/>
          </a:ln>
        </p:spPr>
      </p:sp>
      <p:sp>
        <p:nvSpPr>
          <p:cNvPr id="44" name="Shape 42"/>
          <p:cNvSpPr/>
          <p:nvPr/>
        </p:nvSpPr>
        <p:spPr>
          <a:xfrm>
            <a:off x="338328" y="3913632"/>
            <a:ext cx="347472" cy="132588"/>
          </a:xfrm>
          <a:prstGeom prst="rect">
            <a:avLst/>
          </a:prstGeom>
          <a:solidFill>
            <a:srgbClr val="9CA3AF"/>
          </a:solidFill>
          <a:ln w="12700">
            <a:solidFill>
              <a:srgbClr val="9CA3AF"/>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04-01</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Ho Chi Minh…</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SGGP News English</a:t>
            </a:r>
            <a:endParaRPr lang="en-US" sz="750" dirty="0"/>
          </a:p>
        </p:txBody>
      </p:sp>
      <p:sp>
        <p:nvSpPr>
          <p:cNvPr id="49" name="Shape 47"/>
          <p:cNvSpPr/>
          <p:nvPr/>
        </p:nvSpPr>
        <p:spPr>
          <a:xfrm>
            <a:off x="320040" y="4078224"/>
            <a:ext cx="8503920" cy="196596"/>
          </a:xfrm>
          <a:prstGeom prst="rect">
            <a:avLst/>
          </a:prstGeom>
          <a:solidFill>
            <a:srgbClr val="FFFFFF"/>
          </a:solidFill>
          <a:ln w="12700">
            <a:solidFill>
              <a:srgbClr val="E5E7EB"/>
            </a:solidFill>
            <a:prstDash val="solid"/>
          </a:ln>
        </p:spPr>
      </p:sp>
      <p:sp>
        <p:nvSpPr>
          <p:cNvPr id="50" name="Shape 48"/>
          <p:cNvSpPr/>
          <p:nvPr/>
        </p:nvSpPr>
        <p:spPr>
          <a:xfrm>
            <a:off x="338328" y="4110228"/>
            <a:ext cx="347472" cy="132588"/>
          </a:xfrm>
          <a:prstGeom prst="rect">
            <a:avLst/>
          </a:prstGeom>
          <a:solidFill>
            <a:srgbClr val="9CA3AF"/>
          </a:solidFill>
          <a:ln w="12700">
            <a:solidFill>
              <a:srgbClr val="9CA3AF"/>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04-09</a:t>
            </a: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꽝찌: 심각한 오염을 초래한 장기화된 쓰레기 매립지 화재 사건을 철저히 처리</a:t>
            </a:r>
            <a:endParaRPr lang="en-US" sz="750" dirty="0"/>
          </a:p>
        </p:txBody>
      </p:sp>
      <p:sp>
        <p:nvSpPr>
          <p:cNvPr id="55" name="Shape 53"/>
          <p:cNvSpPr/>
          <p:nvPr/>
        </p:nvSpPr>
        <p:spPr>
          <a:xfrm>
            <a:off x="320040" y="4274820"/>
            <a:ext cx="8503920" cy="196596"/>
          </a:xfrm>
          <a:prstGeom prst="rect">
            <a:avLst/>
          </a:prstGeom>
          <a:solidFill>
            <a:srgbClr val="FFFFFF"/>
          </a:solidFill>
          <a:ln w="12700">
            <a:solidFill>
              <a:srgbClr val="E5E7EB"/>
            </a:solidFill>
            <a:prstDash val="solid"/>
          </a:ln>
        </p:spPr>
      </p:sp>
      <p:sp>
        <p:nvSpPr>
          <p:cNvPr id="56" name="Shape 54"/>
          <p:cNvSpPr/>
          <p:nvPr/>
        </p:nvSpPr>
        <p:spPr>
          <a:xfrm>
            <a:off x="338328" y="4306824"/>
            <a:ext cx="347472" cy="132588"/>
          </a:xfrm>
          <a:prstGeom prst="rect">
            <a:avLst/>
          </a:prstGeom>
          <a:solidFill>
            <a:srgbClr val="9CA3AF"/>
          </a:solidFill>
          <a:ln w="12700">
            <a:solidFill>
              <a:srgbClr val="9CA3AF"/>
            </a:solidFill>
            <a:prstDash val="solid"/>
          </a:ln>
        </p:spPr>
      </p:sp>
      <p:sp>
        <p:nvSpPr>
          <p:cNvPr id="57" name="Text 55"/>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8" name="Text 56"/>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04-27</a:t>
            </a:r>
            <a:endParaRPr lang="en-US" sz="700" dirty="0"/>
          </a:p>
        </p:txBody>
      </p:sp>
      <p:sp>
        <p:nvSpPr>
          <p:cNvPr id="59" name="Text 57"/>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60" name="Text 58"/>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EPR 메커니즘은 지역 폐기물 처리를 위한 재정 자원을 개방합니다</a:t>
            </a:r>
            <a:endParaRPr lang="en-US" sz="750" dirty="0"/>
          </a:p>
        </p:txBody>
      </p:sp>
      <p:sp>
        <p:nvSpPr>
          <p:cNvPr id="61" name="Shape 59"/>
          <p:cNvSpPr/>
          <p:nvPr/>
        </p:nvSpPr>
        <p:spPr>
          <a:xfrm>
            <a:off x="0" y="4942332"/>
            <a:ext cx="9144000" cy="201168"/>
          </a:xfrm>
          <a:prstGeom prst="rect">
            <a:avLst/>
          </a:prstGeom>
          <a:solidFill>
            <a:srgbClr val="0C2340"/>
          </a:solidFill>
          <a:ln w="12700">
            <a:solidFill>
              <a:srgbClr val="0C2340"/>
            </a:solidFill>
            <a:prstDash val="solid"/>
          </a:ln>
        </p:spPr>
      </p:sp>
      <p:sp>
        <p:nvSpPr>
          <p:cNvPr id="62" name="Text 60"/>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63" name="Text 61"/>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VN-SWM-NATIONAL-2030  |</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VN-ENV-IND-1894</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환경산업 발전 프로그램 (결정문 1894/QĐ-TTg 2024)</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1894/QĐ-TTg (2024)</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18건  |  ★신규 5건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16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617220" cy="82296"/>
          </a:xfrm>
          <a:prstGeom prst="rect">
            <a:avLst/>
          </a:prstGeom>
          <a:solidFill>
            <a:srgbClr val="1B4F8A"/>
          </a:solidFill>
          <a:ln w="12700">
            <a:solidFill>
              <a:srgbClr val="1B4F8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1B4F8A"/>
                </a:solidFill>
                <a:latin typeface="Calibri" pitchFamily="34" charset="0"/>
                <a:ea typeface="Calibri" pitchFamily="34" charset="-122"/>
                <a:cs typeface="Calibri" pitchFamily="34" charset="-120"/>
              </a:rPr>
              <a:t>계획·승인</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VN-ENV-IND-1894 진행현황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**사업 진행단계 맥락 평가:**</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마스터플랜은 정책 수립 단계(2024년 결정)에서 본격 이행 단계(2026년 5월 정책 시행)로 전환하고 있습니다. 히스토리의 푸옌·동나이 산업단지 착공 기사와 신규 기사의 호아팟 산업단지 건설(1.3억 달러)이 북부·남부 동시 확산을 시사합니다.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**핵심 변화 포인트:…</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5건  +  기존 13건)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2026년 5월부터 시행되는 4가지 새로운 환경 정책</a:t>
            </a:r>
            <a:endParaRPr lang="en-US" sz="750" dirty="0"/>
          </a:p>
        </p:txBody>
      </p:sp>
      <p:sp>
        <p:nvSpPr>
          <p:cNvPr id="31" name="Shape 29"/>
          <p:cNvSpPr/>
          <p:nvPr/>
        </p:nvSpPr>
        <p:spPr>
          <a:xfrm>
            <a:off x="320040" y="3488436"/>
            <a:ext cx="8503920" cy="196596"/>
          </a:xfrm>
          <a:prstGeom prst="rect">
            <a:avLst/>
          </a:prstGeom>
          <a:solidFill>
            <a:srgbClr val="FFF9C4"/>
          </a:solidFill>
          <a:ln w="12700">
            <a:solidFill>
              <a:srgbClr val="FCD34D"/>
            </a:solidFill>
            <a:prstDash val="solid"/>
          </a:ln>
        </p:spPr>
      </p:sp>
      <p:sp>
        <p:nvSpPr>
          <p:cNvPr id="32" name="Shape 30"/>
          <p:cNvSpPr/>
          <p:nvPr/>
        </p:nvSpPr>
        <p:spPr>
          <a:xfrm>
            <a:off x="338328" y="3520440"/>
            <a:ext cx="347472" cy="132588"/>
          </a:xfrm>
          <a:prstGeom prst="rect">
            <a:avLst/>
          </a:prstGeom>
          <a:solidFill>
            <a:srgbClr val="F59E0B"/>
          </a:solidFill>
          <a:ln w="12700">
            <a:solidFill>
              <a:srgbClr val="F59E0B"/>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[동영상] 르 민 쑤언 산업단지 (Le Minh Xuan Industria…</a:t>
            </a:r>
            <a:endParaRPr lang="en-US" sz="750" dirty="0"/>
          </a:p>
        </p:txBody>
      </p:sp>
      <p:sp>
        <p:nvSpPr>
          <p:cNvPr id="37" name="Shape 35"/>
          <p:cNvSpPr/>
          <p:nvPr/>
        </p:nvSpPr>
        <p:spPr>
          <a:xfrm>
            <a:off x="320040" y="3685032"/>
            <a:ext cx="8503920" cy="196596"/>
          </a:xfrm>
          <a:prstGeom prst="rect">
            <a:avLst/>
          </a:prstGeom>
          <a:solidFill>
            <a:srgbClr val="FFF9C4"/>
          </a:solidFill>
          <a:ln w="12700">
            <a:solidFill>
              <a:srgbClr val="FCD34D"/>
            </a:solidFill>
            <a:prstDash val="solid"/>
          </a:ln>
        </p:spPr>
      </p:sp>
      <p:sp>
        <p:nvSpPr>
          <p:cNvPr id="38" name="Shape 36"/>
          <p:cNvSpPr/>
          <p:nvPr/>
        </p:nvSpPr>
        <p:spPr>
          <a:xfrm>
            <a:off x="338328" y="3717036"/>
            <a:ext cx="347472" cy="132588"/>
          </a:xfrm>
          <a:prstGeom prst="rect">
            <a:avLst/>
          </a:prstGeom>
          <a:solidFill>
            <a:srgbClr val="F59E0B"/>
          </a:solidFill>
          <a:ln w="12700">
            <a:solidFill>
              <a:srgbClr val="F59E0B"/>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르 민 쑤언 산업단지의 오염: 사람들은 연기와 배기가스 배출에 집착합니다.</a:t>
            </a:r>
            <a:endParaRPr lang="en-US" sz="750" dirty="0"/>
          </a:p>
        </p:txBody>
      </p:sp>
      <p:sp>
        <p:nvSpPr>
          <p:cNvPr id="43" name="Shape 41"/>
          <p:cNvSpPr/>
          <p:nvPr/>
        </p:nvSpPr>
        <p:spPr>
          <a:xfrm>
            <a:off x="320040" y="3881628"/>
            <a:ext cx="8503920" cy="196596"/>
          </a:xfrm>
          <a:prstGeom prst="rect">
            <a:avLst/>
          </a:prstGeom>
          <a:solidFill>
            <a:srgbClr val="FFF9C4"/>
          </a:solidFill>
          <a:ln w="12700">
            <a:solidFill>
              <a:srgbClr val="FCD34D"/>
            </a:solidFill>
            <a:prstDash val="solid"/>
          </a:ln>
        </p:spPr>
      </p:sp>
      <p:sp>
        <p:nvSpPr>
          <p:cNvPr id="44" name="Shape 42"/>
          <p:cNvSpPr/>
          <p:nvPr/>
        </p:nvSpPr>
        <p:spPr>
          <a:xfrm>
            <a:off x="338328" y="3913632"/>
            <a:ext cx="347472" cy="132588"/>
          </a:xfrm>
          <a:prstGeom prst="rect">
            <a:avLst/>
          </a:prstGeom>
          <a:solidFill>
            <a:srgbClr val="F59E0B"/>
          </a:solidFill>
          <a:ln w="12700">
            <a:solidFill>
              <a:srgbClr val="F59E0B"/>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05-09</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None</a:t>
            </a:r>
            <a:endParaRPr lang="en-US" sz="750" dirty="0"/>
          </a:p>
        </p:txBody>
      </p:sp>
      <p:sp>
        <p:nvSpPr>
          <p:cNvPr id="49" name="Shape 47"/>
          <p:cNvSpPr/>
          <p:nvPr/>
        </p:nvSpPr>
        <p:spPr>
          <a:xfrm>
            <a:off x="320040" y="4078224"/>
            <a:ext cx="8503920" cy="196596"/>
          </a:xfrm>
          <a:prstGeom prst="rect">
            <a:avLst/>
          </a:prstGeom>
          <a:solidFill>
            <a:srgbClr val="FFF9C4"/>
          </a:solidFill>
          <a:ln w="12700">
            <a:solidFill>
              <a:srgbClr val="FCD34D"/>
            </a:solidFill>
            <a:prstDash val="solid"/>
          </a:ln>
        </p:spPr>
      </p:sp>
      <p:sp>
        <p:nvSpPr>
          <p:cNvPr id="50" name="Shape 48"/>
          <p:cNvSpPr/>
          <p:nvPr/>
        </p:nvSpPr>
        <p:spPr>
          <a:xfrm>
            <a:off x="338328" y="4110228"/>
            <a:ext cx="347472" cy="132588"/>
          </a:xfrm>
          <a:prstGeom prst="rect">
            <a:avLst/>
          </a:prstGeom>
          <a:solidFill>
            <a:srgbClr val="F59E0B"/>
          </a:solidFill>
          <a:ln w="12700">
            <a:solidFill>
              <a:srgbClr val="F59E0B"/>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Hanoi Times</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호아팟, 베트남 북부에 미화 1억 3천만 달러 규모의 산업단지 건설</a:t>
            </a:r>
            <a:endParaRPr lang="en-US" sz="750" dirty="0"/>
          </a:p>
        </p:txBody>
      </p:sp>
      <p:sp>
        <p:nvSpPr>
          <p:cNvPr id="55" name="Shape 53"/>
          <p:cNvSpPr/>
          <p:nvPr/>
        </p:nvSpPr>
        <p:spPr>
          <a:xfrm>
            <a:off x="320040" y="4274820"/>
            <a:ext cx="8503920" cy="196596"/>
          </a:xfrm>
          <a:prstGeom prst="rect">
            <a:avLst/>
          </a:prstGeom>
          <a:solidFill>
            <a:srgbClr val="FFFFFF"/>
          </a:solidFill>
          <a:ln w="12700">
            <a:solidFill>
              <a:srgbClr val="E5E7EB"/>
            </a:solidFill>
            <a:prstDash val="solid"/>
          </a:ln>
        </p:spPr>
      </p:sp>
      <p:sp>
        <p:nvSpPr>
          <p:cNvPr id="56" name="Shape 54"/>
          <p:cNvSpPr/>
          <p:nvPr/>
        </p:nvSpPr>
        <p:spPr>
          <a:xfrm>
            <a:off x="338328" y="4306824"/>
            <a:ext cx="347472" cy="132588"/>
          </a:xfrm>
          <a:prstGeom prst="rect">
            <a:avLst/>
          </a:prstGeom>
          <a:solidFill>
            <a:srgbClr val="9CA3AF"/>
          </a:solidFill>
          <a:ln w="12700">
            <a:solidFill>
              <a:srgbClr val="9CA3AF"/>
            </a:solidFill>
            <a:prstDash val="solid"/>
          </a:ln>
        </p:spPr>
      </p:sp>
      <p:sp>
        <p:nvSpPr>
          <p:cNvPr id="57" name="Text 55"/>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8" name="Text 56"/>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02-11</a:t>
            </a:r>
            <a:endParaRPr lang="en-US" sz="700" dirty="0"/>
          </a:p>
        </p:txBody>
      </p:sp>
      <p:sp>
        <p:nvSpPr>
          <p:cNvPr id="59" name="Text 57"/>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60" name="Text 58"/>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SGGP News English</a:t>
            </a:r>
            <a:endParaRPr lang="en-US" sz="750" dirty="0"/>
          </a:p>
        </p:txBody>
      </p:sp>
      <p:sp>
        <p:nvSpPr>
          <p:cNvPr id="61" name="Shape 59"/>
          <p:cNvSpPr/>
          <p:nvPr/>
        </p:nvSpPr>
        <p:spPr>
          <a:xfrm>
            <a:off x="320040" y="4471416"/>
            <a:ext cx="8503920" cy="196596"/>
          </a:xfrm>
          <a:prstGeom prst="rect">
            <a:avLst/>
          </a:prstGeom>
          <a:solidFill>
            <a:srgbClr val="FFFFFF"/>
          </a:solidFill>
          <a:ln w="12700">
            <a:solidFill>
              <a:srgbClr val="E5E7EB"/>
            </a:solidFill>
            <a:prstDash val="solid"/>
          </a:ln>
        </p:spPr>
      </p:sp>
      <p:sp>
        <p:nvSpPr>
          <p:cNvPr id="62" name="Shape 60"/>
          <p:cNvSpPr/>
          <p:nvPr/>
        </p:nvSpPr>
        <p:spPr>
          <a:xfrm>
            <a:off x="338328" y="4503420"/>
            <a:ext cx="347472" cy="132588"/>
          </a:xfrm>
          <a:prstGeom prst="rect">
            <a:avLst/>
          </a:prstGeom>
          <a:solidFill>
            <a:srgbClr val="9CA3AF"/>
          </a:solidFill>
          <a:ln w="12700">
            <a:solidFill>
              <a:srgbClr val="9CA3AF"/>
            </a:solidFill>
            <a:prstDash val="solid"/>
          </a:ln>
        </p:spPr>
      </p:sp>
      <p:sp>
        <p:nvSpPr>
          <p:cNvPr id="63" name="Text 61"/>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4" name="Text 62"/>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03-10</a:t>
            </a:r>
            <a:endParaRPr lang="en-US" sz="700" dirty="0"/>
          </a:p>
        </p:txBody>
      </p:sp>
      <p:sp>
        <p:nvSpPr>
          <p:cNvPr id="65" name="Text 63"/>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CafeBiz</a:t>
            </a:r>
            <a:endParaRPr lang="en-US" sz="700" dirty="0"/>
          </a:p>
        </p:txBody>
      </p:sp>
      <p:sp>
        <p:nvSpPr>
          <p:cNvPr id="66" name="Text 64"/>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베트남에서 가장 젊은 중앙 운영 도시는 약 226헥타르 규모의 1조 7천억…</a:t>
            </a:r>
            <a:endParaRPr lang="en-US" sz="750" dirty="0"/>
          </a:p>
        </p:txBody>
      </p:sp>
      <p:sp>
        <p:nvSpPr>
          <p:cNvPr id="67" name="Shape 65"/>
          <p:cNvSpPr/>
          <p:nvPr/>
        </p:nvSpPr>
        <p:spPr>
          <a:xfrm>
            <a:off x="320040" y="4668012"/>
            <a:ext cx="8503920" cy="196596"/>
          </a:xfrm>
          <a:prstGeom prst="rect">
            <a:avLst/>
          </a:prstGeom>
          <a:solidFill>
            <a:srgbClr val="FFFFFF"/>
          </a:solidFill>
          <a:ln w="12700">
            <a:solidFill>
              <a:srgbClr val="E5E7EB"/>
            </a:solidFill>
            <a:prstDash val="solid"/>
          </a:ln>
        </p:spPr>
      </p:sp>
      <p:sp>
        <p:nvSpPr>
          <p:cNvPr id="68" name="Shape 66"/>
          <p:cNvSpPr/>
          <p:nvPr/>
        </p:nvSpPr>
        <p:spPr>
          <a:xfrm>
            <a:off x="338328" y="4700016"/>
            <a:ext cx="347472" cy="132588"/>
          </a:xfrm>
          <a:prstGeom prst="rect">
            <a:avLst/>
          </a:prstGeom>
          <a:solidFill>
            <a:srgbClr val="9CA3AF"/>
          </a:solidFill>
          <a:ln w="12700">
            <a:solidFill>
              <a:srgbClr val="9CA3AF"/>
            </a:solidFill>
            <a:prstDash val="solid"/>
          </a:ln>
        </p:spPr>
      </p:sp>
      <p:sp>
        <p:nvSpPr>
          <p:cNvPr id="69" name="Text 67"/>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70" name="Text 68"/>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03-19</a:t>
            </a:r>
            <a:endParaRPr lang="en-US" sz="700" dirty="0"/>
          </a:p>
        </p:txBody>
      </p:sp>
      <p:sp>
        <p:nvSpPr>
          <p:cNvPr id="71" name="Text 69"/>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72" name="Text 70"/>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Tuoi Tre - Kinh doanh</a:t>
            </a:r>
            <a:endParaRPr lang="en-US" sz="750" dirty="0"/>
          </a:p>
        </p:txBody>
      </p:sp>
      <p:sp>
        <p:nvSpPr>
          <p:cNvPr id="73" name="Text 71"/>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+ 10건 추가 기사 — Word 보고서 참조</a:t>
            </a:r>
            <a:endParaRPr lang="en-US" sz="650" dirty="0"/>
          </a:p>
        </p:txBody>
      </p:sp>
      <p:sp>
        <p:nvSpPr>
          <p:cNvPr id="74" name="Shape 72"/>
          <p:cNvSpPr/>
          <p:nvPr/>
        </p:nvSpPr>
        <p:spPr>
          <a:xfrm>
            <a:off x="0" y="4942332"/>
            <a:ext cx="9144000" cy="201168"/>
          </a:xfrm>
          <a:prstGeom prst="rect">
            <a:avLst/>
          </a:prstGeom>
          <a:solidFill>
            <a:srgbClr val="0C2340"/>
          </a:solidFill>
          <a:ln w="12700">
            <a:solidFill>
              <a:srgbClr val="0C2340"/>
            </a:solidFill>
            <a:prstDash val="solid"/>
          </a:ln>
        </p:spPr>
      </p:sp>
      <p:sp>
        <p:nvSpPr>
          <p:cNvPr id="75" name="Text 73"/>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6" name="Text 74"/>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VN-ENV-IND-1894  |</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VN-IP-NORTH-2030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북부 베트남 산업단지 개발 계획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326/QĐ-TTg (2022) + 외국인 투자 유치 전략</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44건  |  ★신규 4건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17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2468880" cy="82296"/>
          </a:xfrm>
          <a:prstGeom prst="rect">
            <a:avLst/>
          </a:prstGeom>
          <a:solidFill>
            <a:srgbClr val="D4820A"/>
          </a:solidFill>
          <a:ln w="12700">
            <a:solidFill>
              <a:srgbClr val="D4820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D4820A"/>
                </a:solidFill>
                <a:latin typeface="Calibri" pitchFamily="34" charset="0"/>
                <a:ea typeface="Calibri" pitchFamily="34" charset="-122"/>
                <a:cs typeface="Calibri" pitchFamily="34" charset="-120"/>
              </a:rPr>
              <a:t>건설·시공</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VN-IP-NORTH-2030 진행현황 분석 리포트</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**분석일시: 2026-05-08 기준**</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**사업 진행단계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마스터플랜은 **정책 수립 단계(2022년 결정)에서 구체적 인프라 구축 단계로 전환 중**입니다. 히스토리 기사(4월)의 FDI 규제 개편 제안 → 신규 기사(5월)의 공항·산업단지·데이터센터 연계 개발로 이어지며, 단순 …</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4건  +  기존 40건)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NEW·H</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05-02</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sggp_org_vn</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녹색산업단지, FDI 투자자 유치</a:t>
            </a:r>
            <a:endParaRPr lang="en-US" sz="750" dirty="0"/>
          </a:p>
        </p:txBody>
      </p:sp>
      <p:sp>
        <p:nvSpPr>
          <p:cNvPr id="31" name="Shape 29"/>
          <p:cNvSpPr/>
          <p:nvPr/>
        </p:nvSpPr>
        <p:spPr>
          <a:xfrm>
            <a:off x="320040" y="3488436"/>
            <a:ext cx="8503920" cy="196596"/>
          </a:xfrm>
          <a:prstGeom prst="rect">
            <a:avLst/>
          </a:prstGeom>
          <a:solidFill>
            <a:srgbClr val="FFF9C4"/>
          </a:solidFill>
          <a:ln w="12700">
            <a:solidFill>
              <a:srgbClr val="FCD34D"/>
            </a:solidFill>
            <a:prstDash val="solid"/>
          </a:ln>
        </p:spPr>
      </p:sp>
      <p:sp>
        <p:nvSpPr>
          <p:cNvPr id="32" name="Shape 30"/>
          <p:cNvSpPr/>
          <p:nvPr/>
        </p:nvSpPr>
        <p:spPr>
          <a:xfrm>
            <a:off x="338328" y="3520440"/>
            <a:ext cx="347472" cy="132588"/>
          </a:xfrm>
          <a:prstGeom prst="rect">
            <a:avLst/>
          </a:prstGeom>
          <a:solidFill>
            <a:srgbClr val="F59E0B"/>
          </a:solidFill>
          <a:ln w="12700">
            <a:solidFill>
              <a:srgbClr val="F59E0B"/>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05-03</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nhandan_vn</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FDI 유치 플랫폼의 포괄적인 업그레이드 필요</a:t>
            </a:r>
            <a:endParaRPr lang="en-US" sz="750" dirty="0"/>
          </a:p>
        </p:txBody>
      </p:sp>
      <p:sp>
        <p:nvSpPr>
          <p:cNvPr id="37" name="Shape 35"/>
          <p:cNvSpPr/>
          <p:nvPr/>
        </p:nvSpPr>
        <p:spPr>
          <a:xfrm>
            <a:off x="320040" y="3685032"/>
            <a:ext cx="8503920" cy="196596"/>
          </a:xfrm>
          <a:prstGeom prst="rect">
            <a:avLst/>
          </a:prstGeom>
          <a:solidFill>
            <a:srgbClr val="FFF9C4"/>
          </a:solidFill>
          <a:ln w="12700">
            <a:solidFill>
              <a:srgbClr val="FCD34D"/>
            </a:solidFill>
            <a:prstDash val="solid"/>
          </a:ln>
        </p:spPr>
      </p:sp>
      <p:sp>
        <p:nvSpPr>
          <p:cNvPr id="38" name="Shape 36"/>
          <p:cNvSpPr/>
          <p:nvPr/>
        </p:nvSpPr>
        <p:spPr>
          <a:xfrm>
            <a:off x="338328" y="3717036"/>
            <a:ext cx="347472" cy="132588"/>
          </a:xfrm>
          <a:prstGeom prst="rect">
            <a:avLst/>
          </a:prstGeom>
          <a:solidFill>
            <a:srgbClr val="F59E0B"/>
          </a:solidFill>
          <a:ln w="12700">
            <a:solidFill>
              <a:srgbClr val="F59E0B"/>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PM 차장은 공항 시스템에 대한 전략적, 동기식 계획을 강조합니다.</a:t>
            </a:r>
            <a:endParaRPr lang="en-US" sz="750" dirty="0"/>
          </a:p>
        </p:txBody>
      </p:sp>
      <p:sp>
        <p:nvSpPr>
          <p:cNvPr id="43" name="Shape 41"/>
          <p:cNvSpPr/>
          <p:nvPr/>
        </p:nvSpPr>
        <p:spPr>
          <a:xfrm>
            <a:off x="320040" y="3881628"/>
            <a:ext cx="8503920" cy="196596"/>
          </a:xfrm>
          <a:prstGeom prst="rect">
            <a:avLst/>
          </a:prstGeom>
          <a:solidFill>
            <a:srgbClr val="FFF9C4"/>
          </a:solidFill>
          <a:ln w="12700">
            <a:solidFill>
              <a:srgbClr val="FCD34D"/>
            </a:solidFill>
            <a:prstDash val="solid"/>
          </a:ln>
        </p:spPr>
      </p:sp>
      <p:sp>
        <p:nvSpPr>
          <p:cNvPr id="44" name="Shape 42"/>
          <p:cNvSpPr/>
          <p:nvPr/>
        </p:nvSpPr>
        <p:spPr>
          <a:xfrm>
            <a:off x="338328" y="3913632"/>
            <a:ext cx="347472" cy="132588"/>
          </a:xfrm>
          <a:prstGeom prst="rect">
            <a:avLst/>
          </a:prstGeom>
          <a:solidFill>
            <a:srgbClr val="F59E0B"/>
          </a:solidFill>
          <a:ln w="12700">
            <a:solidFill>
              <a:srgbClr val="F59E0B"/>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05-08</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vietnamnews…</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HCM City의 데이터 인프라에 수십억 달러의 투자가 쏟아집니다.</a:t>
            </a:r>
            <a:endParaRPr lang="en-US" sz="750" dirty="0"/>
          </a:p>
        </p:txBody>
      </p:sp>
      <p:sp>
        <p:nvSpPr>
          <p:cNvPr id="49" name="Shape 47"/>
          <p:cNvSpPr/>
          <p:nvPr/>
        </p:nvSpPr>
        <p:spPr>
          <a:xfrm>
            <a:off x="320040" y="4078224"/>
            <a:ext cx="8503920" cy="196596"/>
          </a:xfrm>
          <a:prstGeom prst="rect">
            <a:avLst/>
          </a:prstGeom>
          <a:solidFill>
            <a:srgbClr val="FFFFFF"/>
          </a:solidFill>
          <a:ln w="12700">
            <a:solidFill>
              <a:srgbClr val="E5E7EB"/>
            </a:solidFill>
            <a:prstDash val="solid"/>
          </a:ln>
        </p:spPr>
      </p:sp>
      <p:sp>
        <p:nvSpPr>
          <p:cNvPr id="50" name="Shape 48"/>
          <p:cNvSpPr/>
          <p:nvPr/>
        </p:nvSpPr>
        <p:spPr>
          <a:xfrm>
            <a:off x="338328" y="4110228"/>
            <a:ext cx="347472" cy="132588"/>
          </a:xfrm>
          <a:prstGeom prst="rect">
            <a:avLst/>
          </a:prstGeom>
          <a:solidFill>
            <a:srgbClr val="1B4F8A"/>
          </a:solidFill>
          <a:ln w="12700">
            <a:solidFill>
              <a:srgbClr val="1B4F8A"/>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03-09</a:t>
            </a: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Nhan Dan En…</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응에안(Nghe An)은 병목 현상을 제거하고 FDI를 유치하기 위한 노력…</a:t>
            </a:r>
            <a:endParaRPr lang="en-US" sz="750" dirty="0"/>
          </a:p>
        </p:txBody>
      </p:sp>
      <p:sp>
        <p:nvSpPr>
          <p:cNvPr id="55" name="Shape 53"/>
          <p:cNvSpPr/>
          <p:nvPr/>
        </p:nvSpPr>
        <p:spPr>
          <a:xfrm>
            <a:off x="320040" y="4274820"/>
            <a:ext cx="8503920" cy="196596"/>
          </a:xfrm>
          <a:prstGeom prst="rect">
            <a:avLst/>
          </a:prstGeom>
          <a:solidFill>
            <a:srgbClr val="FFFFFF"/>
          </a:solidFill>
          <a:ln w="12700">
            <a:solidFill>
              <a:srgbClr val="E5E7EB"/>
            </a:solidFill>
            <a:prstDash val="solid"/>
          </a:ln>
        </p:spPr>
      </p:sp>
      <p:sp>
        <p:nvSpPr>
          <p:cNvPr id="56" name="Shape 54"/>
          <p:cNvSpPr/>
          <p:nvPr/>
        </p:nvSpPr>
        <p:spPr>
          <a:xfrm>
            <a:off x="338328" y="4306824"/>
            <a:ext cx="347472" cy="132588"/>
          </a:xfrm>
          <a:prstGeom prst="rect">
            <a:avLst/>
          </a:prstGeom>
          <a:solidFill>
            <a:srgbClr val="9CA3AF"/>
          </a:solidFill>
          <a:ln w="12700">
            <a:solidFill>
              <a:srgbClr val="9CA3AF"/>
            </a:solidFill>
            <a:prstDash val="solid"/>
          </a:ln>
        </p:spPr>
      </p:sp>
      <p:sp>
        <p:nvSpPr>
          <p:cNvPr id="57" name="Text 55"/>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8" name="Text 56"/>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03-05</a:t>
            </a:r>
            <a:endParaRPr lang="en-US" sz="700" dirty="0"/>
          </a:p>
        </p:txBody>
      </p:sp>
      <p:sp>
        <p:nvSpPr>
          <p:cNvPr id="59" name="Text 57"/>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E…</a:t>
            </a:r>
            <a:endParaRPr lang="en-US" sz="700" dirty="0"/>
          </a:p>
        </p:txBody>
      </p:sp>
      <p:sp>
        <p:nvSpPr>
          <p:cNvPr id="60" name="Text 58"/>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박닌(Bac Ninh), 베트남 FDI 분야 선두 자리 굳건히 다져</a:t>
            </a:r>
            <a:endParaRPr lang="en-US" sz="750" dirty="0"/>
          </a:p>
        </p:txBody>
      </p:sp>
      <p:sp>
        <p:nvSpPr>
          <p:cNvPr id="61" name="Shape 59"/>
          <p:cNvSpPr/>
          <p:nvPr/>
        </p:nvSpPr>
        <p:spPr>
          <a:xfrm>
            <a:off x="320040" y="4471416"/>
            <a:ext cx="8503920" cy="196596"/>
          </a:xfrm>
          <a:prstGeom prst="rect">
            <a:avLst/>
          </a:prstGeom>
          <a:solidFill>
            <a:srgbClr val="FFFFFF"/>
          </a:solidFill>
          <a:ln w="12700">
            <a:solidFill>
              <a:srgbClr val="E5E7EB"/>
            </a:solidFill>
            <a:prstDash val="solid"/>
          </a:ln>
        </p:spPr>
      </p:sp>
      <p:sp>
        <p:nvSpPr>
          <p:cNvPr id="62" name="Shape 60"/>
          <p:cNvSpPr/>
          <p:nvPr/>
        </p:nvSpPr>
        <p:spPr>
          <a:xfrm>
            <a:off x="338328" y="4503420"/>
            <a:ext cx="347472" cy="132588"/>
          </a:xfrm>
          <a:prstGeom prst="rect">
            <a:avLst/>
          </a:prstGeom>
          <a:solidFill>
            <a:srgbClr val="9CA3AF"/>
          </a:solidFill>
          <a:ln w="12700">
            <a:solidFill>
              <a:srgbClr val="9CA3AF"/>
            </a:solidFill>
            <a:prstDash val="solid"/>
          </a:ln>
        </p:spPr>
      </p:sp>
      <p:sp>
        <p:nvSpPr>
          <p:cNvPr id="63" name="Text 61"/>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4" name="Text 62"/>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03-09</a:t>
            </a:r>
            <a:endParaRPr lang="en-US" sz="700" dirty="0"/>
          </a:p>
        </p:txBody>
      </p:sp>
      <p:sp>
        <p:nvSpPr>
          <p:cNvPr id="65" name="Text 63"/>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66" name="Text 64"/>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2026년 첫 2개월 동안 베트남의 실현 FDI 자본은 8.8% 증가했습니…</a:t>
            </a:r>
            <a:endParaRPr lang="en-US" sz="750" dirty="0"/>
          </a:p>
        </p:txBody>
      </p:sp>
      <p:sp>
        <p:nvSpPr>
          <p:cNvPr id="67" name="Shape 65"/>
          <p:cNvSpPr/>
          <p:nvPr/>
        </p:nvSpPr>
        <p:spPr>
          <a:xfrm>
            <a:off x="320040" y="4668012"/>
            <a:ext cx="8503920" cy="196596"/>
          </a:xfrm>
          <a:prstGeom prst="rect">
            <a:avLst/>
          </a:prstGeom>
          <a:solidFill>
            <a:srgbClr val="FFFFFF"/>
          </a:solidFill>
          <a:ln w="12700">
            <a:solidFill>
              <a:srgbClr val="E5E7EB"/>
            </a:solidFill>
            <a:prstDash val="solid"/>
          </a:ln>
        </p:spPr>
      </p:sp>
      <p:sp>
        <p:nvSpPr>
          <p:cNvPr id="68" name="Shape 66"/>
          <p:cNvSpPr/>
          <p:nvPr/>
        </p:nvSpPr>
        <p:spPr>
          <a:xfrm>
            <a:off x="338328" y="4700016"/>
            <a:ext cx="347472" cy="132588"/>
          </a:xfrm>
          <a:prstGeom prst="rect">
            <a:avLst/>
          </a:prstGeom>
          <a:solidFill>
            <a:srgbClr val="9CA3AF"/>
          </a:solidFill>
          <a:ln w="12700">
            <a:solidFill>
              <a:srgbClr val="9CA3AF"/>
            </a:solidFill>
            <a:prstDash val="solid"/>
          </a:ln>
        </p:spPr>
      </p:sp>
      <p:sp>
        <p:nvSpPr>
          <p:cNvPr id="69" name="Text 67"/>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70" name="Text 68"/>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03-09</a:t>
            </a:r>
            <a:endParaRPr lang="en-US" sz="700" dirty="0"/>
          </a:p>
        </p:txBody>
      </p:sp>
      <p:sp>
        <p:nvSpPr>
          <p:cNvPr id="71" name="Text 69"/>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Dong Nai</a:t>
            </a:r>
            <a:endParaRPr lang="en-US" sz="700" dirty="0"/>
          </a:p>
        </p:txBody>
      </p:sp>
      <p:sp>
        <p:nvSpPr>
          <p:cNvPr id="72" name="Text 70"/>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Nhan Dan English</a:t>
            </a:r>
            <a:endParaRPr lang="en-US" sz="750" dirty="0"/>
          </a:p>
        </p:txBody>
      </p:sp>
      <p:sp>
        <p:nvSpPr>
          <p:cNvPr id="73" name="Text 71"/>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4" name="Shape 72"/>
          <p:cNvSpPr/>
          <p:nvPr/>
        </p:nvSpPr>
        <p:spPr>
          <a:xfrm>
            <a:off x="0" y="4942332"/>
            <a:ext cx="9144000" cy="201168"/>
          </a:xfrm>
          <a:prstGeom prst="rect">
            <a:avLst/>
          </a:prstGeom>
          <a:solidFill>
            <a:srgbClr val="0C2340"/>
          </a:solidFill>
          <a:ln w="12700">
            <a:solidFill>
              <a:srgbClr val="0C2340"/>
            </a:solidFill>
            <a:prstDash val="solid"/>
          </a:ln>
        </p:spPr>
      </p:sp>
      <p:sp>
        <p:nvSpPr>
          <p:cNvPr id="75" name="Text 73"/>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6" name="Text 74"/>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VN-IP-NORTH-2030  |</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VN-TRAN-2055</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교통 인프라 마스터플랜 2021-2030 (비전 2050)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1412/QĐ-TTg (2021)</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89건  |  ★신규 40건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18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FF9C4"/>
          </a:solidFill>
          <a:ln w="12700">
            <a:solidFill>
              <a:srgbClr val="F59E0B"/>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5" name="Shape 13"/>
          <p:cNvSpPr/>
          <p:nvPr/>
        </p:nvSpPr>
        <p:spPr>
          <a:xfrm>
            <a:off x="4325112" y="1353312"/>
            <a:ext cx="4498848" cy="12435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2435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**진행단계 맥락 평가**</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베트남 교통 인프라 마스터플랜이 구체적 실행 단계에 진입했습니다. 4월 말부터 호치민시 지하철 터널링 착공(14억 달러), 고가도로 개통(2.47억 달러), 롱탄 국제공항 1단계 상업운영(2026년 목표) 등 주요 프로젝트들이 순차적으로 추진 중입니다. **★ 이번 주 핵심 변화: 롱탄 공항 프로젝트의 최고 지도자 직접 가속화 촉구**가 신호탄으로, 정부 차원의 …</a:t>
            </a:r>
            <a:endParaRPr lang="en-US" sz="800" dirty="0"/>
          </a:p>
        </p:txBody>
      </p:sp>
      <p:sp>
        <p:nvSpPr>
          <p:cNvPr id="18" name="Shape 16"/>
          <p:cNvSpPr/>
          <p:nvPr/>
        </p:nvSpPr>
        <p:spPr>
          <a:xfrm>
            <a:off x="4325112" y="2651760"/>
            <a:ext cx="4498848" cy="402336"/>
          </a:xfrm>
          <a:prstGeom prst="rect">
            <a:avLst/>
          </a:prstGeom>
          <a:solidFill>
            <a:srgbClr val="E8EEF4"/>
          </a:solidFill>
          <a:ln w="12700">
            <a:solidFill>
              <a:srgbClr val="0C2340"/>
            </a:solidFill>
            <a:prstDash val="solid"/>
          </a:ln>
        </p:spPr>
      </p:sp>
      <p:sp>
        <p:nvSpPr>
          <p:cNvPr id="19" name="Text 17"/>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0" name="Text 18"/>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롱탄공항 2026년 상업운영 진전은 호찌민 교통망 완성의 핵심 마일스톤이며, 무디스 긍정적 평가는 향후 인프라 프로젝트 재정조달 여건이 개선될 것을 시사합니다. 한국 건설사 수주…</a:t>
            </a:r>
            <a:endParaRPr lang="en-US" sz="750" dirty="0"/>
          </a:p>
        </p:txBody>
      </p:sp>
      <p:sp>
        <p:nvSpPr>
          <p:cNvPr id="21" name="Text 19"/>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40건  +  기존 49건)</a:t>
            </a:r>
            <a:endParaRPr lang="en-US" sz="800" dirty="0"/>
          </a:p>
        </p:txBody>
      </p:sp>
      <p:sp>
        <p:nvSpPr>
          <p:cNvPr id="22" name="Shape 20"/>
          <p:cNvSpPr/>
          <p:nvPr/>
        </p:nvSpPr>
        <p:spPr>
          <a:xfrm>
            <a:off x="320040" y="3108960"/>
            <a:ext cx="8503920" cy="182880"/>
          </a:xfrm>
          <a:prstGeom prst="rect">
            <a:avLst/>
          </a:prstGeom>
          <a:solidFill>
            <a:srgbClr val="374151"/>
          </a:solidFill>
          <a:ln w="12700">
            <a:solidFill>
              <a:srgbClr val="374151"/>
            </a:solidFill>
            <a:prstDash val="solid"/>
          </a:ln>
        </p:spPr>
      </p:sp>
      <p:sp>
        <p:nvSpPr>
          <p:cNvPr id="23" name="Text 21"/>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4" name="Text 22"/>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5" name="Text 23"/>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6" name="Text 24"/>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7" name="Shape 25"/>
          <p:cNvSpPr/>
          <p:nvPr/>
        </p:nvSpPr>
        <p:spPr>
          <a:xfrm>
            <a:off x="320040" y="3291840"/>
            <a:ext cx="8503920" cy="196596"/>
          </a:xfrm>
          <a:prstGeom prst="rect">
            <a:avLst/>
          </a:prstGeom>
          <a:solidFill>
            <a:srgbClr val="FFF9C4"/>
          </a:solidFill>
          <a:ln w="12700">
            <a:solidFill>
              <a:srgbClr val="FCD34D"/>
            </a:solidFill>
            <a:prstDash val="solid"/>
          </a:ln>
        </p:spPr>
      </p:sp>
      <p:sp>
        <p:nvSpPr>
          <p:cNvPr id="28" name="Shape 26"/>
          <p:cNvSpPr/>
          <p:nvPr/>
        </p:nvSpPr>
        <p:spPr>
          <a:xfrm>
            <a:off x="338328" y="3323844"/>
            <a:ext cx="347472" cy="132588"/>
          </a:xfrm>
          <a:prstGeom prst="rect">
            <a:avLst/>
          </a:prstGeom>
          <a:solidFill>
            <a:srgbClr val="F59E0B"/>
          </a:solidFill>
          <a:ln w="12700">
            <a:solidFill>
              <a:srgbClr val="F59E0B"/>
            </a:solidFill>
            <a:prstDash val="solid"/>
          </a:ln>
        </p:spPr>
      </p:sp>
      <p:sp>
        <p:nvSpPr>
          <p:cNvPr id="29" name="Text 27"/>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0" name="Text 28"/>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05-02</a:t>
            </a:r>
            <a:endParaRPr lang="en-US" sz="700" dirty="0"/>
          </a:p>
        </p:txBody>
      </p:sp>
      <p:sp>
        <p:nvSpPr>
          <p:cNvPr id="31" name="Text 29"/>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I…</a:t>
            </a:r>
            <a:endParaRPr lang="en-US" sz="700" dirty="0"/>
          </a:p>
        </p:txBody>
      </p:sp>
      <p:sp>
        <p:nvSpPr>
          <p:cNvPr id="32" name="Text 30"/>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베트남의 $ 247M 고속도로와 바다 전망의 고가교 개통</a:t>
            </a:r>
            <a:endParaRPr lang="en-US" sz="750" dirty="0"/>
          </a:p>
        </p:txBody>
      </p:sp>
      <p:sp>
        <p:nvSpPr>
          <p:cNvPr id="33" name="Shape 31"/>
          <p:cNvSpPr/>
          <p:nvPr/>
        </p:nvSpPr>
        <p:spPr>
          <a:xfrm>
            <a:off x="320040" y="3488436"/>
            <a:ext cx="8503920" cy="196596"/>
          </a:xfrm>
          <a:prstGeom prst="rect">
            <a:avLst/>
          </a:prstGeom>
          <a:solidFill>
            <a:srgbClr val="FFF9C4"/>
          </a:solidFill>
          <a:ln w="12700">
            <a:solidFill>
              <a:srgbClr val="FCD34D"/>
            </a:solidFill>
            <a:prstDash val="solid"/>
          </a:ln>
        </p:spPr>
      </p:sp>
      <p:sp>
        <p:nvSpPr>
          <p:cNvPr id="34" name="Shape 32"/>
          <p:cNvSpPr/>
          <p:nvPr/>
        </p:nvSpPr>
        <p:spPr>
          <a:xfrm>
            <a:off x="338328" y="3520440"/>
            <a:ext cx="347472" cy="132588"/>
          </a:xfrm>
          <a:prstGeom prst="rect">
            <a:avLst/>
          </a:prstGeom>
          <a:solidFill>
            <a:srgbClr val="F59E0B"/>
          </a:solidFill>
          <a:ln w="12700">
            <a:solidFill>
              <a:srgbClr val="F59E0B"/>
            </a:solidFill>
            <a:prstDash val="solid"/>
          </a:ln>
        </p:spPr>
      </p:sp>
      <p:sp>
        <p:nvSpPr>
          <p:cNvPr id="35" name="Text 33"/>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6" name="Text 34"/>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05-02</a:t>
            </a:r>
            <a:endParaRPr lang="en-US" sz="700" dirty="0"/>
          </a:p>
        </p:txBody>
      </p:sp>
      <p:sp>
        <p:nvSpPr>
          <p:cNvPr id="37" name="Text 35"/>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38" name="Text 36"/>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새로운 협력 체계를 구축하기 위한 최고 리더의 인도 방문 예정: 차장 FM</a:t>
            </a:r>
            <a:endParaRPr lang="en-US" sz="750" dirty="0"/>
          </a:p>
        </p:txBody>
      </p:sp>
      <p:sp>
        <p:nvSpPr>
          <p:cNvPr id="39" name="Shape 37"/>
          <p:cNvSpPr/>
          <p:nvPr/>
        </p:nvSpPr>
        <p:spPr>
          <a:xfrm>
            <a:off x="320040" y="3685032"/>
            <a:ext cx="8503920" cy="196596"/>
          </a:xfrm>
          <a:prstGeom prst="rect">
            <a:avLst/>
          </a:prstGeom>
          <a:solidFill>
            <a:srgbClr val="FFF9C4"/>
          </a:solidFill>
          <a:ln w="12700">
            <a:solidFill>
              <a:srgbClr val="FCD34D"/>
            </a:solidFill>
            <a:prstDash val="solid"/>
          </a:ln>
        </p:spPr>
      </p:sp>
      <p:sp>
        <p:nvSpPr>
          <p:cNvPr id="40" name="Shape 38"/>
          <p:cNvSpPr/>
          <p:nvPr/>
        </p:nvSpPr>
        <p:spPr>
          <a:xfrm>
            <a:off x="338328" y="3717036"/>
            <a:ext cx="347472" cy="132588"/>
          </a:xfrm>
          <a:prstGeom prst="rect">
            <a:avLst/>
          </a:prstGeom>
          <a:solidFill>
            <a:srgbClr val="F59E0B"/>
          </a:solidFill>
          <a:ln w="12700">
            <a:solidFill>
              <a:srgbClr val="F59E0B"/>
            </a:solidFill>
            <a:prstDash val="solid"/>
          </a:ln>
        </p:spPr>
      </p:sp>
      <p:sp>
        <p:nvSpPr>
          <p:cNvPr id="41" name="Text 39"/>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2" name="Text 40"/>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43" name="Text 41"/>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44" name="Text 42"/>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ILDEX VIETNAM 2026, 농식품 부문에서 지속 가능한 변화 강조</a:t>
            </a:r>
            <a:endParaRPr lang="en-US" sz="750" dirty="0"/>
          </a:p>
        </p:txBody>
      </p:sp>
      <p:sp>
        <p:nvSpPr>
          <p:cNvPr id="45" name="Shape 43"/>
          <p:cNvSpPr/>
          <p:nvPr/>
        </p:nvSpPr>
        <p:spPr>
          <a:xfrm>
            <a:off x="320040" y="3881628"/>
            <a:ext cx="8503920" cy="196596"/>
          </a:xfrm>
          <a:prstGeom prst="rect">
            <a:avLst/>
          </a:prstGeom>
          <a:solidFill>
            <a:srgbClr val="FFF9C4"/>
          </a:solidFill>
          <a:ln w="12700">
            <a:solidFill>
              <a:srgbClr val="FCD34D"/>
            </a:solidFill>
            <a:prstDash val="solid"/>
          </a:ln>
        </p:spPr>
      </p:sp>
      <p:sp>
        <p:nvSpPr>
          <p:cNvPr id="46" name="Shape 44"/>
          <p:cNvSpPr/>
          <p:nvPr/>
        </p:nvSpPr>
        <p:spPr>
          <a:xfrm>
            <a:off x="338328" y="3913632"/>
            <a:ext cx="347472" cy="132588"/>
          </a:xfrm>
          <a:prstGeom prst="rect">
            <a:avLst/>
          </a:prstGeom>
          <a:solidFill>
            <a:srgbClr val="F59E0B"/>
          </a:solidFill>
          <a:ln w="12700">
            <a:solidFill>
              <a:srgbClr val="F59E0B"/>
            </a:solidFill>
            <a:prstDash val="solid"/>
          </a:ln>
        </p:spPr>
      </p:sp>
      <p:sp>
        <p:nvSpPr>
          <p:cNvPr id="47" name="Text 45"/>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8" name="Text 46"/>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49" name="Text 47"/>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50" name="Text 48"/>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Moody 's는 베트남의 전망을 개혁 추진에 대한 "긍정적" 으로 끌어 …</a:t>
            </a:r>
            <a:endParaRPr lang="en-US" sz="750" dirty="0"/>
          </a:p>
        </p:txBody>
      </p:sp>
      <p:sp>
        <p:nvSpPr>
          <p:cNvPr id="51" name="Shape 49"/>
          <p:cNvSpPr/>
          <p:nvPr/>
        </p:nvSpPr>
        <p:spPr>
          <a:xfrm>
            <a:off x="320040" y="4078224"/>
            <a:ext cx="8503920" cy="196596"/>
          </a:xfrm>
          <a:prstGeom prst="rect">
            <a:avLst/>
          </a:prstGeom>
          <a:solidFill>
            <a:srgbClr val="FFF9C4"/>
          </a:solidFill>
          <a:ln w="12700">
            <a:solidFill>
              <a:srgbClr val="FCD34D"/>
            </a:solidFill>
            <a:prstDash val="solid"/>
          </a:ln>
        </p:spPr>
      </p:sp>
      <p:sp>
        <p:nvSpPr>
          <p:cNvPr id="52" name="Shape 50"/>
          <p:cNvSpPr/>
          <p:nvPr/>
        </p:nvSpPr>
        <p:spPr>
          <a:xfrm>
            <a:off x="338328" y="4110228"/>
            <a:ext cx="347472" cy="132588"/>
          </a:xfrm>
          <a:prstGeom prst="rect">
            <a:avLst/>
          </a:prstGeom>
          <a:solidFill>
            <a:srgbClr val="F59E0B"/>
          </a:solidFill>
          <a:ln w="12700">
            <a:solidFill>
              <a:srgbClr val="F59E0B"/>
            </a:solidFill>
            <a:prstDash val="solid"/>
          </a:ln>
        </p:spPr>
      </p:sp>
      <p:sp>
        <p:nvSpPr>
          <p:cNvPr id="53" name="Text 51"/>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54" name="Text 52"/>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55" name="Text 53"/>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56" name="Text 54"/>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PM, 롱탄 공항 프로젝트 가속화를 위한 신속한 조치 촉구</a:t>
            </a:r>
            <a:endParaRPr lang="en-US" sz="750" dirty="0"/>
          </a:p>
        </p:txBody>
      </p:sp>
      <p:sp>
        <p:nvSpPr>
          <p:cNvPr id="57" name="Shape 55"/>
          <p:cNvSpPr/>
          <p:nvPr/>
        </p:nvSpPr>
        <p:spPr>
          <a:xfrm>
            <a:off x="320040" y="4274820"/>
            <a:ext cx="8503920" cy="196596"/>
          </a:xfrm>
          <a:prstGeom prst="rect">
            <a:avLst/>
          </a:prstGeom>
          <a:solidFill>
            <a:srgbClr val="FFF9C4"/>
          </a:solidFill>
          <a:ln w="12700">
            <a:solidFill>
              <a:srgbClr val="FCD34D"/>
            </a:solidFill>
            <a:prstDash val="solid"/>
          </a:ln>
        </p:spPr>
      </p:sp>
      <p:sp>
        <p:nvSpPr>
          <p:cNvPr id="58" name="Shape 56"/>
          <p:cNvSpPr/>
          <p:nvPr/>
        </p:nvSpPr>
        <p:spPr>
          <a:xfrm>
            <a:off x="338328" y="4306824"/>
            <a:ext cx="347472" cy="132588"/>
          </a:xfrm>
          <a:prstGeom prst="rect">
            <a:avLst/>
          </a:prstGeom>
          <a:solidFill>
            <a:srgbClr val="F59E0B"/>
          </a:solidFill>
          <a:ln w="12700">
            <a:solidFill>
              <a:srgbClr val="F59E0B"/>
            </a:solidFill>
            <a:prstDash val="solid"/>
          </a:ln>
        </p:spPr>
      </p:sp>
      <p:sp>
        <p:nvSpPr>
          <p:cNvPr id="59" name="Text 57"/>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60" name="Text 58"/>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61" name="Text 59"/>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nhandan_vn</a:t>
            </a:r>
            <a:endParaRPr lang="en-US" sz="700" dirty="0"/>
          </a:p>
        </p:txBody>
      </p:sp>
      <p:sp>
        <p:nvSpPr>
          <p:cNvPr id="62" name="Text 60"/>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PM, 롱탄 공항 프로젝트 가속화를 위한 신속한 조치 촉구</a:t>
            </a:r>
            <a:endParaRPr lang="en-US" sz="750" dirty="0"/>
          </a:p>
        </p:txBody>
      </p:sp>
      <p:sp>
        <p:nvSpPr>
          <p:cNvPr id="63" name="Shape 61"/>
          <p:cNvSpPr/>
          <p:nvPr/>
        </p:nvSpPr>
        <p:spPr>
          <a:xfrm>
            <a:off x="320040" y="4471416"/>
            <a:ext cx="8503920" cy="196596"/>
          </a:xfrm>
          <a:prstGeom prst="rect">
            <a:avLst/>
          </a:prstGeom>
          <a:solidFill>
            <a:srgbClr val="FFF9C4"/>
          </a:solidFill>
          <a:ln w="12700">
            <a:solidFill>
              <a:srgbClr val="FCD34D"/>
            </a:solidFill>
            <a:prstDash val="solid"/>
          </a:ln>
        </p:spPr>
      </p:sp>
      <p:sp>
        <p:nvSpPr>
          <p:cNvPr id="64" name="Shape 62"/>
          <p:cNvSpPr/>
          <p:nvPr/>
        </p:nvSpPr>
        <p:spPr>
          <a:xfrm>
            <a:off x="338328" y="4503420"/>
            <a:ext cx="347472" cy="132588"/>
          </a:xfrm>
          <a:prstGeom prst="rect">
            <a:avLst/>
          </a:prstGeom>
          <a:solidFill>
            <a:srgbClr val="F59E0B"/>
          </a:solidFill>
          <a:ln w="12700">
            <a:solidFill>
              <a:srgbClr val="F59E0B"/>
            </a:solidFill>
            <a:prstDash val="solid"/>
          </a:ln>
        </p:spPr>
      </p:sp>
      <p:sp>
        <p:nvSpPr>
          <p:cNvPr id="65" name="Text 63"/>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66" name="Text 64"/>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67" name="Text 65"/>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68" name="Text 66"/>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외부 위험에도 불구하고 베트남은 여전히 밝은 지역으로 남아 있습니다: 국제…</a:t>
            </a:r>
            <a:endParaRPr lang="en-US" sz="750" dirty="0"/>
          </a:p>
        </p:txBody>
      </p:sp>
      <p:sp>
        <p:nvSpPr>
          <p:cNvPr id="69" name="Shape 67"/>
          <p:cNvSpPr/>
          <p:nvPr/>
        </p:nvSpPr>
        <p:spPr>
          <a:xfrm>
            <a:off x="320040" y="4668012"/>
            <a:ext cx="8503920" cy="196596"/>
          </a:xfrm>
          <a:prstGeom prst="rect">
            <a:avLst/>
          </a:prstGeom>
          <a:solidFill>
            <a:srgbClr val="FFF9C4"/>
          </a:solidFill>
          <a:ln w="12700">
            <a:solidFill>
              <a:srgbClr val="FCD34D"/>
            </a:solidFill>
            <a:prstDash val="solid"/>
          </a:ln>
        </p:spPr>
      </p:sp>
      <p:sp>
        <p:nvSpPr>
          <p:cNvPr id="70" name="Shape 68"/>
          <p:cNvSpPr/>
          <p:nvPr/>
        </p:nvSpPr>
        <p:spPr>
          <a:xfrm>
            <a:off x="338328" y="4700016"/>
            <a:ext cx="347472" cy="132588"/>
          </a:xfrm>
          <a:prstGeom prst="rect">
            <a:avLst/>
          </a:prstGeom>
          <a:solidFill>
            <a:srgbClr val="F59E0B"/>
          </a:solidFill>
          <a:ln w="12700">
            <a:solidFill>
              <a:srgbClr val="F59E0B"/>
            </a:solidFill>
            <a:prstDash val="solid"/>
          </a:ln>
        </p:spPr>
      </p:sp>
      <p:sp>
        <p:nvSpPr>
          <p:cNvPr id="71" name="Text 69"/>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72" name="Text 70"/>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73" name="Text 71"/>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sggp_org_vn</a:t>
            </a:r>
            <a:endParaRPr lang="en-US" sz="700" dirty="0"/>
          </a:p>
        </p:txBody>
      </p:sp>
      <p:sp>
        <p:nvSpPr>
          <p:cNvPr id="74" name="Text 72"/>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롱탄 국제공항 1단계, 2026년 상업 운영 예정</a:t>
            </a:r>
            <a:endParaRPr lang="en-US" sz="750" dirty="0"/>
          </a:p>
        </p:txBody>
      </p:sp>
      <p:sp>
        <p:nvSpPr>
          <p:cNvPr id="75" name="Text 73"/>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+ 12건 추가 기사 — Word 보고서 참조</a:t>
            </a:r>
            <a:endParaRPr lang="en-US" sz="650" dirty="0"/>
          </a:p>
        </p:txBody>
      </p:sp>
      <p:sp>
        <p:nvSpPr>
          <p:cNvPr id="76" name="Shape 74"/>
          <p:cNvSpPr/>
          <p:nvPr/>
        </p:nvSpPr>
        <p:spPr>
          <a:xfrm>
            <a:off x="0" y="4942332"/>
            <a:ext cx="9144000" cy="201168"/>
          </a:xfrm>
          <a:prstGeom prst="rect">
            <a:avLst/>
          </a:prstGeom>
          <a:solidFill>
            <a:srgbClr val="0C2340"/>
          </a:solidFill>
          <a:ln w="12700">
            <a:solidFill>
              <a:srgbClr val="0C2340"/>
            </a:solidFill>
            <a:prstDash val="solid"/>
          </a:ln>
        </p:spPr>
      </p:sp>
      <p:sp>
        <p:nvSpPr>
          <p:cNvPr id="77" name="Text 7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8" name="Text 7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VN-TRAN-2055  |</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VN-MEKONG-DELTA-2030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메콩 델타 인프라 개발 계획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Resolution 13-NQ/TW (2022)</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2건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19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VN-MEKONG-DELTA-2030 관련 신규 기사가 수집되지 않았습니다.</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0건  +  기존 2건)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FFF"/>
          </a:solidFill>
          <a:ln w="12700">
            <a:solidFill>
              <a:srgbClr val="E5E7EB"/>
            </a:solidFill>
            <a:prstDash val="solid"/>
          </a:ln>
        </p:spPr>
      </p:sp>
      <p:sp>
        <p:nvSpPr>
          <p:cNvPr id="25" name="Shape 23"/>
          <p:cNvSpPr/>
          <p:nvPr/>
        </p:nvSpPr>
        <p:spPr>
          <a:xfrm>
            <a:off x="338328" y="3323844"/>
            <a:ext cx="347472" cy="132588"/>
          </a:xfrm>
          <a:prstGeom prst="rect">
            <a:avLst/>
          </a:prstGeom>
          <a:solidFill>
            <a:srgbClr val="9CA3AF"/>
          </a:solidFill>
          <a:ln w="12700">
            <a:solidFill>
              <a:srgbClr val="9CA3AF"/>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04-21</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Can Tho Bridge는 과부하 위험에 직면해 있습니다</a:t>
            </a:r>
            <a:endParaRPr lang="en-US" sz="750" dirty="0"/>
          </a:p>
        </p:txBody>
      </p:sp>
      <p:sp>
        <p:nvSpPr>
          <p:cNvPr id="30" name="Shape 28"/>
          <p:cNvSpPr/>
          <p:nvPr/>
        </p:nvSpPr>
        <p:spPr>
          <a:xfrm>
            <a:off x="320040" y="3488436"/>
            <a:ext cx="8503920" cy="196596"/>
          </a:xfrm>
          <a:prstGeom prst="rect">
            <a:avLst/>
          </a:prstGeom>
          <a:solidFill>
            <a:srgbClr val="FFFFFF"/>
          </a:solidFill>
          <a:ln w="12700">
            <a:solidFill>
              <a:srgbClr val="E5E7EB"/>
            </a:solidFill>
            <a:prstDash val="solid"/>
          </a:ln>
        </p:spPr>
      </p:sp>
      <p:sp>
        <p:nvSpPr>
          <p:cNvPr id="31" name="Shape 29"/>
          <p:cNvSpPr/>
          <p:nvPr/>
        </p:nvSpPr>
        <p:spPr>
          <a:xfrm>
            <a:off x="338328" y="3520440"/>
            <a:ext cx="347472" cy="132588"/>
          </a:xfrm>
          <a:prstGeom prst="rect">
            <a:avLst/>
          </a:prstGeom>
          <a:solidFill>
            <a:srgbClr val="9CA3AF"/>
          </a:solidFill>
          <a:ln w="12700">
            <a:solidFill>
              <a:srgbClr val="9CA3AF"/>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04-21</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Can Tho</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SGGP News English</a:t>
            </a:r>
            <a:endParaRPr lang="en-US" sz="750" dirty="0"/>
          </a:p>
        </p:txBody>
      </p:sp>
      <p:sp>
        <p:nvSpPr>
          <p:cNvPr id="36" name="Shape 34"/>
          <p:cNvSpPr/>
          <p:nvPr/>
        </p:nvSpPr>
        <p:spPr>
          <a:xfrm>
            <a:off x="0" y="4942332"/>
            <a:ext cx="9144000" cy="201168"/>
          </a:xfrm>
          <a:prstGeom prst="rect">
            <a:avLst/>
          </a:prstGeom>
          <a:solidFill>
            <a:srgbClr val="0C2340"/>
          </a:solidFill>
          <a:ln w="12700">
            <a:solidFill>
              <a:srgbClr val="0C2340"/>
            </a:solidFill>
            <a:prstDash val="solid"/>
          </a:ln>
        </p:spPr>
      </p:sp>
      <p:sp>
        <p:nvSpPr>
          <p:cNvPr id="37" name="Text 35"/>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38" name="Text 36"/>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VN-MEKONG-DELTA-2030  |</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VN-URB-METRO-2030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도시철도(메트로) 개발 계획</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15건  |  ★신규 3건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20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2468880" cy="82296"/>
          </a:xfrm>
          <a:prstGeom prst="rect">
            <a:avLst/>
          </a:prstGeom>
          <a:solidFill>
            <a:srgbClr val="D4820A"/>
          </a:solidFill>
          <a:ln w="12700">
            <a:solidFill>
              <a:srgbClr val="D4820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D4820A"/>
                </a:solidFill>
                <a:latin typeface="Calibri" pitchFamily="34" charset="0"/>
                <a:ea typeface="Calibri" pitchFamily="34" charset="-122"/>
                <a:cs typeface="Calibri" pitchFamily="34" charset="-120"/>
              </a:rPr>
              <a:t>건설·시공</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2435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2435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**진행단계 맥락 평가:**</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히스토리 기사(4월)는 하노이·호치민시 30개 노선 건설, Long Thanh 공항 연계, TOD(역세권 개발) 정책 수립 등 **전략 수립 → 실행 초기 단계**를 나타냅니다. 신규 기사들은 이를 보완하는 **수요 창출 및 스마트 인프라 통합** 신호입니다.</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**핵심 포인트:**</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**수요 측면**: 아고다 국내 여행 검색 81% 증가 → 메트로 수요 …</a:t>
            </a:r>
            <a:endParaRPr lang="en-US" sz="800" dirty="0"/>
          </a:p>
        </p:txBody>
      </p:sp>
      <p:sp>
        <p:nvSpPr>
          <p:cNvPr id="19" name="Shape 17"/>
          <p:cNvSpPr/>
          <p:nvPr/>
        </p:nvSpPr>
        <p:spPr>
          <a:xfrm>
            <a:off x="4325112" y="2651760"/>
            <a:ext cx="4498848" cy="402336"/>
          </a:xfrm>
          <a:prstGeom prst="rect">
            <a:avLst/>
          </a:prstGeom>
          <a:solidFill>
            <a:srgbClr val="E8EEF4"/>
          </a:solidFill>
          <a:ln w="12700">
            <a:solidFill>
              <a:srgbClr val="0C2340"/>
            </a:solidFill>
            <a:prstDash val="solid"/>
          </a:ln>
        </p:spPr>
      </p:sp>
      <p:sp>
        <p:nvSpPr>
          <p:cNvPr id="20" name="Text 18"/>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1" name="Text 19"/>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호치민시의 스마트시티 통합 추진과 관광 수요 급증(81%)이 메트로 프로젝트의 **투자 타당성을 재강화**하고 있습니다. 베트남이 단순 대중교통을 넘어 **스마트 모빌리티 + 도…</a:t>
            </a:r>
            <a:endParaRPr lang="en-US" sz="750" dirty="0"/>
          </a:p>
        </p:txBody>
      </p:sp>
      <p:sp>
        <p:nvSpPr>
          <p:cNvPr id="22" name="Text 20"/>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3건  +  기존 12건)</a:t>
            </a:r>
            <a:endParaRPr lang="en-US" sz="800" dirty="0"/>
          </a:p>
        </p:txBody>
      </p:sp>
      <p:sp>
        <p:nvSpPr>
          <p:cNvPr id="23" name="Shape 21"/>
          <p:cNvSpPr/>
          <p:nvPr/>
        </p:nvSpPr>
        <p:spPr>
          <a:xfrm>
            <a:off x="320040" y="3108960"/>
            <a:ext cx="8503920" cy="182880"/>
          </a:xfrm>
          <a:prstGeom prst="rect">
            <a:avLst/>
          </a:prstGeom>
          <a:solidFill>
            <a:srgbClr val="374151"/>
          </a:solidFill>
          <a:ln w="12700">
            <a:solidFill>
              <a:srgbClr val="374151"/>
            </a:solidFill>
            <a:prstDash val="solid"/>
          </a:ln>
        </p:spPr>
      </p:sp>
      <p:sp>
        <p:nvSpPr>
          <p:cNvPr id="24" name="Text 22"/>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5" name="Text 23"/>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6" name="Text 24"/>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7" name="Text 25"/>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8" name="Shape 26"/>
          <p:cNvSpPr/>
          <p:nvPr/>
        </p:nvSpPr>
        <p:spPr>
          <a:xfrm>
            <a:off x="320040" y="3291840"/>
            <a:ext cx="8503920" cy="196596"/>
          </a:xfrm>
          <a:prstGeom prst="rect">
            <a:avLst/>
          </a:prstGeom>
          <a:solidFill>
            <a:srgbClr val="FFF9C4"/>
          </a:solidFill>
          <a:ln w="12700">
            <a:solidFill>
              <a:srgbClr val="FCD34D"/>
            </a:solidFill>
            <a:prstDash val="solid"/>
          </a:ln>
        </p:spPr>
      </p:sp>
      <p:sp>
        <p:nvSpPr>
          <p:cNvPr id="29" name="Shape 27"/>
          <p:cNvSpPr/>
          <p:nvPr/>
        </p:nvSpPr>
        <p:spPr>
          <a:xfrm>
            <a:off x="338328" y="3323844"/>
            <a:ext cx="347472" cy="132588"/>
          </a:xfrm>
          <a:prstGeom prst="rect">
            <a:avLst/>
          </a:prstGeom>
          <a:solidFill>
            <a:srgbClr val="F59E0B"/>
          </a:solidFill>
          <a:ln w="12700">
            <a:solidFill>
              <a:srgbClr val="F59E0B"/>
            </a:solidFill>
            <a:prstDash val="solid"/>
          </a:ln>
        </p:spPr>
      </p:sp>
      <p:sp>
        <p:nvSpPr>
          <p:cNvPr id="30" name="Text 28"/>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1" name="Text 29"/>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32" name="Text 30"/>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33" name="Text 31"/>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방콕의 녹색 도시 재생은 동남아시아 도시에 대한 모델을 제공합니다.</a:t>
            </a:r>
            <a:endParaRPr lang="en-US" sz="750" dirty="0"/>
          </a:p>
        </p:txBody>
      </p:sp>
      <p:sp>
        <p:nvSpPr>
          <p:cNvPr id="34" name="Shape 32"/>
          <p:cNvSpPr/>
          <p:nvPr/>
        </p:nvSpPr>
        <p:spPr>
          <a:xfrm>
            <a:off x="320040" y="3488436"/>
            <a:ext cx="8503920" cy="196596"/>
          </a:xfrm>
          <a:prstGeom prst="rect">
            <a:avLst/>
          </a:prstGeom>
          <a:solidFill>
            <a:srgbClr val="FFF9C4"/>
          </a:solidFill>
          <a:ln w="12700">
            <a:solidFill>
              <a:srgbClr val="FCD34D"/>
            </a:solidFill>
            <a:prstDash val="solid"/>
          </a:ln>
        </p:spPr>
      </p:sp>
      <p:sp>
        <p:nvSpPr>
          <p:cNvPr id="35" name="Shape 33"/>
          <p:cNvSpPr/>
          <p:nvPr/>
        </p:nvSpPr>
        <p:spPr>
          <a:xfrm>
            <a:off x="338328" y="3520440"/>
            <a:ext cx="347472" cy="132588"/>
          </a:xfrm>
          <a:prstGeom prst="rect">
            <a:avLst/>
          </a:prstGeom>
          <a:solidFill>
            <a:srgbClr val="F59E0B"/>
          </a:solidFill>
          <a:ln w="12700">
            <a:solidFill>
              <a:srgbClr val="F59E0B"/>
            </a:solidFill>
            <a:prstDash val="solid"/>
          </a:ln>
        </p:spPr>
      </p:sp>
      <p:sp>
        <p:nvSpPr>
          <p:cNvPr id="36" name="Text 34"/>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7" name="Text 35"/>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38" name="Text 36"/>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vir_vn</a:t>
            </a:r>
            <a:endParaRPr lang="en-US" sz="700" dirty="0"/>
          </a:p>
        </p:txBody>
      </p:sp>
      <p:sp>
        <p:nvSpPr>
          <p:cNvPr id="39" name="Text 37"/>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아고다, 베트남 국내 여행 검색 81% 증가</a:t>
            </a:r>
            <a:endParaRPr lang="en-US" sz="750" dirty="0"/>
          </a:p>
        </p:txBody>
      </p:sp>
      <p:sp>
        <p:nvSpPr>
          <p:cNvPr id="40" name="Shape 38"/>
          <p:cNvSpPr/>
          <p:nvPr/>
        </p:nvSpPr>
        <p:spPr>
          <a:xfrm>
            <a:off x="320040" y="3685032"/>
            <a:ext cx="8503920" cy="196596"/>
          </a:xfrm>
          <a:prstGeom prst="rect">
            <a:avLst/>
          </a:prstGeom>
          <a:solidFill>
            <a:srgbClr val="FFF9C4"/>
          </a:solidFill>
          <a:ln w="12700">
            <a:solidFill>
              <a:srgbClr val="FCD34D"/>
            </a:solidFill>
            <a:prstDash val="solid"/>
          </a:ln>
        </p:spPr>
      </p:sp>
      <p:sp>
        <p:nvSpPr>
          <p:cNvPr id="41" name="Shape 39"/>
          <p:cNvSpPr/>
          <p:nvPr/>
        </p:nvSpPr>
        <p:spPr>
          <a:xfrm>
            <a:off x="338328" y="3717036"/>
            <a:ext cx="347472" cy="132588"/>
          </a:xfrm>
          <a:prstGeom prst="rect">
            <a:avLst/>
          </a:prstGeom>
          <a:solidFill>
            <a:srgbClr val="F59E0B"/>
          </a:solidFill>
          <a:ln w="12700">
            <a:solidFill>
              <a:srgbClr val="F59E0B"/>
            </a:solidFill>
            <a:prstDash val="solid"/>
          </a:ln>
        </p:spPr>
      </p:sp>
      <p:sp>
        <p:nvSpPr>
          <p:cNvPr id="42" name="Text 40"/>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43" name="Text 41"/>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05-06</a:t>
            </a:r>
            <a:endParaRPr lang="en-US" sz="700" dirty="0"/>
          </a:p>
        </p:txBody>
      </p:sp>
      <p:sp>
        <p:nvSpPr>
          <p:cNvPr id="44" name="Text 42"/>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vietnamnews…</a:t>
            </a:r>
            <a:endParaRPr lang="en-US" sz="700" dirty="0"/>
          </a:p>
        </p:txBody>
      </p:sp>
      <p:sp>
        <p:nvSpPr>
          <p:cNvPr id="45" name="Text 43"/>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호치민시, 교육, 인프라, 스마트 시티를 연계한 주요 기술 쇼케이스 개최</a:t>
            </a:r>
            <a:endParaRPr lang="en-US" sz="750" dirty="0"/>
          </a:p>
        </p:txBody>
      </p:sp>
      <p:sp>
        <p:nvSpPr>
          <p:cNvPr id="46" name="Shape 44"/>
          <p:cNvSpPr/>
          <p:nvPr/>
        </p:nvSpPr>
        <p:spPr>
          <a:xfrm>
            <a:off x="320040" y="3881628"/>
            <a:ext cx="8503920" cy="196596"/>
          </a:xfrm>
          <a:prstGeom prst="rect">
            <a:avLst/>
          </a:prstGeom>
          <a:solidFill>
            <a:srgbClr val="FFFFFF"/>
          </a:solidFill>
          <a:ln w="12700">
            <a:solidFill>
              <a:srgbClr val="E5E7EB"/>
            </a:solidFill>
            <a:prstDash val="solid"/>
          </a:ln>
        </p:spPr>
      </p:sp>
      <p:sp>
        <p:nvSpPr>
          <p:cNvPr id="47" name="Shape 45"/>
          <p:cNvSpPr/>
          <p:nvPr/>
        </p:nvSpPr>
        <p:spPr>
          <a:xfrm>
            <a:off x="338328" y="3913632"/>
            <a:ext cx="347472" cy="132588"/>
          </a:xfrm>
          <a:prstGeom prst="rect">
            <a:avLst/>
          </a:prstGeom>
          <a:solidFill>
            <a:srgbClr val="1B4F8A"/>
          </a:solidFill>
          <a:ln w="12700">
            <a:solidFill>
              <a:srgbClr val="1B4F8A"/>
            </a:solidFill>
            <a:prstDash val="solid"/>
          </a:ln>
        </p:spPr>
      </p:sp>
      <p:sp>
        <p:nvSpPr>
          <p:cNvPr id="48" name="Text 46"/>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49" name="Text 47"/>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04-05</a:t>
            </a:r>
            <a:endParaRPr lang="en-US" sz="700" dirty="0"/>
          </a:p>
        </p:txBody>
      </p:sp>
      <p:sp>
        <p:nvSpPr>
          <p:cNvPr id="50" name="Text 48"/>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51" name="Text 49"/>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호치민시, 지하철 2호선 건설 가속화</a:t>
            </a:r>
            <a:endParaRPr lang="en-US" sz="750" dirty="0"/>
          </a:p>
        </p:txBody>
      </p:sp>
      <p:sp>
        <p:nvSpPr>
          <p:cNvPr id="52" name="Shape 50"/>
          <p:cNvSpPr/>
          <p:nvPr/>
        </p:nvSpPr>
        <p:spPr>
          <a:xfrm>
            <a:off x="320040" y="4078224"/>
            <a:ext cx="8503920" cy="196596"/>
          </a:xfrm>
          <a:prstGeom prst="rect">
            <a:avLst/>
          </a:prstGeom>
          <a:solidFill>
            <a:srgbClr val="FFFFFF"/>
          </a:solidFill>
          <a:ln w="12700">
            <a:solidFill>
              <a:srgbClr val="E5E7EB"/>
            </a:solidFill>
            <a:prstDash val="solid"/>
          </a:ln>
        </p:spPr>
      </p:sp>
      <p:sp>
        <p:nvSpPr>
          <p:cNvPr id="53" name="Shape 51"/>
          <p:cNvSpPr/>
          <p:nvPr/>
        </p:nvSpPr>
        <p:spPr>
          <a:xfrm>
            <a:off x="338328" y="4110228"/>
            <a:ext cx="347472" cy="132588"/>
          </a:xfrm>
          <a:prstGeom prst="rect">
            <a:avLst/>
          </a:prstGeom>
          <a:solidFill>
            <a:srgbClr val="9CA3AF"/>
          </a:solidFill>
          <a:ln w="12700">
            <a:solidFill>
              <a:srgbClr val="9CA3AF"/>
            </a:solidFill>
            <a:prstDash val="solid"/>
          </a:ln>
        </p:spPr>
      </p:sp>
      <p:sp>
        <p:nvSpPr>
          <p:cNvPr id="54" name="Text 52"/>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5" name="Text 53"/>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04-04</a:t>
            </a:r>
            <a:endParaRPr lang="en-US" sz="700" dirty="0"/>
          </a:p>
        </p:txBody>
      </p:sp>
      <p:sp>
        <p:nvSpPr>
          <p:cNvPr id="56" name="Text 54"/>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57" name="Text 55"/>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호치민시 지도자들이 지하철 2호선 현장 조사를 실시합니다.</a:t>
            </a:r>
            <a:endParaRPr lang="en-US" sz="750" dirty="0"/>
          </a:p>
        </p:txBody>
      </p:sp>
      <p:sp>
        <p:nvSpPr>
          <p:cNvPr id="58" name="Shape 56"/>
          <p:cNvSpPr/>
          <p:nvPr/>
        </p:nvSpPr>
        <p:spPr>
          <a:xfrm>
            <a:off x="320040" y="4274820"/>
            <a:ext cx="8503920" cy="196596"/>
          </a:xfrm>
          <a:prstGeom prst="rect">
            <a:avLst/>
          </a:prstGeom>
          <a:solidFill>
            <a:srgbClr val="FFFFFF"/>
          </a:solidFill>
          <a:ln w="12700">
            <a:solidFill>
              <a:srgbClr val="E5E7EB"/>
            </a:solidFill>
            <a:prstDash val="solid"/>
          </a:ln>
        </p:spPr>
      </p:sp>
      <p:sp>
        <p:nvSpPr>
          <p:cNvPr id="59" name="Shape 57"/>
          <p:cNvSpPr/>
          <p:nvPr/>
        </p:nvSpPr>
        <p:spPr>
          <a:xfrm>
            <a:off x="338328" y="4306824"/>
            <a:ext cx="347472" cy="132588"/>
          </a:xfrm>
          <a:prstGeom prst="rect">
            <a:avLst/>
          </a:prstGeom>
          <a:solidFill>
            <a:srgbClr val="9CA3AF"/>
          </a:solidFill>
          <a:ln w="12700">
            <a:solidFill>
              <a:srgbClr val="9CA3AF"/>
            </a:solidFill>
            <a:prstDash val="solid"/>
          </a:ln>
        </p:spPr>
      </p:sp>
      <p:sp>
        <p:nvSpPr>
          <p:cNvPr id="60" name="Text 58"/>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1" name="Text 59"/>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04-04</a:t>
            </a:r>
            <a:endParaRPr lang="en-US" sz="700" dirty="0"/>
          </a:p>
        </p:txBody>
      </p:sp>
      <p:sp>
        <p:nvSpPr>
          <p:cNvPr id="62" name="Text 60"/>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Ho Chi Minh…</a:t>
            </a:r>
            <a:endParaRPr lang="en-US" sz="700" dirty="0"/>
          </a:p>
        </p:txBody>
      </p:sp>
      <p:sp>
        <p:nvSpPr>
          <p:cNvPr id="63" name="Text 61"/>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SGGP News English</a:t>
            </a:r>
            <a:endParaRPr lang="en-US" sz="750" dirty="0"/>
          </a:p>
        </p:txBody>
      </p:sp>
      <p:sp>
        <p:nvSpPr>
          <p:cNvPr id="64" name="Shape 62"/>
          <p:cNvSpPr/>
          <p:nvPr/>
        </p:nvSpPr>
        <p:spPr>
          <a:xfrm>
            <a:off x="320040" y="4471416"/>
            <a:ext cx="8503920" cy="196596"/>
          </a:xfrm>
          <a:prstGeom prst="rect">
            <a:avLst/>
          </a:prstGeom>
          <a:solidFill>
            <a:srgbClr val="FFFFFF"/>
          </a:solidFill>
          <a:ln w="12700">
            <a:solidFill>
              <a:srgbClr val="E5E7EB"/>
            </a:solidFill>
            <a:prstDash val="solid"/>
          </a:ln>
        </p:spPr>
      </p:sp>
      <p:sp>
        <p:nvSpPr>
          <p:cNvPr id="65" name="Shape 63"/>
          <p:cNvSpPr/>
          <p:nvPr/>
        </p:nvSpPr>
        <p:spPr>
          <a:xfrm>
            <a:off x="338328" y="4503420"/>
            <a:ext cx="347472" cy="132588"/>
          </a:xfrm>
          <a:prstGeom prst="rect">
            <a:avLst/>
          </a:prstGeom>
          <a:solidFill>
            <a:srgbClr val="9CA3AF"/>
          </a:solidFill>
          <a:ln w="12700">
            <a:solidFill>
              <a:srgbClr val="9CA3AF"/>
            </a:solidFill>
            <a:prstDash val="solid"/>
          </a:ln>
        </p:spPr>
      </p:sp>
      <p:sp>
        <p:nvSpPr>
          <p:cNvPr id="66" name="Text 64"/>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7" name="Text 65"/>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04-05</a:t>
            </a:r>
            <a:endParaRPr lang="en-US" sz="700" dirty="0"/>
          </a:p>
        </p:txBody>
      </p:sp>
      <p:sp>
        <p:nvSpPr>
          <p:cNvPr id="68" name="Text 66"/>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Ho Chi Minh…</a:t>
            </a:r>
            <a:endParaRPr lang="en-US" sz="700" dirty="0"/>
          </a:p>
        </p:txBody>
      </p:sp>
      <p:sp>
        <p:nvSpPr>
          <p:cNvPr id="69" name="Text 67"/>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SGGP News English</a:t>
            </a:r>
            <a:endParaRPr lang="en-US" sz="750" dirty="0"/>
          </a:p>
        </p:txBody>
      </p:sp>
      <p:sp>
        <p:nvSpPr>
          <p:cNvPr id="70" name="Shape 68"/>
          <p:cNvSpPr/>
          <p:nvPr/>
        </p:nvSpPr>
        <p:spPr>
          <a:xfrm>
            <a:off x="320040" y="4668012"/>
            <a:ext cx="8503920" cy="196596"/>
          </a:xfrm>
          <a:prstGeom prst="rect">
            <a:avLst/>
          </a:prstGeom>
          <a:solidFill>
            <a:srgbClr val="FFFFFF"/>
          </a:solidFill>
          <a:ln w="12700">
            <a:solidFill>
              <a:srgbClr val="E5E7EB"/>
            </a:solidFill>
            <a:prstDash val="solid"/>
          </a:ln>
        </p:spPr>
      </p:sp>
      <p:sp>
        <p:nvSpPr>
          <p:cNvPr id="71" name="Shape 69"/>
          <p:cNvSpPr/>
          <p:nvPr/>
        </p:nvSpPr>
        <p:spPr>
          <a:xfrm>
            <a:off x="338328" y="4700016"/>
            <a:ext cx="347472" cy="132588"/>
          </a:xfrm>
          <a:prstGeom prst="rect">
            <a:avLst/>
          </a:prstGeom>
          <a:solidFill>
            <a:srgbClr val="9CA3AF"/>
          </a:solidFill>
          <a:ln w="12700">
            <a:solidFill>
              <a:srgbClr val="9CA3AF"/>
            </a:solidFill>
            <a:prstDash val="solid"/>
          </a:ln>
        </p:spPr>
      </p:sp>
      <p:sp>
        <p:nvSpPr>
          <p:cNvPr id="72" name="Text 70"/>
          <p:cNvSpPr/>
          <p:nvPr/>
        </p:nvSpPr>
        <p:spPr>
          <a:xfrm>
            <a:off x="338328" y="470001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73" name="Text 71"/>
          <p:cNvSpPr/>
          <p:nvPr/>
        </p:nvSpPr>
        <p:spPr>
          <a:xfrm>
            <a:off x="704088" y="466801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04-14</a:t>
            </a:r>
            <a:endParaRPr lang="en-US" sz="700" dirty="0"/>
          </a:p>
        </p:txBody>
      </p:sp>
      <p:sp>
        <p:nvSpPr>
          <p:cNvPr id="74" name="Text 72"/>
          <p:cNvSpPr/>
          <p:nvPr/>
        </p:nvSpPr>
        <p:spPr>
          <a:xfrm>
            <a:off x="1298448" y="466801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E…</a:t>
            </a:r>
            <a:endParaRPr lang="en-US" sz="700" dirty="0"/>
          </a:p>
        </p:txBody>
      </p:sp>
      <p:sp>
        <p:nvSpPr>
          <p:cNvPr id="75" name="Text 73"/>
          <p:cNvSpPr/>
          <p:nvPr/>
        </p:nvSpPr>
        <p:spPr>
          <a:xfrm>
            <a:off x="2075688" y="466801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HCMC, 2차 지하철 노선 건설을 위해 시내 나무 400그루 이동</a:t>
            </a:r>
            <a:endParaRPr lang="en-US" sz="750" dirty="0"/>
          </a:p>
        </p:txBody>
      </p:sp>
      <p:sp>
        <p:nvSpPr>
          <p:cNvPr id="76" name="Text 74"/>
          <p:cNvSpPr/>
          <p:nvPr/>
        </p:nvSpPr>
        <p:spPr>
          <a:xfrm>
            <a:off x="320040" y="4777740"/>
            <a:ext cx="8503920" cy="128016"/>
          </a:xfrm>
          <a:prstGeom prst="rect">
            <a:avLst/>
          </a:prstGeom>
          <a:noFill/>
          <a:ln/>
        </p:spPr>
        <p:txBody>
          <a:bodyPr wrap="square" lIns="0" tIns="0" rIns="0" bIns="0" rtlCol="0" anchor="ctr"/>
          <a:lstStyle/>
          <a:p>
            <a:pPr algn="r" indent="0" marL="0">
              <a:buNone/>
            </a:pPr>
            <a:r>
              <a:rPr lang="en-US" sz="650" dirty="0">
                <a:solidFill>
                  <a:srgbClr val="9CA3AF"/>
                </a:solidFill>
                <a:latin typeface="Calibri" pitchFamily="34" charset="0"/>
                <a:ea typeface="Calibri" pitchFamily="34" charset="-122"/>
                <a:cs typeface="Calibri" pitchFamily="34" charset="-120"/>
              </a:rPr>
              <a:t>+ 7건 추가 기사 — Word 보고서 참조</a:t>
            </a:r>
            <a:endParaRPr lang="en-US" sz="650" dirty="0"/>
          </a:p>
        </p:txBody>
      </p:sp>
      <p:sp>
        <p:nvSpPr>
          <p:cNvPr id="77" name="Shape 75"/>
          <p:cNvSpPr/>
          <p:nvPr/>
        </p:nvSpPr>
        <p:spPr>
          <a:xfrm>
            <a:off x="0" y="4942332"/>
            <a:ext cx="9144000" cy="201168"/>
          </a:xfrm>
          <a:prstGeom prst="rect">
            <a:avLst/>
          </a:prstGeom>
          <a:solidFill>
            <a:srgbClr val="0C2340"/>
          </a:solidFill>
          <a:ln w="12700">
            <a:solidFill>
              <a:srgbClr val="0C2340"/>
            </a:solidFill>
            <a:prstDash val="solid"/>
          </a:ln>
        </p:spPr>
      </p:sp>
      <p:sp>
        <p:nvSpPr>
          <p:cNvPr id="78" name="Text 76"/>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9" name="Text 77"/>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VN-URB-METRO-2030  |</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VN-SC-2030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스마트시티 개발 프로그램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r>
              <a:rPr lang="en-US" sz="750" dirty="0">
                <a:solidFill>
                  <a:srgbClr val="E8EEF4"/>
                </a:solidFill>
                <a:latin typeface="Calibri" pitchFamily="34" charset="0"/>
                <a:ea typeface="Calibri" pitchFamily="34" charset="-122"/>
                <a:cs typeface="Calibri" pitchFamily="34" charset="-120"/>
              </a:rPr>
              <a:t>Decision 950/QĐ-TTg (2018)</a:t>
            </a: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5건  |  ★신규 1건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21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4114800" cy="82296"/>
          </a:xfrm>
          <a:prstGeom prst="rect">
            <a:avLst/>
          </a:prstGeom>
          <a:solidFill>
            <a:srgbClr val="0D6E6E"/>
          </a:solidFill>
          <a:ln w="12700">
            <a:solidFill>
              <a:srgbClr val="0D6E6E"/>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0D6E6E"/>
                </a:solidFill>
                <a:latin typeface="Calibri" pitchFamily="34" charset="0"/>
                <a:ea typeface="Calibri" pitchFamily="34" charset="-122"/>
                <a:cs typeface="Calibri" pitchFamily="34" charset="-120"/>
              </a:rPr>
              <a:t>운영·확장</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7007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7007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 VN-SC-2030 분석 리포트 (2026-05-05 업데이트)</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1. 최신 뉴스 분석</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**진행단계 평가:**</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히스토리 기사들(2026년 2~4월)은 5G·블록체인·디지털전환 등 **ICT 인프라 기층 구축 단계**를 보여주며, 신규 기사는 **활용층 확대 단계**로의 진입을 시사합니다. 특히 휴(Hue) 문화관광 앱(2018→2026년 디지털전환)은 스마트시티 인프라의…</a:t>
            </a:r>
            <a:endParaRPr lang="en-US" sz="800" dirty="0"/>
          </a:p>
        </p:txBody>
      </p:sp>
      <p:sp>
        <p:nvSpPr>
          <p:cNvPr id="19" name="Text 17"/>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1건  +  기존 4건)</a:t>
            </a:r>
            <a:endParaRPr lang="en-US" sz="800" dirty="0"/>
          </a:p>
        </p:txBody>
      </p:sp>
      <p:sp>
        <p:nvSpPr>
          <p:cNvPr id="20" name="Shape 18"/>
          <p:cNvSpPr/>
          <p:nvPr/>
        </p:nvSpPr>
        <p:spPr>
          <a:xfrm>
            <a:off x="320040" y="3108960"/>
            <a:ext cx="8503920" cy="182880"/>
          </a:xfrm>
          <a:prstGeom prst="rect">
            <a:avLst/>
          </a:prstGeom>
          <a:solidFill>
            <a:srgbClr val="374151"/>
          </a:solidFill>
          <a:ln w="12700">
            <a:solidFill>
              <a:srgbClr val="374151"/>
            </a:solidFill>
            <a:prstDash val="solid"/>
          </a:ln>
        </p:spPr>
      </p:sp>
      <p:sp>
        <p:nvSpPr>
          <p:cNvPr id="21" name="Text 19"/>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2" name="Text 20"/>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3" name="Text 21"/>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4" name="Text 22"/>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5" name="Shape 23"/>
          <p:cNvSpPr/>
          <p:nvPr/>
        </p:nvSpPr>
        <p:spPr>
          <a:xfrm>
            <a:off x="320040" y="3291840"/>
            <a:ext cx="8503920" cy="196596"/>
          </a:xfrm>
          <a:prstGeom prst="rect">
            <a:avLst/>
          </a:prstGeom>
          <a:solidFill>
            <a:srgbClr val="FFF9C4"/>
          </a:solidFill>
          <a:ln w="12700">
            <a:solidFill>
              <a:srgbClr val="FCD34D"/>
            </a:solidFill>
            <a:prstDash val="solid"/>
          </a:ln>
        </p:spPr>
      </p:sp>
      <p:sp>
        <p:nvSpPr>
          <p:cNvPr id="26" name="Shape 24"/>
          <p:cNvSpPr/>
          <p:nvPr/>
        </p:nvSpPr>
        <p:spPr>
          <a:xfrm>
            <a:off x="338328" y="3323844"/>
            <a:ext cx="347472" cy="132588"/>
          </a:xfrm>
          <a:prstGeom prst="rect">
            <a:avLst/>
          </a:prstGeom>
          <a:solidFill>
            <a:srgbClr val="F59E0B"/>
          </a:solidFill>
          <a:ln w="12700">
            <a:solidFill>
              <a:srgbClr val="F59E0B"/>
            </a:solidFill>
            <a:prstDash val="solid"/>
          </a:ln>
        </p:spPr>
      </p:sp>
      <p:sp>
        <p:nvSpPr>
          <p:cNvPr id="27" name="Text 25"/>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28" name="Text 26"/>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05-05</a:t>
            </a:r>
            <a:endParaRPr lang="en-US" sz="700" dirty="0"/>
          </a:p>
        </p:txBody>
      </p:sp>
      <p:sp>
        <p:nvSpPr>
          <p:cNvPr id="29" name="Text 27"/>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30" name="Text 28"/>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문화 관광을 재구성하는 요리, 문화유산 여권</a:t>
            </a:r>
            <a:endParaRPr lang="en-US" sz="750" dirty="0"/>
          </a:p>
        </p:txBody>
      </p:sp>
      <p:sp>
        <p:nvSpPr>
          <p:cNvPr id="31" name="Shape 29"/>
          <p:cNvSpPr/>
          <p:nvPr/>
        </p:nvSpPr>
        <p:spPr>
          <a:xfrm>
            <a:off x="320040" y="3488436"/>
            <a:ext cx="8503920" cy="196596"/>
          </a:xfrm>
          <a:prstGeom prst="rect">
            <a:avLst/>
          </a:prstGeom>
          <a:solidFill>
            <a:srgbClr val="FFFFFF"/>
          </a:solidFill>
          <a:ln w="12700">
            <a:solidFill>
              <a:srgbClr val="E5E7EB"/>
            </a:solidFill>
            <a:prstDash val="solid"/>
          </a:ln>
        </p:spPr>
      </p:sp>
      <p:sp>
        <p:nvSpPr>
          <p:cNvPr id="32" name="Shape 30"/>
          <p:cNvSpPr/>
          <p:nvPr/>
        </p:nvSpPr>
        <p:spPr>
          <a:xfrm>
            <a:off x="338328" y="3520440"/>
            <a:ext cx="347472" cy="132588"/>
          </a:xfrm>
          <a:prstGeom prst="rect">
            <a:avLst/>
          </a:prstGeom>
          <a:solidFill>
            <a:srgbClr val="9CA3AF"/>
          </a:solidFill>
          <a:ln w="12700">
            <a:solidFill>
              <a:srgbClr val="9CA3AF"/>
            </a:solidFill>
            <a:prstDash val="solid"/>
          </a:ln>
        </p:spPr>
      </p:sp>
      <p:sp>
        <p:nvSpPr>
          <p:cNvPr id="33" name="Text 31"/>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4" name="Text 32"/>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02-25</a:t>
            </a:r>
            <a:endParaRPr lang="en-US" sz="700" dirty="0"/>
          </a:p>
        </p:txBody>
      </p:sp>
      <p:sp>
        <p:nvSpPr>
          <p:cNvPr id="35" name="Text 33"/>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36" name="Text 34"/>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디지털 경제를 위한 최초의 국가 블록체인 인프라 출시</a:t>
            </a:r>
            <a:endParaRPr lang="en-US" sz="750" dirty="0"/>
          </a:p>
        </p:txBody>
      </p:sp>
      <p:sp>
        <p:nvSpPr>
          <p:cNvPr id="37" name="Shape 35"/>
          <p:cNvSpPr/>
          <p:nvPr/>
        </p:nvSpPr>
        <p:spPr>
          <a:xfrm>
            <a:off x="320040" y="3685032"/>
            <a:ext cx="8503920" cy="196596"/>
          </a:xfrm>
          <a:prstGeom prst="rect">
            <a:avLst/>
          </a:prstGeom>
          <a:solidFill>
            <a:srgbClr val="FFFFFF"/>
          </a:solidFill>
          <a:ln w="12700">
            <a:solidFill>
              <a:srgbClr val="E5E7EB"/>
            </a:solidFill>
            <a:prstDash val="solid"/>
          </a:ln>
        </p:spPr>
      </p:sp>
      <p:sp>
        <p:nvSpPr>
          <p:cNvPr id="38" name="Shape 36"/>
          <p:cNvSpPr/>
          <p:nvPr/>
        </p:nvSpPr>
        <p:spPr>
          <a:xfrm>
            <a:off x="338328" y="3717036"/>
            <a:ext cx="347472" cy="132588"/>
          </a:xfrm>
          <a:prstGeom prst="rect">
            <a:avLst/>
          </a:prstGeom>
          <a:solidFill>
            <a:srgbClr val="9CA3AF"/>
          </a:solidFill>
          <a:ln w="12700">
            <a:solidFill>
              <a:srgbClr val="9CA3AF"/>
            </a:solidFill>
            <a:prstDash val="solid"/>
          </a:ln>
        </p:spPr>
      </p:sp>
      <p:sp>
        <p:nvSpPr>
          <p:cNvPr id="39" name="Text 37"/>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0" name="Text 38"/>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03-05</a:t>
            </a:r>
            <a:endParaRPr lang="en-US" sz="700" dirty="0"/>
          </a:p>
        </p:txBody>
      </p:sp>
      <p:sp>
        <p:nvSpPr>
          <p:cNvPr id="41" name="Text 39"/>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42" name="Text 40"/>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스마트 시티와 디지털 산업단지를 강화하기 위한 5G 출시 가속화</a:t>
            </a:r>
            <a:endParaRPr lang="en-US" sz="750" dirty="0"/>
          </a:p>
        </p:txBody>
      </p:sp>
      <p:sp>
        <p:nvSpPr>
          <p:cNvPr id="43" name="Shape 41"/>
          <p:cNvSpPr/>
          <p:nvPr/>
        </p:nvSpPr>
        <p:spPr>
          <a:xfrm>
            <a:off x="320040" y="3881628"/>
            <a:ext cx="8503920" cy="196596"/>
          </a:xfrm>
          <a:prstGeom prst="rect">
            <a:avLst/>
          </a:prstGeom>
          <a:solidFill>
            <a:srgbClr val="FFFFFF"/>
          </a:solidFill>
          <a:ln w="12700">
            <a:solidFill>
              <a:srgbClr val="E5E7EB"/>
            </a:solidFill>
            <a:prstDash val="solid"/>
          </a:ln>
        </p:spPr>
      </p:sp>
      <p:sp>
        <p:nvSpPr>
          <p:cNvPr id="44" name="Shape 42"/>
          <p:cNvSpPr/>
          <p:nvPr/>
        </p:nvSpPr>
        <p:spPr>
          <a:xfrm>
            <a:off x="338328" y="3913632"/>
            <a:ext cx="347472" cy="132588"/>
          </a:xfrm>
          <a:prstGeom prst="rect">
            <a:avLst/>
          </a:prstGeom>
          <a:solidFill>
            <a:srgbClr val="9CA3AF"/>
          </a:solidFill>
          <a:ln w="12700">
            <a:solidFill>
              <a:srgbClr val="9CA3AF"/>
            </a:solidFill>
            <a:prstDash val="solid"/>
          </a:ln>
        </p:spPr>
      </p:sp>
      <p:sp>
        <p:nvSpPr>
          <p:cNvPr id="45" name="Text 43"/>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6" name="Text 44"/>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04-09</a:t>
            </a:r>
            <a:endParaRPr lang="en-US" sz="700" dirty="0"/>
          </a:p>
        </p:txBody>
      </p:sp>
      <p:sp>
        <p:nvSpPr>
          <p:cNvPr id="47" name="Text 45"/>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48" name="Text 46"/>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호치민시에서 애국적 경쟁 운동이 획기적인 발전을 이끌고 있다</a:t>
            </a:r>
            <a:endParaRPr lang="en-US" sz="750" dirty="0"/>
          </a:p>
        </p:txBody>
      </p:sp>
      <p:sp>
        <p:nvSpPr>
          <p:cNvPr id="49" name="Shape 47"/>
          <p:cNvSpPr/>
          <p:nvPr/>
        </p:nvSpPr>
        <p:spPr>
          <a:xfrm>
            <a:off x="320040" y="4078224"/>
            <a:ext cx="8503920" cy="196596"/>
          </a:xfrm>
          <a:prstGeom prst="rect">
            <a:avLst/>
          </a:prstGeom>
          <a:solidFill>
            <a:srgbClr val="FFFFFF"/>
          </a:solidFill>
          <a:ln w="12700">
            <a:solidFill>
              <a:srgbClr val="E5E7EB"/>
            </a:solidFill>
            <a:prstDash val="solid"/>
          </a:ln>
        </p:spPr>
      </p:sp>
      <p:sp>
        <p:nvSpPr>
          <p:cNvPr id="50" name="Shape 48"/>
          <p:cNvSpPr/>
          <p:nvPr/>
        </p:nvSpPr>
        <p:spPr>
          <a:xfrm>
            <a:off x="338328" y="4110228"/>
            <a:ext cx="347472" cy="132588"/>
          </a:xfrm>
          <a:prstGeom prst="rect">
            <a:avLst/>
          </a:prstGeom>
          <a:solidFill>
            <a:srgbClr val="9CA3AF"/>
          </a:solidFill>
          <a:ln w="12700">
            <a:solidFill>
              <a:srgbClr val="9CA3AF"/>
            </a:solidFill>
            <a:prstDash val="solid"/>
          </a:ln>
        </p:spPr>
      </p:sp>
      <p:sp>
        <p:nvSpPr>
          <p:cNvPr id="51" name="Text 49"/>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2" name="Text 50"/>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04-20</a:t>
            </a:r>
            <a:endParaRPr lang="en-US" sz="700" dirty="0"/>
          </a:p>
        </p:txBody>
      </p:sp>
      <p:sp>
        <p:nvSpPr>
          <p:cNvPr id="53" name="Text 51"/>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 New…</a:t>
            </a:r>
            <a:endParaRPr lang="en-US" sz="700" dirty="0"/>
          </a:p>
        </p:txBody>
      </p:sp>
      <p:sp>
        <p:nvSpPr>
          <p:cNvPr id="54" name="Text 52"/>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SHB는 디지털 전환을 촉진하기 위해 Huawei와 협력합니다</a:t>
            </a:r>
            <a:endParaRPr lang="en-US" sz="750" dirty="0"/>
          </a:p>
        </p:txBody>
      </p:sp>
      <p:sp>
        <p:nvSpPr>
          <p:cNvPr id="55" name="Shape 53"/>
          <p:cNvSpPr/>
          <p:nvPr/>
        </p:nvSpPr>
        <p:spPr>
          <a:xfrm>
            <a:off x="0" y="4942332"/>
            <a:ext cx="9144000" cy="201168"/>
          </a:xfrm>
          <a:prstGeom prst="rect">
            <a:avLst/>
          </a:prstGeom>
          <a:solidFill>
            <a:srgbClr val="0C2340"/>
          </a:solidFill>
          <a:ln w="12700">
            <a:solidFill>
              <a:srgbClr val="0C2340"/>
            </a:solidFill>
            <a:prstDash val="solid"/>
          </a:ln>
        </p:spPr>
      </p:sp>
      <p:sp>
        <p:nvSpPr>
          <p:cNvPr id="56" name="Text 54"/>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57" name="Text 55"/>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VN-SC-2030  |</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VN-EV-2030</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베트남 전기차·친환경 교통 전략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5건  |  ★신규 1건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22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2468880" cy="82296"/>
          </a:xfrm>
          <a:prstGeom prst="rect">
            <a:avLst/>
          </a:prstGeom>
          <a:solidFill>
            <a:srgbClr val="D4820A"/>
          </a:solidFill>
          <a:ln w="12700">
            <a:solidFill>
              <a:srgbClr val="D4820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D4820A"/>
                </a:solidFill>
                <a:latin typeface="Calibri" pitchFamily="34" charset="0"/>
                <a:ea typeface="Calibri" pitchFamily="34" charset="-122"/>
                <a:cs typeface="Calibri" pitchFamily="34" charset="-120"/>
              </a:rPr>
              <a:t>건설·시공</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2435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2435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히스토리 4건은 EV 전환(VinFast 순수 전기차 전환, 전기버스 보급, 충전·배터리 인프라)에 집중된 반면, 신규 기사는 **E10 휘발유 전국 출시**로 기존 내연기관 차량 기반 시장의 저탄소 전환 전략을 보여줍니다. </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★**핵심 변화: 이중 경로 전략 확인** — EV 직접 전환과 함께 기존 가솔린 인프라의 바이오에탄올 혼합(E10)으로 과도기 배출 감축. 단, **KPI 목표 …</a:t>
            </a:r>
            <a:endParaRPr lang="en-US" sz="800" dirty="0"/>
          </a:p>
        </p:txBody>
      </p:sp>
      <p:sp>
        <p:nvSpPr>
          <p:cNvPr id="19" name="Shape 17"/>
          <p:cNvSpPr/>
          <p:nvPr/>
        </p:nvSpPr>
        <p:spPr>
          <a:xfrm>
            <a:off x="4325112" y="2651760"/>
            <a:ext cx="4498848" cy="402336"/>
          </a:xfrm>
          <a:prstGeom prst="rect">
            <a:avLst/>
          </a:prstGeom>
          <a:solidFill>
            <a:srgbClr val="E8EEF4"/>
          </a:solidFill>
          <a:ln w="12700">
            <a:solidFill>
              <a:srgbClr val="0C2340"/>
            </a:solidFill>
            <a:prstDash val="solid"/>
          </a:ln>
        </p:spPr>
      </p:sp>
      <p:sp>
        <p:nvSpPr>
          <p:cNvPr id="20" name="Text 18"/>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1" name="Text 19"/>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E10 도입은 EV 전환 시간을 벌기 위한 과도기 전략이지만, 정책 일관성 측면에서 2030년 탄소중립 목표와의 명확한 연계고리 부재가 우려됩니다. 정책 체계화와 통합 에너지 전…</a:t>
            </a:r>
            <a:endParaRPr lang="en-US" sz="750" dirty="0"/>
          </a:p>
        </p:txBody>
      </p:sp>
      <p:sp>
        <p:nvSpPr>
          <p:cNvPr id="22" name="Text 20"/>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1건  +  기존 4건)</a:t>
            </a:r>
            <a:endParaRPr lang="en-US" sz="800" dirty="0"/>
          </a:p>
        </p:txBody>
      </p:sp>
      <p:sp>
        <p:nvSpPr>
          <p:cNvPr id="23" name="Shape 21"/>
          <p:cNvSpPr/>
          <p:nvPr/>
        </p:nvSpPr>
        <p:spPr>
          <a:xfrm>
            <a:off x="320040" y="3108960"/>
            <a:ext cx="8503920" cy="182880"/>
          </a:xfrm>
          <a:prstGeom prst="rect">
            <a:avLst/>
          </a:prstGeom>
          <a:solidFill>
            <a:srgbClr val="374151"/>
          </a:solidFill>
          <a:ln w="12700">
            <a:solidFill>
              <a:srgbClr val="374151"/>
            </a:solidFill>
            <a:prstDash val="solid"/>
          </a:ln>
        </p:spPr>
      </p:sp>
      <p:sp>
        <p:nvSpPr>
          <p:cNvPr id="24" name="Text 22"/>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5" name="Text 23"/>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6" name="Text 24"/>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7" name="Text 25"/>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8" name="Shape 26"/>
          <p:cNvSpPr/>
          <p:nvPr/>
        </p:nvSpPr>
        <p:spPr>
          <a:xfrm>
            <a:off x="320040" y="3291840"/>
            <a:ext cx="8503920" cy="196596"/>
          </a:xfrm>
          <a:prstGeom prst="rect">
            <a:avLst/>
          </a:prstGeom>
          <a:solidFill>
            <a:srgbClr val="FFF9C4"/>
          </a:solidFill>
          <a:ln w="12700">
            <a:solidFill>
              <a:srgbClr val="FCD34D"/>
            </a:solidFill>
            <a:prstDash val="solid"/>
          </a:ln>
        </p:spPr>
      </p:sp>
      <p:sp>
        <p:nvSpPr>
          <p:cNvPr id="29" name="Shape 27"/>
          <p:cNvSpPr/>
          <p:nvPr/>
        </p:nvSpPr>
        <p:spPr>
          <a:xfrm>
            <a:off x="338328" y="3323844"/>
            <a:ext cx="347472" cy="132588"/>
          </a:xfrm>
          <a:prstGeom prst="rect">
            <a:avLst/>
          </a:prstGeom>
          <a:solidFill>
            <a:srgbClr val="F59E0B"/>
          </a:solidFill>
          <a:ln w="12700">
            <a:solidFill>
              <a:srgbClr val="F59E0B"/>
            </a:solidFill>
            <a:prstDash val="solid"/>
          </a:ln>
        </p:spPr>
      </p:sp>
      <p:sp>
        <p:nvSpPr>
          <p:cNvPr id="30" name="Text 28"/>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1" name="Text 29"/>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32" name="Text 30"/>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vietnamplus</a:t>
            </a:r>
            <a:endParaRPr lang="en-US" sz="700" dirty="0"/>
          </a:p>
        </p:txBody>
      </p:sp>
      <p:sp>
        <p:nvSpPr>
          <p:cNvPr id="33" name="Text 31"/>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PVOIL, 5월 15일부터 E10 가솔린 전국 출시</a:t>
            </a:r>
            <a:endParaRPr lang="en-US" sz="750" dirty="0"/>
          </a:p>
        </p:txBody>
      </p:sp>
      <p:sp>
        <p:nvSpPr>
          <p:cNvPr id="34" name="Shape 32"/>
          <p:cNvSpPr/>
          <p:nvPr/>
        </p:nvSpPr>
        <p:spPr>
          <a:xfrm>
            <a:off x="320040" y="3488436"/>
            <a:ext cx="8503920" cy="196596"/>
          </a:xfrm>
          <a:prstGeom prst="rect">
            <a:avLst/>
          </a:prstGeom>
          <a:solidFill>
            <a:srgbClr val="FFFFFF"/>
          </a:solidFill>
          <a:ln w="12700">
            <a:solidFill>
              <a:srgbClr val="E5E7EB"/>
            </a:solidFill>
            <a:prstDash val="solid"/>
          </a:ln>
        </p:spPr>
      </p:sp>
      <p:sp>
        <p:nvSpPr>
          <p:cNvPr id="35" name="Shape 33"/>
          <p:cNvSpPr/>
          <p:nvPr/>
        </p:nvSpPr>
        <p:spPr>
          <a:xfrm>
            <a:off x="338328" y="3520440"/>
            <a:ext cx="347472" cy="132588"/>
          </a:xfrm>
          <a:prstGeom prst="rect">
            <a:avLst/>
          </a:prstGeom>
          <a:solidFill>
            <a:srgbClr val="9CA3AF"/>
          </a:solidFill>
          <a:ln w="12700">
            <a:solidFill>
              <a:srgbClr val="9CA3AF"/>
            </a:solidFill>
            <a:prstDash val="solid"/>
          </a:ln>
        </p:spPr>
      </p:sp>
      <p:sp>
        <p:nvSpPr>
          <p:cNvPr id="36" name="Text 34"/>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7" name="Text 35"/>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04-07</a:t>
            </a:r>
            <a:endParaRPr lang="en-US" sz="700" dirty="0"/>
          </a:p>
        </p:txBody>
      </p:sp>
      <p:sp>
        <p:nvSpPr>
          <p:cNvPr id="38" name="Text 36"/>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39" name="Text 37"/>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하노이, 전기차 배터리 교환망 구축에 박차를 가하고 있다</a:t>
            </a:r>
            <a:endParaRPr lang="en-US" sz="750" dirty="0"/>
          </a:p>
        </p:txBody>
      </p:sp>
      <p:sp>
        <p:nvSpPr>
          <p:cNvPr id="40" name="Shape 38"/>
          <p:cNvSpPr/>
          <p:nvPr/>
        </p:nvSpPr>
        <p:spPr>
          <a:xfrm>
            <a:off x="320040" y="3685032"/>
            <a:ext cx="8503920" cy="196596"/>
          </a:xfrm>
          <a:prstGeom prst="rect">
            <a:avLst/>
          </a:prstGeom>
          <a:solidFill>
            <a:srgbClr val="FFFFFF"/>
          </a:solidFill>
          <a:ln w="12700">
            <a:solidFill>
              <a:srgbClr val="E5E7EB"/>
            </a:solidFill>
            <a:prstDash val="solid"/>
          </a:ln>
        </p:spPr>
      </p:sp>
      <p:sp>
        <p:nvSpPr>
          <p:cNvPr id="41" name="Shape 39"/>
          <p:cNvSpPr/>
          <p:nvPr/>
        </p:nvSpPr>
        <p:spPr>
          <a:xfrm>
            <a:off x="338328" y="3717036"/>
            <a:ext cx="347472" cy="132588"/>
          </a:xfrm>
          <a:prstGeom prst="rect">
            <a:avLst/>
          </a:prstGeom>
          <a:solidFill>
            <a:srgbClr val="9CA3AF"/>
          </a:solidFill>
          <a:ln w="12700">
            <a:solidFill>
              <a:srgbClr val="9CA3AF"/>
            </a:solidFill>
            <a:prstDash val="solid"/>
          </a:ln>
        </p:spPr>
      </p:sp>
      <p:sp>
        <p:nvSpPr>
          <p:cNvPr id="42" name="Text 40"/>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3" name="Text 41"/>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04-10</a:t>
            </a:r>
            <a:endParaRPr lang="en-US" sz="700" dirty="0"/>
          </a:p>
        </p:txBody>
      </p:sp>
      <p:sp>
        <p:nvSpPr>
          <p:cNvPr id="44" name="Text 42"/>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 News E…</a:t>
            </a:r>
            <a:endParaRPr lang="en-US" sz="700" dirty="0"/>
          </a:p>
        </p:txBody>
      </p:sp>
      <p:sp>
        <p:nvSpPr>
          <p:cNvPr id="45" name="Text 43"/>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전력 당국, 전력망 안정화를 위해 시간대별 전기차 충전 요금제 검토 중</a:t>
            </a:r>
            <a:endParaRPr lang="en-US" sz="750" dirty="0"/>
          </a:p>
        </p:txBody>
      </p:sp>
      <p:sp>
        <p:nvSpPr>
          <p:cNvPr id="46" name="Shape 44"/>
          <p:cNvSpPr/>
          <p:nvPr/>
        </p:nvSpPr>
        <p:spPr>
          <a:xfrm>
            <a:off x="320040" y="3881628"/>
            <a:ext cx="8503920" cy="196596"/>
          </a:xfrm>
          <a:prstGeom prst="rect">
            <a:avLst/>
          </a:prstGeom>
          <a:solidFill>
            <a:srgbClr val="FFFFFF"/>
          </a:solidFill>
          <a:ln w="12700">
            <a:solidFill>
              <a:srgbClr val="E5E7EB"/>
            </a:solidFill>
            <a:prstDash val="solid"/>
          </a:ln>
        </p:spPr>
      </p:sp>
      <p:sp>
        <p:nvSpPr>
          <p:cNvPr id="47" name="Shape 45"/>
          <p:cNvSpPr/>
          <p:nvPr/>
        </p:nvSpPr>
        <p:spPr>
          <a:xfrm>
            <a:off x="338328" y="3913632"/>
            <a:ext cx="347472" cy="132588"/>
          </a:xfrm>
          <a:prstGeom prst="rect">
            <a:avLst/>
          </a:prstGeom>
          <a:solidFill>
            <a:srgbClr val="9CA3AF"/>
          </a:solidFill>
          <a:ln w="12700">
            <a:solidFill>
              <a:srgbClr val="9CA3AF"/>
            </a:solidFill>
            <a:prstDash val="solid"/>
          </a:ln>
        </p:spPr>
      </p:sp>
      <p:sp>
        <p:nvSpPr>
          <p:cNvPr id="48" name="Text 46"/>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9" name="Text 47"/>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04-18</a:t>
            </a:r>
            <a:endParaRPr lang="en-US" sz="700" dirty="0"/>
          </a:p>
        </p:txBody>
      </p:sp>
      <p:sp>
        <p:nvSpPr>
          <p:cNvPr id="50" name="Text 48"/>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Nhan Dan En…</a:t>
            </a:r>
            <a:endParaRPr lang="en-US" sz="700" dirty="0"/>
          </a:p>
        </p:txBody>
      </p:sp>
      <p:sp>
        <p:nvSpPr>
          <p:cNvPr id="51" name="Text 49"/>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하노이, 친환경 대중교통으로 전기버스 전환 가속화</a:t>
            </a:r>
            <a:endParaRPr lang="en-US" sz="750" dirty="0"/>
          </a:p>
        </p:txBody>
      </p:sp>
      <p:sp>
        <p:nvSpPr>
          <p:cNvPr id="52" name="Shape 50"/>
          <p:cNvSpPr/>
          <p:nvPr/>
        </p:nvSpPr>
        <p:spPr>
          <a:xfrm>
            <a:off x="320040" y="4078224"/>
            <a:ext cx="8503920" cy="196596"/>
          </a:xfrm>
          <a:prstGeom prst="rect">
            <a:avLst/>
          </a:prstGeom>
          <a:solidFill>
            <a:srgbClr val="FFFFFF"/>
          </a:solidFill>
          <a:ln w="12700">
            <a:solidFill>
              <a:srgbClr val="E5E7EB"/>
            </a:solidFill>
            <a:prstDash val="solid"/>
          </a:ln>
        </p:spPr>
      </p:sp>
      <p:sp>
        <p:nvSpPr>
          <p:cNvPr id="53" name="Shape 51"/>
          <p:cNvSpPr/>
          <p:nvPr/>
        </p:nvSpPr>
        <p:spPr>
          <a:xfrm>
            <a:off x="338328" y="4110228"/>
            <a:ext cx="347472" cy="132588"/>
          </a:xfrm>
          <a:prstGeom prst="rect">
            <a:avLst/>
          </a:prstGeom>
          <a:solidFill>
            <a:srgbClr val="9CA3AF"/>
          </a:solidFill>
          <a:ln w="12700">
            <a:solidFill>
              <a:srgbClr val="9CA3AF"/>
            </a:solidFill>
            <a:prstDash val="solid"/>
          </a:ln>
        </p:spPr>
      </p:sp>
      <p:sp>
        <p:nvSpPr>
          <p:cNvPr id="54" name="Text 52"/>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5" name="Text 53"/>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04-23</a:t>
            </a:r>
            <a:endParaRPr lang="en-US" sz="700" dirty="0"/>
          </a:p>
        </p:txBody>
      </p:sp>
      <p:sp>
        <p:nvSpPr>
          <p:cNvPr id="56" name="Text 54"/>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VnExpress B…</a:t>
            </a:r>
            <a:endParaRPr lang="en-US" sz="700" dirty="0"/>
          </a:p>
        </p:txBody>
      </p:sp>
      <p:sp>
        <p:nvSpPr>
          <p:cNvPr id="57" name="Text 55"/>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‘VinFast는 다시는 가솔린 자동차를 생산하지 않을 것입니다’: 동남아…</a:t>
            </a:r>
            <a:endParaRPr lang="en-US" sz="750" dirty="0"/>
          </a:p>
        </p:txBody>
      </p:sp>
      <p:sp>
        <p:nvSpPr>
          <p:cNvPr id="58" name="Shape 56"/>
          <p:cNvSpPr/>
          <p:nvPr/>
        </p:nvSpPr>
        <p:spPr>
          <a:xfrm>
            <a:off x="0" y="4942332"/>
            <a:ext cx="9144000" cy="201168"/>
          </a:xfrm>
          <a:prstGeom prst="rect">
            <a:avLst/>
          </a:prstGeom>
          <a:solidFill>
            <a:srgbClr val="0C2340"/>
          </a:solidFill>
          <a:ln w="12700">
            <a:solidFill>
              <a:srgbClr val="0C2340"/>
            </a:solidFill>
            <a:prstDash val="solid"/>
          </a:ln>
        </p:spPr>
      </p:sp>
      <p:sp>
        <p:nvSpPr>
          <p:cNvPr id="59" name="Text 57"/>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60" name="Text 58"/>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VN-EV-2030  |</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HN-URBAN-INFRA</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하노이 도시 인프라 개발 계획 2030</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FFF9C4"/>
                </a:solidFill>
                <a:latin typeface="Calibri" pitchFamily="34" charset="0"/>
                <a:ea typeface="Calibri" pitchFamily="34" charset="-122"/>
                <a:cs typeface="Calibri" pitchFamily="34" charset="-120"/>
              </a:rPr>
              <a:t>기사 7건  |  ★신규 1건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23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Shape 9"/>
          <p:cNvSpPr/>
          <p:nvPr/>
        </p:nvSpPr>
        <p:spPr>
          <a:xfrm>
            <a:off x="1069848" y="813816"/>
            <a:ext cx="2468880" cy="82296"/>
          </a:xfrm>
          <a:prstGeom prst="rect">
            <a:avLst/>
          </a:prstGeom>
          <a:solidFill>
            <a:srgbClr val="D4820A"/>
          </a:solidFill>
          <a:ln w="12700">
            <a:solidFill>
              <a:srgbClr val="D4820A"/>
            </a:solidFill>
            <a:prstDash val="solid"/>
          </a:ln>
        </p:spPr>
      </p:sp>
      <p:sp>
        <p:nvSpPr>
          <p:cNvPr id="12" name="Text 10"/>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D4820A"/>
                </a:solidFill>
                <a:latin typeface="Calibri" pitchFamily="34" charset="0"/>
                <a:ea typeface="Calibri" pitchFamily="34" charset="-122"/>
                <a:cs typeface="Calibri" pitchFamily="34" charset="-120"/>
              </a:rPr>
              <a:t>건설·시공</a:t>
            </a:r>
            <a:endParaRPr lang="en-US" sz="750" dirty="0"/>
          </a:p>
        </p:txBody>
      </p:sp>
      <p:sp>
        <p:nvSpPr>
          <p:cNvPr id="13" name="Text 11"/>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4" name="Shape 12"/>
          <p:cNvSpPr/>
          <p:nvPr/>
        </p:nvSpPr>
        <p:spPr>
          <a:xfrm>
            <a:off x="4325112" y="1179576"/>
            <a:ext cx="4498848" cy="164592"/>
          </a:xfrm>
          <a:prstGeom prst="rect">
            <a:avLst/>
          </a:prstGeom>
          <a:solidFill>
            <a:srgbClr val="FFF9C4"/>
          </a:solidFill>
          <a:ln w="12700">
            <a:solidFill>
              <a:srgbClr val="F59E0B"/>
            </a:solidFill>
            <a:prstDash val="solid"/>
          </a:ln>
        </p:spPr>
      </p:sp>
      <p:sp>
        <p:nvSpPr>
          <p:cNvPr id="15" name="Text 13"/>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F59E0B"/>
                </a:solidFill>
                <a:latin typeface="Calibri" pitchFamily="34" charset="0"/>
                <a:ea typeface="Calibri" pitchFamily="34" charset="-122"/>
                <a:cs typeface="Calibri" pitchFamily="34" charset="-120"/>
              </a:rPr>
              <a:t>★ 이번 주 신규 분석</a:t>
            </a:r>
            <a:endParaRPr lang="en-US" sz="700" dirty="0"/>
          </a:p>
        </p:txBody>
      </p:sp>
      <p:sp>
        <p:nvSpPr>
          <p:cNvPr id="16" name="Shape 14"/>
          <p:cNvSpPr/>
          <p:nvPr/>
        </p:nvSpPr>
        <p:spPr>
          <a:xfrm>
            <a:off x="4325112" y="1353312"/>
            <a:ext cx="4498848" cy="1243584"/>
          </a:xfrm>
          <a:prstGeom prst="rect">
            <a:avLst/>
          </a:prstGeom>
          <a:solidFill>
            <a:srgbClr val="FFFFFF"/>
          </a:solidFill>
          <a:ln w="12700">
            <a:solidFill>
              <a:srgbClr val="0C2340"/>
            </a:solidFill>
            <a:prstDash val="solid"/>
          </a:ln>
        </p:spPr>
      </p:sp>
      <p:sp>
        <p:nvSpPr>
          <p:cNvPr id="17" name="Shape 15"/>
          <p:cNvSpPr/>
          <p:nvPr/>
        </p:nvSpPr>
        <p:spPr>
          <a:xfrm>
            <a:off x="4325112" y="1353312"/>
            <a:ext cx="36576" cy="1243584"/>
          </a:xfrm>
          <a:prstGeom prst="rect">
            <a:avLst/>
          </a:prstGeom>
          <a:solidFill>
            <a:srgbClr val="0C2340"/>
          </a:solidFill>
          <a:ln w="12700">
            <a:solidFill>
              <a:srgbClr val="0C2340"/>
            </a:solidFill>
            <a:prstDash val="solid"/>
          </a:ln>
        </p:spPr>
      </p:sp>
      <p:sp>
        <p:nvSpPr>
          <p:cNvPr id="18" name="Text 16"/>
          <p:cNvSpPr/>
          <p:nvPr/>
        </p:nvSpPr>
        <p:spPr>
          <a:xfrm>
            <a:off x="4398264" y="1353312"/>
            <a:ext cx="4389120" cy="12435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**진행단계 맥락:**</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하노이 도시 인프라 계획 2030은 현재 **긴급 대응 및 가속화 단계**에 진입했습니다. 4월 30일 배수 시스템 우기 준비, 3월 링로드4(113km) 6월 개통 목표, 그리고 이번 주 신규 기사의 "긴급 프로젝트 진행 촉진"은 일관된 **우기 대비 집중 추진** 신호입니다.</a:t>
            </a:r>
            <a:endParaRPr lang="en-US" sz="800" dirty="0"/>
          </a:p>
          <a:p>
            <a:pPr indent="0" marL="0">
              <a:buNone/>
            </a:pP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**KPI 목표 대비 달성 수준:**</a:t>
            </a:r>
            <a:endParaRPr lang="en-US" sz="800" dirty="0"/>
          </a:p>
          <a:p>
            <a:pPr indent="0" marL="0">
              <a:buNone/>
            </a:pPr>
            <a:r>
              <a:rPr lang="en-US" sz="800" dirty="0">
                <a:solidFill>
                  <a:srgbClr val="374151"/>
                </a:solidFill>
                <a:latin typeface="Calibri" pitchFamily="34" charset="0"/>
                <a:ea typeface="Calibri" pitchFamily="34" charset="-122"/>
                <a:cs typeface="Calibri" pitchFamily="34" charset="-120"/>
              </a:rPr>
              <a:t>- 구체적 KPI 목표 미설정 상태이나, **배수…</a:t>
            </a:r>
            <a:endParaRPr lang="en-US" sz="800" dirty="0"/>
          </a:p>
        </p:txBody>
      </p:sp>
      <p:sp>
        <p:nvSpPr>
          <p:cNvPr id="19" name="Shape 17"/>
          <p:cNvSpPr/>
          <p:nvPr/>
        </p:nvSpPr>
        <p:spPr>
          <a:xfrm>
            <a:off x="4325112" y="2651760"/>
            <a:ext cx="4498848" cy="402336"/>
          </a:xfrm>
          <a:prstGeom prst="rect">
            <a:avLst/>
          </a:prstGeom>
          <a:solidFill>
            <a:srgbClr val="E8EEF4"/>
          </a:solidFill>
          <a:ln w="12700">
            <a:solidFill>
              <a:srgbClr val="0C2340"/>
            </a:solidFill>
            <a:prstDash val="solid"/>
          </a:ln>
        </p:spPr>
      </p:sp>
      <p:sp>
        <p:nvSpPr>
          <p:cNvPr id="20" name="Text 18"/>
          <p:cNvSpPr/>
          <p:nvPr/>
        </p:nvSpPr>
        <p:spPr>
          <a:xfrm>
            <a:off x="4370832" y="2670048"/>
            <a:ext cx="594360" cy="146304"/>
          </a:xfrm>
          <a:prstGeom prst="rect">
            <a:avLst/>
          </a:prstGeom>
          <a:noFill/>
          <a:ln/>
        </p:spPr>
        <p:txBody>
          <a:bodyPr wrap="square" lIns="0" tIns="0" rIns="0" bIns="0" rtlCol="0" anchor="ctr"/>
          <a:lstStyle/>
          <a:p>
            <a:pPr indent="0" marL="0">
              <a:buNone/>
            </a:pPr>
            <a:r>
              <a:rPr lang="en-US" sz="700" b="1" dirty="0">
                <a:solidFill>
                  <a:srgbClr val="0C2340"/>
                </a:solidFill>
                <a:latin typeface="Calibri" pitchFamily="34" charset="0"/>
                <a:ea typeface="Calibri" pitchFamily="34" charset="-122"/>
                <a:cs typeface="Calibri" pitchFamily="34" charset="-120"/>
              </a:rPr>
              <a:t>Insight</a:t>
            </a:r>
            <a:endParaRPr lang="en-US" sz="700" dirty="0"/>
          </a:p>
        </p:txBody>
      </p:sp>
      <p:sp>
        <p:nvSpPr>
          <p:cNvPr id="21" name="Text 19"/>
          <p:cNvSpPr/>
          <p:nvPr/>
        </p:nvSpPr>
        <p:spPr>
          <a:xfrm>
            <a:off x="4370832" y="2834640"/>
            <a:ext cx="4407408" cy="201168"/>
          </a:xfrm>
          <a:prstGeom prst="rect">
            <a:avLst/>
          </a:prstGeom>
          <a:noFill/>
          <a:ln/>
        </p:spPr>
        <p:txBody>
          <a:bodyPr wrap="square" lIns="0" tIns="0" rIns="0" bIns="0" rtlCol="0" anchor="ctr"/>
          <a:lstStyle/>
          <a:p>
            <a:pPr indent="0" marL="0">
              <a:buNone/>
            </a:pPr>
            <a:r>
              <a:rPr lang="en-US" sz="750" b="1" dirty="0">
                <a:solidFill>
                  <a:srgbClr val="0C2340"/>
                </a:solidFill>
                <a:latin typeface="Calibri" pitchFamily="34" charset="0"/>
                <a:ea typeface="Calibri" pitchFamily="34" charset="-122"/>
                <a:cs typeface="Calibri" pitchFamily="34" charset="-120"/>
              </a:rPr>
              <a:t>우기 대비 인프라 사업 집중 추진은 공정 지연 리스크와 품질 이슈 증가 가능성을 내포합니다. 투자자는 실제 공사 진행률, 예산 초과 여부, 링로드4 개통 지연 시나리오를 모니터링…</a:t>
            </a:r>
            <a:endParaRPr lang="en-US" sz="750" dirty="0"/>
          </a:p>
        </p:txBody>
      </p:sp>
      <p:sp>
        <p:nvSpPr>
          <p:cNvPr id="22" name="Text 20"/>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1건  +  기존 6건)</a:t>
            </a:r>
            <a:endParaRPr lang="en-US" sz="800" dirty="0"/>
          </a:p>
        </p:txBody>
      </p:sp>
      <p:sp>
        <p:nvSpPr>
          <p:cNvPr id="23" name="Shape 21"/>
          <p:cNvSpPr/>
          <p:nvPr/>
        </p:nvSpPr>
        <p:spPr>
          <a:xfrm>
            <a:off x="320040" y="3108960"/>
            <a:ext cx="8503920" cy="182880"/>
          </a:xfrm>
          <a:prstGeom prst="rect">
            <a:avLst/>
          </a:prstGeom>
          <a:solidFill>
            <a:srgbClr val="374151"/>
          </a:solidFill>
          <a:ln w="12700">
            <a:solidFill>
              <a:srgbClr val="374151"/>
            </a:solidFill>
            <a:prstDash val="solid"/>
          </a:ln>
        </p:spPr>
      </p:sp>
      <p:sp>
        <p:nvSpPr>
          <p:cNvPr id="24" name="Text 22"/>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5" name="Text 23"/>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6" name="Text 24"/>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7" name="Text 25"/>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8" name="Shape 26"/>
          <p:cNvSpPr/>
          <p:nvPr/>
        </p:nvSpPr>
        <p:spPr>
          <a:xfrm>
            <a:off x="320040" y="3291840"/>
            <a:ext cx="8503920" cy="196596"/>
          </a:xfrm>
          <a:prstGeom prst="rect">
            <a:avLst/>
          </a:prstGeom>
          <a:solidFill>
            <a:srgbClr val="FFF9C4"/>
          </a:solidFill>
          <a:ln w="12700">
            <a:solidFill>
              <a:srgbClr val="FCD34D"/>
            </a:solidFill>
            <a:prstDash val="solid"/>
          </a:ln>
        </p:spPr>
      </p:sp>
      <p:sp>
        <p:nvSpPr>
          <p:cNvPr id="29" name="Shape 27"/>
          <p:cNvSpPr/>
          <p:nvPr/>
        </p:nvSpPr>
        <p:spPr>
          <a:xfrm>
            <a:off x="338328" y="3323844"/>
            <a:ext cx="347472" cy="132588"/>
          </a:xfrm>
          <a:prstGeom prst="rect">
            <a:avLst/>
          </a:prstGeom>
          <a:solidFill>
            <a:srgbClr val="F59E0B"/>
          </a:solidFill>
          <a:ln w="12700">
            <a:solidFill>
              <a:srgbClr val="F59E0B"/>
            </a:solidFill>
            <a:prstDash val="solid"/>
          </a:ln>
        </p:spPr>
      </p:sp>
      <p:sp>
        <p:nvSpPr>
          <p:cNvPr id="30" name="Text 28"/>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NEW</a:t>
            </a:r>
            <a:endParaRPr lang="en-US" sz="650" dirty="0"/>
          </a:p>
        </p:txBody>
      </p:sp>
      <p:sp>
        <p:nvSpPr>
          <p:cNvPr id="31" name="Text 29"/>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05-04</a:t>
            </a:r>
            <a:endParaRPr lang="en-US" sz="700" dirty="0"/>
          </a:p>
        </p:txBody>
      </p:sp>
      <p:sp>
        <p:nvSpPr>
          <p:cNvPr id="32" name="Text 30"/>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33" name="Text 31"/>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b="1" dirty="0">
                <a:solidFill>
                  <a:srgbClr val="111827"/>
                </a:solidFill>
                <a:latin typeface="Calibri" pitchFamily="34" charset="0"/>
                <a:ea typeface="Calibri" pitchFamily="34" charset="-122"/>
                <a:cs typeface="Calibri" pitchFamily="34" charset="-120"/>
              </a:rPr>
              <a:t>하노이는 2026년 우기 전에 일련의 긴급 인프라 프로젝트의 진행을 촉진합…</a:t>
            </a:r>
            <a:endParaRPr lang="en-US" sz="750" dirty="0"/>
          </a:p>
        </p:txBody>
      </p:sp>
      <p:sp>
        <p:nvSpPr>
          <p:cNvPr id="34" name="Shape 32"/>
          <p:cNvSpPr/>
          <p:nvPr/>
        </p:nvSpPr>
        <p:spPr>
          <a:xfrm>
            <a:off x="320040" y="3488436"/>
            <a:ext cx="8503920" cy="196596"/>
          </a:xfrm>
          <a:prstGeom prst="rect">
            <a:avLst/>
          </a:prstGeom>
          <a:solidFill>
            <a:srgbClr val="FFFFFF"/>
          </a:solidFill>
          <a:ln w="12700">
            <a:solidFill>
              <a:srgbClr val="E5E7EB"/>
            </a:solidFill>
            <a:prstDash val="solid"/>
          </a:ln>
        </p:spPr>
      </p:sp>
      <p:sp>
        <p:nvSpPr>
          <p:cNvPr id="35" name="Shape 33"/>
          <p:cNvSpPr/>
          <p:nvPr/>
        </p:nvSpPr>
        <p:spPr>
          <a:xfrm>
            <a:off x="338328" y="3520440"/>
            <a:ext cx="347472" cy="132588"/>
          </a:xfrm>
          <a:prstGeom prst="rect">
            <a:avLst/>
          </a:prstGeom>
          <a:solidFill>
            <a:srgbClr val="1B4F8A"/>
          </a:solidFill>
          <a:ln w="12700">
            <a:solidFill>
              <a:srgbClr val="1B4F8A"/>
            </a:solidFill>
            <a:prstDash val="solid"/>
          </a:ln>
        </p:spPr>
      </p:sp>
      <p:sp>
        <p:nvSpPr>
          <p:cNvPr id="36" name="Text 34"/>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37" name="Text 35"/>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02-24</a:t>
            </a:r>
            <a:endParaRPr lang="en-US" sz="700" dirty="0"/>
          </a:p>
        </p:txBody>
      </p:sp>
      <p:sp>
        <p:nvSpPr>
          <p:cNvPr id="38" name="Text 36"/>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Vietnam.vn</a:t>
            </a:r>
            <a:endParaRPr lang="en-US" sz="700" dirty="0"/>
          </a:p>
        </p:txBody>
      </p:sp>
      <p:sp>
        <p:nvSpPr>
          <p:cNvPr id="39" name="Text 37"/>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호아락 하이테크파크 460ha 확장 — 베트남 실리콘밸리 2026</a:t>
            </a:r>
            <a:endParaRPr lang="en-US" sz="750" dirty="0"/>
          </a:p>
        </p:txBody>
      </p:sp>
      <p:sp>
        <p:nvSpPr>
          <p:cNvPr id="40" name="Shape 38"/>
          <p:cNvSpPr/>
          <p:nvPr/>
        </p:nvSpPr>
        <p:spPr>
          <a:xfrm>
            <a:off x="320040" y="3685032"/>
            <a:ext cx="8503920" cy="196596"/>
          </a:xfrm>
          <a:prstGeom prst="rect">
            <a:avLst/>
          </a:prstGeom>
          <a:solidFill>
            <a:srgbClr val="FFFFFF"/>
          </a:solidFill>
          <a:ln w="12700">
            <a:solidFill>
              <a:srgbClr val="E5E7EB"/>
            </a:solidFill>
            <a:prstDash val="solid"/>
          </a:ln>
        </p:spPr>
      </p:sp>
      <p:sp>
        <p:nvSpPr>
          <p:cNvPr id="41" name="Shape 39"/>
          <p:cNvSpPr/>
          <p:nvPr/>
        </p:nvSpPr>
        <p:spPr>
          <a:xfrm>
            <a:off x="338328" y="3717036"/>
            <a:ext cx="347472" cy="132588"/>
          </a:xfrm>
          <a:prstGeom prst="rect">
            <a:avLst/>
          </a:prstGeom>
          <a:solidFill>
            <a:srgbClr val="1B4F8A"/>
          </a:solidFill>
          <a:ln w="12700">
            <a:solidFill>
              <a:srgbClr val="1B4F8A"/>
            </a:solidFill>
            <a:prstDash val="solid"/>
          </a:ln>
        </p:spPr>
      </p:sp>
      <p:sp>
        <p:nvSpPr>
          <p:cNvPr id="42" name="Text 40"/>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43" name="Text 41"/>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03-05</a:t>
            </a:r>
            <a:endParaRPr lang="en-US" sz="700" dirty="0"/>
          </a:p>
        </p:txBody>
      </p:sp>
      <p:sp>
        <p:nvSpPr>
          <p:cNvPr id="44" name="Text 42"/>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Vietnam.vn</a:t>
            </a:r>
            <a:endParaRPr lang="en-US" sz="700" dirty="0"/>
          </a:p>
        </p:txBody>
      </p:sp>
      <p:sp>
        <p:nvSpPr>
          <p:cNvPr id="45" name="Text 43"/>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하노이 링로드4 병행도로 2026년 6월 개통 목표 — 113km 업데이트</a:t>
            </a:r>
            <a:endParaRPr lang="en-US" sz="750" dirty="0"/>
          </a:p>
        </p:txBody>
      </p:sp>
      <p:sp>
        <p:nvSpPr>
          <p:cNvPr id="46" name="Shape 44"/>
          <p:cNvSpPr/>
          <p:nvPr/>
        </p:nvSpPr>
        <p:spPr>
          <a:xfrm>
            <a:off x="320040" y="3881628"/>
            <a:ext cx="8503920" cy="196596"/>
          </a:xfrm>
          <a:prstGeom prst="rect">
            <a:avLst/>
          </a:prstGeom>
          <a:solidFill>
            <a:srgbClr val="FFFFFF"/>
          </a:solidFill>
          <a:ln w="12700">
            <a:solidFill>
              <a:srgbClr val="E5E7EB"/>
            </a:solidFill>
            <a:prstDash val="solid"/>
          </a:ln>
        </p:spPr>
      </p:sp>
      <p:sp>
        <p:nvSpPr>
          <p:cNvPr id="47" name="Shape 45"/>
          <p:cNvSpPr/>
          <p:nvPr/>
        </p:nvSpPr>
        <p:spPr>
          <a:xfrm>
            <a:off x="338328" y="3913632"/>
            <a:ext cx="347472" cy="132588"/>
          </a:xfrm>
          <a:prstGeom prst="rect">
            <a:avLst/>
          </a:prstGeom>
          <a:solidFill>
            <a:srgbClr val="9CA3AF"/>
          </a:solidFill>
          <a:ln w="12700">
            <a:solidFill>
              <a:srgbClr val="9CA3AF"/>
            </a:solidFill>
            <a:prstDash val="solid"/>
          </a:ln>
        </p:spPr>
      </p:sp>
      <p:sp>
        <p:nvSpPr>
          <p:cNvPr id="48" name="Text 46"/>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9" name="Text 47"/>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50" name="Text 48"/>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a:t>
            </a:r>
            <a:endParaRPr lang="en-US" sz="700" dirty="0"/>
          </a:p>
        </p:txBody>
      </p:sp>
      <p:sp>
        <p:nvSpPr>
          <p:cNvPr id="51" name="Text 49"/>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우주센터 개관</a:t>
            </a:r>
            <a:endParaRPr lang="en-US" sz="750" dirty="0"/>
          </a:p>
        </p:txBody>
      </p:sp>
      <p:sp>
        <p:nvSpPr>
          <p:cNvPr id="52" name="Shape 50"/>
          <p:cNvSpPr/>
          <p:nvPr/>
        </p:nvSpPr>
        <p:spPr>
          <a:xfrm>
            <a:off x="320040" y="4078224"/>
            <a:ext cx="8503920" cy="196596"/>
          </a:xfrm>
          <a:prstGeom prst="rect">
            <a:avLst/>
          </a:prstGeom>
          <a:solidFill>
            <a:srgbClr val="FFFFFF"/>
          </a:solidFill>
          <a:ln w="12700">
            <a:solidFill>
              <a:srgbClr val="E5E7EB"/>
            </a:solidFill>
            <a:prstDash val="solid"/>
          </a:ln>
        </p:spPr>
      </p:sp>
      <p:sp>
        <p:nvSpPr>
          <p:cNvPr id="53" name="Shape 51"/>
          <p:cNvSpPr/>
          <p:nvPr/>
        </p:nvSpPr>
        <p:spPr>
          <a:xfrm>
            <a:off x="338328" y="4110228"/>
            <a:ext cx="347472" cy="132588"/>
          </a:xfrm>
          <a:prstGeom prst="rect">
            <a:avLst/>
          </a:prstGeom>
          <a:solidFill>
            <a:srgbClr val="9CA3AF"/>
          </a:solidFill>
          <a:ln w="12700">
            <a:solidFill>
              <a:srgbClr val="9CA3AF"/>
            </a:solidFill>
            <a:prstDash val="solid"/>
          </a:ln>
        </p:spPr>
      </p:sp>
      <p:sp>
        <p:nvSpPr>
          <p:cNvPr id="54" name="Text 52"/>
          <p:cNvSpPr/>
          <p:nvPr/>
        </p:nvSpPr>
        <p:spPr>
          <a:xfrm>
            <a:off x="338328" y="4110228"/>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55" name="Text 53"/>
          <p:cNvSpPr/>
          <p:nvPr/>
        </p:nvSpPr>
        <p:spPr>
          <a:xfrm>
            <a:off x="704088" y="4078224"/>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56" name="Text 54"/>
          <p:cNvSpPr/>
          <p:nvPr/>
        </p:nvSpPr>
        <p:spPr>
          <a:xfrm>
            <a:off x="1298448" y="4078224"/>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Ha Tinh</a:t>
            </a:r>
            <a:endParaRPr lang="en-US" sz="700" dirty="0"/>
          </a:p>
        </p:txBody>
      </p:sp>
      <p:sp>
        <p:nvSpPr>
          <p:cNvPr id="57" name="Text 55"/>
          <p:cNvSpPr/>
          <p:nvPr/>
        </p:nvSpPr>
        <p:spPr>
          <a:xfrm>
            <a:off x="2075688" y="4078224"/>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우주센터 개관</a:t>
            </a:r>
            <a:endParaRPr lang="en-US" sz="750" dirty="0"/>
          </a:p>
        </p:txBody>
      </p:sp>
      <p:sp>
        <p:nvSpPr>
          <p:cNvPr id="58" name="Shape 56"/>
          <p:cNvSpPr/>
          <p:nvPr/>
        </p:nvSpPr>
        <p:spPr>
          <a:xfrm>
            <a:off x="320040" y="4274820"/>
            <a:ext cx="8503920" cy="196596"/>
          </a:xfrm>
          <a:prstGeom prst="rect">
            <a:avLst/>
          </a:prstGeom>
          <a:solidFill>
            <a:srgbClr val="FFFFFF"/>
          </a:solidFill>
          <a:ln w="12700">
            <a:solidFill>
              <a:srgbClr val="E5E7EB"/>
            </a:solidFill>
            <a:prstDash val="solid"/>
          </a:ln>
        </p:spPr>
      </p:sp>
      <p:sp>
        <p:nvSpPr>
          <p:cNvPr id="59" name="Shape 57"/>
          <p:cNvSpPr/>
          <p:nvPr/>
        </p:nvSpPr>
        <p:spPr>
          <a:xfrm>
            <a:off x="338328" y="4306824"/>
            <a:ext cx="347472" cy="132588"/>
          </a:xfrm>
          <a:prstGeom prst="rect">
            <a:avLst/>
          </a:prstGeom>
          <a:solidFill>
            <a:srgbClr val="9CA3AF"/>
          </a:solidFill>
          <a:ln w="12700">
            <a:solidFill>
              <a:srgbClr val="9CA3AF"/>
            </a:solidFill>
            <a:prstDash val="solid"/>
          </a:ln>
        </p:spPr>
      </p:sp>
      <p:sp>
        <p:nvSpPr>
          <p:cNvPr id="60" name="Text 58"/>
          <p:cNvSpPr/>
          <p:nvPr/>
        </p:nvSpPr>
        <p:spPr>
          <a:xfrm>
            <a:off x="338328" y="430682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1" name="Text 59"/>
          <p:cNvSpPr/>
          <p:nvPr/>
        </p:nvSpPr>
        <p:spPr>
          <a:xfrm>
            <a:off x="704088" y="427482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62" name="Text 60"/>
          <p:cNvSpPr/>
          <p:nvPr/>
        </p:nvSpPr>
        <p:spPr>
          <a:xfrm>
            <a:off x="1298448" y="427482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63" name="Text 61"/>
          <p:cNvSpPr/>
          <p:nvPr/>
        </p:nvSpPr>
        <p:spPr>
          <a:xfrm>
            <a:off x="2075688" y="427482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Bao Ha Tinh</a:t>
            </a:r>
            <a:endParaRPr lang="en-US" sz="750" dirty="0"/>
          </a:p>
        </p:txBody>
      </p:sp>
      <p:sp>
        <p:nvSpPr>
          <p:cNvPr id="64" name="Shape 62"/>
          <p:cNvSpPr/>
          <p:nvPr/>
        </p:nvSpPr>
        <p:spPr>
          <a:xfrm>
            <a:off x="320040" y="4471416"/>
            <a:ext cx="8503920" cy="196596"/>
          </a:xfrm>
          <a:prstGeom prst="rect">
            <a:avLst/>
          </a:prstGeom>
          <a:solidFill>
            <a:srgbClr val="FFFFFF"/>
          </a:solidFill>
          <a:ln w="12700">
            <a:solidFill>
              <a:srgbClr val="E5E7EB"/>
            </a:solidFill>
            <a:prstDash val="solid"/>
          </a:ln>
        </p:spPr>
      </p:sp>
      <p:sp>
        <p:nvSpPr>
          <p:cNvPr id="65" name="Shape 63"/>
          <p:cNvSpPr/>
          <p:nvPr/>
        </p:nvSpPr>
        <p:spPr>
          <a:xfrm>
            <a:off x="338328" y="4503420"/>
            <a:ext cx="347472" cy="132588"/>
          </a:xfrm>
          <a:prstGeom prst="rect">
            <a:avLst/>
          </a:prstGeom>
          <a:solidFill>
            <a:srgbClr val="9CA3AF"/>
          </a:solidFill>
          <a:ln w="12700">
            <a:solidFill>
              <a:srgbClr val="9CA3AF"/>
            </a:solidFill>
            <a:prstDash val="solid"/>
          </a:ln>
        </p:spPr>
      </p:sp>
      <p:sp>
        <p:nvSpPr>
          <p:cNvPr id="66" name="Text 64"/>
          <p:cNvSpPr/>
          <p:nvPr/>
        </p:nvSpPr>
        <p:spPr>
          <a:xfrm>
            <a:off x="338328" y="450342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67" name="Text 65"/>
          <p:cNvSpPr/>
          <p:nvPr/>
        </p:nvSpPr>
        <p:spPr>
          <a:xfrm>
            <a:off x="704088" y="447141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04-30</a:t>
            </a:r>
            <a:endParaRPr lang="en-US" sz="700" dirty="0"/>
          </a:p>
        </p:txBody>
      </p:sp>
      <p:sp>
        <p:nvSpPr>
          <p:cNvPr id="68" name="Text 66"/>
          <p:cNvSpPr/>
          <p:nvPr/>
        </p:nvSpPr>
        <p:spPr>
          <a:xfrm>
            <a:off x="1298448" y="447141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Moi truong …</a:t>
            </a:r>
            <a:endParaRPr lang="en-US" sz="700" dirty="0"/>
          </a:p>
        </p:txBody>
      </p:sp>
      <p:sp>
        <p:nvSpPr>
          <p:cNvPr id="69" name="Text 67"/>
          <p:cNvSpPr/>
          <p:nvPr/>
        </p:nvSpPr>
        <p:spPr>
          <a:xfrm>
            <a:off x="2075688" y="447141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하노이는 배수 시스템을 적극적으로 운영하여 4 월 30 일부터 5 월 1 …</a:t>
            </a:r>
            <a:endParaRPr lang="en-US" sz="750" dirty="0"/>
          </a:p>
        </p:txBody>
      </p:sp>
      <p:sp>
        <p:nvSpPr>
          <p:cNvPr id="70" name="Shape 68"/>
          <p:cNvSpPr/>
          <p:nvPr/>
        </p:nvSpPr>
        <p:spPr>
          <a:xfrm>
            <a:off x="0" y="4942332"/>
            <a:ext cx="9144000" cy="201168"/>
          </a:xfrm>
          <a:prstGeom prst="rect">
            <a:avLst/>
          </a:prstGeom>
          <a:solidFill>
            <a:srgbClr val="0C2340"/>
          </a:solidFill>
          <a:ln w="12700">
            <a:solidFill>
              <a:srgbClr val="0C2340"/>
            </a:solidFill>
            <a:prstDash val="solid"/>
          </a:ln>
        </p:spPr>
      </p:sp>
      <p:sp>
        <p:nvSpPr>
          <p:cNvPr id="71" name="Text 69"/>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72" name="Text 70"/>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HN-URBAN-INFRA  |</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HN-URBAN-WEST</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하노이 서부 도시개발 (화락 첨단기술단지)</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4건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24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HN-URBAN-WEST 관련 신규 기사가 수집되지 않았습니다.</a:t>
            </a:r>
            <a:endParaRPr lang="en-US" sz="800" dirty="0"/>
          </a:p>
        </p:txBody>
      </p:sp>
      <p:sp>
        <p:nvSpPr>
          <p:cNvPr id="18" name="Text 16"/>
          <p:cNvSpPr/>
          <p:nvPr/>
        </p:nvSpPr>
        <p:spPr>
          <a:xfrm>
            <a:off x="320040" y="2926080"/>
            <a:ext cx="8503920" cy="164592"/>
          </a:xfrm>
          <a:prstGeom prst="rect">
            <a:avLst/>
          </a:prstGeom>
          <a:noFill/>
          <a:ln/>
        </p:spPr>
        <p:txBody>
          <a:bodyPr wrap="square" lIns="0" tIns="0" rIns="0" bIns="0" rtlCol="0" anchor="ctr"/>
          <a:lstStyle/>
          <a:p>
            <a:pPr indent="0" marL="0">
              <a:buNone/>
            </a:pPr>
            <a:r>
              <a:rPr lang="en-US" sz="800" b="1" dirty="0">
                <a:solidFill>
                  <a:srgbClr val="0C2340"/>
                </a:solidFill>
                <a:latin typeface="Calibri" pitchFamily="34" charset="0"/>
                <a:ea typeface="Calibri" pitchFamily="34" charset="-122"/>
                <a:cs typeface="Calibri" pitchFamily="34" charset="-120"/>
              </a:rPr>
              <a:t>수집 기사  (★신규 0건  +  기존 4건)</a:t>
            </a:r>
            <a:endParaRPr lang="en-US" sz="800" dirty="0"/>
          </a:p>
        </p:txBody>
      </p:sp>
      <p:sp>
        <p:nvSpPr>
          <p:cNvPr id="19" name="Shape 17"/>
          <p:cNvSpPr/>
          <p:nvPr/>
        </p:nvSpPr>
        <p:spPr>
          <a:xfrm>
            <a:off x="320040" y="3108960"/>
            <a:ext cx="8503920" cy="182880"/>
          </a:xfrm>
          <a:prstGeom prst="rect">
            <a:avLst/>
          </a:prstGeom>
          <a:solidFill>
            <a:srgbClr val="374151"/>
          </a:solidFill>
          <a:ln w="12700">
            <a:solidFill>
              <a:srgbClr val="374151"/>
            </a:solidFill>
            <a:prstDash val="solid"/>
          </a:ln>
        </p:spPr>
      </p:sp>
      <p:sp>
        <p:nvSpPr>
          <p:cNvPr id="20" name="Text 18"/>
          <p:cNvSpPr/>
          <p:nvPr/>
        </p:nvSpPr>
        <p:spPr>
          <a:xfrm>
            <a:off x="320040" y="3108960"/>
            <a:ext cx="384048"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등급</a:t>
            </a:r>
            <a:endParaRPr lang="en-US" sz="700" dirty="0"/>
          </a:p>
        </p:txBody>
      </p:sp>
      <p:sp>
        <p:nvSpPr>
          <p:cNvPr id="21" name="Text 19"/>
          <p:cNvSpPr/>
          <p:nvPr/>
        </p:nvSpPr>
        <p:spPr>
          <a:xfrm>
            <a:off x="704088" y="3108960"/>
            <a:ext cx="59436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날짜</a:t>
            </a:r>
            <a:endParaRPr lang="en-US" sz="700" dirty="0"/>
          </a:p>
        </p:txBody>
      </p:sp>
      <p:sp>
        <p:nvSpPr>
          <p:cNvPr id="22" name="Text 20"/>
          <p:cNvSpPr/>
          <p:nvPr/>
        </p:nvSpPr>
        <p:spPr>
          <a:xfrm>
            <a:off x="1298448" y="3108960"/>
            <a:ext cx="77724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출처</a:t>
            </a:r>
            <a:endParaRPr lang="en-US" sz="700" dirty="0"/>
          </a:p>
        </p:txBody>
      </p:sp>
      <p:sp>
        <p:nvSpPr>
          <p:cNvPr id="23" name="Text 21"/>
          <p:cNvSpPr/>
          <p:nvPr/>
        </p:nvSpPr>
        <p:spPr>
          <a:xfrm>
            <a:off x="2075688" y="3108960"/>
            <a:ext cx="6748272"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제목 (한국어)</a:t>
            </a:r>
            <a:endParaRPr lang="en-US" sz="700" dirty="0"/>
          </a:p>
        </p:txBody>
      </p:sp>
      <p:sp>
        <p:nvSpPr>
          <p:cNvPr id="24" name="Shape 22"/>
          <p:cNvSpPr/>
          <p:nvPr/>
        </p:nvSpPr>
        <p:spPr>
          <a:xfrm>
            <a:off x="320040" y="3291840"/>
            <a:ext cx="8503920" cy="196596"/>
          </a:xfrm>
          <a:prstGeom prst="rect">
            <a:avLst/>
          </a:prstGeom>
          <a:solidFill>
            <a:srgbClr val="FFFFFF"/>
          </a:solidFill>
          <a:ln w="12700">
            <a:solidFill>
              <a:srgbClr val="E5E7EB"/>
            </a:solidFill>
            <a:prstDash val="solid"/>
          </a:ln>
        </p:spPr>
      </p:sp>
      <p:sp>
        <p:nvSpPr>
          <p:cNvPr id="25" name="Shape 23"/>
          <p:cNvSpPr/>
          <p:nvPr/>
        </p:nvSpPr>
        <p:spPr>
          <a:xfrm>
            <a:off x="338328" y="3323844"/>
            <a:ext cx="347472" cy="132588"/>
          </a:xfrm>
          <a:prstGeom prst="rect">
            <a:avLst/>
          </a:prstGeom>
          <a:solidFill>
            <a:srgbClr val="1B4F8A"/>
          </a:solidFill>
          <a:ln w="12700">
            <a:solidFill>
              <a:srgbClr val="1B4F8A"/>
            </a:solidFill>
            <a:prstDash val="solid"/>
          </a:ln>
        </p:spPr>
      </p:sp>
      <p:sp>
        <p:nvSpPr>
          <p:cNvPr id="26" name="Text 24"/>
          <p:cNvSpPr/>
          <p:nvPr/>
        </p:nvSpPr>
        <p:spPr>
          <a:xfrm>
            <a:off x="338328" y="3323844"/>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HIGH</a:t>
            </a:r>
            <a:endParaRPr lang="en-US" sz="650" dirty="0"/>
          </a:p>
        </p:txBody>
      </p:sp>
      <p:sp>
        <p:nvSpPr>
          <p:cNvPr id="27" name="Text 25"/>
          <p:cNvSpPr/>
          <p:nvPr/>
        </p:nvSpPr>
        <p:spPr>
          <a:xfrm>
            <a:off x="704088" y="3291840"/>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02-24</a:t>
            </a:r>
            <a:endParaRPr lang="en-US" sz="700" dirty="0"/>
          </a:p>
        </p:txBody>
      </p:sp>
      <p:sp>
        <p:nvSpPr>
          <p:cNvPr id="28" name="Text 26"/>
          <p:cNvSpPr/>
          <p:nvPr/>
        </p:nvSpPr>
        <p:spPr>
          <a:xfrm>
            <a:off x="1298448" y="3291840"/>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Vietnam.vn</a:t>
            </a:r>
            <a:endParaRPr lang="en-US" sz="700" dirty="0"/>
          </a:p>
        </p:txBody>
      </p:sp>
      <p:sp>
        <p:nvSpPr>
          <p:cNvPr id="29" name="Text 27"/>
          <p:cNvSpPr/>
          <p:nvPr/>
        </p:nvSpPr>
        <p:spPr>
          <a:xfrm>
            <a:off x="2075688" y="3291840"/>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호아락 하이테크파크 460ha 확장 — 베트남 실리콘밸리 2026</a:t>
            </a:r>
            <a:endParaRPr lang="en-US" sz="750" dirty="0"/>
          </a:p>
        </p:txBody>
      </p:sp>
      <p:sp>
        <p:nvSpPr>
          <p:cNvPr id="30" name="Shape 28"/>
          <p:cNvSpPr/>
          <p:nvPr/>
        </p:nvSpPr>
        <p:spPr>
          <a:xfrm>
            <a:off x="320040" y="3488436"/>
            <a:ext cx="8503920" cy="196596"/>
          </a:xfrm>
          <a:prstGeom prst="rect">
            <a:avLst/>
          </a:prstGeom>
          <a:solidFill>
            <a:srgbClr val="FFFFFF"/>
          </a:solidFill>
          <a:ln w="12700">
            <a:solidFill>
              <a:srgbClr val="E5E7EB"/>
            </a:solidFill>
            <a:prstDash val="solid"/>
          </a:ln>
        </p:spPr>
      </p:sp>
      <p:sp>
        <p:nvSpPr>
          <p:cNvPr id="31" name="Shape 29"/>
          <p:cNvSpPr/>
          <p:nvPr/>
        </p:nvSpPr>
        <p:spPr>
          <a:xfrm>
            <a:off x="338328" y="3520440"/>
            <a:ext cx="347472" cy="132588"/>
          </a:xfrm>
          <a:prstGeom prst="rect">
            <a:avLst/>
          </a:prstGeom>
          <a:solidFill>
            <a:srgbClr val="9CA3AF"/>
          </a:solidFill>
          <a:ln w="12700">
            <a:solidFill>
              <a:srgbClr val="9CA3AF"/>
            </a:solidFill>
            <a:prstDash val="solid"/>
          </a:ln>
        </p:spPr>
      </p:sp>
      <p:sp>
        <p:nvSpPr>
          <p:cNvPr id="32" name="Text 30"/>
          <p:cNvSpPr/>
          <p:nvPr/>
        </p:nvSpPr>
        <p:spPr>
          <a:xfrm>
            <a:off x="338328" y="3520440"/>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3" name="Text 31"/>
          <p:cNvSpPr/>
          <p:nvPr/>
        </p:nvSpPr>
        <p:spPr>
          <a:xfrm>
            <a:off x="704088" y="3488436"/>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34" name="Text 32"/>
          <p:cNvSpPr/>
          <p:nvPr/>
        </p:nvSpPr>
        <p:spPr>
          <a:xfrm>
            <a:off x="1298448" y="3488436"/>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SGGP</a:t>
            </a:r>
            <a:endParaRPr lang="en-US" sz="700" dirty="0"/>
          </a:p>
        </p:txBody>
      </p:sp>
      <p:sp>
        <p:nvSpPr>
          <p:cNvPr id="35" name="Text 33"/>
          <p:cNvSpPr/>
          <p:nvPr/>
        </p:nvSpPr>
        <p:spPr>
          <a:xfrm>
            <a:off x="2075688" y="3488436"/>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우주센터 개관</a:t>
            </a:r>
            <a:endParaRPr lang="en-US" sz="750" dirty="0"/>
          </a:p>
        </p:txBody>
      </p:sp>
      <p:sp>
        <p:nvSpPr>
          <p:cNvPr id="36" name="Shape 34"/>
          <p:cNvSpPr/>
          <p:nvPr/>
        </p:nvSpPr>
        <p:spPr>
          <a:xfrm>
            <a:off x="320040" y="3685032"/>
            <a:ext cx="8503920" cy="196596"/>
          </a:xfrm>
          <a:prstGeom prst="rect">
            <a:avLst/>
          </a:prstGeom>
          <a:solidFill>
            <a:srgbClr val="FFFFFF"/>
          </a:solidFill>
          <a:ln w="12700">
            <a:solidFill>
              <a:srgbClr val="E5E7EB"/>
            </a:solidFill>
            <a:prstDash val="solid"/>
          </a:ln>
        </p:spPr>
      </p:sp>
      <p:sp>
        <p:nvSpPr>
          <p:cNvPr id="37" name="Shape 35"/>
          <p:cNvSpPr/>
          <p:nvPr/>
        </p:nvSpPr>
        <p:spPr>
          <a:xfrm>
            <a:off x="338328" y="3717036"/>
            <a:ext cx="347472" cy="132588"/>
          </a:xfrm>
          <a:prstGeom prst="rect">
            <a:avLst/>
          </a:prstGeom>
          <a:solidFill>
            <a:srgbClr val="9CA3AF"/>
          </a:solidFill>
          <a:ln w="12700">
            <a:solidFill>
              <a:srgbClr val="9CA3AF"/>
            </a:solidFill>
            <a:prstDash val="solid"/>
          </a:ln>
        </p:spPr>
      </p:sp>
      <p:sp>
        <p:nvSpPr>
          <p:cNvPr id="38" name="Text 36"/>
          <p:cNvSpPr/>
          <p:nvPr/>
        </p:nvSpPr>
        <p:spPr>
          <a:xfrm>
            <a:off x="338328" y="3717036"/>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39" name="Text 37"/>
          <p:cNvSpPr/>
          <p:nvPr/>
        </p:nvSpPr>
        <p:spPr>
          <a:xfrm>
            <a:off x="704088" y="3685032"/>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40" name="Text 38"/>
          <p:cNvSpPr/>
          <p:nvPr/>
        </p:nvSpPr>
        <p:spPr>
          <a:xfrm>
            <a:off x="1298448" y="3685032"/>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Bao Ha Tinh</a:t>
            </a:r>
            <a:endParaRPr lang="en-US" sz="700" dirty="0"/>
          </a:p>
        </p:txBody>
      </p:sp>
      <p:sp>
        <p:nvSpPr>
          <p:cNvPr id="41" name="Text 39"/>
          <p:cNvSpPr/>
          <p:nvPr/>
        </p:nvSpPr>
        <p:spPr>
          <a:xfrm>
            <a:off x="2075688" y="3685032"/>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베트남 우주센터 개관</a:t>
            </a:r>
            <a:endParaRPr lang="en-US" sz="750" dirty="0"/>
          </a:p>
        </p:txBody>
      </p:sp>
      <p:sp>
        <p:nvSpPr>
          <p:cNvPr id="42" name="Shape 40"/>
          <p:cNvSpPr/>
          <p:nvPr/>
        </p:nvSpPr>
        <p:spPr>
          <a:xfrm>
            <a:off x="320040" y="3881628"/>
            <a:ext cx="8503920" cy="196596"/>
          </a:xfrm>
          <a:prstGeom prst="rect">
            <a:avLst/>
          </a:prstGeom>
          <a:solidFill>
            <a:srgbClr val="FFFFFF"/>
          </a:solidFill>
          <a:ln w="12700">
            <a:solidFill>
              <a:srgbClr val="E5E7EB"/>
            </a:solidFill>
            <a:prstDash val="solid"/>
          </a:ln>
        </p:spPr>
      </p:sp>
      <p:sp>
        <p:nvSpPr>
          <p:cNvPr id="43" name="Shape 41"/>
          <p:cNvSpPr/>
          <p:nvPr/>
        </p:nvSpPr>
        <p:spPr>
          <a:xfrm>
            <a:off x="338328" y="3913632"/>
            <a:ext cx="347472" cy="132588"/>
          </a:xfrm>
          <a:prstGeom prst="rect">
            <a:avLst/>
          </a:prstGeom>
          <a:solidFill>
            <a:srgbClr val="9CA3AF"/>
          </a:solidFill>
          <a:ln w="12700">
            <a:solidFill>
              <a:srgbClr val="9CA3AF"/>
            </a:solidFill>
            <a:prstDash val="solid"/>
          </a:ln>
        </p:spPr>
      </p:sp>
      <p:sp>
        <p:nvSpPr>
          <p:cNvPr id="44" name="Text 42"/>
          <p:cNvSpPr/>
          <p:nvPr/>
        </p:nvSpPr>
        <p:spPr>
          <a:xfrm>
            <a:off x="338328" y="3913632"/>
            <a:ext cx="347472" cy="132588"/>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MED</a:t>
            </a:r>
            <a:endParaRPr lang="en-US" sz="650" dirty="0"/>
          </a:p>
        </p:txBody>
      </p:sp>
      <p:sp>
        <p:nvSpPr>
          <p:cNvPr id="45" name="Text 43"/>
          <p:cNvSpPr/>
          <p:nvPr/>
        </p:nvSpPr>
        <p:spPr>
          <a:xfrm>
            <a:off x="704088" y="3881628"/>
            <a:ext cx="594360" cy="196596"/>
          </a:xfrm>
          <a:prstGeom prst="rect">
            <a:avLst/>
          </a:prstGeom>
          <a:noFill/>
          <a:ln/>
        </p:spPr>
        <p:txBody>
          <a:bodyPr wrap="square" lIns="0" tIns="0" rIns="0" bIns="0" rtlCol="0" anchor="ctr"/>
          <a:lstStyle/>
          <a:p>
            <a:pPr algn="ctr" indent="0" marL="0">
              <a:buNone/>
            </a:pPr>
            <a:r>
              <a:rPr lang="en-US" sz="700" dirty="0">
                <a:solidFill>
                  <a:srgbClr val="6B7280"/>
                </a:solidFill>
                <a:latin typeface="Calibri" pitchFamily="34" charset="0"/>
                <a:ea typeface="Calibri" pitchFamily="34" charset="-122"/>
                <a:cs typeface="Calibri" pitchFamily="34" charset="-120"/>
              </a:rPr>
              <a:t>03-13</a:t>
            </a:r>
            <a:endParaRPr lang="en-US" sz="700" dirty="0"/>
          </a:p>
        </p:txBody>
      </p:sp>
      <p:sp>
        <p:nvSpPr>
          <p:cNvPr id="46" name="Text 44"/>
          <p:cNvSpPr/>
          <p:nvPr/>
        </p:nvSpPr>
        <p:spPr>
          <a:xfrm>
            <a:off x="1298448" y="3881628"/>
            <a:ext cx="777240" cy="196596"/>
          </a:xfrm>
          <a:prstGeom prst="rect">
            <a:avLst/>
          </a:prstGeom>
          <a:noFill/>
          <a:ln/>
        </p:spPr>
        <p:txBody>
          <a:bodyPr wrap="square" lIns="0" tIns="0" rIns="0" bIns="0" rtlCol="0" anchor="ctr"/>
          <a:lstStyle/>
          <a:p>
            <a:pPr indent="0" marL="0">
              <a:buNone/>
            </a:pPr>
            <a:r>
              <a:rPr lang="en-US" sz="700" dirty="0">
                <a:solidFill>
                  <a:srgbClr val="6B7280"/>
                </a:solidFill>
                <a:latin typeface="Calibri" pitchFamily="34" charset="0"/>
                <a:ea typeface="Calibri" pitchFamily="34" charset="-122"/>
                <a:cs typeface="Calibri" pitchFamily="34" charset="-120"/>
              </a:rPr>
              <a:t>Vietnam</a:t>
            </a:r>
            <a:endParaRPr lang="en-US" sz="700" dirty="0"/>
          </a:p>
        </p:txBody>
      </p:sp>
      <p:sp>
        <p:nvSpPr>
          <p:cNvPr id="47" name="Text 45"/>
          <p:cNvSpPr/>
          <p:nvPr/>
        </p:nvSpPr>
        <p:spPr>
          <a:xfrm>
            <a:off x="2075688" y="3881628"/>
            <a:ext cx="6675120" cy="196596"/>
          </a:xfrm>
          <a:prstGeom prst="rect">
            <a:avLst/>
          </a:prstGeom>
          <a:noFill/>
          <a:ln/>
        </p:spPr>
        <p:txBody>
          <a:bodyPr wrap="square" lIns="0" tIns="0" rIns="0" bIns="0" rtlCol="0" anchor="ctr"/>
          <a:lstStyle/>
          <a:p>
            <a:pPr indent="0" marL="0">
              <a:buNone/>
            </a:pPr>
            <a:r>
              <a:rPr lang="en-US" sz="750" dirty="0">
                <a:solidFill>
                  <a:srgbClr val="374151"/>
                </a:solidFill>
                <a:latin typeface="Calibri" pitchFamily="34" charset="0"/>
                <a:ea typeface="Calibri" pitchFamily="34" charset="-122"/>
                <a:cs typeface="Calibri" pitchFamily="34" charset="-120"/>
              </a:rPr>
              <a:t>Bao Ha Tinh</a:t>
            </a:r>
            <a:endParaRPr lang="en-US" sz="750" dirty="0"/>
          </a:p>
        </p:txBody>
      </p:sp>
      <p:sp>
        <p:nvSpPr>
          <p:cNvPr id="48" name="Shape 46"/>
          <p:cNvSpPr/>
          <p:nvPr/>
        </p:nvSpPr>
        <p:spPr>
          <a:xfrm>
            <a:off x="0" y="4942332"/>
            <a:ext cx="9144000" cy="201168"/>
          </a:xfrm>
          <a:prstGeom prst="rect">
            <a:avLst/>
          </a:prstGeom>
          <a:solidFill>
            <a:srgbClr val="0C2340"/>
          </a:solidFill>
          <a:ln w="12700">
            <a:solidFill>
              <a:srgbClr val="0C2340"/>
            </a:solidFill>
            <a:prstDash val="solid"/>
          </a:ln>
        </p:spPr>
      </p:sp>
      <p:sp>
        <p:nvSpPr>
          <p:cNvPr id="49" name="Text 47"/>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50" name="Text 48"/>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HN-URBAN-WEST  |</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0C2340"/>
          </a:solidFill>
          <a:ln w="12700">
            <a:solidFill>
              <a:srgbClr val="0C2340"/>
            </a:solidFill>
            <a:prstDash val="solid"/>
          </a:ln>
        </p:spPr>
      </p:sp>
      <p:sp>
        <p:nvSpPr>
          <p:cNvPr id="3" name="Text 1"/>
          <p:cNvSpPr/>
          <p:nvPr/>
        </p:nvSpPr>
        <p:spPr>
          <a:xfrm>
            <a:off x="320040" y="45720"/>
            <a:ext cx="2286000" cy="182880"/>
          </a:xfrm>
          <a:prstGeom prst="rect">
            <a:avLst/>
          </a:prstGeom>
          <a:noFill/>
          <a:ln/>
        </p:spPr>
        <p:txBody>
          <a:bodyPr wrap="square" lIns="0" tIns="0" rIns="0" bIns="0" rtlCol="0" anchor="ctr"/>
          <a:lstStyle/>
          <a:p>
            <a:pPr indent="0" marL="0">
              <a:buNone/>
            </a:pPr>
            <a:endParaRPr lang="en-US" sz="750" dirty="0"/>
          </a:p>
        </p:txBody>
      </p:sp>
      <p:sp>
        <p:nvSpPr>
          <p:cNvPr id="4" name="Text 2"/>
          <p:cNvSpPr/>
          <p:nvPr/>
        </p:nvSpPr>
        <p:spPr>
          <a:xfrm>
            <a:off x="320040" y="73152"/>
            <a:ext cx="3200400" cy="201168"/>
          </a:xfrm>
          <a:prstGeom prst="rect">
            <a:avLst/>
          </a:prstGeom>
          <a:noFill/>
          <a:ln/>
        </p:spPr>
        <p:txBody>
          <a:bodyPr wrap="square" lIns="0" tIns="0" rIns="0" bIns="0" rtlCol="0" anchor="ctr"/>
          <a:lstStyle/>
          <a:p>
            <a:pPr indent="0" marL="0">
              <a:buNone/>
            </a:pPr>
            <a:r>
              <a:rPr lang="en-US" sz="800" b="1" dirty="0">
                <a:solidFill>
                  <a:srgbClr val="CCDDF0"/>
                </a:solidFill>
                <a:latin typeface="Calibri" pitchFamily="34" charset="0"/>
                <a:ea typeface="Calibri" pitchFamily="34" charset="-122"/>
                <a:cs typeface="Calibri" pitchFamily="34" charset="-120"/>
              </a:rPr>
              <a:t>HN-URBAN-NORTH</a:t>
            </a:r>
            <a:endParaRPr lang="en-US" sz="800" dirty="0"/>
          </a:p>
        </p:txBody>
      </p:sp>
      <p:sp>
        <p:nvSpPr>
          <p:cNvPr id="5" name="Text 3"/>
          <p:cNvSpPr/>
          <p:nvPr/>
        </p:nvSpPr>
        <p:spPr>
          <a:xfrm>
            <a:off x="320040" y="256032"/>
            <a:ext cx="740664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하노이 북부 도시개발 (동아인, 메린)</a:t>
            </a:r>
            <a:endParaRPr lang="en-US" sz="1700" dirty="0"/>
          </a:p>
        </p:txBody>
      </p:sp>
      <p:sp>
        <p:nvSpPr>
          <p:cNvPr id="6" name="Text 4"/>
          <p:cNvSpPr/>
          <p:nvPr/>
        </p:nvSpPr>
        <p:spPr>
          <a:xfrm>
            <a:off x="320040" y="594360"/>
            <a:ext cx="6217920" cy="146304"/>
          </a:xfrm>
          <a:prstGeom prst="rect">
            <a:avLst/>
          </a:prstGeom>
          <a:noFill/>
          <a:ln/>
        </p:spPr>
        <p:txBody>
          <a:bodyPr wrap="square" lIns="0" tIns="0" rIns="0" bIns="0" rtlCol="0" anchor="ctr"/>
          <a:lstStyle/>
          <a:p>
            <a:pPr indent="0" marL="0">
              <a:buNone/>
            </a:pPr>
            <a:endParaRPr lang="en-US" sz="750" dirty="0"/>
          </a:p>
        </p:txBody>
      </p:sp>
      <p:sp>
        <p:nvSpPr>
          <p:cNvPr id="7" name="Text 5"/>
          <p:cNvSpPr/>
          <p:nvPr/>
        </p:nvSpPr>
        <p:spPr>
          <a:xfrm>
            <a:off x="7223760" y="274320"/>
            <a:ext cx="1600200" cy="274320"/>
          </a:xfrm>
          <a:prstGeom prst="rect">
            <a:avLst/>
          </a:prstGeom>
          <a:noFill/>
          <a:ln/>
        </p:spPr>
        <p:txBody>
          <a:bodyPr wrap="square" lIns="0" tIns="0" rIns="0" bIns="0" rtlCol="0" anchor="ctr"/>
          <a:lstStyle/>
          <a:p>
            <a:pPr algn="r" indent="0" marL="0">
              <a:buNone/>
            </a:pPr>
            <a:r>
              <a:rPr lang="en-US" sz="900" b="1" dirty="0">
                <a:solidFill>
                  <a:srgbClr val="CCDDF0"/>
                </a:solidFill>
                <a:latin typeface="Calibri" pitchFamily="34" charset="0"/>
                <a:ea typeface="Calibri" pitchFamily="34" charset="-122"/>
                <a:cs typeface="Calibri" pitchFamily="34" charset="-120"/>
              </a:rPr>
              <a:t>기사 0건  |  ★신규 0건</a:t>
            </a:r>
            <a:endParaRPr lang="en-US" sz="900" dirty="0"/>
          </a:p>
        </p:txBody>
      </p:sp>
      <p:sp>
        <p:nvSpPr>
          <p:cNvPr id="8" name="Text 6"/>
          <p:cNvSpPr/>
          <p:nvPr/>
        </p:nvSpPr>
        <p:spPr>
          <a:xfrm>
            <a:off x="8229600" y="45720"/>
            <a:ext cx="5943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25 / 26</a:t>
            </a:r>
            <a:endParaRPr lang="en-US" sz="700" dirty="0"/>
          </a:p>
        </p:txBody>
      </p:sp>
      <p:sp>
        <p:nvSpPr>
          <p:cNvPr id="9" name="Text 7"/>
          <p:cNvSpPr/>
          <p:nvPr/>
        </p:nvSpPr>
        <p:spPr>
          <a:xfrm>
            <a:off x="320040" y="786384"/>
            <a:ext cx="731520" cy="146304"/>
          </a:xfrm>
          <a:prstGeom prst="rect">
            <a:avLst/>
          </a:prstGeom>
          <a:noFill/>
          <a:ln/>
        </p:spPr>
        <p:txBody>
          <a:bodyPr wrap="square" lIns="0" tIns="0" rIns="0" bIns="0" rtlCol="0" anchor="ctr"/>
          <a:lstStyle/>
          <a:p>
            <a:pPr indent="0" marL="0">
              <a:buNone/>
            </a:pPr>
            <a:r>
              <a:rPr lang="en-US" sz="750" dirty="0">
                <a:solidFill>
                  <a:srgbClr val="6B7280"/>
                </a:solidFill>
                <a:latin typeface="Calibri" pitchFamily="34" charset="0"/>
                <a:ea typeface="Calibri" pitchFamily="34" charset="-122"/>
                <a:cs typeface="Calibri" pitchFamily="34" charset="-120"/>
              </a:rPr>
              <a:t>진행단계:</a:t>
            </a:r>
            <a:endParaRPr lang="en-US" sz="750" dirty="0"/>
          </a:p>
        </p:txBody>
      </p:sp>
      <p:sp>
        <p:nvSpPr>
          <p:cNvPr id="10" name="Shape 8"/>
          <p:cNvSpPr/>
          <p:nvPr/>
        </p:nvSpPr>
        <p:spPr>
          <a:xfrm>
            <a:off x="1069848" y="813816"/>
            <a:ext cx="4114800" cy="82296"/>
          </a:xfrm>
          <a:prstGeom prst="rect">
            <a:avLst/>
          </a:prstGeom>
          <a:solidFill>
            <a:srgbClr val="E5E7EB"/>
          </a:solidFill>
          <a:ln w="12700">
            <a:solidFill>
              <a:srgbClr val="D1D5DB"/>
            </a:solidFill>
            <a:prstDash val="solid"/>
          </a:ln>
        </p:spPr>
      </p:sp>
      <p:sp>
        <p:nvSpPr>
          <p:cNvPr id="11" name="Text 9"/>
          <p:cNvSpPr/>
          <p:nvPr/>
        </p:nvSpPr>
        <p:spPr>
          <a:xfrm>
            <a:off x="5230368" y="804672"/>
            <a:ext cx="914400" cy="100584"/>
          </a:xfrm>
          <a:prstGeom prst="rect">
            <a:avLst/>
          </a:prstGeom>
          <a:noFill/>
          <a:ln/>
        </p:spPr>
        <p:txBody>
          <a:bodyPr wrap="square" lIns="0" tIns="0" rIns="0" bIns="0" rtlCol="0" anchor="ctr"/>
          <a:lstStyle/>
          <a:p>
            <a:pPr indent="0" marL="0">
              <a:buNone/>
            </a:pPr>
            <a:r>
              <a:rPr lang="en-US" sz="750" b="1" dirty="0">
                <a:solidFill>
                  <a:srgbClr val="6B7280"/>
                </a:solidFill>
                <a:latin typeface="Calibri" pitchFamily="34" charset="0"/>
                <a:ea typeface="Calibri" pitchFamily="34" charset="-122"/>
                <a:cs typeface="Calibri" pitchFamily="34" charset="-120"/>
              </a:rPr>
              <a:t>미확정</a:t>
            </a:r>
            <a:endParaRPr lang="en-US" sz="750" dirty="0"/>
          </a:p>
        </p:txBody>
      </p:sp>
      <p:sp>
        <p:nvSpPr>
          <p:cNvPr id="12" name="Text 10"/>
          <p:cNvSpPr/>
          <p:nvPr/>
        </p:nvSpPr>
        <p:spPr>
          <a:xfrm>
            <a:off x="4325112" y="987552"/>
            <a:ext cx="4498848" cy="182880"/>
          </a:xfrm>
          <a:prstGeom prst="rect">
            <a:avLst/>
          </a:prstGeom>
          <a:noFill/>
          <a:ln/>
        </p:spPr>
        <p:txBody>
          <a:bodyPr wrap="square" lIns="0" tIns="0" rIns="0" bIns="0" rtlCol="0" anchor="ctr"/>
          <a:lstStyle/>
          <a:p>
            <a:pPr indent="0" marL="0">
              <a:buNone/>
            </a:pPr>
            <a:r>
              <a:rPr lang="en-US" sz="850" b="1" dirty="0">
                <a:solidFill>
                  <a:srgbClr val="0C2340"/>
                </a:solidFill>
                <a:latin typeface="Calibri" pitchFamily="34" charset="0"/>
                <a:ea typeface="Calibri" pitchFamily="34" charset="-122"/>
                <a:cs typeface="Calibri" pitchFamily="34" charset="-120"/>
              </a:rPr>
              <a:t>AI 시장 분석 (Claude Haiku)</a:t>
            </a:r>
            <a:endParaRPr lang="en-US" sz="850" dirty="0"/>
          </a:p>
        </p:txBody>
      </p:sp>
      <p:sp>
        <p:nvSpPr>
          <p:cNvPr id="13" name="Shape 11"/>
          <p:cNvSpPr/>
          <p:nvPr/>
        </p:nvSpPr>
        <p:spPr>
          <a:xfrm>
            <a:off x="4325112" y="1179576"/>
            <a:ext cx="4498848" cy="164592"/>
          </a:xfrm>
          <a:prstGeom prst="rect">
            <a:avLst/>
          </a:prstGeom>
          <a:solidFill>
            <a:srgbClr val="F3F4F6"/>
          </a:solidFill>
          <a:ln w="12700">
            <a:solidFill>
              <a:srgbClr val="9CA3AF"/>
            </a:solidFill>
            <a:prstDash val="solid"/>
          </a:ln>
        </p:spPr>
      </p:sp>
      <p:sp>
        <p:nvSpPr>
          <p:cNvPr id="14" name="Text 12"/>
          <p:cNvSpPr/>
          <p:nvPr/>
        </p:nvSpPr>
        <p:spPr>
          <a:xfrm>
            <a:off x="4325112" y="1179576"/>
            <a:ext cx="4498848" cy="164592"/>
          </a:xfrm>
          <a:prstGeom prst="rect">
            <a:avLst/>
          </a:prstGeom>
          <a:noFill/>
          <a:ln/>
        </p:spPr>
        <p:txBody>
          <a:bodyPr wrap="square" lIns="0" tIns="0" rIns="0" bIns="0" rtlCol="0" anchor="ctr"/>
          <a:lstStyle/>
          <a:p>
            <a:pPr algn="ctr" indent="0" marL="0">
              <a:buNone/>
            </a:pPr>
            <a:r>
              <a:rPr lang="en-US" sz="700" b="1" dirty="0">
                <a:solidFill>
                  <a:srgbClr val="9CA3AF"/>
                </a:solidFill>
                <a:latin typeface="Calibri" pitchFamily="34" charset="0"/>
                <a:ea typeface="Calibri" pitchFamily="34" charset="-122"/>
                <a:cs typeface="Calibri" pitchFamily="34" charset="-120"/>
              </a:rPr>
              <a:t>이전 분석 유지</a:t>
            </a:r>
            <a:endParaRPr lang="en-US" sz="700" dirty="0"/>
          </a:p>
        </p:txBody>
      </p:sp>
      <p:sp>
        <p:nvSpPr>
          <p:cNvPr id="15" name="Shape 13"/>
          <p:cNvSpPr/>
          <p:nvPr/>
        </p:nvSpPr>
        <p:spPr>
          <a:xfrm>
            <a:off x="4325112" y="1353312"/>
            <a:ext cx="4498848" cy="1700784"/>
          </a:xfrm>
          <a:prstGeom prst="rect">
            <a:avLst/>
          </a:prstGeom>
          <a:solidFill>
            <a:srgbClr val="FFFFFF"/>
          </a:solidFill>
          <a:ln w="12700">
            <a:solidFill>
              <a:srgbClr val="0C2340"/>
            </a:solidFill>
            <a:prstDash val="solid"/>
          </a:ln>
        </p:spPr>
      </p:sp>
      <p:sp>
        <p:nvSpPr>
          <p:cNvPr id="16" name="Shape 14"/>
          <p:cNvSpPr/>
          <p:nvPr/>
        </p:nvSpPr>
        <p:spPr>
          <a:xfrm>
            <a:off x="4325112" y="1353312"/>
            <a:ext cx="36576" cy="1700784"/>
          </a:xfrm>
          <a:prstGeom prst="rect">
            <a:avLst/>
          </a:prstGeom>
          <a:solidFill>
            <a:srgbClr val="0C2340"/>
          </a:solidFill>
          <a:ln w="12700">
            <a:solidFill>
              <a:srgbClr val="0C2340"/>
            </a:solidFill>
            <a:prstDash val="solid"/>
          </a:ln>
        </p:spPr>
      </p:sp>
      <p:sp>
        <p:nvSpPr>
          <p:cNvPr id="17" name="Text 15"/>
          <p:cNvSpPr/>
          <p:nvPr/>
        </p:nvSpPr>
        <p:spPr>
          <a:xfrm>
            <a:off x="4398264" y="1353312"/>
            <a:ext cx="4389120" cy="1700784"/>
          </a:xfrm>
          <a:prstGeom prst="rect">
            <a:avLst/>
          </a:prstGeom>
          <a:noFill/>
          <a:ln/>
        </p:spPr>
        <p:txBody>
          <a:bodyPr wrap="square" lIns="50800" tIns="76200" rIns="76200" bIns="50800" rtlCol="0" anchor="t"/>
          <a:lstStyle/>
          <a:p>
            <a:pPr indent="0" marL="0">
              <a:buNone/>
            </a:pPr>
            <a:r>
              <a:rPr lang="en-US" sz="800" dirty="0">
                <a:solidFill>
                  <a:srgbClr val="374151"/>
                </a:solidFill>
                <a:latin typeface="Calibri" pitchFamily="34" charset="0"/>
                <a:ea typeface="Calibri" pitchFamily="34" charset="-122"/>
                <a:cs typeface="Calibri" pitchFamily="34" charset="-120"/>
              </a:rPr>
              <a:t>이번 주 HN-URBAN-NORTH 관련 기사가 없습니다.</a:t>
            </a:r>
            <a:endParaRPr lang="en-US" sz="800" dirty="0"/>
          </a:p>
        </p:txBody>
      </p:sp>
      <p:sp>
        <p:nvSpPr>
          <p:cNvPr id="18" name="Shape 16"/>
          <p:cNvSpPr/>
          <p:nvPr/>
        </p:nvSpPr>
        <p:spPr>
          <a:xfrm>
            <a:off x="320040" y="3108960"/>
            <a:ext cx="8503920" cy="292608"/>
          </a:xfrm>
          <a:prstGeom prst="rect">
            <a:avLst/>
          </a:prstGeom>
          <a:solidFill>
            <a:srgbClr val="F3F4F6"/>
          </a:solidFill>
          <a:ln w="12700">
            <a:solidFill>
              <a:srgbClr val="D1D5DB"/>
            </a:solidFill>
            <a:prstDash val="solid"/>
          </a:ln>
        </p:spPr>
      </p:sp>
      <p:sp>
        <p:nvSpPr>
          <p:cNvPr id="19" name="Text 17"/>
          <p:cNvSpPr/>
          <p:nvPr/>
        </p:nvSpPr>
        <p:spPr>
          <a:xfrm>
            <a:off x="320040" y="3108960"/>
            <a:ext cx="8503920" cy="292608"/>
          </a:xfrm>
          <a:prstGeom prst="rect">
            <a:avLst/>
          </a:prstGeom>
          <a:noFill/>
          <a:ln/>
        </p:spPr>
        <p:txBody>
          <a:bodyPr wrap="square" lIns="0" tIns="0" rIns="0" bIns="0" rtlCol="0" anchor="ctr"/>
          <a:lstStyle/>
          <a:p>
            <a:pPr algn="ctr" indent="0" marL="0">
              <a:buNone/>
            </a:pPr>
            <a:r>
              <a:rPr lang="en-US" sz="850" dirty="0">
                <a:solidFill>
                  <a:srgbClr val="9CA3AF"/>
                </a:solidFill>
                <a:latin typeface="Calibri" pitchFamily="34" charset="0"/>
                <a:ea typeface="Calibri" pitchFamily="34" charset="-122"/>
                <a:cs typeface="Calibri" pitchFamily="34" charset="-120"/>
              </a:rPr>
              <a:t>이번 주 수집된 기사 없음 — 기존 분석 및 KPI 현황 유지</a:t>
            </a:r>
            <a:endParaRPr lang="en-US" sz="850" dirty="0"/>
          </a:p>
        </p:txBody>
      </p:sp>
      <p:sp>
        <p:nvSpPr>
          <p:cNvPr id="20" name="Shape 18"/>
          <p:cNvSpPr/>
          <p:nvPr/>
        </p:nvSpPr>
        <p:spPr>
          <a:xfrm>
            <a:off x="0" y="4942332"/>
            <a:ext cx="9144000" cy="201168"/>
          </a:xfrm>
          <a:prstGeom prst="rect">
            <a:avLst/>
          </a:prstGeom>
          <a:solidFill>
            <a:srgbClr val="0C2340"/>
          </a:solidFill>
          <a:ln w="12700">
            <a:solidFill>
              <a:srgbClr val="0C2340"/>
            </a:solidFill>
            <a:prstDash val="solid"/>
          </a:ln>
        </p:spPr>
      </p:sp>
      <p:sp>
        <p:nvSpPr>
          <p:cNvPr id="21" name="Text 19"/>
          <p:cNvSpPr/>
          <p:nvPr/>
        </p:nvSpPr>
        <p:spPr>
          <a:xfrm>
            <a:off x="320040" y="4960620"/>
            <a:ext cx="4572000" cy="164592"/>
          </a:xfrm>
          <a:prstGeom prst="rect">
            <a:avLst/>
          </a:prstGeom>
          <a:noFill/>
          <a:ln/>
        </p:spPr>
        <p:txBody>
          <a:bodyPr wrap="square" lIns="0" tIns="0" rIns="0" bIns="0" rtlCol="0" anchor="ctr"/>
          <a:lstStyle/>
          <a:p>
            <a:pPr indent="0" marL="0">
              <a:buNone/>
            </a:pPr>
            <a:r>
              <a:rPr lang="en-US" sz="700" dirty="0">
                <a:solidFill>
                  <a:srgbClr val="AABBCC"/>
                </a:solidFill>
                <a:latin typeface="Calibri" pitchFamily="34" charset="0"/>
                <a:ea typeface="Calibri" pitchFamily="34" charset="-122"/>
                <a:cs typeface="Calibri" pitchFamily="34" charset="-120"/>
              </a:rPr>
              <a:t>Vietnam Infrastructure MI Report  |  CONFIDENTIAL</a:t>
            </a:r>
            <a:endParaRPr lang="en-US" sz="700" dirty="0"/>
          </a:p>
        </p:txBody>
      </p:sp>
      <p:sp>
        <p:nvSpPr>
          <p:cNvPr id="22" name="Text 20"/>
          <p:cNvSpPr/>
          <p:nvPr/>
        </p:nvSpPr>
        <p:spPr>
          <a:xfrm>
            <a:off x="6858000" y="4960620"/>
            <a:ext cx="1965960" cy="164592"/>
          </a:xfrm>
          <a:prstGeom prst="rect">
            <a:avLst/>
          </a:prstGeom>
          <a:noFill/>
          <a:ln/>
        </p:spPr>
        <p:txBody>
          <a:bodyPr wrap="square" lIns="0" tIns="0" rIns="0" bIns="0" rtlCol="0" anchor="ctr"/>
          <a:lstStyle/>
          <a:p>
            <a:pPr algn="r" indent="0" marL="0">
              <a:buNone/>
            </a:pPr>
            <a:r>
              <a:rPr lang="en-US" sz="700" dirty="0">
                <a:solidFill>
                  <a:srgbClr val="AABBCC"/>
                </a:solidFill>
                <a:latin typeface="Calibri" pitchFamily="34" charset="0"/>
                <a:ea typeface="Calibri" pitchFamily="34" charset="-122"/>
                <a:cs typeface="Calibri" pitchFamily="34" charset="-120"/>
              </a:rPr>
              <a:t>HN-URBAN-NORTH  |</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2340"/>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6E6E"/>
          </a:solidFill>
          <a:ln w="12700">
            <a:solidFill>
              <a:srgbClr val="0D6E6E"/>
            </a:solidFill>
            <a:prstDash val="solid"/>
          </a:ln>
        </p:spPr>
      </p:sp>
      <p:sp>
        <p:nvSpPr>
          <p:cNvPr id="3" name="Text 1"/>
          <p:cNvSpPr/>
          <p:nvPr/>
        </p:nvSpPr>
        <p:spPr>
          <a:xfrm>
            <a:off x="457200" y="1371600"/>
            <a:ext cx="8229600" cy="731520"/>
          </a:xfrm>
          <a:prstGeom prst="rect">
            <a:avLst/>
          </a:prstGeom>
          <a:noFill/>
          <a:ln/>
        </p:spPr>
        <p:txBody>
          <a:bodyPr wrap="square" rtlCol="0" anchor="ctr"/>
          <a:lstStyle/>
          <a:p>
            <a:pPr algn="ctr" indent="0" marL="0">
              <a:buNone/>
            </a:pPr>
            <a:r>
              <a:rPr lang="en-US" sz="4800" b="1" spc="800" kern="0"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457200" y="2212848"/>
            <a:ext cx="8229600" cy="320040"/>
          </a:xfrm>
          <a:prstGeom prst="rect">
            <a:avLst/>
          </a:prstGeom>
          <a:noFill/>
          <a:ln/>
        </p:spPr>
        <p:txBody>
          <a:bodyPr wrap="square" rtlCol="0" anchor="ctr"/>
          <a:lstStyle/>
          <a:p>
            <a:pPr algn="ctr" indent="0" marL="0">
              <a:buNone/>
            </a:pPr>
            <a:r>
              <a:rPr lang="en-US" sz="1300" dirty="0">
                <a:solidFill>
                  <a:srgbClr val="7EB8D4"/>
                </a:solidFill>
                <a:latin typeface="Calibri" pitchFamily="34" charset="0"/>
                <a:ea typeface="Calibri" pitchFamily="34" charset="-122"/>
                <a:cs typeface="Calibri" pitchFamily="34" charset="-120"/>
              </a:rPr>
              <a:t>Vietnam Infrastructure Market Intelligence  |  2026-W19</a:t>
            </a:r>
            <a:endParaRPr lang="en-US" sz="1300" dirty="0"/>
          </a:p>
        </p:txBody>
      </p:sp>
      <p:sp>
        <p:nvSpPr>
          <p:cNvPr id="5" name="Shape 3"/>
          <p:cNvSpPr/>
          <p:nvPr/>
        </p:nvSpPr>
        <p:spPr>
          <a:xfrm>
            <a:off x="1371600" y="2651760"/>
            <a:ext cx="6400800" cy="0"/>
          </a:xfrm>
          <a:prstGeom prst="line">
            <a:avLst/>
          </a:prstGeom>
          <a:noFill/>
          <a:ln w="12700">
            <a:solidFill>
              <a:srgbClr val="2E6A9A"/>
            </a:solidFill>
            <a:prstDash val="dash"/>
          </a:ln>
        </p:spPr>
      </p:sp>
      <p:sp>
        <p:nvSpPr>
          <p:cNvPr id="6" name="Text 4"/>
          <p:cNvSpPr/>
          <p:nvPr/>
        </p:nvSpPr>
        <p:spPr>
          <a:xfrm>
            <a:off x="457200" y="2788920"/>
            <a:ext cx="8229600" cy="502920"/>
          </a:xfrm>
          <a:prstGeom prst="rect">
            <a:avLst/>
          </a:prstGeom>
          <a:noFill/>
          <a:ln/>
        </p:spPr>
        <p:txBody>
          <a:bodyPr wrap="square" rtlCol="0" anchor="ctr"/>
          <a:lstStyle/>
          <a:p>
            <a:pPr algn="ctr" indent="0" marL="0">
              <a:buNone/>
            </a:pPr>
            <a:r>
              <a:rPr lang="en-US" sz="950" dirty="0">
                <a:solidFill>
                  <a:srgbClr val="7EB8D4"/>
                </a:solidFill>
                <a:latin typeface="Calibri" pitchFamily="34" charset="0"/>
                <a:ea typeface="Calibri" pitchFamily="34" charset="-122"/>
                <a:cs typeface="Calibri" pitchFamily="34" charset="-120"/>
              </a:rPr>
              <a:t>총 21개 마스터플랜  |  전체 445건 기사  |  신규 81건</a:t>
            </a:r>
            <a:endParaRPr lang="en-US" sz="950" dirty="0"/>
          </a:p>
          <a:p>
            <a:pPr algn="ctr" indent="0" marL="0">
              <a:buNone/>
            </a:pPr>
            <a:r>
              <a:rPr lang="en-US" sz="950" dirty="0">
                <a:solidFill>
                  <a:srgbClr val="7EB8D4"/>
                </a:solidFill>
                <a:latin typeface="Calibri" pitchFamily="34" charset="0"/>
                <a:ea typeface="Calibri" pitchFamily="34" charset="-122"/>
                <a:cs typeface="Calibri" pitchFamily="34" charset="-120"/>
              </a:rPr>
              <a:t>SA-8 자동 생성 파이프라인 (Claude Haiku + Node.js)  |  CONFIDENTIAL</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Vietnam Infra Intelligence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VN Infra MI Report 2026-05-09</dc:title>
  <dc:subject>PptxGenJS Presentation</dc:subject>
  <dc:creator>SA-8 MI Pipeline</dc:creator>
  <cp:lastModifiedBy>SA-8 MI Pipeline</cp:lastModifiedBy>
  <cp:revision>1</cp:revision>
  <dcterms:created xsi:type="dcterms:W3CDTF">2026-05-09T13:29:17Z</dcterms:created>
  <dcterms:modified xsi:type="dcterms:W3CDTF">2026-05-09T13:29:17Z</dcterms:modified>
</cp:coreProperties>
</file>