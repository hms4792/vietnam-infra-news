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VIETNAM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D9D9D9"/>
                </a:solidFill>
                <a:latin typeface="맑은 고딕"/>
              </a:rPr>
              <a:t>Weekly MI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베트남 인프라 시장 동향 주간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0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맑은 고딕"/>
              </a:rPr>
              <a:t>2026-05-01  |  2026-W18  |  19개 마스터플랜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5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9D9D9"/>
                </a:solidFill>
                <a:latin typeface="맑은 고딕"/>
              </a:rPr>
              <a:t>매핑 기사 243건  |  knowledge_index v3.4 + Claude Haiku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환경 인프라 (Environment)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포함 마스터플랜 6개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440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맑은 고딕"/>
              </a:rPr>
              <a:t>• VN-WW-2030 — 폐수처리 인프라 국가 마스터플랜 2021~2030
• VN-SWM-NATIONAL-2030 — 전국 고형폐기물 통합관리 국가전략 2025/2050
• VN-WAT-URBAN — 국가 상수도 개발전략 2030
• VN-WAT-RESOURCES — 수자원법 2023 + 국가 수자원 전략 2030
• VN-ENV-IND-1894 — 환경산업 개발프로그램 (Decision 1894)
• VN-ENV-NATURA — 자연환경 보전 전략 2030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VN-WW-2030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폐수처리 인프라 국가 마스터플랜 2021~2030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1354/QD-TTg | Waste Water | 매핑 37건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 폐수처리율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~29% → 50% (하노이 옌짜 준공)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신규 WWTP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2,900,000 m³/일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약 800,000 m³/일 운영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ODA 연계 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$2.5B+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JICA $690M (옌짜 준공 확정)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국가 폐수처리 마스터플랜(2021~2030)은 도시 폐수처리율을 2025년 50%, 2030년 85%로 끌어올리는 것을 목표로 한다. 하노이·호치민·다낭 등 주요 도시 권역별 WWTP 신규·확장이 핵심이다. JICA, ADB, KfW 등 다자금융기관 ODA가 투자의 80% 이상을 차지하며, 민관협력(PPP) 확대가 정책 방향이다. 2024년 기준 하노이 폐수처리율은 약 29%로 목표(50%, 2025년)에 크게 못 미치나, 옌짜 WWTP 준공(2025.8)으로 처리 용량이 2배 이상 증가할 전망이다.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- 옌짜 WWTP 공식 준공:  2025년 8월 19일, JICA ODA($690M) 지원으로 건설된 옌짜 폐수처리장이 가동을 시작했습니다. 또리히(To Lich)강 정화를 위한 
• 호아이득(Hoai Duc) 신규 시설:  하노이 인민위는 $16.5M를 투입하여 2026년부터 2029년까지 호아이득 현의 오염 해결을 위한 하수 처리 시스템 구축을 승인했습니다.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VN-SWM-NATIONAL-2030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전국 고형폐기물 통합관리 국가전략 2025/2050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491/QD-TTg | Solid Waste | 매핑 11건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 폐기물 수거율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95% (2025 목표 수준)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WtE 소각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30% 목표 (2025), 속선 WtE 가동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매립 의존율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30% 이하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속선 WtE 가동으로 현저히 감소 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전국 고형폐기물 관리 전략은 2030년까지 WtE(폐기물 에너지화) 비율을 50%로 높이고 매립 의존도를 획기적으로 낮추는 것이 핵심이다. 하노이 속선(Soc Son) WtE 발전소 준공(2025.10, 90MW)이 베트남 WtE 전략의 이정표다. EPR(생산자책임재활용) 규정 시행, 재활용 기반 강화가 중기 정책 방향이다.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11건 | 금주 0건 | 최신 2026-04-01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VN-WAT-URBAN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국가 상수도 개발전략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1979/QD-TTg | Water Supply/Drainage | 매핑 5건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 안전 상수 보급률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95% 수준 (2025)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1인당 공급량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150 L/일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120 L/일 (2025 목표)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누수율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15% 이하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20% 이하 (2025 목표)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국가 상수도 개발전략은 2030년 도시 지역 100% 안전 수돗물 보급을 목표로 한다. ADB가 빈증성 바우방(Bau Bang) 정수장 확장($200M+), KfW가 중부 지역 상수도 현대화를 지원 중이다. 민영화(PPP·BOT) 확대로 TDM 수자원(빈증), BWS(호치민) 등 민간 사업자의 역할이 증가하고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5건 | 금주 0건 | 최신 2026-04-08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VN-WAT-RESOURCES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수자원법 2023 + 국가 수자원 전략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Law 28/2023/QH15 | Water Supply/Drainage | 매핑 5건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지하수 관리 대수층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전국 27개 완전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12개 관리 중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중복 댐·저수지 안전진단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100%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65% 완료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홍수 피해 GDP 비중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0.5% 미만으로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연평균 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베트남은 기후변화로 메콩델타 해수 침투, 홍강 유역 가뭄·홍수 교차, 지하수 과잉 채굴 등 복합 수자원 위기에 직면해 있다. 2023년 수자원법 전면 개정으로 유역통합관리(IWRM), 지하수 이용 허가제, 오염자부담 원칙이 강화됐다. ADB·세계은행 지원 하에 메콩델타 수자원 인프라 현대화가 가속 중이다.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5건 | 금주 0건 | 최신 2026-03-22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VN-ENV-IND-1894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환경산업 개발프로그램 (Decision 1894)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1894/QD-TTg (September 4, 2025) | Environment | 매핑 5건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38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폐수처리 기술 국산화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70~80%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2025년 기준 ~30%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배기가스 처리 국산화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60~70%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2025년 기준 ~25%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고형폐기물 처리 국산화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50~60%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2025년 기준 ~20%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환경 모니터링 장비 국산화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2025년 기준 ~5%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재활용 산업단지 파일럿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구축 (2027)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법적 근거 미비</a:t>
                      </a:r>
                    </a:p>
                  </a:txBody>
                  <a:tcPr/>
                </a:tc>
              </a:tr>
              <a:tr h="385716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WtE(폐기물 에너지화)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2,270MW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기술 구축 단계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 환경산업 기술 자립화 프로그램. 폐수처리·배기가스·고형폐기물 기술 국산화. 2030년 폐수처리 기술 국산화율 70~80%, 배기가스 처리 60~70% 목표. ⚠ 주의: 인프라 건설 사업이 아닌 MOIT 주관 기술산업 육성 프로그램. 2025년 9월 4일 총리가 환경산업 발전 프로그램(2025~2030)을 승인한 결정으로 즉시 발효. 환경산업을 그린성장 핵심 산업·국가 사회·경제 발전전략의 핵심 구성요소로 격상하고, 향후 별도 ‘환경산업 발전 정부령’ 제정을 위한 법·제도적 토대를 마련하는 것이 목적. 순환경제, 녹색전환, 2050년 넷제로(Net-Zero) 이행을 뒷받침하는 전략 산업으로 정의.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한국 강점 분야: 하·폐수처리(고도처리, MBR, IoT 기반 O&amp;M), WtE·소각(EPC+운영 패키지), 환경계측·TMS(굴뚝 TMS, 수질·대기망), 재활용·EPR(제도 설계
• 진출 전략: ① 1894/QĐ-TTg와 부처별 Action Plan 정렬, ② Bac Ninh, Hai Phong, Hanoi 위성도시(Hoa Lac, Yen Phong) 산업단지
• 공공협력 활용: 한-베 환경협력 MOU + KOICA·EDCF·KEITI 사업 연계 → "정책·제도 컨설팅 + 파일럿 플랜트" 패키지 제안 → 향후 재활용 설비·시스템·IT 솔루션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VN-ENV-NATURA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자연환경 보전 전략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149/QD-TTg (2022.1.28) | Environment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육상 보호구역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9%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7.6%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해양 보호구역 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3~5%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0.24%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적색목록종 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50% 회복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진행 중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REDD+ 산림 탄소축적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15%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진행 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 생물다양성 보전 + 자연자원 지속가능 이용 국가전략. 2030년까지 보호구역 9% (육상)/3-5% (해양) 확대, 적색목록종 복원, 베트남-Cat Tien NP·Phong Nha-Ke Bang 등 국립공원 운영 강화 목표. GEF·UNDP·KOICA 등 국제협력으로 지원되며, 베트남 환경부(MoNRE) 주관.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에너지·전력 (Energy &amp; Power)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포함 마스터플랜 5개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440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맑은 고딕"/>
              </a:rPr>
              <a:t>• VN-PWR-PDP8 — 전력개발계획 PDP8 (통합)
• VN-PWR-PDP8-RENEWABLE — 전력개발계획 PDP8 개정 — 해상풍력·태양광·DPPA
• VN-PWR-PDP8-LNG — LNG 발전 인수보장 + 닌투언 LNG 허브
• VN-PWR-PDP8-NUCLEAR — 원자력 재개 — Resolution 70-NQ/TW (2025) / 닌투언 1·2호기
• VN-OG-2030 — 석유가스 개발전략 2030 — PVN 국가 에너지 안보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VN-PWR-PDP8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전력개발계획 PDP8 (통합)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500/QD-TTg (2023.5.15) + 768 (2025.4.15) | Power | 매핑 80건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총 발전설비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150,489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80,555 MW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재생에너지 비중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30~39%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13.7%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해상풍력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17,032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 MW (계획 중)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석탄발전 단계적 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2050년 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34% (2024)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PDP8 — 베트남 8차 전력개발계획. 2030년까지 발전설비 150GW (재생 50% 이상), 2050년 567~635GW (재생 67~71%) 목표. 2025년 4월 Decision 768로 개정되어 GDP 7%→10% 상향에 따른 전력수요 재계산, 해상풍력 6→17GW 3배 상향, 석탄발전 단계적 폐지 가속, 원자력 재개(닌투언 1·2호기) 반영. 하위 플랜: VN-PWR-PDP8-RENEWABLE (해상풍력·태양광), VN-PWR-PDP8-LNG (LNG 인수보장), VN-PWR-PDP8-NUCLEAR (원자력 재개).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80건 | 금주 0건 | 최신 2026-04-21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VN-PWR-PDP8-RENEWABLE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전력개발계획 PDP8 개정 — 해상풍력·태양광·DPPA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768/QD-TTg (2025.4.15) | Power | 매핑 2건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해상풍력(2030)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17,032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6,000MW → 3배 상향 확정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육상풍력(2030)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38,029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21,880MW (PDP8 원안) 대폭 상향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태양광(2030)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73 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26,046MW → 대폭 상향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BESS 배터리(2030)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10,000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300MW → 33배 상향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2025년 4월 Decision 768로 PDP8이 전면 개정됐다. GDP 성장률 목표 7%→10% 상향이 전력 수요 재계산을 촉발했으며, 해상풍력 목표가 3배 가까이 늘었다. Decree 57(DPPA·직접전력구매계약) 시행으로 RE100 기업의 재생에너지 직구매가 가능해졌다. 2030년까지 총 투자 $134.7B 규모다.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2건 | 금주 0건 | 최신 2026-04-14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매핑 기사 부족 (2건)
⚠ ⚠️ 금주 신규 0건 — Haiku 맥락분류 활성화 권장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VN-PWR-PDP8-LNG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LNG 발전 인수보장 + 닌투언 LNG 허브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Decree 100/2025/ND-CP | Power | 매핑 32건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LNG 수입 터미널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2개소 운영 중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LNG 발전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23,900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약 3,000 MW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연간 LNG 수입량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14백만 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2백만 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Decree 100(2025)은 LNG 발전사업의 최소 연간 발전량 65% 인수를 보장하는 정부 보증을 법제화해 외국인 투자자의 진입 장벽을 크게 낮췄다. 닌투언LNG 복합터미널, 박류-탄호아 LNG 등 대형 프로젝트가 FID(최종투자결정) 단계에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32건 | 금주 0건 | 최신 2026-04-10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VN-PWR-PDP8-NUCLEAR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원자력 재개 — Resolution 70-NQ/TW (2025) / 닌투언 1·2호기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Resolution 70-NQ/TW (2025) | Power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원자력 발전 용량(2035)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4,000 MW (2035 목표)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Decision 768 신규 추가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닌투언 1호기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2,000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Rosatom, 재개 확정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닌투언 2호기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2,000 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일본 컨소시엄, 협의 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2025년 정치국 결의(Resolution 70)로 2010년 중단된 원자력 재개 추진이 공식화됐다. 닌투언 1호기(러시아 Rosatom, 2,000MW)와 2호기(일본 ADB 컨소시엄) 개발 재개가 확정됐으며, 소형모듈원전(SMR) 도입도 검토 중이다. 에너지 안보·탄소중립 이중 과제 대응이 배경이다.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VN-OG-2030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석유가스 개발전략 2030 — PVN 국가 에너지 안보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PVN 국가 에너지 안보전략 2030 | Oil &amp; Gas | 매핑 16건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원유 생산량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8~10백만 톤/년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11백만 톤/년 (유지 목표)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가스 생산량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13~15억 m³/년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10억 m³/년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LNG 수입 의존도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국내 가스 우선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2백만 톤/년 수입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 석유가스공사(PVN)는 바흐호(Bach Ho)·람손(Rang Dong) 등 노후 유전 생산 감소에 대응해 심해 탐사(113·115·129 블록)와 LNG 공급망 구축을 병행 추진 중이다. 국내 가스전(Ca Mau·Nam Con Son)을 LNG 발전소와 연계하는 통합 공급망이 핵심 전략이다.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16건 | 금주 0건 | 최신 2026-04-15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도시·교통·산업 (Urban &amp; Transport)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포함 마스터플랜 8개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440000"/>
            <a:ext cx="100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맑은 고딕"/>
              </a:rPr>
              <a:t>• VN-TRAN-2055 — 국가 교통인프라 마스터플랜 2021~2030, Vision 2050
• VN-URB-METRO-2030 — 도시철도 국가전략 2030 — 하노이·호치민 15개 노선 계획
• VN-IP-NORTH-2030 — 북부 산업단지 개발계획 2030 — FDI 유입 핵심 거점
• VN-HAN-URBAN-2045 — 하노이 도시개발 마스터플랜 2045/2065
• VN-HAN-DONG-ANH — 동아인 스마트시티 (Dong Anh Smart City)
• VN-HAN-HOA-LAC — 호아락 하이테크파크
• VN-HOUSING-2030 — 국가 주택 개발 계획 2030
• VN-SMART-2025 — 스마트시티 국가전략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VN-TRAN-2055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국가 교통인프라 마스터플랜 2021~2030, Vision 2050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1454/QD-TTg | Transport | 매핑 13건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고속도로 총연장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5,000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1,892 km (2025 실적)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롱탄공항 개항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25M PAX/년 (1단계)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2026.06 상업운항 목표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공항 네트워크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30개 공항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22개 운영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항만 처리 용량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1,100M 톤/년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600M 톤/년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교통인프라 마스터플랜은 2030년 고속도로 5,000km, 항구·공항 대규모 확충을 목표로 한다. 롱탄 국제공항($18B, 4단계)은 핵심 메가프로젝트로 2026년 1단계 개항이 목전이다. 하노이 링로드4, 호치민 링로드3·고가도로, 라크후옌 항구 확장이 병행 추진 중이다. PPP(BOT) 방식 확대로 민간 참여가 증가하고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13건 | 금주 0건 | 최신 2026-04-21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VN-URB-METRO-2030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도시철도 국가전략 2030 — 하노이·호치민 15개 노선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도시철도 국가전략 2030 | Smart City | 매핑 6건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하노이 메트로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15개 노선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2A·3호선 운영, 1·2B 건설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호치민 메트로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8개 노선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1호선 2024.12 개통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전국 도시철도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46개 노선 3,045km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약 5개 노선 운영/건설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하노이와 호치민은 각각 2030년까지 메트로 15개·8개 노선 완성을 목표로 하지만 재원조달·용지보상·기술역량 부족으로 지연이 상시적이다. 하노이 2A(껫린~하동)·3(못처~하노이역 부분) 운영 중이고, 1·2B·4호선이 건설 중이다. 호치민 1호선(벤탄~수오이티엔)은 2024년 말 개통됐다.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6건 | 금주 0건 | 최신 2026-04-21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금주 신규 0건 — Haiku 맥락분류 활성화 권장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VN-IP-NORTH-2030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북부 산업단지 개발계획 2030 — FDI 유입 핵심 거점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북부 산업단지 개발계획 2030 | Industrial Parks | 매핑 29건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38571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VSIP 단지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25개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19개 운영 (타이빈 신규 착공)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첨단산업 비중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40%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전자·반도체 집중 육성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FDI 유입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연 $20B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2025년 $18B 수준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배터리·반도체 거점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특화 클러스터 3개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박닌·하이퐁 중심</a:t>
                      </a:r>
                    </a:p>
                  </a:txBody>
                  <a:tcPr/>
                </a:tc>
              </a:tr>
              <a:tr h="385714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일자리 창출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400만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250만 명 (2024)</a:t>
                      </a:r>
                    </a:p>
                  </a:txBody>
                  <a:tcPr/>
                </a:tc>
              </a:tr>
              <a:tr h="385716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하이퐁 신규 단지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15개 단지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DEEP C 등 10개 운영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북부 산업단지 클러스터(하이퐁·박닌·타이응우옌·박장·흥옌)는 삼성·LG·인텔·폭스콘 등 글로벌 전자·반도체 공급망의 핵심 기지다. VSIP(베트남-싱가포르 산업단지)는 19개 단지를 운영 중이며, 타이빈성 신규 착공으로 확장 중이다. 2025~2030년 반도체·배터리·첨단제조 클러스터 집중 육성이 정책 방향이다.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29건 | 금주 3건 | 최신 2026-04-28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✅ 데이터 수집 양호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VN-HAN-URBAN-2045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하노이 도시개발 마스터플랜 2045/2065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1668/QD-TTg (2024.12) | Smart City | 매핑 2건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도시개발 총투자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$2.5T (2026~2045)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Decision 1668 확정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인구 수용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16M명 (2045)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현재 8.5M명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링로드4 완공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2027년 전체 완공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착공 진행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2024년 12월 Decision 1668로 확정된 하노이 도시개발 마스터플랜 2045/2065는 9×9×9 다핵다중심 클러스터 모델을 적용해 5대 도시권·7개 위성도시를 체계화한다. 총 투자 $2.5T(2026~2045), 인구 2045년 최대 16M 수용이 목표다. 링로드4(113km, $3.6B) 착공이 서막이며, 홍강 양안 신도시, 또리히강 정화, 15개 메트로 노선이 핵심이다.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2건 | 금주 0건 | 최신 2026-03-05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⚠️ 매핑 기사 부족 (2건)
⚠ ⚠️ 금주 신규 0건 — Haiku 맥락분류 활성화 권장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VN-HAN-DONG-ANH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동아인 스마트시티 (Dong Anh Smart City)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Hanoi Urban Master Plan 2045 — Dong Anh North Urban Cluster | Smart City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6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신도시 부지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4,200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계획·인허가 단계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인구 수용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30~40만 (2045)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약 4.2만 (2024)</a:t>
                      </a:r>
                    </a:p>
                  </a:txBody>
                  <a:tcPr/>
                </a:tc>
              </a:tr>
              <a:tr h="675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투자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$4B+ (BRG-Sumitomo)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단계별 진입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하노이 도시개발 마스터플랜 2045/2065 하위 — 북부 동아인(Dong Anh) 신도시. 하노이 북부 노이바이 공항 인근 4,200ha 부지, 인구 30~40만 수용 신도시 개발. Sumitomo(일본)·BRG Group(베트남) 합작 BRG-Sumitomo Smart City($4B), Vingroup Co Loa Smart City 등 대형 프로젝트 추진. 2045년 인구 87만 목표.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VN-HAN-HOA-LAC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호아락 하이테크파크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274/QD-TTg (1998) + 1626/QD-TTg (2024 개정) | Industrial Parks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입주 기업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800개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113개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연간 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$30B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$1.6B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고용 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15만명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2.5만명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R&amp;D 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GDP 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GDP 0.5%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하노이 서부 1,586ha 국가 하이테크파크. ICT·반도체·바이오·R&amp;D 클러스터로 육성. 삼성·인텔·FPT·LG·VinFast 입주. 2023년 11월 하노이 인민위 이관으로 인허가 가속. KIST(한국과학기술연구원) Vietnam Campus, 베트남-한국 R&amp;D 센터 등 한국 협력 거점. 2030년까지 입주기업 800개, 매출 $30B 목표.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VN-HOUSING-2030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국가 주택 개발 계획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2161/QD-TTg (2021.12.22) | Construction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1인당 주거면적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30㎡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25.6㎡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도시화율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42%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사회주택 공급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100만호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약 25만호 누적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주택보급률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95%+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85% (2024)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 국가 주택 개발 전략 2030. 2030년까지 1인당 주거면적 30㎡, 도시화율 50%, 사회주택 100만호 공급 목표. 호치민·하노이 등 5대 도시권에 집중 공급. Decree 100/2024는 사회주택 인센티브 (토지비 면제, 법인세 감면, 신용 우대)를 강화하여 민간투자 유도. Vinhomes·Sun Group·Novaland 등 대형 디벨로퍼 주도. KIND·LH공사 협력 사업 진행 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VN-SMART-2025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스마트시티 국가전략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36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맑은 고딕"/>
              </a:rPr>
              <a:t>Decision 950/QD-TTg (2018.8.1) | Smart City | 매핑 0건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📊 KPI 목표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692000"/>
          <a:ext cx="558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000"/>
                <a:gridCol w="1860000"/>
                <a:gridCol w="1860000"/>
              </a:tblGrid>
              <a:tr h="54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스마트시티 시범 도시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6개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6개 (2024 진행 중)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전국 확산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30개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12개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디지털정부 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top 50 (UN EGDI)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86위 (2024)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5G 커버리지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도시 100% (2030)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15개 도시 (2024)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0000" y="1368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E78"/>
                </a:solidFill>
                <a:latin typeface="맑은 고딕"/>
              </a:rPr>
              <a:t>📋 사업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692000"/>
            <a:ext cx="55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베트남 스마트시티 국가전략. 2025년까지 6개 핵심도시(하노이·호치민·다낭·껀터·하이퐁·후에) 스마트시티 시범 모델 완성, 2030년까지 전국 30개 도시로 확산. 디지털 정부, IoT 도시 인프라, AI 교통관제, 스마트 미터링 등 6개 핵심 분야. 한국 KOICA·KIND·KT·SK텔레콤·LG CNS 등 ICT 기업 진출 활발. 2024년 디지털전환 로드맵(Decision 749) 통합으로 가속.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🤖 AI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맑은 고딕"/>
              </a:rPr>
              <a:t>• 누적 0건 | 금주 0건 | 최신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4572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맑은 고딕"/>
              </a:rPr>
              <a:t>🎯 데이터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4860000"/>
            <a:ext cx="558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00000"/>
                </a:solidFill>
                <a:latin typeface="맑은 고딕"/>
              </a:rPr>
              <a:t>⚠ ❌ 매핑 기사 0건 — knowledge_index 키워드 보강 필요
⚠ ⚠️ 금주 신규 0건 — Haiku 맥락분류 활성화 권장
⚠ 🔴 최신 기사 누락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🎯 데이터 수집 품질 진단</a:t>
            </a:r>
          </a:p>
          <a:p>
            <a:r>
              <a:rPr sz="1100">
                <a:solidFill>
                  <a:srgbClr val="D9D9D9"/>
                </a:solidFill>
                <a:latin typeface="맑은 고딕"/>
              </a:rPr>
              <a:t>19개 플랜 자체 평가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1080000"/>
          <a:ext cx="11160000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000"/>
                <a:gridCol w="2232000"/>
                <a:gridCol w="2232000"/>
                <a:gridCol w="2232000"/>
                <a:gridCol w="2232000"/>
              </a:tblGrid>
              <a:tr h="27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Plan_ID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매핑 기사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금주 신규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진단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VN-SWM-NATIONAL-2030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VN-WAT-RESOURCES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🟡 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VN-WAT-URBAN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🟡 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VN-WW-2030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VN-OG-2030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VN-PWR-PDP8-LNG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VN-PWR-PDP8-NUCLEAR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VN-PWR-PDP8-RENEWABLE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매핑 기사 부족 (2건)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VN-HAN-URBAN-2045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매핑 기사 부족 (2건)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VN-IP-NORTH-2030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✅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VN-TRAN-2055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VN-URB-METRO-2030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🟡 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VN-ENV-IND-1894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🟡 보통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VN-ENV-NATURA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VN-PWR-PDP8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🟢 양호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⚠️ 금주 신규 0건 — Haiku 맥락분류 활성화 권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VN-HAN-DONG-ANH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VN-HAN-HOA-LAC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VN-HOUSING-2030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  <a:tr h="270000"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VN-SMART-2025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🔴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맑은 고딕"/>
                        </a:rPr>
                        <a:t>❌ 매핑 기사 0건 — knowledge_index 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